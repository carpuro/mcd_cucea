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8229600"/>
  <p:notesSz cx="8229600" cy="14630400"/>
  <p:embeddedFontLst>
    <p:embeddedFont>
      <p:font typeface="Host Grotesk Medium"/>
      <p:regular r:id="rId14"/>
    </p:embeddedFont>
    <p:embeddedFont>
      <p:font typeface="Host Grotesk Medium"/>
      <p:regular r:id="rId15"/>
    </p:embeddedFont>
    <p:embeddedFont>
      <p:font typeface="Host Grotesk Medium"/>
      <p:regular r:id="rId16"/>
    </p:embeddedFont>
    <p:embeddedFont>
      <p:font typeface="Host Grotesk Medium"/>
      <p:regular r:id="rId17"/>
    </p:embeddedFont>
    <p:embeddedFont>
      <p:font typeface="Roboto"/>
      <p:regular r:id="rId18"/>
    </p:embeddedFont>
    <p:embeddedFont>
      <p:font typeface="Roboto"/>
      <p:regular r:id="rId19"/>
    </p:embeddedFont>
    <p:embeddedFont>
      <p:font typeface="Roboto"/>
      <p:regular r:id="rId20"/>
    </p:embeddedFont>
    <p:embeddedFont>
      <p:font typeface="Roboto"/>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604849"/>
          </a:xfrm>
          <a:prstGeom prst="rect">
            <a:avLst/>
          </a:prstGeom>
        </p:spPr>
      </p:pic>
      <p:sp>
        <p:nvSpPr>
          <p:cNvPr id="3" name="Text 0"/>
          <p:cNvSpPr/>
          <p:nvPr/>
        </p:nvSpPr>
        <p:spPr>
          <a:xfrm>
            <a:off x="793790" y="3473767"/>
            <a:ext cx="12497157"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Usted ya está perdiendo dinero. Estos son los números.</a:t>
            </a:r>
            <a:endParaRPr lang="en-US" sz="3900" dirty="0"/>
          </a:p>
        </p:txBody>
      </p:sp>
      <p:sp>
        <p:nvSpPr>
          <p:cNvPr id="4" name="Text 1"/>
          <p:cNvSpPr/>
          <p:nvPr/>
        </p:nvSpPr>
        <p:spPr>
          <a:xfrm>
            <a:off x="793790" y="4391501"/>
            <a:ext cx="13042821"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La dependencia del temporal ha provocado una situación financiera insostenible, con su inversión actual generando pérdidas significativas.</a:t>
            </a:r>
            <a:endParaRPr lang="en-US" sz="1550" dirty="0"/>
          </a:p>
        </p:txBody>
      </p:sp>
      <p:sp>
        <p:nvSpPr>
          <p:cNvPr id="5" name="Text 2"/>
          <p:cNvSpPr/>
          <p:nvPr/>
        </p:nvSpPr>
        <p:spPr>
          <a:xfrm>
            <a:off x="793790" y="5011579"/>
            <a:ext cx="4182189" cy="654963"/>
          </a:xfrm>
          <a:prstGeom prst="rect">
            <a:avLst/>
          </a:prstGeom>
          <a:noFill/>
          <a:ln/>
        </p:spPr>
        <p:txBody>
          <a:bodyPr wrap="none" lIns="0" tIns="0" rIns="0" bIns="0" rtlCol="0" anchor="t"/>
          <a:lstStyle/>
          <a:p>
            <a:pPr algn="ctr" indent="0" marL="0">
              <a:lnSpc>
                <a:spcPts val="5150"/>
              </a:lnSpc>
              <a:buNone/>
            </a:pPr>
            <a:r>
              <a:rPr lang="en-US" sz="5150" dirty="0">
                <a:solidFill>
                  <a:srgbClr val="384653"/>
                </a:solidFill>
                <a:latin typeface="Host Grotesk Medium" pitchFamily="34" charset="0"/>
                <a:ea typeface="Host Grotesk Medium" pitchFamily="34" charset="-122"/>
                <a:cs typeface="Host Grotesk Medium" pitchFamily="34" charset="-120"/>
              </a:rPr>
              <a:t>−$4,902</a:t>
            </a:r>
            <a:endParaRPr lang="en-US" sz="5150" dirty="0"/>
          </a:p>
        </p:txBody>
      </p:sp>
      <p:sp>
        <p:nvSpPr>
          <p:cNvPr id="6" name="Text 3"/>
          <p:cNvSpPr/>
          <p:nvPr/>
        </p:nvSpPr>
        <p:spPr>
          <a:xfrm>
            <a:off x="1454825" y="5914549"/>
            <a:ext cx="2860119" cy="310158"/>
          </a:xfrm>
          <a:prstGeom prst="rect">
            <a:avLst/>
          </a:prstGeom>
          <a:noFill/>
          <a:ln/>
        </p:spPr>
        <p:txBody>
          <a:bodyPr wrap="none" lIns="0" tIns="0" rIns="0" bIns="0" rtlCol="0" anchor="t"/>
          <a:lstStyle/>
          <a:p>
            <a:pPr algn="ctr"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Utilidad Anual (Temporal)</a:t>
            </a:r>
            <a:endParaRPr lang="en-US" sz="1950" dirty="0"/>
          </a:p>
        </p:txBody>
      </p:sp>
      <p:sp>
        <p:nvSpPr>
          <p:cNvPr id="7" name="Text 4"/>
          <p:cNvSpPr/>
          <p:nvPr/>
        </p:nvSpPr>
        <p:spPr>
          <a:xfrm>
            <a:off x="793790" y="6343769"/>
            <a:ext cx="4182189" cy="595313"/>
          </a:xfrm>
          <a:prstGeom prst="rect">
            <a:avLst/>
          </a:prstGeom>
          <a:noFill/>
          <a:ln/>
        </p:spPr>
        <p:txBody>
          <a:bodyPr wrap="square" lIns="0" tIns="0" rIns="0" bIns="0" rtlCol="0" anchor="t"/>
          <a:lstStyle/>
          <a:p>
            <a:pPr algn="ctr" indent="0" marL="0">
              <a:lnSpc>
                <a:spcPts val="2300"/>
              </a:lnSpc>
              <a:buNone/>
            </a:pPr>
            <a:r>
              <a:rPr lang="en-US" sz="1550" dirty="0">
                <a:solidFill>
                  <a:srgbClr val="384653"/>
                </a:solidFill>
                <a:latin typeface="Roboto" pitchFamily="34" charset="0"/>
                <a:ea typeface="Roboto" pitchFamily="34" charset="-122"/>
                <a:cs typeface="Roboto" pitchFamily="34" charset="-120"/>
              </a:rPr>
              <a:t>Por hectárea, su operación actual le genera pérdidas cada año, drenando su capital.</a:t>
            </a:r>
            <a:endParaRPr lang="en-US" sz="1550" dirty="0"/>
          </a:p>
        </p:txBody>
      </p:sp>
      <p:sp>
        <p:nvSpPr>
          <p:cNvPr id="8" name="Text 5"/>
          <p:cNvSpPr/>
          <p:nvPr/>
        </p:nvSpPr>
        <p:spPr>
          <a:xfrm>
            <a:off x="5223986" y="5011579"/>
            <a:ext cx="4182308" cy="654963"/>
          </a:xfrm>
          <a:prstGeom prst="rect">
            <a:avLst/>
          </a:prstGeom>
          <a:noFill/>
          <a:ln/>
        </p:spPr>
        <p:txBody>
          <a:bodyPr wrap="none" lIns="0" tIns="0" rIns="0" bIns="0" rtlCol="0" anchor="t"/>
          <a:lstStyle/>
          <a:p>
            <a:pPr algn="ctr" indent="0" marL="0">
              <a:lnSpc>
                <a:spcPts val="5150"/>
              </a:lnSpc>
              <a:buNone/>
            </a:pPr>
            <a:r>
              <a:rPr lang="en-US" sz="5150" dirty="0">
                <a:solidFill>
                  <a:srgbClr val="384653"/>
                </a:solidFill>
                <a:latin typeface="Host Grotesk Medium" pitchFamily="34" charset="0"/>
                <a:ea typeface="Host Grotesk Medium" pitchFamily="34" charset="-122"/>
                <a:cs typeface="Host Grotesk Medium" pitchFamily="34" charset="-120"/>
              </a:rPr>
              <a:t>33%</a:t>
            </a:r>
            <a:endParaRPr lang="en-US" sz="5150" dirty="0"/>
          </a:p>
        </p:txBody>
      </p:sp>
      <p:sp>
        <p:nvSpPr>
          <p:cNvPr id="9" name="Text 6"/>
          <p:cNvSpPr/>
          <p:nvPr/>
        </p:nvSpPr>
        <p:spPr>
          <a:xfrm>
            <a:off x="5796558" y="5914549"/>
            <a:ext cx="3037165" cy="310158"/>
          </a:xfrm>
          <a:prstGeom prst="rect">
            <a:avLst/>
          </a:prstGeom>
          <a:noFill/>
          <a:ln/>
        </p:spPr>
        <p:txBody>
          <a:bodyPr wrap="none" lIns="0" tIns="0" rIns="0" bIns="0" rtlCol="0" anchor="t"/>
          <a:lstStyle/>
          <a:p>
            <a:pPr algn="ctr"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Reducción de Rendimiento</a:t>
            </a:r>
            <a:endParaRPr lang="en-US" sz="1950" dirty="0"/>
          </a:p>
        </p:txBody>
      </p:sp>
      <p:sp>
        <p:nvSpPr>
          <p:cNvPr id="10" name="Text 7"/>
          <p:cNvSpPr/>
          <p:nvPr/>
        </p:nvSpPr>
        <p:spPr>
          <a:xfrm>
            <a:off x="5223986" y="6343769"/>
            <a:ext cx="4182308" cy="892969"/>
          </a:xfrm>
          <a:prstGeom prst="rect">
            <a:avLst/>
          </a:prstGeom>
          <a:noFill/>
          <a:ln/>
        </p:spPr>
        <p:txBody>
          <a:bodyPr wrap="square" lIns="0" tIns="0" rIns="0" bIns="0" rtlCol="0" anchor="t"/>
          <a:lstStyle/>
          <a:p>
            <a:pPr algn="ctr" indent="0" marL="0">
              <a:lnSpc>
                <a:spcPts val="2300"/>
              </a:lnSpc>
              <a:buNone/>
            </a:pPr>
            <a:r>
              <a:rPr lang="en-US" sz="1550" dirty="0">
                <a:solidFill>
                  <a:srgbClr val="384653"/>
                </a:solidFill>
                <a:latin typeface="Roboto" pitchFamily="34" charset="0"/>
                <a:ea typeface="Roboto" pitchFamily="34" charset="-122"/>
                <a:cs typeface="Roboto" pitchFamily="34" charset="-120"/>
              </a:rPr>
              <a:t>En solo cinco años, su producción de caña por hectárea ha caído un tercio, impactando su volumen total.</a:t>
            </a:r>
            <a:endParaRPr lang="en-US" sz="1550" dirty="0"/>
          </a:p>
        </p:txBody>
      </p:sp>
      <p:sp>
        <p:nvSpPr>
          <p:cNvPr id="11" name="Text 8"/>
          <p:cNvSpPr/>
          <p:nvPr/>
        </p:nvSpPr>
        <p:spPr>
          <a:xfrm>
            <a:off x="9654302" y="5011579"/>
            <a:ext cx="4182308" cy="654963"/>
          </a:xfrm>
          <a:prstGeom prst="rect">
            <a:avLst/>
          </a:prstGeom>
          <a:noFill/>
          <a:ln/>
        </p:spPr>
        <p:txBody>
          <a:bodyPr wrap="none" lIns="0" tIns="0" rIns="0" bIns="0" rtlCol="0" anchor="t"/>
          <a:lstStyle/>
          <a:p>
            <a:pPr algn="ctr" indent="0" marL="0">
              <a:lnSpc>
                <a:spcPts val="5150"/>
              </a:lnSpc>
              <a:buNone/>
            </a:pPr>
            <a:r>
              <a:rPr lang="en-US" sz="5150" dirty="0">
                <a:solidFill>
                  <a:srgbClr val="384653"/>
                </a:solidFill>
                <a:latin typeface="Host Grotesk Medium" pitchFamily="34" charset="0"/>
                <a:ea typeface="Host Grotesk Medium" pitchFamily="34" charset="-122"/>
                <a:cs typeface="Host Grotesk Medium" pitchFamily="34" charset="-120"/>
              </a:rPr>
              <a:t>60</a:t>
            </a:r>
            <a:endParaRPr lang="en-US" sz="5150" dirty="0"/>
          </a:p>
        </p:txBody>
      </p:sp>
      <p:sp>
        <p:nvSpPr>
          <p:cNvPr id="12" name="Text 9"/>
          <p:cNvSpPr/>
          <p:nvPr/>
        </p:nvSpPr>
        <p:spPr>
          <a:xfrm>
            <a:off x="10505003" y="5914549"/>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Rendimiento Actual</a:t>
            </a:r>
            <a:endParaRPr lang="en-US" sz="1950" dirty="0"/>
          </a:p>
        </p:txBody>
      </p:sp>
      <p:sp>
        <p:nvSpPr>
          <p:cNvPr id="13" name="Text 10"/>
          <p:cNvSpPr/>
          <p:nvPr/>
        </p:nvSpPr>
        <p:spPr>
          <a:xfrm>
            <a:off x="9654302" y="6343769"/>
            <a:ext cx="4182308" cy="595313"/>
          </a:xfrm>
          <a:prstGeom prst="rect">
            <a:avLst/>
          </a:prstGeom>
          <a:noFill/>
          <a:ln/>
        </p:spPr>
        <p:txBody>
          <a:bodyPr wrap="square" lIns="0" tIns="0" rIns="0" bIns="0" rtlCol="0" anchor="t"/>
          <a:lstStyle/>
          <a:p>
            <a:pPr algn="ctr" indent="0" marL="0">
              <a:lnSpc>
                <a:spcPts val="2300"/>
              </a:lnSpc>
              <a:buNone/>
            </a:pPr>
            <a:r>
              <a:rPr lang="en-US" sz="1550" dirty="0">
                <a:solidFill>
                  <a:srgbClr val="384653"/>
                </a:solidFill>
                <a:latin typeface="Roboto" pitchFamily="34" charset="0"/>
                <a:ea typeface="Roboto" pitchFamily="34" charset="-122"/>
                <a:cs typeface="Roboto" pitchFamily="34" charset="-120"/>
              </a:rPr>
              <a:t>Toneladas por hectárea por año, muy por debajo de su potencial productivo.</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5970151" y="368975"/>
            <a:ext cx="3023592" cy="378023"/>
          </a:xfrm>
          <a:prstGeom prst="rect">
            <a:avLst/>
          </a:prstGeom>
          <a:noFill/>
          <a:ln/>
        </p:spPr>
        <p:txBody>
          <a:bodyPr wrap="none" lIns="0" tIns="0" rIns="0" bIns="0" rtlCol="0" anchor="t"/>
          <a:lstStyle/>
          <a:p>
            <a:pPr algn="l" indent="0" marL="0">
              <a:lnSpc>
                <a:spcPts val="2950"/>
              </a:lnSpc>
              <a:buNone/>
            </a:pPr>
            <a:endParaRPr lang="en-US" sz="2350" dirty="0"/>
          </a:p>
        </p:txBody>
      </p:sp>
      <p:sp>
        <p:nvSpPr>
          <p:cNvPr id="4" name="Text 1"/>
          <p:cNvSpPr/>
          <p:nvPr/>
        </p:nvSpPr>
        <p:spPr>
          <a:xfrm>
            <a:off x="5970151" y="857488"/>
            <a:ext cx="8176498" cy="437912"/>
          </a:xfrm>
          <a:prstGeom prst="rect">
            <a:avLst/>
          </a:prstGeom>
          <a:noFill/>
          <a:ln/>
        </p:spPr>
        <p:txBody>
          <a:bodyPr wrap="square" lIns="0" tIns="0" rIns="0" bIns="0" rtlCol="0" anchor="t"/>
          <a:lstStyle/>
          <a:p>
            <a:pPr algn="l" indent="0" marL="0">
              <a:lnSpc>
                <a:spcPts val="1100"/>
              </a:lnSpc>
              <a:buNone/>
            </a:pPr>
            <a:r>
              <a:rPr lang="en-US" sz="950" dirty="0">
                <a:solidFill>
                  <a:srgbClr val="384653"/>
                </a:solidFill>
                <a:latin typeface="Roboto" pitchFamily="34" charset="0"/>
                <a:ea typeface="Roboto" pitchFamily="34" charset="-122"/>
                <a:cs typeface="Roboto" pitchFamily="34" charset="-120"/>
              </a:rPr>
              <a:t>No es una proyección. Es lo que está ocurriendo hoy en su rancho. En los últimos 5 años, el rendimiento de caña cayó de </a:t>
            </a:r>
            <a:pPr algn="l" indent="0" marL="0">
              <a:lnSpc>
                <a:spcPts val="1100"/>
              </a:lnSpc>
              <a:buNone/>
            </a:pPr>
            <a:r>
              <a:rPr lang="en-US" sz="950" b="1" dirty="0">
                <a:solidFill>
                  <a:srgbClr val="384653"/>
                </a:solidFill>
                <a:latin typeface="Roboto" pitchFamily="34" charset="0"/>
                <a:ea typeface="Roboto" pitchFamily="34" charset="-122"/>
                <a:cs typeface="Roboto" pitchFamily="34" charset="-120"/>
              </a:rPr>
              <a:t>90 a 60 toneladas por hectárea</a:t>
            </a:r>
            <a:pPr algn="l" indent="0" marL="0">
              <a:lnSpc>
                <a:spcPts val="1100"/>
              </a:lnSpc>
              <a:buNone/>
            </a:pPr>
            <a:r>
              <a:rPr lang="en-US" sz="950" dirty="0">
                <a:solidFill>
                  <a:srgbClr val="384653"/>
                </a:solidFill>
                <a:latin typeface="Roboto" pitchFamily="34" charset="0"/>
                <a:ea typeface="Roboto" pitchFamily="34" charset="-122"/>
                <a:cs typeface="Roboto" pitchFamily="34" charset="-120"/>
              </a:rPr>
              <a:t> — una caída del 33% sin que nadie interviniera. Y si incorporamos la probabilidad real de sequías y tormentas, el rendimiento esperado cae aún más: a solo </a:t>
            </a:r>
            <a:pPr algn="l" indent="0" marL="0">
              <a:lnSpc>
                <a:spcPts val="1100"/>
              </a:lnSpc>
              <a:buNone/>
            </a:pPr>
            <a:r>
              <a:rPr lang="en-US" sz="950" b="1" dirty="0">
                <a:solidFill>
                  <a:srgbClr val="384653"/>
                </a:solidFill>
                <a:latin typeface="Roboto" pitchFamily="34" charset="0"/>
                <a:ea typeface="Roboto" pitchFamily="34" charset="-122"/>
                <a:cs typeface="Roboto" pitchFamily="34" charset="-120"/>
              </a:rPr>
              <a:t>47 toneladas por hectárea por año</a:t>
            </a:r>
            <a:pPr algn="l" indent="0" marL="0">
              <a:lnSpc>
                <a:spcPts val="1100"/>
              </a:lnSpc>
              <a:buNone/>
            </a:pPr>
            <a:r>
              <a:rPr lang="en-US" sz="950" dirty="0">
                <a:solidFill>
                  <a:srgbClr val="384653"/>
                </a:solidFill>
                <a:latin typeface="Roboto" pitchFamily="34" charset="0"/>
                <a:ea typeface="Roboto" pitchFamily="34" charset="-122"/>
                <a:cs typeface="Roboto" pitchFamily="34" charset="-120"/>
              </a:rPr>
              <a:t>.</a:t>
            </a:r>
            <a:endParaRPr lang="en-US" sz="950" dirty="0"/>
          </a:p>
        </p:txBody>
      </p:sp>
      <p:sp>
        <p:nvSpPr>
          <p:cNvPr id="5" name="Shape 2"/>
          <p:cNvSpPr/>
          <p:nvPr/>
        </p:nvSpPr>
        <p:spPr>
          <a:xfrm>
            <a:off x="5882997" y="1378268"/>
            <a:ext cx="4115038" cy="986552"/>
          </a:xfrm>
          <a:prstGeom prst="roundRect">
            <a:avLst>
              <a:gd name="adj" fmla="val 8827"/>
            </a:avLst>
          </a:prstGeom>
          <a:solidFill>
            <a:srgbClr val="C3643D"/>
          </a:solidFill>
          <a:ln/>
        </p:spPr>
      </p:sp>
      <p:sp>
        <p:nvSpPr>
          <p:cNvPr id="6" name="Text 3"/>
          <p:cNvSpPr/>
          <p:nvPr/>
        </p:nvSpPr>
        <p:spPr>
          <a:xfrm>
            <a:off x="6003846" y="1451967"/>
            <a:ext cx="1511737" cy="188952"/>
          </a:xfrm>
          <a:prstGeom prst="rect">
            <a:avLst/>
          </a:prstGeom>
          <a:noFill/>
          <a:ln/>
        </p:spPr>
        <p:txBody>
          <a:bodyPr wrap="none" lIns="0" tIns="0" rIns="0" bIns="0" rtlCol="0" anchor="t"/>
          <a:lstStyle/>
          <a:p>
            <a:pPr algn="l" indent="0" marL="0">
              <a:lnSpc>
                <a:spcPts val="1450"/>
              </a:lnSpc>
              <a:buNone/>
            </a:pPr>
            <a:r>
              <a:rPr lang="en-US" sz="1150" dirty="0">
                <a:solidFill>
                  <a:srgbClr val="000000"/>
                </a:solidFill>
                <a:latin typeface="Host Grotesk Medium" pitchFamily="34" charset="0"/>
                <a:ea typeface="Host Grotesk Medium" pitchFamily="34" charset="-122"/>
                <a:cs typeface="Host Grotesk Medium" pitchFamily="34" charset="-120"/>
              </a:rPr>
              <a:t>Hace 5 años</a:t>
            </a:r>
            <a:endParaRPr lang="en-US" sz="1150" dirty="0"/>
          </a:p>
        </p:txBody>
      </p:sp>
      <p:sp>
        <p:nvSpPr>
          <p:cNvPr id="7" name="Text 4"/>
          <p:cNvSpPr/>
          <p:nvPr/>
        </p:nvSpPr>
        <p:spPr>
          <a:xfrm>
            <a:off x="6003846" y="1714619"/>
            <a:ext cx="3873341" cy="437912"/>
          </a:xfrm>
          <a:prstGeom prst="rect">
            <a:avLst/>
          </a:prstGeom>
          <a:noFill/>
          <a:ln/>
        </p:spPr>
        <p:txBody>
          <a:bodyPr wrap="square" lIns="0" tIns="0" rIns="0" bIns="0" rtlCol="0" anchor="t"/>
          <a:lstStyle/>
          <a:p>
            <a:pPr algn="l" indent="0" marL="0">
              <a:lnSpc>
                <a:spcPts val="1100"/>
              </a:lnSpc>
              <a:buNone/>
            </a:pPr>
            <a:r>
              <a:rPr lang="en-US" sz="950" dirty="0">
                <a:solidFill>
                  <a:srgbClr val="000000"/>
                </a:solidFill>
                <a:latin typeface="Roboto" pitchFamily="34" charset="0"/>
                <a:ea typeface="Roboto" pitchFamily="34" charset="-122"/>
                <a:cs typeface="Roboto" pitchFamily="34" charset="-120"/>
              </a:rPr>
              <a:t>Rendimiento: </a:t>
            </a:r>
            <a:pPr algn="l" indent="0" marL="0">
              <a:lnSpc>
                <a:spcPts val="1100"/>
              </a:lnSpc>
              <a:buNone/>
            </a:pPr>
            <a:r>
              <a:rPr lang="en-US" sz="950" b="1" dirty="0">
                <a:solidFill>
                  <a:srgbClr val="000000"/>
                </a:solidFill>
                <a:latin typeface="Roboto" pitchFamily="34" charset="0"/>
                <a:ea typeface="Roboto" pitchFamily="34" charset="-122"/>
                <a:cs typeface="Roboto" pitchFamily="34" charset="-120"/>
              </a:rPr>
              <a:t>90 ton/ha/año</a:t>
            </a:r>
            <a:pPr algn="l" indent="0" marL="0">
              <a:lnSpc>
                <a:spcPts val="1100"/>
              </a:lnSpc>
              <a:buNone/>
            </a:pPr>
            <a:r>
              <a:rPr lang="en-US" sz="950" dirty="0">
                <a:solidFill>
                  <a:srgbClr val="000000"/>
                </a:solidFill>
                <a:latin typeface="Roboto" pitchFamily="34" charset="0"/>
                <a:ea typeface="Roboto" pitchFamily="34" charset="-122"/>
                <a:cs typeface="Roboto" pitchFamily="34" charset="-120"/>
              </a:rPr>
              <a:t>Ingreso bruto (100 ha): </a:t>
            </a:r>
            <a:pPr algn="l" indent="0" marL="0">
              <a:lnSpc>
                <a:spcPts val="1100"/>
              </a:lnSpc>
              <a:buNone/>
            </a:pPr>
            <a:r>
              <a:rPr lang="en-US" sz="950" b="1" dirty="0">
                <a:solidFill>
                  <a:srgbClr val="000000"/>
                </a:solidFill>
                <a:latin typeface="Roboto" pitchFamily="34" charset="0"/>
                <a:ea typeface="Roboto" pitchFamily="34" charset="-122"/>
                <a:cs typeface="Roboto" pitchFamily="34" charset="-120"/>
              </a:rPr>
              <a:t>$7,263,000 MXN/año</a:t>
            </a:r>
            <a:pPr algn="l" indent="0" marL="0">
              <a:lnSpc>
                <a:spcPts val="1100"/>
              </a:lnSpc>
              <a:buNone/>
            </a:pPr>
            <a:r>
              <a:rPr lang="en-US" sz="950" dirty="0">
                <a:solidFill>
                  <a:srgbClr val="000000"/>
                </a:solidFill>
                <a:latin typeface="Roboto" pitchFamily="34" charset="0"/>
                <a:ea typeface="Roboto" pitchFamily="34" charset="-122"/>
                <a:cs typeface="Roboto" pitchFamily="34" charset="-120"/>
              </a:rPr>
              <a:t>Operación rentable. Margen positivo.</a:t>
            </a:r>
            <a:endParaRPr lang="en-US" sz="950" dirty="0"/>
          </a:p>
        </p:txBody>
      </p:sp>
      <p:sp>
        <p:nvSpPr>
          <p:cNvPr id="8" name="Text 5"/>
          <p:cNvSpPr/>
          <p:nvPr/>
        </p:nvSpPr>
        <p:spPr>
          <a:xfrm>
            <a:off x="10213538" y="1451967"/>
            <a:ext cx="1511737" cy="188952"/>
          </a:xfrm>
          <a:prstGeom prst="rect">
            <a:avLst/>
          </a:prstGeom>
          <a:noFill/>
          <a:ln/>
        </p:spPr>
        <p:txBody>
          <a:bodyPr wrap="none" lIns="0" tIns="0" rIns="0" bIns="0" rtlCol="0" anchor="t"/>
          <a:lstStyle/>
          <a:p>
            <a:pPr algn="l" indent="0" marL="0">
              <a:lnSpc>
                <a:spcPts val="1450"/>
              </a:lnSpc>
              <a:buNone/>
            </a:pPr>
            <a:r>
              <a:rPr lang="en-US" sz="1150" dirty="0">
                <a:solidFill>
                  <a:srgbClr val="2E3C4E"/>
                </a:solidFill>
                <a:latin typeface="Host Grotesk Medium" pitchFamily="34" charset="0"/>
                <a:ea typeface="Host Grotesk Medium" pitchFamily="34" charset="-122"/>
                <a:cs typeface="Host Grotesk Medium" pitchFamily="34" charset="-120"/>
              </a:rPr>
              <a:t>Hoy, con temporal</a:t>
            </a:r>
            <a:endParaRPr lang="en-US" sz="1150" dirty="0"/>
          </a:p>
        </p:txBody>
      </p:sp>
      <p:sp>
        <p:nvSpPr>
          <p:cNvPr id="9" name="Text 6"/>
          <p:cNvSpPr/>
          <p:nvPr/>
        </p:nvSpPr>
        <p:spPr>
          <a:xfrm>
            <a:off x="10213538" y="1714619"/>
            <a:ext cx="3940731" cy="583883"/>
          </a:xfrm>
          <a:prstGeom prst="rect">
            <a:avLst/>
          </a:prstGeom>
          <a:noFill/>
          <a:ln/>
        </p:spPr>
        <p:txBody>
          <a:bodyPr wrap="square" lIns="0" tIns="0" rIns="0" bIns="0" rtlCol="0" anchor="t"/>
          <a:lstStyle/>
          <a:p>
            <a:pPr algn="l" indent="0" marL="0">
              <a:lnSpc>
                <a:spcPts val="1100"/>
              </a:lnSpc>
              <a:buNone/>
            </a:pPr>
            <a:r>
              <a:rPr lang="en-US" sz="950" dirty="0">
                <a:solidFill>
                  <a:srgbClr val="384653"/>
                </a:solidFill>
                <a:latin typeface="Roboto" pitchFamily="34" charset="0"/>
                <a:ea typeface="Roboto" pitchFamily="34" charset="-122"/>
                <a:cs typeface="Roboto" pitchFamily="34" charset="-120"/>
              </a:rPr>
              <a:t>Rendimiento esperado: </a:t>
            </a:r>
            <a:pPr algn="l" indent="0" marL="0">
              <a:lnSpc>
                <a:spcPts val="1100"/>
              </a:lnSpc>
              <a:buNone/>
            </a:pPr>
            <a:r>
              <a:rPr lang="en-US" sz="950" b="1" dirty="0">
                <a:solidFill>
                  <a:srgbClr val="384653"/>
                </a:solidFill>
                <a:latin typeface="Roboto" pitchFamily="34" charset="0"/>
                <a:ea typeface="Roboto" pitchFamily="34" charset="-122"/>
                <a:cs typeface="Roboto" pitchFamily="34" charset="-120"/>
              </a:rPr>
              <a:t>47 ton/ha/año</a:t>
            </a:r>
            <a:pPr algn="l" indent="0" marL="0">
              <a:lnSpc>
                <a:spcPts val="1100"/>
              </a:lnSpc>
              <a:buNone/>
            </a:pPr>
            <a:r>
              <a:rPr lang="en-US" sz="950" dirty="0">
                <a:solidFill>
                  <a:srgbClr val="384653"/>
                </a:solidFill>
                <a:latin typeface="Roboto" pitchFamily="34" charset="0"/>
                <a:ea typeface="Roboto" pitchFamily="34" charset="-122"/>
                <a:cs typeface="Roboto" pitchFamily="34" charset="-120"/>
              </a:rPr>
              <a:t>Ingreso bruto esperado: </a:t>
            </a:r>
            <a:pPr algn="l" indent="0" marL="0">
              <a:lnSpc>
                <a:spcPts val="1100"/>
              </a:lnSpc>
              <a:buNone/>
            </a:pPr>
            <a:r>
              <a:rPr lang="en-US" sz="950" b="1" dirty="0">
                <a:solidFill>
                  <a:srgbClr val="384653"/>
                </a:solidFill>
                <a:latin typeface="Roboto" pitchFamily="34" charset="0"/>
                <a:ea typeface="Roboto" pitchFamily="34" charset="-122"/>
                <a:cs typeface="Roboto" pitchFamily="34" charset="-120"/>
              </a:rPr>
              <a:t>$3,792,900 MXN/año</a:t>
            </a:r>
            <a:pPr algn="l" indent="0" marL="0">
              <a:lnSpc>
                <a:spcPts val="1100"/>
              </a:lnSpc>
              <a:buNone/>
            </a:pPr>
            <a:r>
              <a:rPr lang="en-US" sz="950" dirty="0">
                <a:solidFill>
                  <a:srgbClr val="384653"/>
                </a:solidFill>
                <a:latin typeface="Roboto" pitchFamily="34" charset="0"/>
                <a:ea typeface="Roboto" pitchFamily="34" charset="-122"/>
                <a:cs typeface="Roboto" pitchFamily="34" charset="-120"/>
              </a:rPr>
              <a:t>Costo operativo: $3,800,000 MXN/año</a:t>
            </a:r>
            <a:endParaRPr lang="en-US" sz="950" dirty="0"/>
          </a:p>
          <a:p>
            <a:pPr algn="l" indent="0" marL="0">
              <a:lnSpc>
                <a:spcPts val="1100"/>
              </a:lnSpc>
              <a:buNone/>
            </a:pPr>
            <a:r>
              <a:rPr lang="en-US" sz="950" dirty="0">
                <a:solidFill>
                  <a:srgbClr val="384653"/>
                </a:solidFill>
                <a:latin typeface="Roboto" pitchFamily="34" charset="0"/>
                <a:ea typeface="Roboto" pitchFamily="34" charset="-122"/>
                <a:cs typeface="Roboto" pitchFamily="34" charset="-120"/>
              </a:rPr>
              <a:t>Utilidad esperada: </a:t>
            </a:r>
            <a:pPr algn="l" indent="0" marL="0">
              <a:lnSpc>
                <a:spcPts val="1100"/>
              </a:lnSpc>
              <a:buNone/>
            </a:pPr>
            <a:r>
              <a:rPr lang="en-US" sz="950" b="1" dirty="0">
                <a:solidFill>
                  <a:srgbClr val="C3643D"/>
                </a:solidFill>
                <a:latin typeface="Roboto" pitchFamily="34" charset="0"/>
                <a:ea typeface="Roboto" pitchFamily="34" charset="-122"/>
                <a:cs typeface="Roboto" pitchFamily="34" charset="-120"/>
              </a:rPr>
              <a:t>−$4,902 MXN/año</a:t>
            </a:r>
            <a:endParaRPr lang="en-US" sz="950" dirty="0"/>
          </a:p>
        </p:txBody>
      </p:sp>
      <p:sp>
        <p:nvSpPr>
          <p:cNvPr id="10" name="Text 7"/>
          <p:cNvSpPr/>
          <p:nvPr/>
        </p:nvSpPr>
        <p:spPr>
          <a:xfrm>
            <a:off x="5970151" y="2447687"/>
            <a:ext cx="8176498" cy="291941"/>
          </a:xfrm>
          <a:prstGeom prst="rect">
            <a:avLst/>
          </a:prstGeom>
          <a:noFill/>
          <a:ln/>
        </p:spPr>
        <p:txBody>
          <a:bodyPr wrap="square" lIns="0" tIns="0" rIns="0" bIns="0" rtlCol="0" anchor="t"/>
          <a:lstStyle/>
          <a:p>
            <a:pPr algn="l" indent="0" marL="0">
              <a:lnSpc>
                <a:spcPts val="1100"/>
              </a:lnSpc>
              <a:buNone/>
            </a:pPr>
            <a:r>
              <a:rPr lang="en-US" sz="950" dirty="0">
                <a:solidFill>
                  <a:srgbClr val="384653"/>
                </a:solidFill>
                <a:latin typeface="Roboto" pitchFamily="34" charset="0"/>
                <a:ea typeface="Roboto" pitchFamily="34" charset="-122"/>
                <a:cs typeface="Roboto" pitchFamily="34" charset="-120"/>
              </a:rPr>
              <a:t>Eso no es un punto de equilibrio. Es una operación que </a:t>
            </a:r>
            <a:pPr algn="l" indent="0" marL="0">
              <a:lnSpc>
                <a:spcPts val="1100"/>
              </a:lnSpc>
              <a:buNone/>
            </a:pPr>
            <a:r>
              <a:rPr lang="en-US" sz="950" b="1" dirty="0">
                <a:solidFill>
                  <a:srgbClr val="384653"/>
                </a:solidFill>
                <a:latin typeface="Roboto" pitchFamily="34" charset="0"/>
                <a:ea typeface="Roboto" pitchFamily="34" charset="-122"/>
                <a:cs typeface="Roboto" pitchFamily="34" charset="-120"/>
              </a:rPr>
              <a:t>pierde dinero cada año</a:t>
            </a:r>
            <a:pPr algn="l" indent="0" marL="0">
              <a:lnSpc>
                <a:spcPts val="1100"/>
              </a:lnSpc>
              <a:buNone/>
            </a:pPr>
            <a:r>
              <a:rPr lang="en-US" sz="950" dirty="0">
                <a:solidFill>
                  <a:srgbClr val="384653"/>
                </a:solidFill>
                <a:latin typeface="Roboto" pitchFamily="34" charset="0"/>
                <a:ea typeface="Roboto" pitchFamily="34" charset="-122"/>
                <a:cs typeface="Roboto" pitchFamily="34" charset="-120"/>
              </a:rPr>
              <a:t>. En 7 años sin hacer nada, la pérdida acumulada llega a </a:t>
            </a:r>
            <a:pPr algn="l" indent="0" marL="0">
              <a:lnSpc>
                <a:spcPts val="1100"/>
              </a:lnSpc>
              <a:buNone/>
            </a:pPr>
            <a:r>
              <a:rPr lang="en-US" sz="950" b="1" dirty="0">
                <a:solidFill>
                  <a:srgbClr val="384653"/>
                </a:solidFill>
                <a:latin typeface="Roboto" pitchFamily="34" charset="0"/>
                <a:ea typeface="Roboto" pitchFamily="34" charset="-122"/>
                <a:cs typeface="Roboto" pitchFamily="34" charset="-120"/>
              </a:rPr>
              <a:t>−$34,316 MXN</a:t>
            </a:r>
            <a:pPr algn="l" indent="0" marL="0">
              <a:lnSpc>
                <a:spcPts val="1100"/>
              </a:lnSpc>
              <a:buNone/>
            </a:pPr>
            <a:r>
              <a:rPr lang="en-US" sz="950" dirty="0">
                <a:solidFill>
                  <a:srgbClr val="384653"/>
                </a:solidFill>
                <a:latin typeface="Roboto" pitchFamily="34" charset="0"/>
                <a:ea typeface="Roboto" pitchFamily="34" charset="-122"/>
                <a:cs typeface="Roboto" pitchFamily="34" charset="-120"/>
              </a:rPr>
              <a:t> — y eso asumiendo que los precios se mantienen estables. Un solo año de sequía severa puede costarle </a:t>
            </a:r>
            <a:pPr algn="l" indent="0" marL="0">
              <a:lnSpc>
                <a:spcPts val="1100"/>
              </a:lnSpc>
              <a:buNone/>
            </a:pPr>
            <a:r>
              <a:rPr lang="en-US" sz="950" b="1" dirty="0">
                <a:solidFill>
                  <a:srgbClr val="C3643D"/>
                </a:solidFill>
                <a:latin typeface="Roboto" pitchFamily="34" charset="0"/>
                <a:ea typeface="Roboto" pitchFamily="34" charset="-122"/>
                <a:cs typeface="Roboto" pitchFamily="34" charset="-120"/>
              </a:rPr>
              <a:t>−$3,200,000 MXN</a:t>
            </a:r>
            <a:pPr algn="l" indent="0" marL="0">
              <a:lnSpc>
                <a:spcPts val="1100"/>
              </a:lnSpc>
              <a:buNone/>
            </a:pPr>
            <a:r>
              <a:rPr lang="en-US" sz="950" dirty="0">
                <a:solidFill>
                  <a:srgbClr val="384653"/>
                </a:solidFill>
                <a:latin typeface="Roboto" pitchFamily="34" charset="0"/>
                <a:ea typeface="Roboto" pitchFamily="34" charset="-122"/>
                <a:cs typeface="Roboto" pitchFamily="34" charset="-120"/>
              </a:rPr>
              <a:t> de golpe.</a:t>
            </a:r>
            <a:endParaRPr lang="en-US" sz="950" dirty="0"/>
          </a:p>
        </p:txBody>
      </p:sp>
      <p:pic>
        <p:nvPicPr>
          <p:cNvPr id="11" name="Image 1" descr="preencoded.png">    </p:cNvPr>
          <p:cNvPicPr>
            <a:picLocks noChangeAspect="1"/>
          </p:cNvPicPr>
          <p:nvPr/>
        </p:nvPicPr>
        <p:blipFill>
          <a:blip r:embed="rId2"/>
          <a:stretch>
            <a:fillRect/>
          </a:stretch>
        </p:blipFill>
        <p:spPr>
          <a:xfrm>
            <a:off x="5970151" y="2822496"/>
            <a:ext cx="8176498" cy="4364712"/>
          </a:xfrm>
          <a:prstGeom prst="rect">
            <a:avLst/>
          </a:prstGeom>
        </p:spPr>
      </p:pic>
      <p:sp>
        <p:nvSpPr>
          <p:cNvPr id="12" name="Text 8"/>
          <p:cNvSpPr/>
          <p:nvPr/>
        </p:nvSpPr>
        <p:spPr>
          <a:xfrm>
            <a:off x="12921696" y="3058923"/>
            <a:ext cx="283607" cy="144780"/>
          </a:xfrm>
          <a:prstGeom prst="rect">
            <a:avLst/>
          </a:prstGeom>
          <a:noFill/>
          <a:ln/>
        </p:spPr>
        <p:txBody>
          <a:bodyPr wrap="square" lIns="30480" tIns="30480" rIns="30480" bIns="30480" rtlCol="0" anchor="t"/>
          <a:lstStyle/>
          <a:p>
            <a:pPr algn="l" indent="0" marL="0">
              <a:lnSpc>
                <a:spcPts val="650"/>
              </a:lnSpc>
              <a:buNone/>
            </a:pPr>
            <a:r>
              <a:rPr lang="en-US" sz="650" dirty="0">
                <a:solidFill>
                  <a:srgbClr val="FFFFFF"/>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-4,902</a:t>
            </a:r>
            <a:endParaRPr lang="en-US" sz="650" dirty="0"/>
          </a:p>
        </p:txBody>
      </p:sp>
      <p:sp>
        <p:nvSpPr>
          <p:cNvPr id="13" name="Text 9"/>
          <p:cNvSpPr/>
          <p:nvPr/>
        </p:nvSpPr>
        <p:spPr>
          <a:xfrm>
            <a:off x="11857014" y="3394618"/>
            <a:ext cx="283607" cy="144780"/>
          </a:xfrm>
          <a:prstGeom prst="rect">
            <a:avLst/>
          </a:prstGeom>
          <a:noFill/>
          <a:ln/>
        </p:spPr>
        <p:txBody>
          <a:bodyPr wrap="square" lIns="30480" tIns="30480" rIns="30480" bIns="30480" rtlCol="0" anchor="t"/>
          <a:lstStyle/>
          <a:p>
            <a:pPr algn="l" indent="0" marL="0">
              <a:lnSpc>
                <a:spcPts val="650"/>
              </a:lnSpc>
              <a:buNone/>
            </a:pPr>
            <a:r>
              <a:rPr lang="en-US" sz="650" dirty="0">
                <a:solidFill>
                  <a:srgbClr val="FFFFFF"/>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-9,804</a:t>
            </a:r>
            <a:endParaRPr lang="en-US" sz="650" dirty="0"/>
          </a:p>
        </p:txBody>
      </p:sp>
      <p:sp>
        <p:nvSpPr>
          <p:cNvPr id="14" name="Text 10"/>
          <p:cNvSpPr/>
          <p:nvPr/>
        </p:nvSpPr>
        <p:spPr>
          <a:xfrm>
            <a:off x="10782806" y="3730313"/>
            <a:ext cx="331232" cy="144780"/>
          </a:xfrm>
          <a:prstGeom prst="rect">
            <a:avLst/>
          </a:prstGeom>
          <a:noFill/>
          <a:ln/>
        </p:spPr>
        <p:txBody>
          <a:bodyPr wrap="square" lIns="30480" tIns="30480" rIns="30480" bIns="30480" rtlCol="0" anchor="t"/>
          <a:lstStyle/>
          <a:p>
            <a:pPr algn="l" indent="0" marL="0">
              <a:lnSpc>
                <a:spcPts val="650"/>
              </a:lnSpc>
              <a:buNone/>
            </a:pPr>
            <a:r>
              <a:rPr lang="en-US" sz="650" dirty="0">
                <a:solidFill>
                  <a:srgbClr val="000000"/>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-14,706</a:t>
            </a:r>
            <a:endParaRPr lang="en-US" sz="650" dirty="0"/>
          </a:p>
        </p:txBody>
      </p:sp>
      <p:sp>
        <p:nvSpPr>
          <p:cNvPr id="15" name="Text 11"/>
          <p:cNvSpPr/>
          <p:nvPr/>
        </p:nvSpPr>
        <p:spPr>
          <a:xfrm>
            <a:off x="9720029" y="4066009"/>
            <a:ext cx="331232" cy="144780"/>
          </a:xfrm>
          <a:prstGeom prst="rect">
            <a:avLst/>
          </a:prstGeom>
          <a:noFill/>
          <a:ln/>
        </p:spPr>
        <p:txBody>
          <a:bodyPr wrap="square" lIns="30480" tIns="30480" rIns="30480" bIns="30480" rtlCol="0" anchor="t"/>
          <a:lstStyle/>
          <a:p>
            <a:pPr algn="l" indent="0" marL="0">
              <a:lnSpc>
                <a:spcPts val="650"/>
              </a:lnSpc>
              <a:buNone/>
            </a:pPr>
            <a:r>
              <a:rPr lang="en-US" sz="650" dirty="0">
                <a:solidFill>
                  <a:srgbClr val="000000"/>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-19,608</a:t>
            </a:r>
            <a:endParaRPr lang="en-US" sz="650" dirty="0"/>
          </a:p>
        </p:txBody>
      </p:sp>
      <p:sp>
        <p:nvSpPr>
          <p:cNvPr id="16" name="Text 12"/>
          <p:cNvSpPr/>
          <p:nvPr/>
        </p:nvSpPr>
        <p:spPr>
          <a:xfrm>
            <a:off x="8653442" y="4401703"/>
            <a:ext cx="331232" cy="144780"/>
          </a:xfrm>
          <a:prstGeom prst="rect">
            <a:avLst/>
          </a:prstGeom>
          <a:noFill/>
          <a:ln/>
        </p:spPr>
        <p:txBody>
          <a:bodyPr wrap="square" lIns="30480" tIns="30480" rIns="30480" bIns="30480" rtlCol="0" anchor="t"/>
          <a:lstStyle/>
          <a:p>
            <a:pPr algn="l" indent="0" marL="0">
              <a:lnSpc>
                <a:spcPts val="650"/>
              </a:lnSpc>
              <a:buNone/>
            </a:pPr>
            <a:r>
              <a:rPr lang="en-US" sz="650" dirty="0">
                <a:solidFill>
                  <a:srgbClr val="000000"/>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-24,510</a:t>
            </a:r>
            <a:endParaRPr lang="en-US" sz="650" dirty="0"/>
          </a:p>
        </p:txBody>
      </p:sp>
      <p:sp>
        <p:nvSpPr>
          <p:cNvPr id="17" name="Text 13"/>
          <p:cNvSpPr/>
          <p:nvPr/>
        </p:nvSpPr>
        <p:spPr>
          <a:xfrm>
            <a:off x="7588998" y="4737399"/>
            <a:ext cx="331231" cy="144780"/>
          </a:xfrm>
          <a:prstGeom prst="rect">
            <a:avLst/>
          </a:prstGeom>
          <a:noFill/>
          <a:ln/>
        </p:spPr>
        <p:txBody>
          <a:bodyPr wrap="square" lIns="30480" tIns="30480" rIns="30480" bIns="30480" rtlCol="0" anchor="t"/>
          <a:lstStyle/>
          <a:p>
            <a:pPr algn="l" indent="0" marL="0">
              <a:lnSpc>
                <a:spcPts val="650"/>
              </a:lnSpc>
              <a:buNone/>
            </a:pPr>
            <a:r>
              <a:rPr lang="en-US" sz="650" dirty="0">
                <a:solidFill>
                  <a:srgbClr val="000000"/>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-29,412</a:t>
            </a:r>
            <a:endParaRPr lang="en-US" sz="650" dirty="0"/>
          </a:p>
        </p:txBody>
      </p:sp>
      <p:sp>
        <p:nvSpPr>
          <p:cNvPr id="18" name="Text 14"/>
          <p:cNvSpPr/>
          <p:nvPr/>
        </p:nvSpPr>
        <p:spPr>
          <a:xfrm>
            <a:off x="6525310" y="5073094"/>
            <a:ext cx="331232" cy="144780"/>
          </a:xfrm>
          <a:prstGeom prst="rect">
            <a:avLst/>
          </a:prstGeom>
          <a:noFill/>
          <a:ln/>
        </p:spPr>
        <p:txBody>
          <a:bodyPr wrap="square" lIns="30480" tIns="30480" rIns="30480" bIns="30480" rtlCol="0" anchor="t"/>
          <a:lstStyle/>
          <a:p>
            <a:pPr algn="l" indent="0" marL="0">
              <a:lnSpc>
                <a:spcPts val="650"/>
              </a:lnSpc>
              <a:buNone/>
            </a:pPr>
            <a:r>
              <a:rPr lang="en-US" sz="650" dirty="0">
                <a:solidFill>
                  <a:srgbClr val="000000"/>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-34,316</a:t>
            </a:r>
            <a:endParaRPr lang="en-US" sz="650" dirty="0"/>
          </a:p>
        </p:txBody>
      </p:sp>
      <p:sp>
        <p:nvSpPr>
          <p:cNvPr id="19" name="Shape 15"/>
          <p:cNvSpPr/>
          <p:nvPr/>
        </p:nvSpPr>
        <p:spPr>
          <a:xfrm>
            <a:off x="5970151" y="7484150"/>
            <a:ext cx="8176498" cy="376476"/>
          </a:xfrm>
          <a:prstGeom prst="roundRect">
            <a:avLst>
              <a:gd name="adj" fmla="val 13493"/>
            </a:avLst>
          </a:prstGeom>
          <a:solidFill>
            <a:srgbClr val="FFB3B4"/>
          </a:solidFill>
          <a:ln/>
        </p:spPr>
      </p:sp>
      <p:pic>
        <p:nvPicPr>
          <p:cNvPr id="20" name="Image 2" descr="preencoded.png">    </p:cNvPr>
          <p:cNvPicPr>
            <a:picLocks noChangeAspect="1"/>
          </p:cNvPicPr>
          <p:nvPr/>
        </p:nvPicPr>
        <p:blipFill>
          <a:blip r:embed="rId3"/>
          <a:stretch>
            <a:fillRect/>
          </a:stretch>
        </p:blipFill>
        <p:spPr>
          <a:xfrm>
            <a:off x="6090999" y="7643574"/>
            <a:ext cx="151090" cy="120848"/>
          </a:xfrm>
          <a:prstGeom prst="rect">
            <a:avLst/>
          </a:prstGeom>
        </p:spPr>
      </p:pic>
      <p:sp>
        <p:nvSpPr>
          <p:cNvPr id="21" name="Text 16"/>
          <p:cNvSpPr/>
          <p:nvPr/>
        </p:nvSpPr>
        <p:spPr>
          <a:xfrm>
            <a:off x="6362938" y="7587972"/>
            <a:ext cx="7662863" cy="145971"/>
          </a:xfrm>
          <a:prstGeom prst="rect">
            <a:avLst/>
          </a:prstGeom>
          <a:noFill/>
          <a:ln/>
        </p:spPr>
        <p:txBody>
          <a:bodyPr wrap="none" lIns="0" tIns="0" rIns="0" bIns="0" rtlCol="0" anchor="t"/>
          <a:lstStyle/>
          <a:p>
            <a:pPr algn="l" indent="0" marL="0">
              <a:lnSpc>
                <a:spcPts val="1100"/>
              </a:lnSpc>
              <a:buNone/>
            </a:pPr>
            <a:r>
              <a:rPr lang="en-US" sz="950" dirty="0">
                <a:solidFill>
                  <a:srgbClr val="000000"/>
                </a:solidFill>
                <a:latin typeface="Roboto" pitchFamily="34" charset="0"/>
                <a:ea typeface="Roboto" pitchFamily="34" charset="-122"/>
                <a:cs typeface="Roboto" pitchFamily="34" charset="-120"/>
              </a:rPr>
              <a:t>La pregunta correcta no es ¿puedo permitirme el sistema de riego? La pregunta es: </a:t>
            </a:r>
            <a:pPr algn="l" indent="0" marL="0">
              <a:lnSpc>
                <a:spcPts val="1100"/>
              </a:lnSpc>
              <a:buNone/>
            </a:pPr>
            <a:r>
              <a:rPr lang="en-US" sz="950" b="1" dirty="0">
                <a:solidFill>
                  <a:srgbClr val="000000"/>
                </a:solidFill>
                <a:latin typeface="Roboto" pitchFamily="34" charset="0"/>
                <a:ea typeface="Roboto" pitchFamily="34" charset="-122"/>
                <a:cs typeface="Roboto" pitchFamily="34" charset="-120"/>
              </a:rPr>
              <a:t>¿cuántos años más puede permitirse seguir así?</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81407" y="546854"/>
            <a:ext cx="13067586" cy="1220867"/>
          </a:xfrm>
          <a:prstGeom prst="rect">
            <a:avLst/>
          </a:prstGeom>
          <a:noFill/>
          <a:ln/>
        </p:spPr>
        <p:txBody>
          <a:bodyPr wrap="square" lIns="0" tIns="0" rIns="0" bIns="0" rtlCol="0" anchor="t"/>
          <a:lstStyle/>
          <a:p>
            <a:pPr algn="l" indent="0" marL="0">
              <a:lnSpc>
                <a:spcPts val="4800"/>
              </a:lnSpc>
              <a:buNone/>
            </a:pPr>
            <a:r>
              <a:rPr lang="en-US" sz="3800" dirty="0">
                <a:solidFill>
                  <a:srgbClr val="2E3C4E"/>
                </a:solidFill>
                <a:latin typeface="Host Grotesk Medium" pitchFamily="34" charset="0"/>
                <a:ea typeface="Host Grotesk Medium" pitchFamily="34" charset="-122"/>
                <a:cs typeface="Host Grotesk Medium" pitchFamily="34" charset="-120"/>
              </a:rPr>
              <a:t>El sistema vale $8,000,000 MXN. </a:t>
            </a:r>
            <a:pPr algn="l" indent="0" marL="0">
              <a:lnSpc>
                <a:spcPts val="4800"/>
              </a:lnSpc>
              <a:buNone/>
            </a:pPr>
            <a:r>
              <a:rPr lang="en-US" sz="3800" dirty="0">
                <a:solidFill>
                  <a:srgbClr val="95CCDA"/>
                </a:solidFill>
                <a:latin typeface="Host Grotesk Medium" pitchFamily="34" charset="0"/>
                <a:ea typeface="Host Grotesk Medium" pitchFamily="34" charset="-122"/>
                <a:cs typeface="Host Grotesk Medium" pitchFamily="34" charset="-120"/>
              </a:rPr>
              <a:t>Hoy le cuesta $5,600,000 MXN.</a:t>
            </a:r>
            <a:endParaRPr lang="en-US" sz="3800" dirty="0"/>
          </a:p>
        </p:txBody>
      </p:sp>
      <p:sp>
        <p:nvSpPr>
          <p:cNvPr id="3" name="Text 1"/>
          <p:cNvSpPr/>
          <p:nvPr/>
        </p:nvSpPr>
        <p:spPr>
          <a:xfrm>
            <a:off x="781407" y="2152293"/>
            <a:ext cx="13067586" cy="581501"/>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Existe una ventana abierta ahora mismo. El descuento de temporada del 30% no es una rebaja simbólica — es exactamente la diferencia entre un proyecto que no cierra y uno que sí genera utilidad positiva en 7 años.</a:t>
            </a:r>
            <a:endParaRPr lang="en-US" sz="1500" dirty="0"/>
          </a:p>
        </p:txBody>
      </p:sp>
      <p:sp>
        <p:nvSpPr>
          <p:cNvPr id="4" name="Shape 2"/>
          <p:cNvSpPr/>
          <p:nvPr/>
        </p:nvSpPr>
        <p:spPr>
          <a:xfrm>
            <a:off x="781407" y="2950131"/>
            <a:ext cx="4227671" cy="1989296"/>
          </a:xfrm>
          <a:prstGeom prst="roundRect">
            <a:avLst>
              <a:gd name="adj" fmla="val 4125"/>
            </a:avLst>
          </a:prstGeom>
          <a:solidFill>
            <a:srgbClr val="D9EDF2"/>
          </a:solidFill>
          <a:ln w="7620">
            <a:solidFill>
              <a:srgbClr val="BFD3D8"/>
            </a:solidFill>
            <a:prstDash val="solid"/>
          </a:ln>
        </p:spPr>
      </p:sp>
      <p:sp>
        <p:nvSpPr>
          <p:cNvPr id="5" name="Text 3"/>
          <p:cNvSpPr/>
          <p:nvPr/>
        </p:nvSpPr>
        <p:spPr>
          <a:xfrm>
            <a:off x="984290" y="3153013"/>
            <a:ext cx="2442091" cy="305157"/>
          </a:xfrm>
          <a:prstGeom prst="rect">
            <a:avLst/>
          </a:prstGeom>
          <a:noFill/>
          <a:ln/>
        </p:spPr>
        <p:txBody>
          <a:bodyPr wrap="none" lIns="0" tIns="0" rIns="0" bIns="0" rtlCol="0" anchor="t"/>
          <a:lstStyle/>
          <a:p>
            <a:pPr algn="l" indent="0" marL="0">
              <a:lnSpc>
                <a:spcPts val="2400"/>
              </a:lnSpc>
              <a:buNone/>
            </a:pPr>
            <a:r>
              <a:rPr lang="en-US" sz="1900" dirty="0">
                <a:solidFill>
                  <a:srgbClr val="384653"/>
                </a:solidFill>
                <a:latin typeface="Host Grotesk Medium" pitchFamily="34" charset="0"/>
                <a:ea typeface="Host Grotesk Medium" pitchFamily="34" charset="-122"/>
                <a:cs typeface="Host Grotesk Medium" pitchFamily="34" charset="-120"/>
              </a:rPr>
              <a:t>Precio de lista</a:t>
            </a:r>
            <a:endParaRPr lang="en-US" sz="1900" dirty="0"/>
          </a:p>
        </p:txBody>
      </p:sp>
      <p:sp>
        <p:nvSpPr>
          <p:cNvPr id="6" name="Text 4"/>
          <p:cNvSpPr/>
          <p:nvPr/>
        </p:nvSpPr>
        <p:spPr>
          <a:xfrm>
            <a:off x="984290" y="3573542"/>
            <a:ext cx="3821906" cy="1163003"/>
          </a:xfrm>
          <a:prstGeom prst="rect">
            <a:avLst/>
          </a:prstGeom>
          <a:noFill/>
          <a:ln/>
        </p:spPr>
        <p:txBody>
          <a:bodyPr wrap="square" lIns="0" tIns="0" rIns="0" bIns="0" rtlCol="0" anchor="t"/>
          <a:lstStyle/>
          <a:p>
            <a:pPr algn="l" indent="0" marL="0">
              <a:lnSpc>
                <a:spcPts val="2250"/>
              </a:lnSpc>
              <a:buNone/>
            </a:pPr>
            <a:r>
              <a:rPr lang="en-US" sz="1500" b="1" dirty="0">
                <a:solidFill>
                  <a:srgbClr val="384653"/>
                </a:solidFill>
                <a:latin typeface="Roboto" pitchFamily="34" charset="0"/>
                <a:ea typeface="Roboto" pitchFamily="34" charset="-122"/>
                <a:cs typeface="Roboto" pitchFamily="34" charset="-120"/>
              </a:rPr>
              <a:t>$8,000,000 MXN</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Utilidad neta acumulada 7 años:</a:t>
            </a:r>
            <a:endParaRPr lang="en-US" sz="1500" dirty="0"/>
          </a:p>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−$1,974,042 MXN </a:t>
            </a:r>
            <a:pPr algn="l" indent="0" marL="0">
              <a:lnSpc>
                <a:spcPts val="2250"/>
              </a:lnSpc>
              <a:buNone/>
            </a:pPr>
            <a:r>
              <a:rPr lang="en-US" sz="1500" dirty="0">
                <a:solidFill>
                  <a:srgbClr val="000000"/>
                </a:solidFill>
                <a:latin typeface="Roboto" pitchFamily="34" charset="0"/>
                <a:ea typeface="Roboto" pitchFamily="34" charset="-122"/>
                <a:cs typeface="Roboto" pitchFamily="34" charset="-120"/>
              </a:rPr>
              <a:t>❌</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No es viable.</a:t>
            </a:r>
            <a:endParaRPr lang="en-US" sz="1500" dirty="0"/>
          </a:p>
        </p:txBody>
      </p:sp>
      <p:sp>
        <p:nvSpPr>
          <p:cNvPr id="7" name="Shape 5"/>
          <p:cNvSpPr/>
          <p:nvPr/>
        </p:nvSpPr>
        <p:spPr>
          <a:xfrm>
            <a:off x="5201364" y="2950131"/>
            <a:ext cx="4227671" cy="1989296"/>
          </a:xfrm>
          <a:prstGeom prst="roundRect">
            <a:avLst>
              <a:gd name="adj" fmla="val 4125"/>
            </a:avLst>
          </a:prstGeom>
          <a:solidFill>
            <a:srgbClr val="D9EDF2"/>
          </a:solidFill>
          <a:ln w="7620">
            <a:solidFill>
              <a:srgbClr val="BFD3D8"/>
            </a:solidFill>
            <a:prstDash val="solid"/>
          </a:ln>
        </p:spPr>
      </p:sp>
      <p:sp>
        <p:nvSpPr>
          <p:cNvPr id="8" name="Text 6"/>
          <p:cNvSpPr/>
          <p:nvPr/>
        </p:nvSpPr>
        <p:spPr>
          <a:xfrm>
            <a:off x="5404247" y="3153013"/>
            <a:ext cx="2442091" cy="305157"/>
          </a:xfrm>
          <a:prstGeom prst="rect">
            <a:avLst/>
          </a:prstGeom>
          <a:noFill/>
          <a:ln/>
        </p:spPr>
        <p:txBody>
          <a:bodyPr wrap="none" lIns="0" tIns="0" rIns="0" bIns="0" rtlCol="0" anchor="t"/>
          <a:lstStyle/>
          <a:p>
            <a:pPr algn="l" indent="0" marL="0">
              <a:lnSpc>
                <a:spcPts val="2400"/>
              </a:lnSpc>
              <a:buNone/>
            </a:pPr>
            <a:r>
              <a:rPr lang="en-US" sz="1900" dirty="0">
                <a:solidFill>
                  <a:srgbClr val="384653"/>
                </a:solidFill>
                <a:latin typeface="Host Grotesk Medium" pitchFamily="34" charset="0"/>
                <a:ea typeface="Host Grotesk Medium" pitchFamily="34" charset="-122"/>
                <a:cs typeface="Host Grotesk Medium" pitchFamily="34" charset="-120"/>
              </a:rPr>
              <a:t>Con descuento 30%</a:t>
            </a:r>
            <a:endParaRPr lang="en-US" sz="1900" dirty="0"/>
          </a:p>
        </p:txBody>
      </p:sp>
      <p:sp>
        <p:nvSpPr>
          <p:cNvPr id="9" name="Text 7"/>
          <p:cNvSpPr/>
          <p:nvPr/>
        </p:nvSpPr>
        <p:spPr>
          <a:xfrm>
            <a:off x="5404247" y="3573542"/>
            <a:ext cx="3821906" cy="1163003"/>
          </a:xfrm>
          <a:prstGeom prst="rect">
            <a:avLst/>
          </a:prstGeom>
          <a:noFill/>
          <a:ln/>
        </p:spPr>
        <p:txBody>
          <a:bodyPr wrap="square" lIns="0" tIns="0" rIns="0" bIns="0" rtlCol="0" anchor="t"/>
          <a:lstStyle/>
          <a:p>
            <a:pPr algn="l" indent="0" marL="0">
              <a:lnSpc>
                <a:spcPts val="2250"/>
              </a:lnSpc>
              <a:buNone/>
            </a:pPr>
            <a:r>
              <a:rPr lang="en-US" sz="1500" b="1" dirty="0">
                <a:solidFill>
                  <a:srgbClr val="384653"/>
                </a:solidFill>
                <a:latin typeface="Roboto" pitchFamily="34" charset="0"/>
                <a:ea typeface="Roboto" pitchFamily="34" charset="-122"/>
                <a:cs typeface="Roboto" pitchFamily="34" charset="-120"/>
              </a:rPr>
              <a:t>$5,600,000 MXN</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Utilidad neta acumulada 7 años:</a:t>
            </a:r>
            <a:endParaRPr lang="en-US" sz="1500" dirty="0"/>
          </a:p>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+$425,958 MXN </a:t>
            </a:r>
            <a:pPr algn="l" indent="0" marL="0">
              <a:lnSpc>
                <a:spcPts val="2250"/>
              </a:lnSpc>
              <a:buNone/>
            </a:pPr>
            <a:r>
              <a:rPr lang="en-US" sz="1500" dirty="0">
                <a:solidFill>
                  <a:srgbClr val="000000"/>
                </a:solidFill>
                <a:latin typeface="Roboto" pitchFamily="34" charset="0"/>
                <a:ea typeface="Roboto" pitchFamily="34" charset="-122"/>
                <a:cs typeface="Roboto" pitchFamily="34" charset="-120"/>
              </a:rPr>
              <a:t>✅</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Sí es viable.</a:t>
            </a:r>
            <a:endParaRPr lang="en-US" sz="1500" dirty="0"/>
          </a:p>
        </p:txBody>
      </p:sp>
      <p:sp>
        <p:nvSpPr>
          <p:cNvPr id="10" name="Shape 8"/>
          <p:cNvSpPr/>
          <p:nvPr/>
        </p:nvSpPr>
        <p:spPr>
          <a:xfrm>
            <a:off x="9621322" y="2950131"/>
            <a:ext cx="4227671" cy="1989296"/>
          </a:xfrm>
          <a:prstGeom prst="roundRect">
            <a:avLst>
              <a:gd name="adj" fmla="val 4125"/>
            </a:avLst>
          </a:prstGeom>
          <a:solidFill>
            <a:srgbClr val="D9EDF2"/>
          </a:solidFill>
          <a:ln w="7620">
            <a:solidFill>
              <a:srgbClr val="BFD3D8"/>
            </a:solidFill>
            <a:prstDash val="solid"/>
          </a:ln>
        </p:spPr>
      </p:sp>
      <p:sp>
        <p:nvSpPr>
          <p:cNvPr id="11" name="Text 9"/>
          <p:cNvSpPr/>
          <p:nvPr/>
        </p:nvSpPr>
        <p:spPr>
          <a:xfrm>
            <a:off x="9824204" y="3153013"/>
            <a:ext cx="2442091" cy="305157"/>
          </a:xfrm>
          <a:prstGeom prst="rect">
            <a:avLst/>
          </a:prstGeom>
          <a:noFill/>
          <a:ln/>
        </p:spPr>
        <p:txBody>
          <a:bodyPr wrap="none" lIns="0" tIns="0" rIns="0" bIns="0" rtlCol="0" anchor="t"/>
          <a:lstStyle/>
          <a:p>
            <a:pPr algn="l" indent="0" marL="0">
              <a:lnSpc>
                <a:spcPts val="2400"/>
              </a:lnSpc>
              <a:buNone/>
            </a:pPr>
            <a:r>
              <a:rPr lang="en-US" sz="1900" dirty="0">
                <a:solidFill>
                  <a:srgbClr val="384653"/>
                </a:solidFill>
                <a:latin typeface="Host Grotesk Medium" pitchFamily="34" charset="0"/>
                <a:ea typeface="Host Grotesk Medium" pitchFamily="34" charset="-122"/>
                <a:cs typeface="Host Grotesk Medium" pitchFamily="34" charset="-120"/>
              </a:rPr>
              <a:t>Ahorro inmediato</a:t>
            </a:r>
            <a:endParaRPr lang="en-US" sz="1900" dirty="0"/>
          </a:p>
        </p:txBody>
      </p:sp>
      <p:sp>
        <p:nvSpPr>
          <p:cNvPr id="12" name="Text 10"/>
          <p:cNvSpPr/>
          <p:nvPr/>
        </p:nvSpPr>
        <p:spPr>
          <a:xfrm>
            <a:off x="9824204" y="3573542"/>
            <a:ext cx="3821906" cy="1163003"/>
          </a:xfrm>
          <a:prstGeom prst="rect">
            <a:avLst/>
          </a:prstGeom>
          <a:noFill/>
          <a:ln/>
        </p:spPr>
        <p:txBody>
          <a:bodyPr wrap="square" lIns="0" tIns="0" rIns="0" bIns="0" rtlCol="0" anchor="t"/>
          <a:lstStyle/>
          <a:p>
            <a:pPr algn="l" indent="0" marL="0">
              <a:lnSpc>
                <a:spcPts val="2250"/>
              </a:lnSpc>
              <a:buNone/>
            </a:pPr>
            <a:r>
              <a:rPr lang="en-US" sz="1500" b="1" dirty="0">
                <a:solidFill>
                  <a:srgbClr val="384653"/>
                </a:solidFill>
                <a:latin typeface="Roboto" pitchFamily="34" charset="0"/>
                <a:ea typeface="Roboto" pitchFamily="34" charset="-122"/>
                <a:cs typeface="Roboto" pitchFamily="34" charset="-120"/>
              </a:rPr>
              <a:t>$2,400,000 MXN</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Esos $2.4 millones voltean el análisis de negativo a positivo. Un descuento que cambia todo.</a:t>
            </a:r>
            <a:endParaRPr lang="en-US" sz="1500" dirty="0"/>
          </a:p>
        </p:txBody>
      </p:sp>
      <p:sp>
        <p:nvSpPr>
          <p:cNvPr id="13" name="Text 11"/>
          <p:cNvSpPr/>
          <p:nvPr/>
        </p:nvSpPr>
        <p:spPr>
          <a:xfrm>
            <a:off x="781407" y="5155763"/>
            <a:ext cx="13067586" cy="581501"/>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¿Por qué existe este descuento? Al abrir la temporada de instalación, los costos de logística en lote son menores cuando se contratan varios productores al mismo tiempo. Ese ahorro se traslada directamente a usted.</a:t>
            </a:r>
            <a:endParaRPr lang="en-US" sz="1500" dirty="0"/>
          </a:p>
        </p:txBody>
      </p:sp>
      <p:sp>
        <p:nvSpPr>
          <p:cNvPr id="14" name="Shape 12"/>
          <p:cNvSpPr/>
          <p:nvPr/>
        </p:nvSpPr>
        <p:spPr>
          <a:xfrm>
            <a:off x="781407" y="5953601"/>
            <a:ext cx="6437590" cy="1729026"/>
          </a:xfrm>
          <a:prstGeom prst="roundRect">
            <a:avLst>
              <a:gd name="adj" fmla="val 6346"/>
            </a:avLst>
          </a:prstGeom>
          <a:solidFill>
            <a:srgbClr val="FAF9F5"/>
          </a:solidFill>
          <a:ln w="22860">
            <a:solidFill>
              <a:srgbClr val="BFD3D8"/>
            </a:solidFill>
            <a:prstDash val="solid"/>
          </a:ln>
        </p:spPr>
      </p:sp>
      <p:pic>
        <p:nvPicPr>
          <p:cNvPr id="15" name="Image 0" descr="preencoded.png">    </p:cNvPr>
          <p:cNvPicPr>
            <a:picLocks noChangeAspect="1"/>
          </p:cNvPicPr>
          <p:nvPr/>
        </p:nvPicPr>
        <p:blipFill>
          <a:blip r:embed="rId1"/>
          <a:stretch>
            <a:fillRect/>
          </a:stretch>
        </p:blipFill>
        <p:spPr>
          <a:xfrm>
            <a:off x="758547" y="5953601"/>
            <a:ext cx="91440" cy="1729026"/>
          </a:xfrm>
          <a:prstGeom prst="rect">
            <a:avLst/>
          </a:prstGeom>
        </p:spPr>
      </p:pic>
      <p:sp>
        <p:nvSpPr>
          <p:cNvPr id="16" name="Text 13"/>
          <p:cNvSpPr/>
          <p:nvPr/>
        </p:nvSpPr>
        <p:spPr>
          <a:xfrm>
            <a:off x="1068110" y="6171724"/>
            <a:ext cx="2442091" cy="305157"/>
          </a:xfrm>
          <a:prstGeom prst="rect">
            <a:avLst/>
          </a:prstGeom>
          <a:noFill/>
          <a:ln/>
        </p:spPr>
        <p:txBody>
          <a:bodyPr wrap="none" lIns="0" tIns="0" rIns="0" bIns="0" rtlCol="0" anchor="t"/>
          <a:lstStyle/>
          <a:p>
            <a:pPr algn="l" indent="0" marL="0">
              <a:lnSpc>
                <a:spcPts val="2400"/>
              </a:lnSpc>
              <a:buNone/>
            </a:pPr>
            <a:r>
              <a:rPr lang="en-US" sz="1900" dirty="0">
                <a:solidFill>
                  <a:srgbClr val="000000"/>
                </a:solidFill>
                <a:latin typeface="Host Grotesk Medium" pitchFamily="34" charset="0"/>
                <a:ea typeface="Host Grotesk Medium" pitchFamily="34" charset="-122"/>
                <a:cs typeface="Host Grotesk Medium" pitchFamily="34" charset="-120"/>
              </a:rPr>
              <a:t>⏳</a:t>
            </a:r>
            <a:pPr algn="l" indent="0" marL="0">
              <a:lnSpc>
                <a:spcPts val="2400"/>
              </a:lnSpc>
              <a:buNone/>
            </a:pPr>
            <a:r>
              <a:rPr lang="en-US" sz="1900" dirty="0">
                <a:solidFill>
                  <a:srgbClr val="384653"/>
                </a:solidFill>
                <a:latin typeface="Host Grotesk Medium" pitchFamily="34" charset="0"/>
                <a:ea typeface="Host Grotesk Medium" pitchFamily="34" charset="-122"/>
                <a:cs typeface="Host Grotesk Medium" pitchFamily="34" charset="-120"/>
              </a:rPr>
              <a:t> Vigencia</a:t>
            </a:r>
            <a:endParaRPr lang="en-US" sz="1900" dirty="0"/>
          </a:p>
        </p:txBody>
      </p:sp>
      <p:sp>
        <p:nvSpPr>
          <p:cNvPr id="17" name="Text 14"/>
          <p:cNvSpPr/>
          <p:nvPr/>
        </p:nvSpPr>
        <p:spPr>
          <a:xfrm>
            <a:off x="1068110" y="6592253"/>
            <a:ext cx="5932765" cy="581501"/>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Esta oferta está disponible </a:t>
            </a:r>
            <a:pPr algn="l" indent="0" marL="0">
              <a:lnSpc>
                <a:spcPts val="2250"/>
              </a:lnSpc>
              <a:buNone/>
            </a:pPr>
            <a:r>
              <a:rPr lang="en-US" sz="1500" b="1" dirty="0">
                <a:solidFill>
                  <a:srgbClr val="384653"/>
                </a:solidFill>
                <a:latin typeface="Roboto" pitchFamily="34" charset="0"/>
                <a:ea typeface="Roboto" pitchFamily="34" charset="-122"/>
                <a:cs typeface="Roboto" pitchFamily="34" charset="-120"/>
              </a:rPr>
              <a:t>hasta el 30 de abril de 2026</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Pasada esa fecha, el precio regresa a $8,000,000 MXN sin excepción.</a:t>
            </a:r>
            <a:endParaRPr lang="en-US" sz="1500" dirty="0"/>
          </a:p>
        </p:txBody>
      </p:sp>
      <p:sp>
        <p:nvSpPr>
          <p:cNvPr id="18" name="Shape 15"/>
          <p:cNvSpPr/>
          <p:nvPr/>
        </p:nvSpPr>
        <p:spPr>
          <a:xfrm>
            <a:off x="7411283" y="5953601"/>
            <a:ext cx="6437709" cy="1729026"/>
          </a:xfrm>
          <a:prstGeom prst="roundRect">
            <a:avLst>
              <a:gd name="adj" fmla="val 6346"/>
            </a:avLst>
          </a:prstGeom>
          <a:solidFill>
            <a:srgbClr val="FAF9F5"/>
          </a:solidFill>
          <a:ln w="22860">
            <a:solidFill>
              <a:srgbClr val="BFD3D8"/>
            </a:solidFill>
            <a:prstDash val="solid"/>
          </a:ln>
        </p:spPr>
      </p:sp>
      <p:pic>
        <p:nvPicPr>
          <p:cNvPr id="19" name="Image 1" descr="preencoded.png">    </p:cNvPr>
          <p:cNvPicPr>
            <a:picLocks noChangeAspect="1"/>
          </p:cNvPicPr>
          <p:nvPr/>
        </p:nvPicPr>
        <p:blipFill>
          <a:blip r:embed="rId2"/>
          <a:stretch>
            <a:fillRect/>
          </a:stretch>
        </p:blipFill>
        <p:spPr>
          <a:xfrm>
            <a:off x="7388423" y="5953601"/>
            <a:ext cx="91440" cy="1729026"/>
          </a:xfrm>
          <a:prstGeom prst="rect">
            <a:avLst/>
          </a:prstGeom>
        </p:spPr>
      </p:pic>
      <p:sp>
        <p:nvSpPr>
          <p:cNvPr id="20" name="Text 16"/>
          <p:cNvSpPr/>
          <p:nvPr/>
        </p:nvSpPr>
        <p:spPr>
          <a:xfrm>
            <a:off x="7697986" y="6171724"/>
            <a:ext cx="2442091" cy="305157"/>
          </a:xfrm>
          <a:prstGeom prst="rect">
            <a:avLst/>
          </a:prstGeom>
          <a:noFill/>
          <a:ln/>
        </p:spPr>
        <p:txBody>
          <a:bodyPr wrap="none" lIns="0" tIns="0" rIns="0" bIns="0" rtlCol="0" anchor="t"/>
          <a:lstStyle/>
          <a:p>
            <a:pPr algn="l" indent="0" marL="0">
              <a:lnSpc>
                <a:spcPts val="2400"/>
              </a:lnSpc>
              <a:buNone/>
            </a:pPr>
            <a:r>
              <a:rPr lang="en-US" sz="1900" dirty="0">
                <a:solidFill>
                  <a:srgbClr val="000000"/>
                </a:solidFill>
                <a:latin typeface="Host Grotesk Medium" pitchFamily="34" charset="0"/>
                <a:ea typeface="Host Grotesk Medium" pitchFamily="34" charset="-122"/>
                <a:cs typeface="Host Grotesk Medium" pitchFamily="34" charset="-120"/>
              </a:rPr>
              <a:t>📍</a:t>
            </a:r>
            <a:pPr algn="l" indent="0" marL="0">
              <a:lnSpc>
                <a:spcPts val="2400"/>
              </a:lnSpc>
              <a:buNone/>
            </a:pPr>
            <a:r>
              <a:rPr lang="en-US" sz="1900" dirty="0">
                <a:solidFill>
                  <a:srgbClr val="384653"/>
                </a:solidFill>
                <a:latin typeface="Host Grotesk Medium" pitchFamily="34" charset="0"/>
                <a:ea typeface="Host Grotesk Medium" pitchFamily="34" charset="-122"/>
                <a:cs typeface="Host Grotesk Medium" pitchFamily="34" charset="-120"/>
              </a:rPr>
              <a:t> Disponibilidad</a:t>
            </a:r>
            <a:endParaRPr lang="en-US" sz="1900" dirty="0"/>
          </a:p>
        </p:txBody>
      </p:sp>
      <p:sp>
        <p:nvSpPr>
          <p:cNvPr id="21" name="Text 17"/>
          <p:cNvSpPr/>
          <p:nvPr/>
        </p:nvSpPr>
        <p:spPr>
          <a:xfrm>
            <a:off x="7697986" y="6592253"/>
            <a:ext cx="5932884" cy="872252"/>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Quedan únicamente </a:t>
            </a:r>
            <a:pPr algn="l" indent="0" marL="0">
              <a:lnSpc>
                <a:spcPts val="2250"/>
              </a:lnSpc>
              <a:buNone/>
            </a:pPr>
            <a:r>
              <a:rPr lang="en-US" sz="1500" b="1" dirty="0">
                <a:solidFill>
                  <a:srgbClr val="384653"/>
                </a:solidFill>
                <a:latin typeface="Roboto" pitchFamily="34" charset="0"/>
                <a:ea typeface="Roboto" pitchFamily="34" charset="-122"/>
                <a:cs typeface="Roboto" pitchFamily="34" charset="-120"/>
              </a:rPr>
              <a:t>3 cupos en la región de Pánuco</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Cuando se agoten, se cierra la ventana. No hay segunda oportunidad en esta temporada.</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402449" y="770811"/>
            <a:ext cx="7014329" cy="310158"/>
          </a:xfrm>
          <a:prstGeom prst="rect">
            <a:avLst/>
          </a:prstGeom>
          <a:noFill/>
          <a:ln/>
        </p:spPr>
        <p:txBody>
          <a:bodyPr wrap="none" lIns="0" tIns="0" rIns="0" bIns="0" rtlCol="0" anchor="t"/>
          <a:lstStyle/>
          <a:p>
            <a:pPr algn="l" indent="0" marL="0">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Con el descuento, el análisis dice </a:t>
            </a:r>
            <a:pPr algn="l" indent="0" marL="0">
              <a:lnSpc>
                <a:spcPts val="2400"/>
              </a:lnSpc>
              <a:buNone/>
            </a:pPr>
            <a:r>
              <a:rPr lang="en-US" sz="1950" dirty="0">
                <a:solidFill>
                  <a:srgbClr val="95CCDA"/>
                </a:solidFill>
                <a:latin typeface="Host Grotesk Medium" pitchFamily="34" charset="0"/>
                <a:ea typeface="Host Grotesk Medium" pitchFamily="34" charset="-122"/>
                <a:cs typeface="Host Grotesk Medium" pitchFamily="34" charset="-120"/>
              </a:rPr>
              <a:t>SÍ</a:t>
            </a:r>
            <a:pPr algn="l" indent="0" marL="0">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 Así queda la matemática.</a:t>
            </a:r>
            <a:endParaRPr lang="en-US" sz="1950" dirty="0"/>
          </a:p>
        </p:txBody>
      </p:sp>
      <p:sp>
        <p:nvSpPr>
          <p:cNvPr id="3" name="Text 1"/>
          <p:cNvSpPr/>
          <p:nvPr/>
        </p:nvSpPr>
        <p:spPr>
          <a:xfrm>
            <a:off x="3402449" y="1180148"/>
            <a:ext cx="7825502" cy="334685"/>
          </a:xfrm>
          <a:prstGeom prst="rect">
            <a:avLst/>
          </a:prstGeom>
          <a:noFill/>
          <a:ln/>
        </p:spPr>
        <p:txBody>
          <a:bodyPr wrap="squar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Dos indicadores clave confirman la viabilidad con el descuento del 30%: el período de recuperación cae de 9.2 a </a:t>
            </a:r>
            <a:pPr algn="l" indent="0" marL="0">
              <a:lnSpc>
                <a:spcPts val="850"/>
              </a:lnSpc>
              <a:buNone/>
            </a:pPr>
            <a:r>
              <a:rPr lang="en-US" sz="750" b="1" dirty="0">
                <a:solidFill>
                  <a:srgbClr val="384653"/>
                </a:solidFill>
                <a:latin typeface="Roboto" pitchFamily="34" charset="0"/>
                <a:ea typeface="Roboto" pitchFamily="34" charset="-122"/>
                <a:cs typeface="Roboto" pitchFamily="34" charset="-120"/>
              </a:rPr>
              <a:t>6.5 años</a:t>
            </a:r>
            <a:pPr algn="l" indent="0" marL="0">
              <a:lnSpc>
                <a:spcPts val="850"/>
              </a:lnSpc>
              <a:buNone/>
            </a:pPr>
            <a:r>
              <a:rPr lang="en-US" sz="750" dirty="0">
                <a:solidFill>
                  <a:srgbClr val="384653"/>
                </a:solidFill>
                <a:latin typeface="Roboto" pitchFamily="34" charset="0"/>
                <a:ea typeface="Roboto" pitchFamily="34" charset="-122"/>
                <a:cs typeface="Roboto" pitchFamily="34" charset="-120"/>
              </a:rPr>
              <a:t> — dentro de la vida útil del sistema — y el precio de indiferencia baja de $873.48 a </a:t>
            </a:r>
            <a:pPr algn="l" indent="0" marL="0">
              <a:lnSpc>
                <a:spcPts val="850"/>
              </a:lnSpc>
              <a:buNone/>
            </a:pPr>
            <a:r>
              <a:rPr lang="en-US" sz="750" b="1" dirty="0">
                <a:solidFill>
                  <a:srgbClr val="384653"/>
                </a:solidFill>
                <a:latin typeface="Roboto" pitchFamily="34" charset="0"/>
                <a:ea typeface="Roboto" pitchFamily="34" charset="-122"/>
                <a:cs typeface="Roboto" pitchFamily="34" charset="-120"/>
              </a:rPr>
              <a:t>$791.27 MXN/ton</a:t>
            </a:r>
            <a:pPr algn="l" indent="0" marL="0">
              <a:lnSpc>
                <a:spcPts val="850"/>
              </a:lnSpc>
              <a:buNone/>
            </a:pPr>
            <a:r>
              <a:rPr lang="en-US" sz="750" dirty="0">
                <a:solidFill>
                  <a:srgbClr val="384653"/>
                </a:solidFill>
                <a:latin typeface="Roboto" pitchFamily="34" charset="0"/>
                <a:ea typeface="Roboto" pitchFamily="34" charset="-122"/>
                <a:cs typeface="Roboto" pitchFamily="34" charset="-120"/>
              </a:rPr>
              <a:t>, por debajo del precio promedio esperado de $807.04. Esto significa que </a:t>
            </a:r>
            <a:pPr algn="l" indent="0" marL="0">
              <a:lnSpc>
                <a:spcPts val="850"/>
              </a:lnSpc>
              <a:buNone/>
            </a:pPr>
            <a:r>
              <a:rPr lang="en-US" sz="750" b="1" dirty="0">
                <a:solidFill>
                  <a:srgbClr val="384653"/>
                </a:solidFill>
                <a:latin typeface="Roboto" pitchFamily="34" charset="0"/>
                <a:ea typeface="Roboto" pitchFamily="34" charset="-122"/>
                <a:cs typeface="Roboto" pitchFamily="34" charset="-120"/>
              </a:rPr>
              <a:t>con los precios actuales el riego ya es rentable</a:t>
            </a:r>
            <a:pPr algn="l" indent="0" marL="0">
              <a:lnSpc>
                <a:spcPts val="850"/>
              </a:lnSpc>
              <a:buNone/>
            </a:pPr>
            <a:r>
              <a:rPr lang="en-US" sz="750" dirty="0">
                <a:solidFill>
                  <a:srgbClr val="384653"/>
                </a:solidFill>
                <a:latin typeface="Roboto" pitchFamily="34" charset="0"/>
                <a:ea typeface="Roboto" pitchFamily="34" charset="-122"/>
                <a:cs typeface="Roboto" pitchFamily="34" charset="-120"/>
              </a:rPr>
              <a:t>, sin necesitar que los precios suban.</a:t>
            </a:r>
            <a:endParaRPr lang="en-US" sz="750" dirty="0"/>
          </a:p>
        </p:txBody>
      </p:sp>
      <p:sp>
        <p:nvSpPr>
          <p:cNvPr id="4" name="Shape 2"/>
          <p:cNvSpPr/>
          <p:nvPr/>
        </p:nvSpPr>
        <p:spPr>
          <a:xfrm>
            <a:off x="3402449" y="1570553"/>
            <a:ext cx="7825502" cy="1171337"/>
          </a:xfrm>
          <a:prstGeom prst="roundRect">
            <a:avLst>
              <a:gd name="adj" fmla="val 3558"/>
            </a:avLst>
          </a:prstGeom>
          <a:noFill/>
          <a:ln w="7620">
            <a:solidFill>
              <a:srgbClr val="000000">
                <a:alpha val="8000"/>
              </a:srgbClr>
            </a:solidFill>
            <a:prstDash val="solid"/>
          </a:ln>
        </p:spPr>
      </p:sp>
      <p:sp>
        <p:nvSpPr>
          <p:cNvPr id="5" name="Text 3"/>
          <p:cNvSpPr/>
          <p:nvPr/>
        </p:nvSpPr>
        <p:spPr>
          <a:xfrm>
            <a:off x="3509486" y="1615559"/>
            <a:ext cx="2531388" cy="111562"/>
          </a:xfrm>
          <a:prstGeom prst="rect">
            <a:avLst/>
          </a:prstGeom>
          <a:noFill/>
          <a:ln/>
        </p:spPr>
        <p:txBody>
          <a:bodyPr wrap="none" lIns="0" tIns="0" rIns="0" bIns="0" rtlCol="0" anchor="t"/>
          <a:lstStyle/>
          <a:p>
            <a:pPr algn="l" indent="0" marL="0">
              <a:lnSpc>
                <a:spcPts val="850"/>
              </a:lnSpc>
              <a:buNone/>
            </a:pPr>
            <a:r>
              <a:rPr lang="en-US" sz="750" b="1" dirty="0">
                <a:solidFill>
                  <a:srgbClr val="384653"/>
                </a:solidFill>
                <a:latin typeface="Roboto" pitchFamily="34" charset="0"/>
                <a:ea typeface="Roboto" pitchFamily="34" charset="-122"/>
                <a:cs typeface="Roboto" pitchFamily="34" charset="-120"/>
              </a:rPr>
              <a:t>Concepto</a:t>
            </a:r>
            <a:endParaRPr lang="en-US" sz="750" dirty="0"/>
          </a:p>
        </p:txBody>
      </p:sp>
      <p:sp>
        <p:nvSpPr>
          <p:cNvPr id="6" name="Text 4"/>
          <p:cNvSpPr/>
          <p:nvPr/>
        </p:nvSpPr>
        <p:spPr>
          <a:xfrm>
            <a:off x="6246852" y="1615559"/>
            <a:ext cx="1512213" cy="111562"/>
          </a:xfrm>
          <a:prstGeom prst="rect">
            <a:avLst/>
          </a:prstGeom>
          <a:noFill/>
          <a:ln/>
        </p:spPr>
        <p:txBody>
          <a:bodyPr wrap="none" lIns="0" tIns="0" rIns="0" bIns="0" rtlCol="0" anchor="t"/>
          <a:lstStyle/>
          <a:p>
            <a:pPr algn="l" indent="0" marL="0">
              <a:lnSpc>
                <a:spcPts val="850"/>
              </a:lnSpc>
              <a:buNone/>
            </a:pPr>
            <a:r>
              <a:rPr lang="en-US" sz="750" b="1" dirty="0">
                <a:solidFill>
                  <a:srgbClr val="384653"/>
                </a:solidFill>
                <a:latin typeface="Roboto" pitchFamily="34" charset="0"/>
                <a:ea typeface="Roboto" pitchFamily="34" charset="-122"/>
                <a:cs typeface="Roboto" pitchFamily="34" charset="-120"/>
              </a:rPr>
              <a:t>Temporal</a:t>
            </a:r>
            <a:endParaRPr lang="en-US" sz="750" dirty="0"/>
          </a:p>
        </p:txBody>
      </p:sp>
      <p:sp>
        <p:nvSpPr>
          <p:cNvPr id="7" name="Text 5"/>
          <p:cNvSpPr/>
          <p:nvPr/>
        </p:nvSpPr>
        <p:spPr>
          <a:xfrm>
            <a:off x="7965043" y="1615559"/>
            <a:ext cx="1512213" cy="111562"/>
          </a:xfrm>
          <a:prstGeom prst="rect">
            <a:avLst/>
          </a:prstGeom>
          <a:noFill/>
          <a:ln/>
        </p:spPr>
        <p:txBody>
          <a:bodyPr wrap="none" lIns="0" tIns="0" rIns="0" bIns="0" rtlCol="0" anchor="t"/>
          <a:lstStyle/>
          <a:p>
            <a:pPr algn="l" indent="0" marL="0">
              <a:lnSpc>
                <a:spcPts val="850"/>
              </a:lnSpc>
              <a:buNone/>
            </a:pPr>
            <a:r>
              <a:rPr lang="en-US" sz="750" b="1" dirty="0">
                <a:solidFill>
                  <a:srgbClr val="384653"/>
                </a:solidFill>
                <a:latin typeface="Roboto" pitchFamily="34" charset="0"/>
                <a:ea typeface="Roboto" pitchFamily="34" charset="-122"/>
                <a:cs typeface="Roboto" pitchFamily="34" charset="-120"/>
              </a:rPr>
              <a:t>Riego −30%</a:t>
            </a:r>
            <a:endParaRPr lang="en-US" sz="750" dirty="0"/>
          </a:p>
        </p:txBody>
      </p:sp>
      <p:sp>
        <p:nvSpPr>
          <p:cNvPr id="8" name="Text 6"/>
          <p:cNvSpPr/>
          <p:nvPr/>
        </p:nvSpPr>
        <p:spPr>
          <a:xfrm>
            <a:off x="9683234" y="1615559"/>
            <a:ext cx="1437918" cy="111562"/>
          </a:xfrm>
          <a:prstGeom prst="rect">
            <a:avLst/>
          </a:prstGeom>
          <a:noFill/>
          <a:ln/>
        </p:spPr>
        <p:txBody>
          <a:bodyPr wrap="none" lIns="0" tIns="0" rIns="0" bIns="0" rtlCol="0" anchor="t"/>
          <a:lstStyle/>
          <a:p>
            <a:pPr algn="l" indent="0" marL="0">
              <a:lnSpc>
                <a:spcPts val="850"/>
              </a:lnSpc>
              <a:buNone/>
            </a:pPr>
            <a:r>
              <a:rPr lang="en-US" sz="750" b="1" dirty="0">
                <a:solidFill>
                  <a:srgbClr val="384653"/>
                </a:solidFill>
                <a:latin typeface="Roboto" pitchFamily="34" charset="0"/>
                <a:ea typeface="Roboto" pitchFamily="34" charset="-122"/>
                <a:cs typeface="Roboto" pitchFamily="34" charset="-120"/>
              </a:rPr>
              <a:t>Diferencia</a:t>
            </a:r>
            <a:endParaRPr lang="en-US" sz="750" dirty="0"/>
          </a:p>
        </p:txBody>
      </p:sp>
      <p:sp>
        <p:nvSpPr>
          <p:cNvPr id="9" name="Text 7"/>
          <p:cNvSpPr/>
          <p:nvPr/>
        </p:nvSpPr>
        <p:spPr>
          <a:xfrm>
            <a:off x="3509486" y="1809512"/>
            <a:ext cx="2531388"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Rendimiento esperado</a:t>
            </a:r>
            <a:endParaRPr lang="en-US" sz="750" dirty="0"/>
          </a:p>
        </p:txBody>
      </p:sp>
      <p:sp>
        <p:nvSpPr>
          <p:cNvPr id="10" name="Text 8"/>
          <p:cNvSpPr/>
          <p:nvPr/>
        </p:nvSpPr>
        <p:spPr>
          <a:xfrm>
            <a:off x="6246852" y="1809512"/>
            <a:ext cx="1512213"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47.0 ton/ha/año</a:t>
            </a:r>
            <a:endParaRPr lang="en-US" sz="750" dirty="0"/>
          </a:p>
        </p:txBody>
      </p:sp>
      <p:sp>
        <p:nvSpPr>
          <p:cNvPr id="11" name="Text 9"/>
          <p:cNvSpPr/>
          <p:nvPr/>
        </p:nvSpPr>
        <p:spPr>
          <a:xfrm>
            <a:off x="7965043" y="1809512"/>
            <a:ext cx="1512213"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88.7 ton/ha/año</a:t>
            </a:r>
            <a:endParaRPr lang="en-US" sz="750" dirty="0"/>
          </a:p>
        </p:txBody>
      </p:sp>
      <p:sp>
        <p:nvSpPr>
          <p:cNvPr id="12" name="Text 10"/>
          <p:cNvSpPr/>
          <p:nvPr/>
        </p:nvSpPr>
        <p:spPr>
          <a:xfrm>
            <a:off x="9683234" y="1809512"/>
            <a:ext cx="1437918"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+41.7 ton/ha</a:t>
            </a:r>
            <a:endParaRPr lang="en-US" sz="750" dirty="0"/>
          </a:p>
        </p:txBody>
      </p:sp>
      <p:sp>
        <p:nvSpPr>
          <p:cNvPr id="13" name="Text 11"/>
          <p:cNvSpPr/>
          <p:nvPr/>
        </p:nvSpPr>
        <p:spPr>
          <a:xfrm>
            <a:off x="3509486" y="2003465"/>
            <a:ext cx="2531388"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Ingreso bruto 7 años</a:t>
            </a:r>
            <a:endParaRPr lang="en-US" sz="750" dirty="0"/>
          </a:p>
        </p:txBody>
      </p:sp>
      <p:sp>
        <p:nvSpPr>
          <p:cNvPr id="14" name="Text 12"/>
          <p:cNvSpPr/>
          <p:nvPr/>
        </p:nvSpPr>
        <p:spPr>
          <a:xfrm>
            <a:off x="6246852" y="2003465"/>
            <a:ext cx="1512213"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$26,550,286 MXN</a:t>
            </a:r>
            <a:endParaRPr lang="en-US" sz="750" dirty="0"/>
          </a:p>
        </p:txBody>
      </p:sp>
      <p:sp>
        <p:nvSpPr>
          <p:cNvPr id="15" name="Text 13"/>
          <p:cNvSpPr/>
          <p:nvPr/>
        </p:nvSpPr>
        <p:spPr>
          <a:xfrm>
            <a:off x="7965043" y="2003465"/>
            <a:ext cx="1512213"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$50,125,700 MXN</a:t>
            </a:r>
            <a:endParaRPr lang="en-US" sz="750" dirty="0"/>
          </a:p>
        </p:txBody>
      </p:sp>
      <p:sp>
        <p:nvSpPr>
          <p:cNvPr id="16" name="Text 14"/>
          <p:cNvSpPr/>
          <p:nvPr/>
        </p:nvSpPr>
        <p:spPr>
          <a:xfrm>
            <a:off x="9683234" y="2003465"/>
            <a:ext cx="1437918"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+$23.5M</a:t>
            </a:r>
            <a:endParaRPr lang="en-US" sz="750" dirty="0"/>
          </a:p>
        </p:txBody>
      </p:sp>
      <p:sp>
        <p:nvSpPr>
          <p:cNvPr id="17" name="Text 15"/>
          <p:cNvSpPr/>
          <p:nvPr/>
        </p:nvSpPr>
        <p:spPr>
          <a:xfrm>
            <a:off x="3509486" y="2197418"/>
            <a:ext cx="2531388"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Costo operativo 7 años</a:t>
            </a:r>
            <a:endParaRPr lang="en-US" sz="750" dirty="0"/>
          </a:p>
        </p:txBody>
      </p:sp>
      <p:sp>
        <p:nvSpPr>
          <p:cNvPr id="18" name="Text 16"/>
          <p:cNvSpPr/>
          <p:nvPr/>
        </p:nvSpPr>
        <p:spPr>
          <a:xfrm>
            <a:off x="6246852" y="2197418"/>
            <a:ext cx="1512213"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$26,600,000 MXN</a:t>
            </a:r>
            <a:endParaRPr lang="en-US" sz="750" dirty="0"/>
          </a:p>
        </p:txBody>
      </p:sp>
      <p:sp>
        <p:nvSpPr>
          <p:cNvPr id="19" name="Text 17"/>
          <p:cNvSpPr/>
          <p:nvPr/>
        </p:nvSpPr>
        <p:spPr>
          <a:xfrm>
            <a:off x="7965043" y="2197418"/>
            <a:ext cx="1512213"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$44,100,000 MXN</a:t>
            </a:r>
            <a:endParaRPr lang="en-US" sz="750" dirty="0"/>
          </a:p>
        </p:txBody>
      </p:sp>
      <p:sp>
        <p:nvSpPr>
          <p:cNvPr id="20" name="Text 18"/>
          <p:cNvSpPr/>
          <p:nvPr/>
        </p:nvSpPr>
        <p:spPr>
          <a:xfrm>
            <a:off x="9683234" y="2197418"/>
            <a:ext cx="1437918"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a:t>
            </a:r>
            <a:endParaRPr lang="en-US" sz="750" dirty="0"/>
          </a:p>
        </p:txBody>
      </p:sp>
      <p:sp>
        <p:nvSpPr>
          <p:cNvPr id="21" name="Text 19"/>
          <p:cNvSpPr/>
          <p:nvPr/>
        </p:nvSpPr>
        <p:spPr>
          <a:xfrm>
            <a:off x="3509486" y="2391370"/>
            <a:ext cx="2531388"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Inversión inicial</a:t>
            </a:r>
            <a:endParaRPr lang="en-US" sz="750" dirty="0"/>
          </a:p>
        </p:txBody>
      </p:sp>
      <p:sp>
        <p:nvSpPr>
          <p:cNvPr id="22" name="Text 20"/>
          <p:cNvSpPr/>
          <p:nvPr/>
        </p:nvSpPr>
        <p:spPr>
          <a:xfrm>
            <a:off x="6246852" y="2391370"/>
            <a:ext cx="1512213"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$0</a:t>
            </a:r>
            <a:endParaRPr lang="en-US" sz="750" dirty="0"/>
          </a:p>
        </p:txBody>
      </p:sp>
      <p:sp>
        <p:nvSpPr>
          <p:cNvPr id="23" name="Text 21"/>
          <p:cNvSpPr/>
          <p:nvPr/>
        </p:nvSpPr>
        <p:spPr>
          <a:xfrm>
            <a:off x="7965043" y="2391370"/>
            <a:ext cx="1512213"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$5,600,000 MXN</a:t>
            </a:r>
            <a:endParaRPr lang="en-US" sz="750" dirty="0"/>
          </a:p>
        </p:txBody>
      </p:sp>
      <p:sp>
        <p:nvSpPr>
          <p:cNvPr id="24" name="Text 22"/>
          <p:cNvSpPr/>
          <p:nvPr/>
        </p:nvSpPr>
        <p:spPr>
          <a:xfrm>
            <a:off x="9683234" y="2391370"/>
            <a:ext cx="1437918" cy="111562"/>
          </a:xfrm>
          <a:prstGeom prst="rect">
            <a:avLst/>
          </a:prstGeom>
          <a:noFill/>
          <a:ln/>
        </p:spPr>
        <p:txBody>
          <a:bodyPr wrap="non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a:t>
            </a:r>
            <a:endParaRPr lang="en-US" sz="750" dirty="0"/>
          </a:p>
        </p:txBody>
      </p:sp>
      <p:sp>
        <p:nvSpPr>
          <p:cNvPr id="25" name="Text 23"/>
          <p:cNvSpPr/>
          <p:nvPr/>
        </p:nvSpPr>
        <p:spPr>
          <a:xfrm>
            <a:off x="3509486" y="2585323"/>
            <a:ext cx="2531388" cy="111562"/>
          </a:xfrm>
          <a:prstGeom prst="rect">
            <a:avLst/>
          </a:prstGeom>
          <a:noFill/>
          <a:ln/>
        </p:spPr>
        <p:txBody>
          <a:bodyPr wrap="none" lIns="0" tIns="0" rIns="0" bIns="0" rtlCol="0" anchor="t"/>
          <a:lstStyle/>
          <a:p>
            <a:pPr algn="l" indent="0" marL="0">
              <a:lnSpc>
                <a:spcPts val="850"/>
              </a:lnSpc>
              <a:buNone/>
            </a:pPr>
            <a:r>
              <a:rPr lang="en-US" sz="750" b="1" dirty="0">
                <a:solidFill>
                  <a:srgbClr val="384653"/>
                </a:solidFill>
                <a:latin typeface="Roboto" pitchFamily="34" charset="0"/>
                <a:ea typeface="Roboto" pitchFamily="34" charset="-122"/>
                <a:cs typeface="Roboto" pitchFamily="34" charset="-120"/>
              </a:rPr>
              <a:t>Utilidad neta acumulada</a:t>
            </a:r>
            <a:endParaRPr lang="en-US" sz="750" dirty="0"/>
          </a:p>
        </p:txBody>
      </p:sp>
      <p:sp>
        <p:nvSpPr>
          <p:cNvPr id="26" name="Text 24"/>
          <p:cNvSpPr/>
          <p:nvPr/>
        </p:nvSpPr>
        <p:spPr>
          <a:xfrm>
            <a:off x="6246852" y="2585323"/>
            <a:ext cx="1512213" cy="111562"/>
          </a:xfrm>
          <a:prstGeom prst="rect">
            <a:avLst/>
          </a:prstGeom>
          <a:noFill/>
          <a:ln/>
        </p:spPr>
        <p:txBody>
          <a:bodyPr wrap="none" lIns="0" tIns="0" rIns="0" bIns="0" rtlCol="0" anchor="t"/>
          <a:lstStyle/>
          <a:p>
            <a:pPr algn="l" indent="0" marL="0">
              <a:lnSpc>
                <a:spcPts val="850"/>
              </a:lnSpc>
              <a:buNone/>
            </a:pPr>
            <a:r>
              <a:rPr lang="en-US" sz="750" b="1" dirty="0">
                <a:solidFill>
                  <a:srgbClr val="384653"/>
                </a:solidFill>
                <a:latin typeface="Roboto" pitchFamily="34" charset="0"/>
                <a:ea typeface="Roboto" pitchFamily="34" charset="-122"/>
                <a:cs typeface="Roboto" pitchFamily="34" charset="-120"/>
              </a:rPr>
              <a:t>−$34,316 MXN</a:t>
            </a:r>
            <a:endParaRPr lang="en-US" sz="750" dirty="0"/>
          </a:p>
        </p:txBody>
      </p:sp>
      <p:sp>
        <p:nvSpPr>
          <p:cNvPr id="27" name="Text 25"/>
          <p:cNvSpPr/>
          <p:nvPr/>
        </p:nvSpPr>
        <p:spPr>
          <a:xfrm>
            <a:off x="7965043" y="2585323"/>
            <a:ext cx="1512213" cy="111562"/>
          </a:xfrm>
          <a:prstGeom prst="rect">
            <a:avLst/>
          </a:prstGeom>
          <a:noFill/>
          <a:ln/>
        </p:spPr>
        <p:txBody>
          <a:bodyPr wrap="none" lIns="0" tIns="0" rIns="0" bIns="0" rtlCol="0" anchor="t"/>
          <a:lstStyle/>
          <a:p>
            <a:pPr algn="l" indent="0" marL="0">
              <a:lnSpc>
                <a:spcPts val="850"/>
              </a:lnSpc>
              <a:buNone/>
            </a:pPr>
            <a:r>
              <a:rPr lang="en-US" sz="750" b="1" dirty="0">
                <a:solidFill>
                  <a:srgbClr val="384653"/>
                </a:solidFill>
                <a:latin typeface="Roboto" pitchFamily="34" charset="0"/>
                <a:ea typeface="Roboto" pitchFamily="34" charset="-122"/>
                <a:cs typeface="Roboto" pitchFamily="34" charset="-120"/>
              </a:rPr>
              <a:t>+$425,958 MXN</a:t>
            </a:r>
            <a:endParaRPr lang="en-US" sz="750" dirty="0"/>
          </a:p>
        </p:txBody>
      </p:sp>
      <p:sp>
        <p:nvSpPr>
          <p:cNvPr id="28" name="Text 26"/>
          <p:cNvSpPr/>
          <p:nvPr/>
        </p:nvSpPr>
        <p:spPr>
          <a:xfrm>
            <a:off x="9683234" y="2585323"/>
            <a:ext cx="1437918" cy="111562"/>
          </a:xfrm>
          <a:prstGeom prst="rect">
            <a:avLst/>
          </a:prstGeom>
          <a:noFill/>
          <a:ln/>
        </p:spPr>
        <p:txBody>
          <a:bodyPr wrap="none" lIns="0" tIns="0" rIns="0" bIns="0" rtlCol="0" anchor="t"/>
          <a:lstStyle/>
          <a:p>
            <a:pPr algn="l" indent="0" marL="0">
              <a:lnSpc>
                <a:spcPts val="850"/>
              </a:lnSpc>
              <a:buNone/>
            </a:pPr>
            <a:r>
              <a:rPr lang="en-US" sz="750" b="1" dirty="0">
                <a:solidFill>
                  <a:srgbClr val="384653"/>
                </a:solidFill>
                <a:latin typeface="Roboto" pitchFamily="34" charset="0"/>
                <a:ea typeface="Roboto" pitchFamily="34" charset="-122"/>
                <a:cs typeface="Roboto" pitchFamily="34" charset="-120"/>
              </a:rPr>
              <a:t>+$460,274 MXN</a:t>
            </a:r>
            <a:endParaRPr lang="en-US" sz="750" dirty="0"/>
          </a:p>
        </p:txBody>
      </p:sp>
      <p:sp>
        <p:nvSpPr>
          <p:cNvPr id="29" name="Text 27"/>
          <p:cNvSpPr/>
          <p:nvPr/>
        </p:nvSpPr>
        <p:spPr>
          <a:xfrm>
            <a:off x="3402449" y="2797612"/>
            <a:ext cx="7825502" cy="223123"/>
          </a:xfrm>
          <a:prstGeom prst="rect">
            <a:avLst/>
          </a:prstGeom>
          <a:noFill/>
          <a:ln/>
        </p:spPr>
        <p:txBody>
          <a:bodyPr wrap="square" lIns="0" tIns="0" rIns="0" bIns="0" rtlCol="0" anchor="t"/>
          <a:lstStyle/>
          <a:p>
            <a:pPr algn="l" indent="0" marL="0">
              <a:lnSpc>
                <a:spcPts val="850"/>
              </a:lnSpc>
              <a:buNone/>
            </a:pPr>
            <a:r>
              <a:rPr lang="en-US" sz="750" dirty="0">
                <a:solidFill>
                  <a:srgbClr val="384653"/>
                </a:solidFill>
                <a:latin typeface="Roboto" pitchFamily="34" charset="0"/>
                <a:ea typeface="Roboto" pitchFamily="34" charset="-122"/>
                <a:cs typeface="Roboto" pitchFamily="34" charset="-120"/>
              </a:rPr>
              <a:t>La tabla de sensibilidad al precio confirma que el riego con descuento supera al temporal en todos los escenarios a partir de </a:t>
            </a:r>
            <a:pPr algn="l" indent="0" marL="0">
              <a:lnSpc>
                <a:spcPts val="850"/>
              </a:lnSpc>
              <a:buNone/>
            </a:pPr>
            <a:r>
              <a:rPr lang="en-US" sz="750" b="1" dirty="0">
                <a:solidFill>
                  <a:srgbClr val="384653"/>
                </a:solidFill>
                <a:latin typeface="Roboto" pitchFamily="34" charset="0"/>
                <a:ea typeface="Roboto" pitchFamily="34" charset="-122"/>
                <a:cs typeface="Roboto" pitchFamily="34" charset="-120"/>
              </a:rPr>
              <a:t>$791 MXN/ton</a:t>
            </a:r>
            <a:pPr algn="l" indent="0" marL="0">
              <a:lnSpc>
                <a:spcPts val="850"/>
              </a:lnSpc>
              <a:buNone/>
            </a:pPr>
            <a:r>
              <a:rPr lang="en-US" sz="750" dirty="0">
                <a:solidFill>
                  <a:srgbClr val="384653"/>
                </a:solidFill>
                <a:latin typeface="Roboto" pitchFamily="34" charset="0"/>
                <a:ea typeface="Roboto" pitchFamily="34" charset="-122"/>
                <a:cs typeface="Roboto" pitchFamily="34" charset="-120"/>
              </a:rPr>
              <a:t>. En años de precios altos como los históricos de $897–$901 MXN/ton, el riego genera casi </a:t>
            </a:r>
            <a:pPr algn="l" indent="0" marL="0">
              <a:lnSpc>
                <a:spcPts val="850"/>
              </a:lnSpc>
              <a:buNone/>
            </a:pPr>
            <a:r>
              <a:rPr lang="en-US" sz="750" b="1" dirty="0">
                <a:solidFill>
                  <a:srgbClr val="384653"/>
                </a:solidFill>
                <a:latin typeface="Roboto" pitchFamily="34" charset="0"/>
                <a:ea typeface="Roboto" pitchFamily="34" charset="-122"/>
                <a:cs typeface="Roboto" pitchFamily="34" charset="-120"/>
              </a:rPr>
              <a:t>$2.8 millones de utilidad extra</a:t>
            </a:r>
            <a:pPr algn="l" indent="0" marL="0">
              <a:lnSpc>
                <a:spcPts val="850"/>
              </a:lnSpc>
              <a:buNone/>
            </a:pPr>
            <a:r>
              <a:rPr lang="en-US" sz="750" dirty="0">
                <a:solidFill>
                  <a:srgbClr val="384653"/>
                </a:solidFill>
                <a:latin typeface="Roboto" pitchFamily="34" charset="0"/>
                <a:ea typeface="Roboto" pitchFamily="34" charset="-122"/>
                <a:cs typeface="Roboto" pitchFamily="34" charset="-120"/>
              </a:rPr>
              <a:t> frente al temporal.</a:t>
            </a:r>
            <a:endParaRPr lang="en-US" sz="750" dirty="0"/>
          </a:p>
        </p:txBody>
      </p:sp>
      <p:sp>
        <p:nvSpPr>
          <p:cNvPr id="30" name="Shape 28"/>
          <p:cNvSpPr/>
          <p:nvPr/>
        </p:nvSpPr>
        <p:spPr>
          <a:xfrm>
            <a:off x="3402449" y="3076456"/>
            <a:ext cx="939284" cy="164544"/>
          </a:xfrm>
          <a:prstGeom prst="roundRect">
            <a:avLst>
              <a:gd name="adj" fmla="val 77800"/>
            </a:avLst>
          </a:prstGeom>
          <a:solidFill>
            <a:srgbClr val="FFFFFF">
              <a:alpha val="20000"/>
            </a:srgbClr>
          </a:solidFill>
          <a:ln w="7620">
            <a:solidFill>
              <a:srgbClr val="000000"/>
            </a:solidFill>
            <a:prstDash val="solid"/>
          </a:ln>
        </p:spPr>
      </p:sp>
      <p:pic>
        <p:nvPicPr>
          <p:cNvPr id="31" name="Image 0" descr="preencoded.png">    </p:cNvPr>
          <p:cNvPicPr>
            <a:picLocks noChangeAspect="1"/>
          </p:cNvPicPr>
          <p:nvPr/>
        </p:nvPicPr>
        <p:blipFill>
          <a:blip r:embed="rId1"/>
          <a:stretch>
            <a:fillRect/>
          </a:stretch>
        </p:blipFill>
        <p:spPr>
          <a:xfrm>
            <a:off x="3455789" y="3113008"/>
            <a:ext cx="91440" cy="91440"/>
          </a:xfrm>
          <a:prstGeom prst="rect">
            <a:avLst/>
          </a:prstGeom>
        </p:spPr>
      </p:pic>
      <p:sp>
        <p:nvSpPr>
          <p:cNvPr id="32" name="Text 29"/>
          <p:cNvSpPr/>
          <p:nvPr/>
        </p:nvSpPr>
        <p:spPr>
          <a:xfrm>
            <a:off x="3577709" y="3099316"/>
            <a:ext cx="683300" cy="118824"/>
          </a:xfrm>
          <a:prstGeom prst="rect">
            <a:avLst/>
          </a:prstGeom>
          <a:noFill/>
          <a:ln/>
        </p:spPr>
        <p:txBody>
          <a:bodyPr wrap="none" lIns="0" tIns="0" rIns="0" bIns="0" rtlCol="0" anchor="t"/>
          <a:lstStyle/>
          <a:p>
            <a:pPr algn="l" indent="0" marL="0">
              <a:lnSpc>
                <a:spcPts val="900"/>
              </a:lnSpc>
              <a:buNone/>
            </a:pPr>
            <a:r>
              <a:rPr lang="en-US" sz="700" dirty="0">
                <a:solidFill>
                  <a:srgbClr val="384653"/>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Temporal 7 años</a:t>
            </a:r>
            <a:endParaRPr lang="en-US" sz="700" dirty="0"/>
          </a:p>
        </p:txBody>
      </p:sp>
      <p:sp>
        <p:nvSpPr>
          <p:cNvPr id="33" name="Shape 30"/>
          <p:cNvSpPr/>
          <p:nvPr/>
        </p:nvSpPr>
        <p:spPr>
          <a:xfrm>
            <a:off x="4402693" y="3076456"/>
            <a:ext cx="1090613" cy="164544"/>
          </a:xfrm>
          <a:prstGeom prst="roundRect">
            <a:avLst>
              <a:gd name="adj" fmla="val 77800"/>
            </a:avLst>
          </a:prstGeom>
          <a:solidFill>
            <a:srgbClr val="FFFFFF">
              <a:alpha val="20000"/>
            </a:srgbClr>
          </a:solidFill>
          <a:ln w="7620">
            <a:solidFill>
              <a:srgbClr val="000000"/>
            </a:solidFill>
            <a:prstDash val="solid"/>
          </a:ln>
        </p:spPr>
      </p:sp>
      <p:pic>
        <p:nvPicPr>
          <p:cNvPr id="34" name="Image 1" descr="preencoded.png">    </p:cNvPr>
          <p:cNvPicPr>
            <a:picLocks noChangeAspect="1"/>
          </p:cNvPicPr>
          <p:nvPr/>
        </p:nvPicPr>
        <p:blipFill>
          <a:blip r:embed="rId2"/>
          <a:stretch>
            <a:fillRect/>
          </a:stretch>
        </p:blipFill>
        <p:spPr>
          <a:xfrm>
            <a:off x="4456033" y="3113008"/>
            <a:ext cx="91440" cy="91440"/>
          </a:xfrm>
          <a:prstGeom prst="rect">
            <a:avLst/>
          </a:prstGeom>
        </p:spPr>
      </p:pic>
      <p:sp>
        <p:nvSpPr>
          <p:cNvPr id="35" name="Text 31"/>
          <p:cNvSpPr/>
          <p:nvPr/>
        </p:nvSpPr>
        <p:spPr>
          <a:xfrm>
            <a:off x="4550569" y="3099316"/>
            <a:ext cx="839272" cy="118824"/>
          </a:xfrm>
          <a:prstGeom prst="rect">
            <a:avLst/>
          </a:prstGeom>
          <a:noFill/>
          <a:ln/>
        </p:spPr>
        <p:txBody>
          <a:bodyPr wrap="none" lIns="0" tIns="0" rIns="0" bIns="0" rtlCol="0" anchor="t"/>
          <a:lstStyle/>
          <a:p>
            <a:pPr algn="l" indent="0" marL="0">
              <a:lnSpc>
                <a:spcPts val="900"/>
              </a:lnSpc>
              <a:buNone/>
            </a:pPr>
            <a:r>
              <a:rPr lang="en-US" sz="700" dirty="0">
                <a:solidFill>
                  <a:srgbClr val="384653"/>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Riego −30% (7 años)</a:t>
            </a:r>
            <a:endParaRPr lang="en-US" sz="700" dirty="0"/>
          </a:p>
        </p:txBody>
      </p:sp>
      <p:pic>
        <p:nvPicPr>
          <p:cNvPr id="36" name="Image 2" descr="preencoded.png">    </p:cNvPr>
          <p:cNvPicPr>
            <a:picLocks noChangeAspect="1"/>
          </p:cNvPicPr>
          <p:nvPr/>
        </p:nvPicPr>
        <p:blipFill>
          <a:blip r:embed="rId3"/>
          <a:stretch>
            <a:fillRect/>
          </a:stretch>
        </p:blipFill>
        <p:spPr>
          <a:xfrm>
            <a:off x="3402449" y="3317200"/>
            <a:ext cx="7825502" cy="37343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632579" y="445532"/>
            <a:ext cx="7878842" cy="988457"/>
          </a:xfrm>
          <a:prstGeom prst="rect">
            <a:avLst/>
          </a:prstGeom>
          <a:noFill/>
          <a:ln/>
        </p:spPr>
        <p:txBody>
          <a:bodyPr wrap="square" lIns="0" tIns="0" rIns="0" bIns="0" rtlCol="0" anchor="t"/>
          <a:lstStyle/>
          <a:p>
            <a:pPr algn="l" indent="0" marL="0">
              <a:lnSpc>
                <a:spcPts val="3850"/>
              </a:lnSpc>
              <a:buNone/>
            </a:pPr>
            <a:r>
              <a:rPr lang="en-US" sz="3100" dirty="0">
                <a:solidFill>
                  <a:srgbClr val="2E3C4E"/>
                </a:solidFill>
                <a:latin typeface="Host Grotesk Medium" pitchFamily="34" charset="0"/>
                <a:ea typeface="Host Grotesk Medium" pitchFamily="34" charset="-122"/>
                <a:cs typeface="Host Grotesk Medium" pitchFamily="34" charset="-120"/>
              </a:rPr>
              <a:t>No necesita $5,600,000 en efectivo. </a:t>
            </a:r>
            <a:pPr algn="l" indent="0" marL="0">
              <a:lnSpc>
                <a:spcPts val="3850"/>
              </a:lnSpc>
              <a:buNone/>
            </a:pPr>
            <a:r>
              <a:rPr lang="en-US" sz="3100" dirty="0">
                <a:solidFill>
                  <a:srgbClr val="95CCDA"/>
                </a:solidFill>
                <a:latin typeface="Host Grotesk Medium" pitchFamily="34" charset="0"/>
                <a:ea typeface="Host Grotesk Medium" pitchFamily="34" charset="-122"/>
                <a:cs typeface="Host Grotesk Medium" pitchFamily="34" charset="-120"/>
              </a:rPr>
              <a:t>FIRA lo financia y el sistema casi se paga solo.</a:t>
            </a:r>
            <a:endParaRPr lang="en-US" sz="3100" dirty="0"/>
          </a:p>
        </p:txBody>
      </p:sp>
      <p:sp>
        <p:nvSpPr>
          <p:cNvPr id="4" name="Text 1"/>
          <p:cNvSpPr/>
          <p:nvPr/>
        </p:nvSpPr>
        <p:spPr>
          <a:xfrm>
            <a:off x="632579" y="1622941"/>
            <a:ext cx="7878842" cy="852011"/>
          </a:xfrm>
          <a:prstGeom prst="rect">
            <a:avLst/>
          </a:prstGeom>
          <a:noFill/>
          <a:ln/>
        </p:spPr>
        <p:txBody>
          <a:bodyPr wrap="square" lIns="0" tIns="0" rIns="0" bIns="0" rtlCol="0" anchor="t"/>
          <a:lstStyle/>
          <a:p>
            <a:pPr algn="l" indent="0" marL="0">
              <a:lnSpc>
                <a:spcPts val="1650"/>
              </a:lnSpc>
              <a:buNone/>
            </a:pPr>
            <a:r>
              <a:rPr lang="en-US" sz="1200" dirty="0">
                <a:solidFill>
                  <a:srgbClr val="384653"/>
                </a:solidFill>
                <a:latin typeface="Roboto" pitchFamily="34" charset="0"/>
                <a:ea typeface="Roboto" pitchFamily="34" charset="-122"/>
                <a:cs typeface="Roboto" pitchFamily="34" charset="-120"/>
              </a:rPr>
              <a:t>El obstáculo real no es si el riego conviene — los números ya lo demostraron. El obstáculo es el desembolso inicial. Para eso existe </a:t>
            </a:r>
            <a:pPr algn="l" indent="0" marL="0">
              <a:lnSpc>
                <a:spcPts val="1650"/>
              </a:lnSpc>
              <a:buNone/>
            </a:pPr>
            <a:r>
              <a:rPr lang="en-US" sz="1200" b="1" dirty="0">
                <a:solidFill>
                  <a:srgbClr val="384653"/>
                </a:solidFill>
                <a:latin typeface="Roboto" pitchFamily="34" charset="0"/>
                <a:ea typeface="Roboto" pitchFamily="34" charset="-122"/>
                <a:cs typeface="Roboto" pitchFamily="34" charset="-120"/>
              </a:rPr>
              <a:t>FIRA (Fideicomisos Instituidos en Relación con la Agricultura)</a:t>
            </a:r>
            <a:pPr algn="l" indent="0" marL="0">
              <a:lnSpc>
                <a:spcPts val="1650"/>
              </a:lnSpc>
              <a:buNone/>
            </a:pPr>
            <a:r>
              <a:rPr lang="en-US" sz="1200" dirty="0">
                <a:solidFill>
                  <a:srgbClr val="384653"/>
                </a:solidFill>
                <a:latin typeface="Roboto" pitchFamily="34" charset="0"/>
                <a:ea typeface="Roboto" pitchFamily="34" charset="-122"/>
                <a:cs typeface="Roboto" pitchFamily="34" charset="-120"/>
              </a:rPr>
              <a:t>, la banca de desarrollo federal. Su programa FONAGUA financia exactamente este tipo de inversión: infraestructura hidroagrícola para productores de caña de azúcar.</a:t>
            </a:r>
            <a:endParaRPr lang="en-US" sz="1200" dirty="0"/>
          </a:p>
        </p:txBody>
      </p:sp>
      <p:sp>
        <p:nvSpPr>
          <p:cNvPr id="5" name="Text 2"/>
          <p:cNvSpPr/>
          <p:nvPr/>
        </p:nvSpPr>
        <p:spPr>
          <a:xfrm>
            <a:off x="632579" y="2742605"/>
            <a:ext cx="4159687" cy="494109"/>
          </a:xfrm>
          <a:prstGeom prst="rect">
            <a:avLst/>
          </a:prstGeom>
          <a:noFill/>
          <a:ln/>
        </p:spPr>
        <p:txBody>
          <a:bodyPr wrap="square" lIns="0" tIns="0" rIns="0" bIns="0" rtlCol="0" anchor="t"/>
          <a:lstStyle/>
          <a:p>
            <a:pPr algn="l" indent="0" marL="0">
              <a:lnSpc>
                <a:spcPts val="1900"/>
              </a:lnSpc>
              <a:buNone/>
            </a:pPr>
            <a:r>
              <a:rPr lang="en-US" sz="1550" dirty="0">
                <a:solidFill>
                  <a:srgbClr val="2E3C4E"/>
                </a:solidFill>
                <a:latin typeface="Host Grotesk Medium" pitchFamily="34" charset="0"/>
                <a:ea typeface="Host Grotesk Medium" pitchFamily="34" charset="-122"/>
                <a:cs typeface="Host Grotesk Medium" pitchFamily="34" charset="-120"/>
              </a:rPr>
              <a:t>Estructura del crédito FIRA — Cosechando Soberanía</a:t>
            </a:r>
            <a:endParaRPr lang="en-US" sz="1550" dirty="0"/>
          </a:p>
        </p:txBody>
      </p:sp>
      <p:sp>
        <p:nvSpPr>
          <p:cNvPr id="6" name="Shape 3"/>
          <p:cNvSpPr/>
          <p:nvPr/>
        </p:nvSpPr>
        <p:spPr>
          <a:xfrm>
            <a:off x="632579" y="3378398"/>
            <a:ext cx="4159687" cy="2125504"/>
          </a:xfrm>
          <a:prstGeom prst="roundRect">
            <a:avLst>
              <a:gd name="adj" fmla="val 3125"/>
            </a:avLst>
          </a:prstGeom>
          <a:noFill/>
          <a:ln w="7620">
            <a:solidFill>
              <a:srgbClr val="000000">
                <a:alpha val="8000"/>
              </a:srgbClr>
            </a:solidFill>
            <a:prstDash val="solid"/>
          </a:ln>
        </p:spPr>
      </p:sp>
      <p:sp>
        <p:nvSpPr>
          <p:cNvPr id="7" name="Shape 4"/>
          <p:cNvSpPr/>
          <p:nvPr/>
        </p:nvSpPr>
        <p:spPr>
          <a:xfrm>
            <a:off x="640199" y="3386018"/>
            <a:ext cx="4144447" cy="379452"/>
          </a:xfrm>
          <a:prstGeom prst="rect">
            <a:avLst/>
          </a:prstGeom>
          <a:solidFill>
            <a:srgbClr val="FFFFFF">
              <a:alpha val="4000"/>
            </a:srgbClr>
          </a:solidFill>
          <a:ln/>
        </p:spPr>
      </p:sp>
      <p:sp>
        <p:nvSpPr>
          <p:cNvPr id="8" name="Text 5"/>
          <p:cNvSpPr/>
          <p:nvPr/>
        </p:nvSpPr>
        <p:spPr>
          <a:xfrm>
            <a:off x="798433" y="3469243"/>
            <a:ext cx="1752124" cy="213003"/>
          </a:xfrm>
          <a:prstGeom prst="rect">
            <a:avLst/>
          </a:prstGeom>
          <a:noFill/>
          <a:ln/>
        </p:spPr>
        <p:txBody>
          <a:bodyPr wrap="none" lIns="0" tIns="0" rIns="0" bIns="0" rtlCol="0" anchor="t"/>
          <a:lstStyle/>
          <a:p>
            <a:pPr algn="l" indent="0" marL="0">
              <a:lnSpc>
                <a:spcPts val="1650"/>
              </a:lnSpc>
              <a:buNone/>
            </a:pPr>
            <a:r>
              <a:rPr lang="en-US" sz="1200" b="1" dirty="0">
                <a:solidFill>
                  <a:srgbClr val="384653"/>
                </a:solidFill>
                <a:latin typeface="Roboto" pitchFamily="34" charset="0"/>
                <a:ea typeface="Roboto" pitchFamily="34" charset="-122"/>
                <a:cs typeface="Roboto" pitchFamily="34" charset="-120"/>
              </a:rPr>
              <a:t>Monto financiado</a:t>
            </a:r>
            <a:endParaRPr lang="en-US" sz="1200" dirty="0"/>
          </a:p>
        </p:txBody>
      </p:sp>
      <p:sp>
        <p:nvSpPr>
          <p:cNvPr id="9" name="Text 6"/>
          <p:cNvSpPr/>
          <p:nvPr/>
        </p:nvSpPr>
        <p:spPr>
          <a:xfrm>
            <a:off x="2874407" y="3469243"/>
            <a:ext cx="1752124" cy="213003"/>
          </a:xfrm>
          <a:prstGeom prst="rect">
            <a:avLst/>
          </a:prstGeom>
          <a:noFill/>
          <a:ln/>
        </p:spPr>
        <p:txBody>
          <a:bodyPr wrap="none" lIns="0" tIns="0" rIns="0" bIns="0" rtlCol="0" anchor="t"/>
          <a:lstStyle/>
          <a:p>
            <a:pPr algn="l" indent="0" marL="0">
              <a:lnSpc>
                <a:spcPts val="1650"/>
              </a:lnSpc>
              <a:buNone/>
            </a:pPr>
            <a:r>
              <a:rPr lang="en-US" sz="1200" dirty="0">
                <a:solidFill>
                  <a:srgbClr val="384653"/>
                </a:solidFill>
                <a:latin typeface="Roboto" pitchFamily="34" charset="0"/>
                <a:ea typeface="Roboto" pitchFamily="34" charset="-122"/>
                <a:cs typeface="Roboto" pitchFamily="34" charset="-120"/>
              </a:rPr>
              <a:t>$5,600,000 MXN</a:t>
            </a:r>
            <a:endParaRPr lang="en-US" sz="1200" dirty="0"/>
          </a:p>
        </p:txBody>
      </p:sp>
      <p:sp>
        <p:nvSpPr>
          <p:cNvPr id="10" name="Shape 7"/>
          <p:cNvSpPr/>
          <p:nvPr/>
        </p:nvSpPr>
        <p:spPr>
          <a:xfrm>
            <a:off x="640199" y="3765471"/>
            <a:ext cx="4144447" cy="379452"/>
          </a:xfrm>
          <a:prstGeom prst="rect">
            <a:avLst/>
          </a:prstGeom>
          <a:solidFill>
            <a:srgbClr val="000000">
              <a:alpha val="4000"/>
            </a:srgbClr>
          </a:solidFill>
          <a:ln/>
        </p:spPr>
      </p:sp>
      <p:sp>
        <p:nvSpPr>
          <p:cNvPr id="11" name="Text 8"/>
          <p:cNvSpPr/>
          <p:nvPr/>
        </p:nvSpPr>
        <p:spPr>
          <a:xfrm>
            <a:off x="798433" y="3848695"/>
            <a:ext cx="1752124" cy="213003"/>
          </a:xfrm>
          <a:prstGeom prst="rect">
            <a:avLst/>
          </a:prstGeom>
          <a:noFill/>
          <a:ln/>
        </p:spPr>
        <p:txBody>
          <a:bodyPr wrap="none" lIns="0" tIns="0" rIns="0" bIns="0" rtlCol="0" anchor="t"/>
          <a:lstStyle/>
          <a:p>
            <a:pPr algn="l" indent="0" marL="0">
              <a:lnSpc>
                <a:spcPts val="1650"/>
              </a:lnSpc>
              <a:buNone/>
            </a:pPr>
            <a:r>
              <a:rPr lang="en-US" sz="1200" b="1" dirty="0">
                <a:solidFill>
                  <a:srgbClr val="384653"/>
                </a:solidFill>
                <a:latin typeface="Roboto" pitchFamily="34" charset="0"/>
                <a:ea typeface="Roboto" pitchFamily="34" charset="-122"/>
                <a:cs typeface="Roboto" pitchFamily="34" charset="-120"/>
              </a:rPr>
              <a:t>Tasa preferencial</a:t>
            </a:r>
            <a:endParaRPr lang="en-US" sz="1200" dirty="0"/>
          </a:p>
        </p:txBody>
      </p:sp>
      <p:sp>
        <p:nvSpPr>
          <p:cNvPr id="12" name="Text 9"/>
          <p:cNvSpPr/>
          <p:nvPr/>
        </p:nvSpPr>
        <p:spPr>
          <a:xfrm>
            <a:off x="2874407" y="3848695"/>
            <a:ext cx="1752124" cy="213003"/>
          </a:xfrm>
          <a:prstGeom prst="rect">
            <a:avLst/>
          </a:prstGeom>
          <a:noFill/>
          <a:ln/>
        </p:spPr>
        <p:txBody>
          <a:bodyPr wrap="none" lIns="0" tIns="0" rIns="0" bIns="0" rtlCol="0" anchor="t"/>
          <a:lstStyle/>
          <a:p>
            <a:pPr algn="l" indent="0" marL="0">
              <a:lnSpc>
                <a:spcPts val="1650"/>
              </a:lnSpc>
              <a:buNone/>
            </a:pPr>
            <a:r>
              <a:rPr lang="en-US" sz="1200" dirty="0">
                <a:solidFill>
                  <a:srgbClr val="384653"/>
                </a:solidFill>
                <a:latin typeface="Roboto" pitchFamily="34" charset="0"/>
                <a:ea typeface="Roboto" pitchFamily="34" charset="-122"/>
                <a:cs typeface="Roboto" pitchFamily="34" charset="-120"/>
              </a:rPr>
              <a:t>8.5% anual</a:t>
            </a:r>
            <a:endParaRPr lang="en-US" sz="1200" dirty="0"/>
          </a:p>
        </p:txBody>
      </p:sp>
      <p:sp>
        <p:nvSpPr>
          <p:cNvPr id="13" name="Shape 10"/>
          <p:cNvSpPr/>
          <p:nvPr/>
        </p:nvSpPr>
        <p:spPr>
          <a:xfrm>
            <a:off x="640199" y="4144923"/>
            <a:ext cx="4144447" cy="592455"/>
          </a:xfrm>
          <a:prstGeom prst="rect">
            <a:avLst/>
          </a:prstGeom>
          <a:solidFill>
            <a:srgbClr val="FFFFFF">
              <a:alpha val="4000"/>
            </a:srgbClr>
          </a:solidFill>
          <a:ln/>
        </p:spPr>
      </p:sp>
      <p:sp>
        <p:nvSpPr>
          <p:cNvPr id="14" name="Text 11"/>
          <p:cNvSpPr/>
          <p:nvPr/>
        </p:nvSpPr>
        <p:spPr>
          <a:xfrm>
            <a:off x="798433" y="4228148"/>
            <a:ext cx="1752124" cy="213003"/>
          </a:xfrm>
          <a:prstGeom prst="rect">
            <a:avLst/>
          </a:prstGeom>
          <a:noFill/>
          <a:ln/>
        </p:spPr>
        <p:txBody>
          <a:bodyPr wrap="none" lIns="0" tIns="0" rIns="0" bIns="0" rtlCol="0" anchor="t"/>
          <a:lstStyle/>
          <a:p>
            <a:pPr algn="l" indent="0" marL="0">
              <a:lnSpc>
                <a:spcPts val="1650"/>
              </a:lnSpc>
              <a:buNone/>
            </a:pPr>
            <a:r>
              <a:rPr lang="en-US" sz="1200" b="1" dirty="0">
                <a:solidFill>
                  <a:srgbClr val="384653"/>
                </a:solidFill>
                <a:latin typeface="Roboto" pitchFamily="34" charset="0"/>
                <a:ea typeface="Roboto" pitchFamily="34" charset="-122"/>
                <a:cs typeface="Roboto" pitchFamily="34" charset="-120"/>
              </a:rPr>
              <a:t>Plazo</a:t>
            </a:r>
            <a:endParaRPr lang="en-US" sz="1200" dirty="0"/>
          </a:p>
        </p:txBody>
      </p:sp>
      <p:sp>
        <p:nvSpPr>
          <p:cNvPr id="15" name="Text 12"/>
          <p:cNvSpPr/>
          <p:nvPr/>
        </p:nvSpPr>
        <p:spPr>
          <a:xfrm>
            <a:off x="2874407" y="4228148"/>
            <a:ext cx="1752124" cy="426006"/>
          </a:xfrm>
          <a:prstGeom prst="rect">
            <a:avLst/>
          </a:prstGeom>
          <a:noFill/>
          <a:ln/>
        </p:spPr>
        <p:txBody>
          <a:bodyPr wrap="square" lIns="0" tIns="0" rIns="0" bIns="0" rtlCol="0" anchor="t"/>
          <a:lstStyle/>
          <a:p>
            <a:pPr algn="l" indent="0" marL="0">
              <a:lnSpc>
                <a:spcPts val="1650"/>
              </a:lnSpc>
              <a:buNone/>
            </a:pPr>
            <a:r>
              <a:rPr lang="en-US" sz="1200" dirty="0">
                <a:solidFill>
                  <a:srgbClr val="384653"/>
                </a:solidFill>
                <a:latin typeface="Roboto" pitchFamily="34" charset="0"/>
                <a:ea typeface="Roboto" pitchFamily="34" charset="-122"/>
                <a:cs typeface="Roboto" pitchFamily="34" charset="-120"/>
              </a:rPr>
              <a:t>7 años (84 mensualidades)</a:t>
            </a:r>
            <a:endParaRPr lang="en-US" sz="1200" dirty="0"/>
          </a:p>
        </p:txBody>
      </p:sp>
      <p:sp>
        <p:nvSpPr>
          <p:cNvPr id="16" name="Shape 13"/>
          <p:cNvSpPr/>
          <p:nvPr/>
        </p:nvSpPr>
        <p:spPr>
          <a:xfrm>
            <a:off x="640199" y="4737378"/>
            <a:ext cx="4144447" cy="379452"/>
          </a:xfrm>
          <a:prstGeom prst="rect">
            <a:avLst/>
          </a:prstGeom>
          <a:solidFill>
            <a:srgbClr val="000000">
              <a:alpha val="4000"/>
            </a:srgbClr>
          </a:solidFill>
          <a:ln/>
        </p:spPr>
      </p:sp>
      <p:sp>
        <p:nvSpPr>
          <p:cNvPr id="17" name="Text 14"/>
          <p:cNvSpPr/>
          <p:nvPr/>
        </p:nvSpPr>
        <p:spPr>
          <a:xfrm>
            <a:off x="798433" y="4820603"/>
            <a:ext cx="1752124" cy="213003"/>
          </a:xfrm>
          <a:prstGeom prst="rect">
            <a:avLst/>
          </a:prstGeom>
          <a:noFill/>
          <a:ln/>
        </p:spPr>
        <p:txBody>
          <a:bodyPr wrap="none" lIns="0" tIns="0" rIns="0" bIns="0" rtlCol="0" anchor="t"/>
          <a:lstStyle/>
          <a:p>
            <a:pPr algn="l" indent="0" marL="0">
              <a:lnSpc>
                <a:spcPts val="1650"/>
              </a:lnSpc>
              <a:buNone/>
            </a:pPr>
            <a:r>
              <a:rPr lang="en-US" sz="1200" b="1" dirty="0">
                <a:solidFill>
                  <a:srgbClr val="384653"/>
                </a:solidFill>
                <a:latin typeface="Roboto" pitchFamily="34" charset="0"/>
                <a:ea typeface="Roboto" pitchFamily="34" charset="-122"/>
                <a:cs typeface="Roboto" pitchFamily="34" charset="-120"/>
              </a:rPr>
              <a:t>Pago mensual</a:t>
            </a:r>
            <a:endParaRPr lang="en-US" sz="1200" dirty="0"/>
          </a:p>
        </p:txBody>
      </p:sp>
      <p:sp>
        <p:nvSpPr>
          <p:cNvPr id="18" name="Text 15"/>
          <p:cNvSpPr/>
          <p:nvPr/>
        </p:nvSpPr>
        <p:spPr>
          <a:xfrm>
            <a:off x="2874407" y="4820603"/>
            <a:ext cx="1752124" cy="213003"/>
          </a:xfrm>
          <a:prstGeom prst="rect">
            <a:avLst/>
          </a:prstGeom>
          <a:noFill/>
          <a:ln/>
        </p:spPr>
        <p:txBody>
          <a:bodyPr wrap="none" lIns="0" tIns="0" rIns="0" bIns="0" rtlCol="0" anchor="t"/>
          <a:lstStyle/>
          <a:p>
            <a:pPr algn="l" indent="0" marL="0">
              <a:lnSpc>
                <a:spcPts val="1650"/>
              </a:lnSpc>
              <a:buNone/>
            </a:pPr>
            <a:r>
              <a:rPr lang="en-US" sz="1200" dirty="0">
                <a:solidFill>
                  <a:srgbClr val="384653"/>
                </a:solidFill>
                <a:latin typeface="Roboto" pitchFamily="34" charset="0"/>
                <a:ea typeface="Roboto" pitchFamily="34" charset="-122"/>
                <a:cs typeface="Roboto" pitchFamily="34" charset="-120"/>
              </a:rPr>
              <a:t>$88,684 MXN/mes</a:t>
            </a:r>
            <a:endParaRPr lang="en-US" sz="1200" dirty="0"/>
          </a:p>
        </p:txBody>
      </p:sp>
      <p:sp>
        <p:nvSpPr>
          <p:cNvPr id="19" name="Shape 16"/>
          <p:cNvSpPr/>
          <p:nvPr/>
        </p:nvSpPr>
        <p:spPr>
          <a:xfrm>
            <a:off x="640199" y="5116830"/>
            <a:ext cx="4144447" cy="379452"/>
          </a:xfrm>
          <a:prstGeom prst="rect">
            <a:avLst/>
          </a:prstGeom>
          <a:solidFill>
            <a:srgbClr val="FFFFFF">
              <a:alpha val="4000"/>
            </a:srgbClr>
          </a:solidFill>
          <a:ln/>
        </p:spPr>
      </p:sp>
      <p:sp>
        <p:nvSpPr>
          <p:cNvPr id="20" name="Text 17"/>
          <p:cNvSpPr/>
          <p:nvPr/>
        </p:nvSpPr>
        <p:spPr>
          <a:xfrm>
            <a:off x="798433" y="5200055"/>
            <a:ext cx="1752124" cy="213003"/>
          </a:xfrm>
          <a:prstGeom prst="rect">
            <a:avLst/>
          </a:prstGeom>
          <a:noFill/>
          <a:ln/>
        </p:spPr>
        <p:txBody>
          <a:bodyPr wrap="none" lIns="0" tIns="0" rIns="0" bIns="0" rtlCol="0" anchor="t"/>
          <a:lstStyle/>
          <a:p>
            <a:pPr algn="l" indent="0" marL="0">
              <a:lnSpc>
                <a:spcPts val="1650"/>
              </a:lnSpc>
              <a:buNone/>
            </a:pPr>
            <a:r>
              <a:rPr lang="en-US" sz="1200" b="1" dirty="0">
                <a:solidFill>
                  <a:srgbClr val="384653"/>
                </a:solidFill>
                <a:latin typeface="Roboto" pitchFamily="34" charset="0"/>
                <a:ea typeface="Roboto" pitchFamily="34" charset="-122"/>
                <a:cs typeface="Roboto" pitchFamily="34" charset="-120"/>
              </a:rPr>
              <a:t>Pago anual equiv.</a:t>
            </a:r>
            <a:endParaRPr lang="en-US" sz="1200" dirty="0"/>
          </a:p>
        </p:txBody>
      </p:sp>
      <p:sp>
        <p:nvSpPr>
          <p:cNvPr id="21" name="Text 18"/>
          <p:cNvSpPr/>
          <p:nvPr/>
        </p:nvSpPr>
        <p:spPr>
          <a:xfrm>
            <a:off x="2874407" y="5200055"/>
            <a:ext cx="1752124" cy="213003"/>
          </a:xfrm>
          <a:prstGeom prst="rect">
            <a:avLst/>
          </a:prstGeom>
          <a:noFill/>
          <a:ln/>
        </p:spPr>
        <p:txBody>
          <a:bodyPr wrap="none" lIns="0" tIns="0" rIns="0" bIns="0" rtlCol="0" anchor="t"/>
          <a:lstStyle/>
          <a:p>
            <a:pPr algn="l" indent="0" marL="0">
              <a:lnSpc>
                <a:spcPts val="1650"/>
              </a:lnSpc>
              <a:buNone/>
            </a:pPr>
            <a:r>
              <a:rPr lang="en-US" sz="1200" dirty="0">
                <a:solidFill>
                  <a:srgbClr val="384653"/>
                </a:solidFill>
                <a:latin typeface="Roboto" pitchFamily="34" charset="0"/>
                <a:ea typeface="Roboto" pitchFamily="34" charset="-122"/>
                <a:cs typeface="Roboto" pitchFamily="34" charset="-120"/>
              </a:rPr>
              <a:t>$1,064,208 MXN/año</a:t>
            </a:r>
            <a:endParaRPr lang="en-US" sz="1200" dirty="0"/>
          </a:p>
        </p:txBody>
      </p:sp>
      <p:sp>
        <p:nvSpPr>
          <p:cNvPr id="22" name="Shape 19"/>
          <p:cNvSpPr/>
          <p:nvPr/>
        </p:nvSpPr>
        <p:spPr>
          <a:xfrm>
            <a:off x="5071824" y="2616637"/>
            <a:ext cx="3560921" cy="3028950"/>
          </a:xfrm>
          <a:prstGeom prst="roundRect">
            <a:avLst>
              <a:gd name="adj" fmla="val 3760"/>
            </a:avLst>
          </a:prstGeom>
          <a:solidFill>
            <a:srgbClr val="95CCDA"/>
          </a:solidFill>
          <a:ln/>
        </p:spPr>
      </p:sp>
      <p:sp>
        <p:nvSpPr>
          <p:cNvPr id="23" name="Text 20"/>
          <p:cNvSpPr/>
          <p:nvPr/>
        </p:nvSpPr>
        <p:spPr>
          <a:xfrm>
            <a:off x="5229939" y="2742605"/>
            <a:ext cx="3211592" cy="247055"/>
          </a:xfrm>
          <a:prstGeom prst="rect">
            <a:avLst/>
          </a:prstGeom>
          <a:noFill/>
          <a:ln/>
        </p:spPr>
        <p:txBody>
          <a:bodyPr wrap="none" lIns="0" tIns="0" rIns="0" bIns="0" rtlCol="0" anchor="t"/>
          <a:lstStyle/>
          <a:p>
            <a:pPr algn="l" indent="0" marL="0">
              <a:lnSpc>
                <a:spcPts val="1900"/>
              </a:lnSpc>
              <a:buNone/>
            </a:pPr>
            <a:r>
              <a:rPr lang="en-US" sz="1550" dirty="0">
                <a:solidFill>
                  <a:srgbClr val="2E3C4E"/>
                </a:solidFill>
                <a:latin typeface="Host Grotesk Medium" pitchFamily="34" charset="0"/>
                <a:ea typeface="Host Grotesk Medium" pitchFamily="34" charset="-122"/>
                <a:cs typeface="Host Grotesk Medium" pitchFamily="34" charset="-120"/>
              </a:rPr>
              <a:t>Lo que realmente sale de su bolsillo</a:t>
            </a:r>
            <a:endParaRPr lang="en-US" sz="1550" dirty="0"/>
          </a:p>
        </p:txBody>
      </p:sp>
      <p:sp>
        <p:nvSpPr>
          <p:cNvPr id="24" name="Text 21"/>
          <p:cNvSpPr/>
          <p:nvPr/>
        </p:nvSpPr>
        <p:spPr>
          <a:xfrm>
            <a:off x="5229939" y="3115628"/>
            <a:ext cx="3244691" cy="1917025"/>
          </a:xfrm>
          <a:prstGeom prst="rect">
            <a:avLst/>
          </a:prstGeom>
          <a:noFill/>
          <a:ln/>
        </p:spPr>
        <p:txBody>
          <a:bodyPr wrap="square" lIns="0" tIns="0" rIns="0" bIns="0" rtlCol="0" anchor="t"/>
          <a:lstStyle/>
          <a:p>
            <a:pPr algn="l" indent="0" marL="0">
              <a:lnSpc>
                <a:spcPts val="1650"/>
              </a:lnSpc>
              <a:buNone/>
            </a:pPr>
            <a:r>
              <a:rPr lang="en-US" sz="1200" dirty="0">
                <a:solidFill>
                  <a:srgbClr val="000000"/>
                </a:solidFill>
                <a:latin typeface="Roboto" pitchFamily="34" charset="0"/>
                <a:ea typeface="Roboto" pitchFamily="34" charset="-122"/>
                <a:cs typeface="Roboto" pitchFamily="34" charset="-120"/>
              </a:rPr>
              <a:t>El sistema genera </a:t>
            </a:r>
            <a:pPr algn="l" indent="0" marL="0">
              <a:lnSpc>
                <a:spcPts val="1650"/>
              </a:lnSpc>
              <a:buNone/>
            </a:pPr>
            <a:r>
              <a:rPr lang="en-US" sz="1200" b="1" dirty="0">
                <a:solidFill>
                  <a:srgbClr val="000000"/>
                </a:solidFill>
                <a:latin typeface="Roboto" pitchFamily="34" charset="0"/>
                <a:ea typeface="Roboto" pitchFamily="34" charset="-122"/>
                <a:cs typeface="Roboto" pitchFamily="34" charset="-120"/>
              </a:rPr>
              <a:t>$71,738 MXN/mes</a:t>
            </a:r>
            <a:pPr algn="l" indent="0" marL="0">
              <a:lnSpc>
                <a:spcPts val="1650"/>
              </a:lnSpc>
              <a:buNone/>
            </a:pPr>
            <a:r>
              <a:rPr lang="en-US" sz="1200" dirty="0">
                <a:solidFill>
                  <a:srgbClr val="000000"/>
                </a:solidFill>
                <a:latin typeface="Roboto" pitchFamily="34" charset="0"/>
                <a:ea typeface="Roboto" pitchFamily="34" charset="-122"/>
                <a:cs typeface="Roboto" pitchFamily="34" charset="-120"/>
              </a:rPr>
              <a:t> de utilidad operativa.</a:t>
            </a:r>
            <a:endParaRPr lang="en-US" sz="1200" dirty="0"/>
          </a:p>
          <a:p>
            <a:pPr algn="l" indent="0" marL="0">
              <a:lnSpc>
                <a:spcPts val="1650"/>
              </a:lnSpc>
              <a:buNone/>
            </a:pPr>
            <a:r>
              <a:rPr lang="en-US" sz="1200" dirty="0">
                <a:solidFill>
                  <a:srgbClr val="000000"/>
                </a:solidFill>
                <a:latin typeface="Roboto" pitchFamily="34" charset="0"/>
                <a:ea typeface="Roboto" pitchFamily="34" charset="-122"/>
                <a:cs typeface="Roboto" pitchFamily="34" charset="-120"/>
              </a:rPr>
              <a:t>La cuota FIRA es $88,684/mes.</a:t>
            </a:r>
            <a:endParaRPr lang="en-US" sz="1200" dirty="0"/>
          </a:p>
          <a:p>
            <a:pPr algn="l" indent="0" marL="0">
              <a:lnSpc>
                <a:spcPts val="1650"/>
              </a:lnSpc>
              <a:buNone/>
            </a:pPr>
            <a:r>
              <a:rPr lang="en-US" sz="1200" dirty="0">
                <a:solidFill>
                  <a:srgbClr val="000000"/>
                </a:solidFill>
                <a:latin typeface="Roboto" pitchFamily="34" charset="0"/>
                <a:ea typeface="Roboto" pitchFamily="34" charset="-122"/>
                <a:cs typeface="Roboto" pitchFamily="34" charset="-120"/>
              </a:rPr>
              <a:t>La brecha real que usted paga: </a:t>
            </a:r>
            <a:pPr algn="l" indent="0" marL="0">
              <a:lnSpc>
                <a:spcPts val="1650"/>
              </a:lnSpc>
              <a:buNone/>
            </a:pPr>
            <a:r>
              <a:rPr lang="en-US" sz="1200" b="1" dirty="0">
                <a:solidFill>
                  <a:srgbClr val="000000"/>
                </a:solidFill>
                <a:latin typeface="Roboto" pitchFamily="34" charset="0"/>
                <a:ea typeface="Roboto" pitchFamily="34" charset="-122"/>
                <a:cs typeface="Roboto" pitchFamily="34" charset="-120"/>
              </a:rPr>
              <a:t>$16,947 MXN/mes</a:t>
            </a:r>
            <a:pPr algn="l" indent="0" marL="0">
              <a:lnSpc>
                <a:spcPts val="1650"/>
              </a:lnSpc>
              <a:buNone/>
            </a:pPr>
            <a:r>
              <a:rPr lang="en-US" sz="1200" dirty="0">
                <a:solidFill>
                  <a:srgbClr val="000000"/>
                </a:solidFill>
                <a:latin typeface="Roboto" pitchFamily="34" charset="0"/>
                <a:ea typeface="Roboto" pitchFamily="34" charset="-122"/>
                <a:cs typeface="Roboto" pitchFamily="34" charset="-120"/>
              </a:rPr>
              <a:t>.</a:t>
            </a:r>
            <a:endParaRPr lang="en-US" sz="1200" dirty="0"/>
          </a:p>
          <a:p>
            <a:pPr algn="l" indent="0" marL="0">
              <a:lnSpc>
                <a:spcPts val="1650"/>
              </a:lnSpc>
              <a:buNone/>
            </a:pPr>
            <a:r>
              <a:rPr lang="en-US" sz="1200" dirty="0">
                <a:solidFill>
                  <a:srgbClr val="000000"/>
                </a:solidFill>
                <a:latin typeface="Roboto" pitchFamily="34" charset="0"/>
                <a:ea typeface="Roboto" pitchFamily="34" charset="-122"/>
                <a:cs typeface="Roboto" pitchFamily="34" charset="-120"/>
              </a:rPr>
              <a:t>El sistema cubre el </a:t>
            </a:r>
            <a:pPr algn="l" indent="0" marL="0">
              <a:lnSpc>
                <a:spcPts val="1650"/>
              </a:lnSpc>
              <a:buNone/>
            </a:pPr>
            <a:r>
              <a:rPr lang="en-US" sz="1200" b="1" dirty="0">
                <a:solidFill>
                  <a:srgbClr val="000000"/>
                </a:solidFill>
                <a:latin typeface="Roboto" pitchFamily="34" charset="0"/>
                <a:ea typeface="Roboto" pitchFamily="34" charset="-122"/>
                <a:cs typeface="Roboto" pitchFamily="34" charset="-120"/>
              </a:rPr>
              <a:t>81% de su propia cuota</a:t>
            </a:r>
            <a:pPr algn="l" indent="0" marL="0">
              <a:lnSpc>
                <a:spcPts val="1650"/>
              </a:lnSpc>
              <a:buNone/>
            </a:pPr>
            <a:r>
              <a:rPr lang="en-US" sz="1200" dirty="0">
                <a:solidFill>
                  <a:srgbClr val="000000"/>
                </a:solidFill>
                <a:latin typeface="Roboto" pitchFamily="34" charset="0"/>
                <a:ea typeface="Roboto" pitchFamily="34" charset="-122"/>
                <a:cs typeface="Roboto" pitchFamily="34" charset="-120"/>
              </a:rPr>
              <a:t>.</a:t>
            </a:r>
            <a:endParaRPr lang="en-US" sz="1200" dirty="0"/>
          </a:p>
        </p:txBody>
      </p:sp>
      <p:sp>
        <p:nvSpPr>
          <p:cNvPr id="25" name="Shape 22"/>
          <p:cNvSpPr/>
          <p:nvPr/>
        </p:nvSpPr>
        <p:spPr>
          <a:xfrm>
            <a:off x="632579" y="5787271"/>
            <a:ext cx="2542222" cy="1996678"/>
          </a:xfrm>
          <a:prstGeom prst="roundRect">
            <a:avLst>
              <a:gd name="adj" fmla="val 3327"/>
            </a:avLst>
          </a:prstGeom>
          <a:solidFill>
            <a:srgbClr val="FAF9F5"/>
          </a:solidFill>
          <a:ln w="22860">
            <a:solidFill>
              <a:srgbClr val="BFD3D8"/>
            </a:solidFill>
            <a:prstDash val="solid"/>
          </a:ln>
        </p:spPr>
      </p:sp>
      <p:sp>
        <p:nvSpPr>
          <p:cNvPr id="26" name="Text 23"/>
          <p:cNvSpPr/>
          <p:nvPr/>
        </p:nvSpPr>
        <p:spPr>
          <a:xfrm>
            <a:off x="813554" y="5968246"/>
            <a:ext cx="2180273" cy="494109"/>
          </a:xfrm>
          <a:prstGeom prst="rect">
            <a:avLst/>
          </a:prstGeom>
          <a:noFill/>
          <a:ln/>
        </p:spPr>
        <p:txBody>
          <a:bodyPr wrap="square" lIns="0" tIns="0" rIns="0" bIns="0" rtlCol="0" anchor="t"/>
          <a:lstStyle/>
          <a:p>
            <a:pPr algn="l" indent="0" marL="0">
              <a:lnSpc>
                <a:spcPts val="1900"/>
              </a:lnSpc>
              <a:buNone/>
            </a:pPr>
            <a:r>
              <a:rPr lang="en-US" sz="1550" dirty="0">
                <a:solidFill>
                  <a:srgbClr val="384653"/>
                </a:solidFill>
                <a:latin typeface="Host Grotesk Medium" pitchFamily="34" charset="0"/>
                <a:ea typeface="Host Grotesk Medium" pitchFamily="34" charset="-122"/>
                <a:cs typeface="Host Grotesk Medium" pitchFamily="34" charset="-120"/>
              </a:rPr>
              <a:t>Para ponerlo en perspectiva</a:t>
            </a:r>
            <a:endParaRPr lang="en-US" sz="1550" dirty="0"/>
          </a:p>
        </p:txBody>
      </p:sp>
      <p:sp>
        <p:nvSpPr>
          <p:cNvPr id="27" name="Text 24"/>
          <p:cNvSpPr/>
          <p:nvPr/>
        </p:nvSpPr>
        <p:spPr>
          <a:xfrm>
            <a:off x="813554" y="6537960"/>
            <a:ext cx="2180273" cy="1065014"/>
          </a:xfrm>
          <a:prstGeom prst="rect">
            <a:avLst/>
          </a:prstGeom>
          <a:noFill/>
          <a:ln/>
        </p:spPr>
        <p:txBody>
          <a:bodyPr wrap="square" lIns="0" tIns="0" rIns="0" bIns="0" rtlCol="0" anchor="t"/>
          <a:lstStyle/>
          <a:p>
            <a:pPr algn="l" indent="0" marL="0">
              <a:lnSpc>
                <a:spcPts val="1650"/>
              </a:lnSpc>
              <a:buNone/>
            </a:pPr>
            <a:r>
              <a:rPr lang="en-US" sz="1200" dirty="0">
                <a:solidFill>
                  <a:srgbClr val="384653"/>
                </a:solidFill>
                <a:latin typeface="Roboto" pitchFamily="34" charset="0"/>
                <a:ea typeface="Roboto" pitchFamily="34" charset="-122"/>
                <a:cs typeface="Roboto" pitchFamily="34" charset="-120"/>
              </a:rPr>
              <a:t>$16,947/mes es </a:t>
            </a:r>
            <a:pPr algn="l" indent="0" marL="0">
              <a:lnSpc>
                <a:spcPts val="1650"/>
              </a:lnSpc>
              <a:buNone/>
            </a:pPr>
            <a:r>
              <a:rPr lang="en-US" sz="1200" b="1" dirty="0">
                <a:solidFill>
                  <a:srgbClr val="384653"/>
                </a:solidFill>
                <a:latin typeface="Roboto" pitchFamily="34" charset="0"/>
                <a:ea typeface="Roboto" pitchFamily="34" charset="-122"/>
                <a:cs typeface="Roboto" pitchFamily="34" charset="-120"/>
              </a:rPr>
              <a:t>menos que un jornalero permanente adicional</a:t>
            </a:r>
            <a:pPr algn="l" indent="0" marL="0">
              <a:lnSpc>
                <a:spcPts val="1650"/>
              </a:lnSpc>
              <a:buNone/>
            </a:pPr>
            <a:r>
              <a:rPr lang="en-US" sz="1200" dirty="0">
                <a:solidFill>
                  <a:srgbClr val="384653"/>
                </a:solidFill>
                <a:latin typeface="Roboto" pitchFamily="34" charset="0"/>
                <a:ea typeface="Roboto" pitchFamily="34" charset="-122"/>
                <a:cs typeface="Roboto" pitchFamily="34" charset="-120"/>
              </a:rPr>
              <a:t> y equivale a menos de una semana de pérdidas bajo sequía severa.</a:t>
            </a:r>
            <a:endParaRPr lang="en-US" sz="1200" dirty="0"/>
          </a:p>
        </p:txBody>
      </p:sp>
      <p:sp>
        <p:nvSpPr>
          <p:cNvPr id="28" name="Shape 25"/>
          <p:cNvSpPr/>
          <p:nvPr/>
        </p:nvSpPr>
        <p:spPr>
          <a:xfrm>
            <a:off x="3300770" y="5787271"/>
            <a:ext cx="2542342" cy="1996678"/>
          </a:xfrm>
          <a:prstGeom prst="roundRect">
            <a:avLst>
              <a:gd name="adj" fmla="val 3327"/>
            </a:avLst>
          </a:prstGeom>
          <a:solidFill>
            <a:srgbClr val="FAF9F5"/>
          </a:solidFill>
          <a:ln w="22860">
            <a:solidFill>
              <a:srgbClr val="BFD3D8"/>
            </a:solidFill>
            <a:prstDash val="solid"/>
          </a:ln>
        </p:spPr>
      </p:sp>
      <p:sp>
        <p:nvSpPr>
          <p:cNvPr id="29" name="Text 26"/>
          <p:cNvSpPr/>
          <p:nvPr/>
        </p:nvSpPr>
        <p:spPr>
          <a:xfrm>
            <a:off x="3481745" y="5968246"/>
            <a:ext cx="1976914" cy="247055"/>
          </a:xfrm>
          <a:prstGeom prst="rect">
            <a:avLst/>
          </a:prstGeom>
          <a:noFill/>
          <a:ln/>
        </p:spPr>
        <p:txBody>
          <a:bodyPr wrap="none" lIns="0" tIns="0" rIns="0" bIns="0" rtlCol="0" anchor="t"/>
          <a:lstStyle/>
          <a:p>
            <a:pPr algn="l" indent="0" marL="0">
              <a:lnSpc>
                <a:spcPts val="1900"/>
              </a:lnSpc>
              <a:buNone/>
            </a:pPr>
            <a:r>
              <a:rPr lang="en-US" sz="1550" dirty="0">
                <a:solidFill>
                  <a:srgbClr val="384653"/>
                </a:solidFill>
                <a:latin typeface="Host Grotesk Medium" pitchFamily="34" charset="0"/>
                <a:ea typeface="Host Grotesk Medium" pitchFamily="34" charset="-122"/>
                <a:cs typeface="Host Grotesk Medium" pitchFamily="34" charset="-120"/>
              </a:rPr>
              <a:t>A partir del año 8</a:t>
            </a:r>
            <a:endParaRPr lang="en-US" sz="1550" dirty="0"/>
          </a:p>
        </p:txBody>
      </p:sp>
      <p:sp>
        <p:nvSpPr>
          <p:cNvPr id="30" name="Text 27"/>
          <p:cNvSpPr/>
          <p:nvPr/>
        </p:nvSpPr>
        <p:spPr>
          <a:xfrm>
            <a:off x="3481745" y="6290905"/>
            <a:ext cx="2180392" cy="1065014"/>
          </a:xfrm>
          <a:prstGeom prst="rect">
            <a:avLst/>
          </a:prstGeom>
          <a:noFill/>
          <a:ln/>
        </p:spPr>
        <p:txBody>
          <a:bodyPr wrap="square" lIns="0" tIns="0" rIns="0" bIns="0" rtlCol="0" anchor="t"/>
          <a:lstStyle/>
          <a:p>
            <a:pPr algn="l" indent="0" marL="0">
              <a:lnSpc>
                <a:spcPts val="1650"/>
              </a:lnSpc>
              <a:buNone/>
            </a:pPr>
            <a:r>
              <a:rPr lang="en-US" sz="1200" dirty="0">
                <a:solidFill>
                  <a:srgbClr val="384653"/>
                </a:solidFill>
                <a:latin typeface="Roboto" pitchFamily="34" charset="0"/>
                <a:ea typeface="Roboto" pitchFamily="34" charset="-122"/>
                <a:cs typeface="Roboto" pitchFamily="34" charset="-120"/>
              </a:rPr>
              <a:t>La deuda desaparece. El sistema genera </a:t>
            </a:r>
            <a:pPr algn="l" indent="0" marL="0">
              <a:lnSpc>
                <a:spcPts val="1650"/>
              </a:lnSpc>
              <a:buNone/>
            </a:pPr>
            <a:r>
              <a:rPr lang="en-US" sz="1200" b="1" dirty="0">
                <a:solidFill>
                  <a:srgbClr val="384653"/>
                </a:solidFill>
                <a:latin typeface="Roboto" pitchFamily="34" charset="0"/>
                <a:ea typeface="Roboto" pitchFamily="34" charset="-122"/>
                <a:cs typeface="Roboto" pitchFamily="34" charset="-120"/>
              </a:rPr>
              <a:t>$71,738 MXN/mes libres</a:t>
            </a:r>
            <a:pPr algn="l" indent="0" marL="0">
              <a:lnSpc>
                <a:spcPts val="1650"/>
              </a:lnSpc>
              <a:buNone/>
            </a:pPr>
            <a:r>
              <a:rPr lang="en-US" sz="1200" dirty="0">
                <a:solidFill>
                  <a:srgbClr val="384653"/>
                </a:solidFill>
                <a:latin typeface="Roboto" pitchFamily="34" charset="0"/>
                <a:ea typeface="Roboto" pitchFamily="34" charset="-122"/>
                <a:cs typeface="Roboto" pitchFamily="34" charset="-120"/>
              </a:rPr>
              <a:t> — $860,851 MXN/año de utilidad neta sin ningún pago pendiente.</a:t>
            </a:r>
            <a:endParaRPr lang="en-US" sz="1200" dirty="0"/>
          </a:p>
        </p:txBody>
      </p:sp>
      <p:sp>
        <p:nvSpPr>
          <p:cNvPr id="31" name="Shape 28"/>
          <p:cNvSpPr/>
          <p:nvPr/>
        </p:nvSpPr>
        <p:spPr>
          <a:xfrm>
            <a:off x="5969079" y="5787271"/>
            <a:ext cx="2542222" cy="1996678"/>
          </a:xfrm>
          <a:prstGeom prst="roundRect">
            <a:avLst>
              <a:gd name="adj" fmla="val 3327"/>
            </a:avLst>
          </a:prstGeom>
          <a:solidFill>
            <a:srgbClr val="FAF9F5"/>
          </a:solidFill>
          <a:ln w="22860">
            <a:solidFill>
              <a:srgbClr val="BFD3D8"/>
            </a:solidFill>
            <a:prstDash val="solid"/>
          </a:ln>
        </p:spPr>
      </p:sp>
      <p:sp>
        <p:nvSpPr>
          <p:cNvPr id="32" name="Text 29"/>
          <p:cNvSpPr/>
          <p:nvPr/>
        </p:nvSpPr>
        <p:spPr>
          <a:xfrm>
            <a:off x="6150054" y="5968246"/>
            <a:ext cx="2180273" cy="494109"/>
          </a:xfrm>
          <a:prstGeom prst="rect">
            <a:avLst/>
          </a:prstGeom>
          <a:noFill/>
          <a:ln/>
        </p:spPr>
        <p:txBody>
          <a:bodyPr wrap="square" lIns="0" tIns="0" rIns="0" bIns="0" rtlCol="0" anchor="t"/>
          <a:lstStyle/>
          <a:p>
            <a:pPr algn="l" indent="0" marL="0">
              <a:lnSpc>
                <a:spcPts val="1900"/>
              </a:lnSpc>
              <a:buNone/>
            </a:pPr>
            <a:r>
              <a:rPr lang="en-US" sz="1550" dirty="0">
                <a:solidFill>
                  <a:srgbClr val="384653"/>
                </a:solidFill>
                <a:latin typeface="Host Grotesk Medium" pitchFamily="34" charset="0"/>
                <a:ea typeface="Host Grotesk Medium" pitchFamily="34" charset="-122"/>
                <a:cs typeface="Host Grotesk Medium" pitchFamily="34" charset="-120"/>
              </a:rPr>
              <a:t>Nosotros lo acompañamos</a:t>
            </a:r>
            <a:endParaRPr lang="en-US" sz="1550" dirty="0"/>
          </a:p>
        </p:txBody>
      </p:sp>
      <p:sp>
        <p:nvSpPr>
          <p:cNvPr id="33" name="Text 30"/>
          <p:cNvSpPr/>
          <p:nvPr/>
        </p:nvSpPr>
        <p:spPr>
          <a:xfrm>
            <a:off x="6150054" y="6537960"/>
            <a:ext cx="2180273" cy="852011"/>
          </a:xfrm>
          <a:prstGeom prst="rect">
            <a:avLst/>
          </a:prstGeom>
          <a:noFill/>
          <a:ln/>
        </p:spPr>
        <p:txBody>
          <a:bodyPr wrap="square" lIns="0" tIns="0" rIns="0" bIns="0" rtlCol="0" anchor="t"/>
          <a:lstStyle/>
          <a:p>
            <a:pPr algn="l" indent="0" marL="0">
              <a:lnSpc>
                <a:spcPts val="1650"/>
              </a:lnSpc>
              <a:buNone/>
            </a:pPr>
            <a:r>
              <a:rPr lang="en-US" sz="1200" dirty="0">
                <a:solidFill>
                  <a:srgbClr val="384653"/>
                </a:solidFill>
                <a:latin typeface="Roboto" pitchFamily="34" charset="0"/>
                <a:ea typeface="Roboto" pitchFamily="34" charset="-122"/>
                <a:cs typeface="Roboto" pitchFamily="34" charset="-120"/>
              </a:rPr>
              <a:t>Le ayudamos con el trámite FIRA completo. </a:t>
            </a:r>
            <a:pPr algn="l" indent="0" marL="0">
              <a:lnSpc>
                <a:spcPts val="1650"/>
              </a:lnSpc>
              <a:buNone/>
            </a:pPr>
            <a:r>
              <a:rPr lang="en-US" sz="1200" b="1" dirty="0">
                <a:solidFill>
                  <a:srgbClr val="384653"/>
                </a:solidFill>
                <a:latin typeface="Roboto" pitchFamily="34" charset="0"/>
                <a:ea typeface="Roboto" pitchFamily="34" charset="-122"/>
                <a:cs typeface="Roboto" pitchFamily="34" charset="-120"/>
              </a:rPr>
              <a:t>No necesita ir solo al banco</a:t>
            </a:r>
            <a:pPr algn="l" indent="0" marL="0">
              <a:lnSpc>
                <a:spcPts val="1650"/>
              </a:lnSpc>
              <a:buNone/>
            </a:pPr>
            <a:r>
              <a:rPr lang="en-US" sz="1200" dirty="0">
                <a:solidFill>
                  <a:srgbClr val="384653"/>
                </a:solidFill>
                <a:latin typeface="Roboto" pitchFamily="34" charset="0"/>
                <a:ea typeface="Roboto" pitchFamily="34" charset="-122"/>
                <a:cs typeface="Roboto" pitchFamily="34" charset="-120"/>
              </a:rPr>
              <a:t> ni navegar la burocracia por su cuenta.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812846" y="468630"/>
            <a:ext cx="8686324" cy="436007"/>
          </a:xfrm>
          <a:prstGeom prst="rect">
            <a:avLst/>
          </a:prstGeom>
          <a:noFill/>
          <a:ln/>
        </p:spPr>
        <p:txBody>
          <a:bodyPr wrap="none" lIns="0" tIns="0" rIns="0" bIns="0" rtlCol="0" anchor="t"/>
          <a:lstStyle/>
          <a:p>
            <a:pPr algn="l" indent="0" marL="0">
              <a:lnSpc>
                <a:spcPts val="3400"/>
              </a:lnSpc>
              <a:buNone/>
            </a:pPr>
            <a:r>
              <a:rPr lang="en-US" sz="2700" dirty="0">
                <a:solidFill>
                  <a:srgbClr val="2E3C4E"/>
                </a:solidFill>
                <a:latin typeface="Host Grotesk Medium" pitchFamily="34" charset="0"/>
                <a:ea typeface="Host Grotesk Medium" pitchFamily="34" charset="-122"/>
                <a:cs typeface="Host Grotesk Medium" pitchFamily="34" charset="-120"/>
              </a:rPr>
              <a:t>Dos caminos. Siete años. </a:t>
            </a:r>
            <a:pPr algn="l" indent="0" marL="0">
              <a:lnSpc>
                <a:spcPts val="3400"/>
              </a:lnSpc>
              <a:buNone/>
            </a:pPr>
            <a:r>
              <a:rPr lang="en-US" sz="2700" dirty="0">
                <a:solidFill>
                  <a:srgbClr val="95CCDA"/>
                </a:solidFill>
                <a:latin typeface="Host Grotesk Medium" pitchFamily="34" charset="0"/>
                <a:ea typeface="Host Grotesk Medium" pitchFamily="34" charset="-122"/>
                <a:cs typeface="Host Grotesk Medium" pitchFamily="34" charset="-120"/>
              </a:rPr>
              <a:t>Un solo número que importa.</a:t>
            </a:r>
            <a:endParaRPr lang="en-US" sz="2700" dirty="0"/>
          </a:p>
        </p:txBody>
      </p:sp>
      <p:sp>
        <p:nvSpPr>
          <p:cNvPr id="3" name="Text 1"/>
          <p:cNvSpPr/>
          <p:nvPr/>
        </p:nvSpPr>
        <p:spPr>
          <a:xfrm>
            <a:off x="1812846" y="1100852"/>
            <a:ext cx="11004590" cy="356473"/>
          </a:xfrm>
          <a:prstGeom prst="rect">
            <a:avLst/>
          </a:prstGeom>
          <a:noFill/>
          <a:ln/>
        </p:spPr>
        <p:txBody>
          <a:bodyPr wrap="square" lIns="0" tIns="0" rIns="0" bIns="0" rtlCol="0" anchor="t"/>
          <a:lstStyle/>
          <a:p>
            <a:pPr algn="l" indent="0" marL="0">
              <a:lnSpc>
                <a:spcPts val="1400"/>
              </a:lnSpc>
              <a:buNone/>
            </a:pPr>
            <a:r>
              <a:rPr lang="en-US" sz="1050" dirty="0">
                <a:solidFill>
                  <a:srgbClr val="384653"/>
                </a:solidFill>
                <a:latin typeface="Roboto" pitchFamily="34" charset="0"/>
                <a:ea typeface="Roboto" pitchFamily="34" charset="-122"/>
                <a:cs typeface="Roboto" pitchFamily="34" charset="-120"/>
              </a:rPr>
              <a:t>La simulación de 10,000 escenarios posibles — considerando todas las combinaciones de precio, clima y tormenta — confirma un valor esperado de </a:t>
            </a:r>
            <a:pPr algn="l" indent="0" marL="0">
              <a:lnSpc>
                <a:spcPts val="1400"/>
              </a:lnSpc>
              <a:buNone/>
            </a:pPr>
            <a:r>
              <a:rPr lang="en-US" sz="1050" b="1" dirty="0">
                <a:solidFill>
                  <a:srgbClr val="384653"/>
                </a:solidFill>
                <a:latin typeface="Roboto" pitchFamily="34" charset="0"/>
                <a:ea typeface="Roboto" pitchFamily="34" charset="-122"/>
                <a:cs typeface="Roboto" pitchFamily="34" charset="-120"/>
              </a:rPr>
              <a:t>+$425,958 MXN para el riego con descuento</a:t>
            </a:r>
            <a:pPr algn="l" indent="0" marL="0">
              <a:lnSpc>
                <a:spcPts val="1400"/>
              </a:lnSpc>
              <a:buNone/>
            </a:pPr>
            <a:r>
              <a:rPr lang="en-US" sz="1050" dirty="0">
                <a:solidFill>
                  <a:srgbClr val="384653"/>
                </a:solidFill>
                <a:latin typeface="Roboto" pitchFamily="34" charset="0"/>
                <a:ea typeface="Roboto" pitchFamily="34" charset="-122"/>
                <a:cs typeface="Roboto" pitchFamily="34" charset="-120"/>
              </a:rPr>
              <a:t>. Las cuatro condiciones de viabilidad se cumplen simultáneamente hoy. No necesita que los precios suban ni un año excepcional.</a:t>
            </a:r>
            <a:endParaRPr lang="en-US" sz="1050" dirty="0"/>
          </a:p>
        </p:txBody>
      </p:sp>
      <p:sp>
        <p:nvSpPr>
          <p:cNvPr id="4" name="Text 2"/>
          <p:cNvSpPr/>
          <p:nvPr/>
        </p:nvSpPr>
        <p:spPr>
          <a:xfrm>
            <a:off x="1812846" y="1665803"/>
            <a:ext cx="2926556" cy="218003"/>
          </a:xfrm>
          <a:prstGeom prst="rect">
            <a:avLst/>
          </a:prstGeom>
          <a:noFill/>
          <a:ln/>
        </p:spPr>
        <p:txBody>
          <a:bodyPr wrap="none" lIns="0" tIns="0" rIns="0" bIns="0" rtlCol="0" anchor="t"/>
          <a:lstStyle/>
          <a:p>
            <a:pPr algn="l" indent="0" marL="0">
              <a:lnSpc>
                <a:spcPts val="1700"/>
              </a:lnSpc>
              <a:buNone/>
            </a:pPr>
            <a:r>
              <a:rPr lang="en-US" sz="1350" dirty="0">
                <a:solidFill>
                  <a:srgbClr val="2E3C4E"/>
                </a:solidFill>
                <a:latin typeface="Host Grotesk Medium" pitchFamily="34" charset="0"/>
                <a:ea typeface="Host Grotesk Medium" pitchFamily="34" charset="-122"/>
                <a:cs typeface="Host Grotesk Medium" pitchFamily="34" charset="-120"/>
              </a:rPr>
              <a:t>Camino A — Continuar con temporal</a:t>
            </a:r>
            <a:endParaRPr lang="en-US" sz="1350" dirty="0"/>
          </a:p>
        </p:txBody>
      </p:sp>
      <p:sp>
        <p:nvSpPr>
          <p:cNvPr id="5" name="Text 3"/>
          <p:cNvSpPr/>
          <p:nvPr/>
        </p:nvSpPr>
        <p:spPr>
          <a:xfrm>
            <a:off x="1812846" y="1981914"/>
            <a:ext cx="5332095" cy="1028343"/>
          </a:xfrm>
          <a:prstGeom prst="rect">
            <a:avLst/>
          </a:prstGeom>
          <a:noFill/>
          <a:ln/>
        </p:spPr>
        <p:txBody>
          <a:bodyPr wrap="square" lIns="0" tIns="0" rIns="0" bIns="0" rtlCol="0" anchor="t"/>
          <a:lstStyle/>
          <a:p>
            <a:pPr algn="l" marL="342900" indent="-342900">
              <a:lnSpc>
                <a:spcPts val="1400"/>
              </a:lnSpc>
              <a:buSzPct val="100000"/>
              <a:buChar char="•"/>
            </a:pPr>
            <a:r>
              <a:rPr lang="en-US" sz="1050" dirty="0">
                <a:solidFill>
                  <a:srgbClr val="384653"/>
                </a:solidFill>
                <a:latin typeface="Roboto" pitchFamily="34" charset="0"/>
                <a:ea typeface="Roboto" pitchFamily="34" charset="-122"/>
                <a:cs typeface="Roboto" pitchFamily="34" charset="-120"/>
              </a:rPr>
              <a:t>Pierde $4,902 MXN/año en condiciones normales</a:t>
            </a:r>
            <a:endParaRPr lang="en-US" sz="1050" dirty="0"/>
          </a:p>
          <a:p>
            <a:pPr algn="l" marL="342900" indent="-342900">
              <a:lnSpc>
                <a:spcPts val="1400"/>
              </a:lnSpc>
              <a:buSzPct val="100000"/>
              <a:buChar char="•"/>
            </a:pPr>
            <a:r>
              <a:rPr lang="en-US" sz="1050" dirty="0">
                <a:solidFill>
                  <a:srgbClr val="384653"/>
                </a:solidFill>
                <a:latin typeface="Roboto" pitchFamily="34" charset="0"/>
                <a:ea typeface="Roboto" pitchFamily="34" charset="-122"/>
                <a:cs typeface="Roboto" pitchFamily="34" charset="-120"/>
              </a:rPr>
              <a:t>Acumula −$34,316 MXN en 7 años</a:t>
            </a:r>
            <a:endParaRPr lang="en-US" sz="1050" dirty="0"/>
          </a:p>
          <a:p>
            <a:pPr algn="l" marL="342900" indent="-342900">
              <a:lnSpc>
                <a:spcPts val="1400"/>
              </a:lnSpc>
              <a:buSzPct val="100000"/>
              <a:buChar char="•"/>
            </a:pPr>
            <a:r>
              <a:rPr lang="en-US" sz="1050" dirty="0">
                <a:solidFill>
                  <a:srgbClr val="384653"/>
                </a:solidFill>
                <a:latin typeface="Roboto" pitchFamily="34" charset="0"/>
                <a:ea typeface="Roboto" pitchFamily="34" charset="-122"/>
                <a:cs typeface="Roboto" pitchFamily="34" charset="-120"/>
              </a:rPr>
              <a:t>Rendimiento sigue cayendo con cada sequía</a:t>
            </a:r>
            <a:endParaRPr lang="en-US" sz="1050" dirty="0"/>
          </a:p>
          <a:p>
            <a:pPr algn="l" marL="342900" indent="-342900">
              <a:lnSpc>
                <a:spcPts val="1400"/>
              </a:lnSpc>
              <a:buSzPct val="100000"/>
              <a:buChar char="•"/>
            </a:pPr>
            <a:r>
              <a:rPr lang="en-US" sz="1050" dirty="0">
                <a:solidFill>
                  <a:srgbClr val="384653"/>
                </a:solidFill>
                <a:latin typeface="Roboto" pitchFamily="34" charset="0"/>
                <a:ea typeface="Roboto" pitchFamily="34" charset="-122"/>
                <a:cs typeface="Roboto" pitchFamily="34" charset="-120"/>
              </a:rPr>
              <a:t>Sin infraestructura al final del periodo</a:t>
            </a:r>
            <a:endParaRPr lang="en-US" sz="1050" dirty="0"/>
          </a:p>
          <a:p>
            <a:pPr algn="l" marL="342900" indent="-342900">
              <a:lnSpc>
                <a:spcPts val="1400"/>
              </a:lnSpc>
              <a:buSzPct val="100000"/>
              <a:buChar char="•"/>
            </a:pPr>
            <a:r>
              <a:rPr lang="en-US" sz="1050" dirty="0">
                <a:solidFill>
                  <a:srgbClr val="384653"/>
                </a:solidFill>
                <a:latin typeface="Roboto" pitchFamily="34" charset="0"/>
                <a:ea typeface="Roboto" pitchFamily="34" charset="-122"/>
                <a:cs typeface="Roboto" pitchFamily="34" charset="-120"/>
              </a:rPr>
              <a:t>Un año de sequía severa: </a:t>
            </a:r>
            <a:pPr algn="l" indent="0" marL="0">
              <a:lnSpc>
                <a:spcPts val="1400"/>
              </a:lnSpc>
              <a:buNone/>
            </a:pPr>
            <a:r>
              <a:rPr lang="en-US" sz="1050" b="1" dirty="0">
                <a:solidFill>
                  <a:srgbClr val="384653"/>
                </a:solidFill>
                <a:latin typeface="Roboto" pitchFamily="34" charset="0"/>
                <a:ea typeface="Roboto" pitchFamily="34" charset="-122"/>
                <a:cs typeface="Roboto" pitchFamily="34" charset="-120"/>
              </a:rPr>
              <a:t>−$3,200,000 MXN de un golpe</a:t>
            </a:r>
            <a:endParaRPr lang="en-US" sz="1050" dirty="0"/>
          </a:p>
        </p:txBody>
      </p:sp>
      <p:sp>
        <p:nvSpPr>
          <p:cNvPr id="6" name="Shape 4"/>
          <p:cNvSpPr/>
          <p:nvPr/>
        </p:nvSpPr>
        <p:spPr>
          <a:xfrm>
            <a:off x="7392472" y="1567696"/>
            <a:ext cx="5532834" cy="1476851"/>
          </a:xfrm>
          <a:prstGeom prst="roundRect">
            <a:avLst>
              <a:gd name="adj" fmla="val 6804"/>
            </a:avLst>
          </a:prstGeom>
          <a:solidFill>
            <a:srgbClr val="95CCDA"/>
          </a:solidFill>
          <a:ln/>
        </p:spPr>
      </p:sp>
      <p:sp>
        <p:nvSpPr>
          <p:cNvPr id="7" name="Text 5"/>
          <p:cNvSpPr/>
          <p:nvPr/>
        </p:nvSpPr>
        <p:spPr>
          <a:xfrm>
            <a:off x="7532013" y="1665803"/>
            <a:ext cx="3703558" cy="218003"/>
          </a:xfrm>
          <a:prstGeom prst="rect">
            <a:avLst/>
          </a:prstGeom>
          <a:noFill/>
          <a:ln/>
        </p:spPr>
        <p:txBody>
          <a:bodyPr wrap="none" lIns="0" tIns="0" rIns="0" bIns="0" rtlCol="0" anchor="t"/>
          <a:lstStyle/>
          <a:p>
            <a:pPr algn="l" indent="0" marL="0">
              <a:lnSpc>
                <a:spcPts val="1700"/>
              </a:lnSpc>
              <a:buNone/>
            </a:pPr>
            <a:r>
              <a:rPr lang="en-US" sz="1350" dirty="0">
                <a:solidFill>
                  <a:srgbClr val="2E3C4E"/>
                </a:solidFill>
                <a:latin typeface="Host Grotesk Medium" pitchFamily="34" charset="0"/>
                <a:ea typeface="Host Grotesk Medium" pitchFamily="34" charset="-122"/>
                <a:cs typeface="Host Grotesk Medium" pitchFamily="34" charset="-120"/>
              </a:rPr>
              <a:t>Camino B — Riego con descuento 30% + FIRA</a:t>
            </a:r>
            <a:endParaRPr lang="en-US" sz="1350" dirty="0"/>
          </a:p>
        </p:txBody>
      </p:sp>
      <p:sp>
        <p:nvSpPr>
          <p:cNvPr id="8" name="Text 6"/>
          <p:cNvSpPr/>
          <p:nvPr/>
        </p:nvSpPr>
        <p:spPr>
          <a:xfrm>
            <a:off x="7532013" y="1981914"/>
            <a:ext cx="5253752" cy="1028343"/>
          </a:xfrm>
          <a:prstGeom prst="rect">
            <a:avLst/>
          </a:prstGeom>
          <a:noFill/>
          <a:ln/>
        </p:spPr>
        <p:txBody>
          <a:bodyPr wrap="square" lIns="0" tIns="0" rIns="0" bIns="0" rtlCol="0" anchor="t"/>
          <a:lstStyle/>
          <a:p>
            <a:pPr algn="l" marL="342900" indent="-342900">
              <a:lnSpc>
                <a:spcPts val="1400"/>
              </a:lnSpc>
              <a:buSzPct val="100000"/>
              <a:buChar char="•"/>
            </a:pPr>
            <a:r>
              <a:rPr lang="en-US" sz="1050" dirty="0">
                <a:solidFill>
                  <a:srgbClr val="000000"/>
                </a:solidFill>
                <a:latin typeface="Roboto" pitchFamily="34" charset="0"/>
                <a:ea typeface="Roboto" pitchFamily="34" charset="-122"/>
                <a:cs typeface="Roboto" pitchFamily="34" charset="-120"/>
              </a:rPr>
              <a:t>Desembolso real: $16,947 MXN/mes durante 7 años</a:t>
            </a:r>
            <a:endParaRPr lang="en-US" sz="1050" dirty="0"/>
          </a:p>
          <a:p>
            <a:pPr algn="l" marL="342900" indent="-342900">
              <a:lnSpc>
                <a:spcPts val="1400"/>
              </a:lnSpc>
              <a:buSzPct val="100000"/>
              <a:buChar char="•"/>
            </a:pPr>
            <a:r>
              <a:rPr lang="en-US" sz="1050" dirty="0">
                <a:solidFill>
                  <a:srgbClr val="000000"/>
                </a:solidFill>
                <a:latin typeface="Roboto" pitchFamily="34" charset="0"/>
                <a:ea typeface="Roboto" pitchFamily="34" charset="-122"/>
                <a:cs typeface="Roboto" pitchFamily="34" charset="-120"/>
              </a:rPr>
              <a:t>Recupera inversión en </a:t>
            </a:r>
            <a:pPr algn="l" indent="0" marL="0">
              <a:lnSpc>
                <a:spcPts val="1400"/>
              </a:lnSpc>
              <a:buNone/>
            </a:pPr>
            <a:r>
              <a:rPr lang="en-US" sz="1050" b="1" dirty="0">
                <a:solidFill>
                  <a:srgbClr val="000000"/>
                </a:solidFill>
                <a:latin typeface="Roboto" pitchFamily="34" charset="0"/>
                <a:ea typeface="Roboto" pitchFamily="34" charset="-122"/>
                <a:cs typeface="Roboto" pitchFamily="34" charset="-120"/>
              </a:rPr>
              <a:t>6.5 años</a:t>
            </a:r>
            <a:endParaRPr lang="en-US" sz="1050" dirty="0"/>
          </a:p>
          <a:p>
            <a:pPr algn="l" marL="342900" indent="-342900">
              <a:lnSpc>
                <a:spcPts val="1400"/>
              </a:lnSpc>
              <a:buSzPct val="100000"/>
              <a:buChar char="•"/>
            </a:pPr>
            <a:r>
              <a:rPr lang="en-US" sz="1050" dirty="0">
                <a:solidFill>
                  <a:srgbClr val="000000"/>
                </a:solidFill>
                <a:latin typeface="Roboto" pitchFamily="34" charset="0"/>
                <a:ea typeface="Roboto" pitchFamily="34" charset="-122"/>
                <a:cs typeface="Roboto" pitchFamily="34" charset="-120"/>
              </a:rPr>
              <a:t>Acumula </a:t>
            </a:r>
            <a:pPr algn="l" indent="0" marL="0">
              <a:lnSpc>
                <a:spcPts val="1400"/>
              </a:lnSpc>
              <a:buNone/>
            </a:pPr>
            <a:r>
              <a:rPr lang="en-US" sz="1050" b="1" dirty="0">
                <a:solidFill>
                  <a:srgbClr val="000000"/>
                </a:solidFill>
                <a:latin typeface="Roboto" pitchFamily="34" charset="0"/>
                <a:ea typeface="Roboto" pitchFamily="34" charset="-122"/>
                <a:cs typeface="Roboto" pitchFamily="34" charset="-120"/>
              </a:rPr>
              <a:t>+$425,958 MXN</a:t>
            </a:r>
            <a:pPr algn="l" indent="0" marL="0">
              <a:lnSpc>
                <a:spcPts val="1400"/>
              </a:lnSpc>
              <a:buNone/>
            </a:pPr>
            <a:r>
              <a:rPr lang="en-US" sz="1050" dirty="0">
                <a:solidFill>
                  <a:srgbClr val="000000"/>
                </a:solidFill>
                <a:latin typeface="Roboto" pitchFamily="34" charset="0"/>
                <a:ea typeface="Roboto" pitchFamily="34" charset="-122"/>
                <a:cs typeface="Roboto" pitchFamily="34" charset="-120"/>
              </a:rPr>
              <a:t> en utilidad neta</a:t>
            </a:r>
            <a:endParaRPr lang="en-US" sz="1050" dirty="0"/>
          </a:p>
          <a:p>
            <a:pPr algn="l" marL="342900" indent="-342900">
              <a:lnSpc>
                <a:spcPts val="1400"/>
              </a:lnSpc>
              <a:buSzPct val="100000"/>
              <a:buChar char="•"/>
            </a:pPr>
            <a:r>
              <a:rPr lang="en-US" sz="1050" dirty="0">
                <a:solidFill>
                  <a:srgbClr val="000000"/>
                </a:solidFill>
                <a:latin typeface="Roboto" pitchFamily="34" charset="0"/>
                <a:ea typeface="Roboto" pitchFamily="34" charset="-122"/>
                <a:cs typeface="Roboto" pitchFamily="34" charset="-120"/>
              </a:rPr>
              <a:t>Año 8 en adelante: $71,738 MXN/mes libres, sin deuda</a:t>
            </a:r>
            <a:endParaRPr lang="en-US" sz="1050" dirty="0"/>
          </a:p>
          <a:p>
            <a:pPr algn="l" marL="342900" indent="-342900">
              <a:lnSpc>
                <a:spcPts val="1400"/>
              </a:lnSpc>
              <a:buSzPct val="100000"/>
              <a:buChar char="•"/>
            </a:pPr>
            <a:r>
              <a:rPr lang="en-US" sz="1050" dirty="0">
                <a:solidFill>
                  <a:srgbClr val="000000"/>
                </a:solidFill>
                <a:latin typeface="Roboto" pitchFamily="34" charset="0"/>
                <a:ea typeface="Roboto" pitchFamily="34" charset="-122"/>
                <a:cs typeface="Roboto" pitchFamily="34" charset="-120"/>
              </a:rPr>
              <a:t>Con sequía severa: genera </a:t>
            </a:r>
            <a:pPr algn="l" indent="0" marL="0">
              <a:lnSpc>
                <a:spcPts val="1400"/>
              </a:lnSpc>
              <a:buNone/>
            </a:pPr>
            <a:r>
              <a:rPr lang="en-US" sz="1050" b="1" dirty="0">
                <a:solidFill>
                  <a:srgbClr val="000000"/>
                </a:solidFill>
                <a:latin typeface="Roboto" pitchFamily="34" charset="0"/>
                <a:ea typeface="Roboto" pitchFamily="34" charset="-122"/>
                <a:cs typeface="Roboto" pitchFamily="34" charset="-120"/>
              </a:rPr>
              <a:t>+$574,000 MXN/año</a:t>
            </a:r>
            <a:endParaRPr lang="en-US" sz="1050" dirty="0"/>
          </a:p>
        </p:txBody>
      </p:sp>
      <p:sp>
        <p:nvSpPr>
          <p:cNvPr id="9" name="Text 7"/>
          <p:cNvSpPr/>
          <p:nvPr/>
        </p:nvSpPr>
        <p:spPr>
          <a:xfrm>
            <a:off x="2747724" y="4061936"/>
            <a:ext cx="1716405" cy="348853"/>
          </a:xfrm>
          <a:prstGeom prst="rect">
            <a:avLst/>
          </a:prstGeom>
          <a:noFill/>
          <a:ln/>
        </p:spPr>
        <p:txBody>
          <a:bodyPr wrap="none" lIns="0" tIns="0" rIns="0" bIns="0" rtlCol="0" anchor="t"/>
          <a:lstStyle/>
          <a:p>
            <a:pPr algn="ctr" indent="0" marL="0">
              <a:lnSpc>
                <a:spcPts val="2700"/>
              </a:lnSpc>
              <a:buNone/>
            </a:pPr>
            <a:r>
              <a:rPr lang="en-US" sz="2700" dirty="0">
                <a:solidFill>
                  <a:srgbClr val="384653"/>
                </a:solidFill>
                <a:latin typeface="Host Grotesk Medium" pitchFamily="34" charset="0"/>
                <a:ea typeface="Host Grotesk Medium" pitchFamily="34" charset="-122"/>
                <a:cs typeface="Host Grotesk Medium" pitchFamily="34" charset="-120"/>
              </a:rPr>
              <a:t>$460K</a:t>
            </a:r>
            <a:endParaRPr lang="en-US" sz="2700" dirty="0"/>
          </a:p>
        </p:txBody>
      </p:sp>
      <p:pic>
        <p:nvPicPr>
          <p:cNvPr id="10" name="Image 0" descr="preencoded.png">    </p:cNvPr>
          <p:cNvPicPr>
            <a:picLocks noChangeAspect="1"/>
          </p:cNvPicPr>
          <p:nvPr/>
        </p:nvPicPr>
        <p:blipFill>
          <a:blip r:embed="rId1"/>
          <a:stretch>
            <a:fillRect/>
          </a:stretch>
        </p:blipFill>
        <p:spPr>
          <a:xfrm>
            <a:off x="2559368" y="3189803"/>
            <a:ext cx="2093238" cy="2093238"/>
          </a:xfrm>
          <a:prstGeom prst="rect">
            <a:avLst/>
          </a:prstGeom>
        </p:spPr>
      </p:pic>
      <p:sp>
        <p:nvSpPr>
          <p:cNvPr id="11" name="Text 8"/>
          <p:cNvSpPr/>
          <p:nvPr/>
        </p:nvSpPr>
        <p:spPr>
          <a:xfrm>
            <a:off x="2733794" y="5416034"/>
            <a:ext cx="1744385" cy="218003"/>
          </a:xfrm>
          <a:prstGeom prst="rect">
            <a:avLst/>
          </a:prstGeom>
          <a:noFill/>
          <a:ln/>
        </p:spPr>
        <p:txBody>
          <a:bodyPr wrap="none" lIns="0" tIns="0" rIns="0" bIns="0" rtlCol="0" anchor="t"/>
          <a:lstStyle/>
          <a:p>
            <a:pPr algn="ctr" indent="0" marL="0">
              <a:lnSpc>
                <a:spcPts val="1700"/>
              </a:lnSpc>
              <a:buNone/>
            </a:pPr>
            <a:r>
              <a:rPr lang="en-US" sz="1350" dirty="0">
                <a:solidFill>
                  <a:srgbClr val="384653"/>
                </a:solidFill>
                <a:latin typeface="Host Grotesk Medium" pitchFamily="34" charset="0"/>
                <a:ea typeface="Host Grotesk Medium" pitchFamily="34" charset="-122"/>
                <a:cs typeface="Host Grotesk Medium" pitchFamily="34" charset="-120"/>
              </a:rPr>
              <a:t>Diferencia total</a:t>
            </a:r>
            <a:endParaRPr lang="en-US" sz="1350" dirty="0"/>
          </a:p>
        </p:txBody>
      </p:sp>
      <p:sp>
        <p:nvSpPr>
          <p:cNvPr id="12" name="Text 9"/>
          <p:cNvSpPr/>
          <p:nvPr/>
        </p:nvSpPr>
        <p:spPr>
          <a:xfrm>
            <a:off x="1812846" y="5692854"/>
            <a:ext cx="3586401" cy="356473"/>
          </a:xfrm>
          <a:prstGeom prst="rect">
            <a:avLst/>
          </a:prstGeom>
          <a:noFill/>
          <a:ln/>
        </p:spPr>
        <p:txBody>
          <a:bodyPr wrap="square" lIns="0" tIns="0" rIns="0" bIns="0" rtlCol="0" anchor="t"/>
          <a:lstStyle/>
          <a:p>
            <a:pPr algn="ctr" indent="0" marL="0">
              <a:lnSpc>
                <a:spcPts val="1400"/>
              </a:lnSpc>
              <a:buNone/>
            </a:pPr>
            <a:r>
              <a:rPr lang="en-US" sz="1050" dirty="0">
                <a:solidFill>
                  <a:srgbClr val="384653"/>
                </a:solidFill>
                <a:latin typeface="Roboto" pitchFamily="34" charset="0"/>
                <a:ea typeface="Roboto" pitchFamily="34" charset="-122"/>
                <a:cs typeface="Roboto" pitchFamily="34" charset="-120"/>
              </a:rPr>
              <a:t>A favor del riego al cabo de 7 años frente a continuar con temporal</a:t>
            </a:r>
            <a:endParaRPr lang="en-US" sz="1050" dirty="0"/>
          </a:p>
        </p:txBody>
      </p:sp>
      <p:sp>
        <p:nvSpPr>
          <p:cNvPr id="13" name="Text 10"/>
          <p:cNvSpPr/>
          <p:nvPr/>
        </p:nvSpPr>
        <p:spPr>
          <a:xfrm>
            <a:off x="6456759" y="4061936"/>
            <a:ext cx="1716405" cy="348853"/>
          </a:xfrm>
          <a:prstGeom prst="rect">
            <a:avLst/>
          </a:prstGeom>
          <a:noFill/>
          <a:ln/>
        </p:spPr>
        <p:txBody>
          <a:bodyPr wrap="none" lIns="0" tIns="0" rIns="0" bIns="0" rtlCol="0" anchor="t"/>
          <a:lstStyle/>
          <a:p>
            <a:pPr algn="ctr" indent="0" marL="0">
              <a:lnSpc>
                <a:spcPts val="2700"/>
              </a:lnSpc>
              <a:buNone/>
            </a:pPr>
            <a:r>
              <a:rPr lang="en-US" sz="2700" dirty="0">
                <a:solidFill>
                  <a:srgbClr val="384653"/>
                </a:solidFill>
                <a:latin typeface="Host Grotesk Medium" pitchFamily="34" charset="0"/>
                <a:ea typeface="Host Grotesk Medium" pitchFamily="34" charset="-122"/>
                <a:cs typeface="Host Grotesk Medium" pitchFamily="34" charset="-120"/>
              </a:rPr>
              <a:t>6.5</a:t>
            </a:r>
            <a:endParaRPr lang="en-US" sz="2700" dirty="0"/>
          </a:p>
        </p:txBody>
      </p:sp>
      <p:pic>
        <p:nvPicPr>
          <p:cNvPr id="14" name="Image 1" descr="preencoded.png">    </p:cNvPr>
          <p:cNvPicPr>
            <a:picLocks noChangeAspect="1"/>
          </p:cNvPicPr>
          <p:nvPr/>
        </p:nvPicPr>
        <p:blipFill>
          <a:blip r:embed="rId2"/>
          <a:stretch>
            <a:fillRect/>
          </a:stretch>
        </p:blipFill>
        <p:spPr>
          <a:xfrm>
            <a:off x="6268403" y="3189803"/>
            <a:ext cx="2093238" cy="2093238"/>
          </a:xfrm>
          <a:prstGeom prst="rect">
            <a:avLst/>
          </a:prstGeom>
        </p:spPr>
      </p:pic>
      <p:sp>
        <p:nvSpPr>
          <p:cNvPr id="15" name="Text 11"/>
          <p:cNvSpPr/>
          <p:nvPr/>
        </p:nvSpPr>
        <p:spPr>
          <a:xfrm>
            <a:off x="6441400" y="5416034"/>
            <a:ext cx="1747361" cy="218003"/>
          </a:xfrm>
          <a:prstGeom prst="rect">
            <a:avLst/>
          </a:prstGeom>
          <a:noFill/>
          <a:ln/>
        </p:spPr>
        <p:txBody>
          <a:bodyPr wrap="none" lIns="0" tIns="0" rIns="0" bIns="0" rtlCol="0" anchor="t"/>
          <a:lstStyle/>
          <a:p>
            <a:pPr algn="ctr" indent="0" marL="0">
              <a:lnSpc>
                <a:spcPts val="1700"/>
              </a:lnSpc>
              <a:buNone/>
            </a:pPr>
            <a:r>
              <a:rPr lang="en-US" sz="1350" dirty="0">
                <a:solidFill>
                  <a:srgbClr val="384653"/>
                </a:solidFill>
                <a:latin typeface="Host Grotesk Medium" pitchFamily="34" charset="0"/>
                <a:ea typeface="Host Grotesk Medium" pitchFamily="34" charset="-122"/>
                <a:cs typeface="Host Grotesk Medium" pitchFamily="34" charset="-120"/>
              </a:rPr>
              <a:t>Años de recuperación</a:t>
            </a:r>
            <a:endParaRPr lang="en-US" sz="1350" dirty="0"/>
          </a:p>
        </p:txBody>
      </p:sp>
      <p:sp>
        <p:nvSpPr>
          <p:cNvPr id="16" name="Text 12"/>
          <p:cNvSpPr/>
          <p:nvPr/>
        </p:nvSpPr>
        <p:spPr>
          <a:xfrm>
            <a:off x="5521881" y="5692854"/>
            <a:ext cx="3586401" cy="356473"/>
          </a:xfrm>
          <a:prstGeom prst="rect">
            <a:avLst/>
          </a:prstGeom>
          <a:noFill/>
          <a:ln/>
        </p:spPr>
        <p:txBody>
          <a:bodyPr wrap="square" lIns="0" tIns="0" rIns="0" bIns="0" rtlCol="0" anchor="t"/>
          <a:lstStyle/>
          <a:p>
            <a:pPr algn="ctr" indent="0" marL="0">
              <a:lnSpc>
                <a:spcPts val="1400"/>
              </a:lnSpc>
              <a:buNone/>
            </a:pPr>
            <a:r>
              <a:rPr lang="en-US" sz="1050" dirty="0">
                <a:solidFill>
                  <a:srgbClr val="384653"/>
                </a:solidFill>
                <a:latin typeface="Roboto" pitchFamily="34" charset="0"/>
                <a:ea typeface="Roboto" pitchFamily="34" charset="-122"/>
                <a:cs typeface="Roboto" pitchFamily="34" charset="-120"/>
              </a:rPr>
              <a:t>Con el descuento del 30%, dentro del horizonte de vida útil del sistema</a:t>
            </a:r>
            <a:endParaRPr lang="en-US" sz="1050" dirty="0"/>
          </a:p>
        </p:txBody>
      </p:sp>
      <p:sp>
        <p:nvSpPr>
          <p:cNvPr id="17" name="Text 13"/>
          <p:cNvSpPr/>
          <p:nvPr/>
        </p:nvSpPr>
        <p:spPr>
          <a:xfrm>
            <a:off x="10165913" y="4061936"/>
            <a:ext cx="1716405" cy="348853"/>
          </a:xfrm>
          <a:prstGeom prst="rect">
            <a:avLst/>
          </a:prstGeom>
          <a:noFill/>
          <a:ln/>
        </p:spPr>
        <p:txBody>
          <a:bodyPr wrap="none" lIns="0" tIns="0" rIns="0" bIns="0" rtlCol="0" anchor="t"/>
          <a:lstStyle/>
          <a:p>
            <a:pPr algn="ctr" indent="0" marL="0">
              <a:lnSpc>
                <a:spcPts val="2700"/>
              </a:lnSpc>
              <a:buNone/>
            </a:pPr>
            <a:r>
              <a:rPr lang="en-US" sz="2700" dirty="0">
                <a:solidFill>
                  <a:srgbClr val="384653"/>
                </a:solidFill>
                <a:latin typeface="Host Grotesk Medium" pitchFamily="34" charset="0"/>
                <a:ea typeface="Host Grotesk Medium" pitchFamily="34" charset="-122"/>
                <a:cs typeface="Host Grotesk Medium" pitchFamily="34" charset="-120"/>
              </a:rPr>
              <a:t>81%</a:t>
            </a:r>
            <a:endParaRPr lang="en-US" sz="2700" dirty="0"/>
          </a:p>
        </p:txBody>
      </p:sp>
      <p:pic>
        <p:nvPicPr>
          <p:cNvPr id="18" name="Image 2" descr="preencoded.png">    </p:cNvPr>
          <p:cNvPicPr>
            <a:picLocks noChangeAspect="1"/>
          </p:cNvPicPr>
          <p:nvPr/>
        </p:nvPicPr>
        <p:blipFill>
          <a:blip r:embed="rId3"/>
          <a:stretch>
            <a:fillRect/>
          </a:stretch>
        </p:blipFill>
        <p:spPr>
          <a:xfrm>
            <a:off x="9977557" y="3189803"/>
            <a:ext cx="2093238" cy="2093238"/>
          </a:xfrm>
          <a:prstGeom prst="rect">
            <a:avLst/>
          </a:prstGeom>
        </p:spPr>
      </p:pic>
      <p:sp>
        <p:nvSpPr>
          <p:cNvPr id="19" name="Text 14"/>
          <p:cNvSpPr/>
          <p:nvPr/>
        </p:nvSpPr>
        <p:spPr>
          <a:xfrm>
            <a:off x="10151983" y="5416034"/>
            <a:ext cx="1744385" cy="218003"/>
          </a:xfrm>
          <a:prstGeom prst="rect">
            <a:avLst/>
          </a:prstGeom>
          <a:noFill/>
          <a:ln/>
        </p:spPr>
        <p:txBody>
          <a:bodyPr wrap="none" lIns="0" tIns="0" rIns="0" bIns="0" rtlCol="0" anchor="t"/>
          <a:lstStyle/>
          <a:p>
            <a:pPr algn="ctr" indent="0" marL="0">
              <a:lnSpc>
                <a:spcPts val="1700"/>
              </a:lnSpc>
              <a:buNone/>
            </a:pPr>
            <a:r>
              <a:rPr lang="en-US" sz="1350" dirty="0">
                <a:solidFill>
                  <a:srgbClr val="384653"/>
                </a:solidFill>
                <a:latin typeface="Host Grotesk Medium" pitchFamily="34" charset="0"/>
                <a:ea typeface="Host Grotesk Medium" pitchFamily="34" charset="-122"/>
                <a:cs typeface="Host Grotesk Medium" pitchFamily="34" charset="-120"/>
              </a:rPr>
              <a:t>Se paga solo</a:t>
            </a:r>
            <a:endParaRPr lang="en-US" sz="1350" dirty="0"/>
          </a:p>
        </p:txBody>
      </p:sp>
      <p:sp>
        <p:nvSpPr>
          <p:cNvPr id="20" name="Text 15"/>
          <p:cNvSpPr/>
          <p:nvPr/>
        </p:nvSpPr>
        <p:spPr>
          <a:xfrm>
            <a:off x="9230916" y="5692854"/>
            <a:ext cx="3586520" cy="356473"/>
          </a:xfrm>
          <a:prstGeom prst="rect">
            <a:avLst/>
          </a:prstGeom>
          <a:noFill/>
          <a:ln/>
        </p:spPr>
        <p:txBody>
          <a:bodyPr wrap="square" lIns="0" tIns="0" rIns="0" bIns="0" rtlCol="0" anchor="t"/>
          <a:lstStyle/>
          <a:p>
            <a:pPr algn="ctr" indent="0" marL="0">
              <a:lnSpc>
                <a:spcPts val="1400"/>
              </a:lnSpc>
              <a:buNone/>
            </a:pPr>
            <a:r>
              <a:rPr lang="en-US" sz="1050" dirty="0">
                <a:solidFill>
                  <a:srgbClr val="384653"/>
                </a:solidFill>
                <a:latin typeface="Roboto" pitchFamily="34" charset="0"/>
                <a:ea typeface="Roboto" pitchFamily="34" charset="-122"/>
                <a:cs typeface="Roboto" pitchFamily="34" charset="-120"/>
              </a:rPr>
              <a:t>El sistema cubre el 81% de su propia cuota FIRA con la utilidad que genera</a:t>
            </a:r>
            <a:endParaRPr lang="en-US" sz="1050" dirty="0"/>
          </a:p>
        </p:txBody>
      </p:sp>
      <p:sp>
        <p:nvSpPr>
          <p:cNvPr id="21" name="Shape 16"/>
          <p:cNvSpPr/>
          <p:nvPr/>
        </p:nvSpPr>
        <p:spPr>
          <a:xfrm>
            <a:off x="1812846" y="6159698"/>
            <a:ext cx="11004590" cy="1601272"/>
          </a:xfrm>
          <a:prstGeom prst="roundRect">
            <a:avLst>
              <a:gd name="adj" fmla="val 3660"/>
            </a:avLst>
          </a:prstGeom>
          <a:noFill/>
          <a:ln w="7620">
            <a:solidFill>
              <a:srgbClr val="000000">
                <a:alpha val="8000"/>
              </a:srgbClr>
            </a:solidFill>
            <a:prstDash val="solid"/>
          </a:ln>
        </p:spPr>
      </p:sp>
      <p:sp>
        <p:nvSpPr>
          <p:cNvPr id="22" name="Text 17"/>
          <p:cNvSpPr/>
          <p:nvPr/>
        </p:nvSpPr>
        <p:spPr>
          <a:xfrm>
            <a:off x="1960245" y="6233755"/>
            <a:ext cx="3013829" cy="178237"/>
          </a:xfrm>
          <a:prstGeom prst="rect">
            <a:avLst/>
          </a:prstGeom>
          <a:noFill/>
          <a:ln/>
        </p:spPr>
        <p:txBody>
          <a:bodyPr wrap="none" lIns="0" tIns="0" rIns="0" bIns="0" rtlCol="0" anchor="t"/>
          <a:lstStyle/>
          <a:p>
            <a:pPr algn="l" indent="0" marL="0">
              <a:lnSpc>
                <a:spcPts val="1400"/>
              </a:lnSpc>
              <a:buNone/>
            </a:pPr>
            <a:r>
              <a:rPr lang="en-US" sz="1050" b="1" dirty="0">
                <a:solidFill>
                  <a:srgbClr val="384653"/>
                </a:solidFill>
                <a:latin typeface="Roboto" pitchFamily="34" charset="0"/>
                <a:ea typeface="Roboto" pitchFamily="34" charset="-122"/>
                <a:cs typeface="Roboto" pitchFamily="34" charset="-120"/>
              </a:rPr>
              <a:t>Condición de viabilidad</a:t>
            </a:r>
            <a:endParaRPr lang="en-US" sz="1050" dirty="0"/>
          </a:p>
        </p:txBody>
      </p:sp>
      <p:sp>
        <p:nvSpPr>
          <p:cNvPr id="23" name="Text 18"/>
          <p:cNvSpPr/>
          <p:nvPr/>
        </p:nvSpPr>
        <p:spPr>
          <a:xfrm>
            <a:off x="5260777" y="6233755"/>
            <a:ext cx="4108966" cy="178237"/>
          </a:xfrm>
          <a:prstGeom prst="rect">
            <a:avLst/>
          </a:prstGeom>
          <a:noFill/>
          <a:ln/>
        </p:spPr>
        <p:txBody>
          <a:bodyPr wrap="none" lIns="0" tIns="0" rIns="0" bIns="0" rtlCol="0" anchor="t"/>
          <a:lstStyle/>
          <a:p>
            <a:pPr algn="l" indent="0" marL="0">
              <a:lnSpc>
                <a:spcPts val="1400"/>
              </a:lnSpc>
              <a:buNone/>
            </a:pPr>
            <a:r>
              <a:rPr lang="en-US" sz="1050" b="1" dirty="0">
                <a:solidFill>
                  <a:srgbClr val="384653"/>
                </a:solidFill>
                <a:latin typeface="Roboto" pitchFamily="34" charset="0"/>
                <a:ea typeface="Roboto" pitchFamily="34" charset="-122"/>
                <a:cs typeface="Roboto" pitchFamily="34" charset="-120"/>
              </a:rPr>
              <a:t>Umbral requerido</a:t>
            </a:r>
            <a:endParaRPr lang="en-US" sz="1050" dirty="0"/>
          </a:p>
        </p:txBody>
      </p:sp>
      <p:sp>
        <p:nvSpPr>
          <p:cNvPr id="24" name="Text 19"/>
          <p:cNvSpPr/>
          <p:nvPr/>
        </p:nvSpPr>
        <p:spPr>
          <a:xfrm>
            <a:off x="9656445" y="6233755"/>
            <a:ext cx="3013829" cy="178237"/>
          </a:xfrm>
          <a:prstGeom prst="rect">
            <a:avLst/>
          </a:prstGeom>
          <a:noFill/>
          <a:ln/>
        </p:spPr>
        <p:txBody>
          <a:bodyPr wrap="none" lIns="0" tIns="0" rIns="0" bIns="0" rtlCol="0" anchor="t"/>
          <a:lstStyle/>
          <a:p>
            <a:pPr algn="l" indent="0" marL="0">
              <a:lnSpc>
                <a:spcPts val="1400"/>
              </a:lnSpc>
              <a:buNone/>
            </a:pPr>
            <a:r>
              <a:rPr lang="en-US" sz="1050" b="1" dirty="0">
                <a:solidFill>
                  <a:srgbClr val="384653"/>
                </a:solidFill>
                <a:latin typeface="Roboto" pitchFamily="34" charset="0"/>
                <a:ea typeface="Roboto" pitchFamily="34" charset="-122"/>
                <a:cs typeface="Roboto" pitchFamily="34" charset="-120"/>
              </a:rPr>
              <a:t>Estado actual</a:t>
            </a:r>
            <a:endParaRPr lang="en-US" sz="1050" dirty="0"/>
          </a:p>
        </p:txBody>
      </p:sp>
      <p:sp>
        <p:nvSpPr>
          <p:cNvPr id="25" name="Text 20"/>
          <p:cNvSpPr/>
          <p:nvPr/>
        </p:nvSpPr>
        <p:spPr>
          <a:xfrm>
            <a:off x="1960245" y="6552486"/>
            <a:ext cx="3013829" cy="178237"/>
          </a:xfrm>
          <a:prstGeom prst="rect">
            <a:avLst/>
          </a:prstGeom>
          <a:noFill/>
          <a:ln/>
        </p:spPr>
        <p:txBody>
          <a:bodyPr wrap="none" lIns="0" tIns="0" rIns="0" bIns="0" rtlCol="0" anchor="t"/>
          <a:lstStyle/>
          <a:p>
            <a:pPr algn="l" indent="0" marL="0">
              <a:lnSpc>
                <a:spcPts val="1400"/>
              </a:lnSpc>
              <a:buNone/>
            </a:pPr>
            <a:r>
              <a:rPr lang="en-US" sz="1050" dirty="0">
                <a:solidFill>
                  <a:srgbClr val="384653"/>
                </a:solidFill>
                <a:latin typeface="Roboto" pitchFamily="34" charset="0"/>
                <a:ea typeface="Roboto" pitchFamily="34" charset="-122"/>
                <a:cs typeface="Roboto" pitchFamily="34" charset="-120"/>
              </a:rPr>
              <a:t>Descuento comercial</a:t>
            </a:r>
            <a:endParaRPr lang="en-US" sz="1050" dirty="0"/>
          </a:p>
        </p:txBody>
      </p:sp>
      <p:sp>
        <p:nvSpPr>
          <p:cNvPr id="26" name="Text 21"/>
          <p:cNvSpPr/>
          <p:nvPr/>
        </p:nvSpPr>
        <p:spPr>
          <a:xfrm>
            <a:off x="5260777" y="6552486"/>
            <a:ext cx="4108966" cy="178237"/>
          </a:xfrm>
          <a:prstGeom prst="rect">
            <a:avLst/>
          </a:prstGeom>
          <a:noFill/>
          <a:ln/>
        </p:spPr>
        <p:txBody>
          <a:bodyPr wrap="none" lIns="0" tIns="0" rIns="0" bIns="0" rtlCol="0" anchor="t"/>
          <a:lstStyle/>
          <a:p>
            <a:pPr algn="l" indent="0" marL="0">
              <a:lnSpc>
                <a:spcPts val="1400"/>
              </a:lnSpc>
              <a:buNone/>
            </a:pPr>
            <a:r>
              <a:rPr lang="en-US" sz="1050" dirty="0">
                <a:solidFill>
                  <a:srgbClr val="384653"/>
                </a:solidFill>
                <a:latin typeface="Roboto" pitchFamily="34" charset="0"/>
                <a:ea typeface="Roboto" pitchFamily="34" charset="-122"/>
                <a:cs typeface="Roboto" pitchFamily="34" charset="-120"/>
              </a:rPr>
              <a:t>30% sobre precio lista</a:t>
            </a:r>
            <a:endParaRPr lang="en-US" sz="1050" dirty="0"/>
          </a:p>
        </p:txBody>
      </p:sp>
      <p:sp>
        <p:nvSpPr>
          <p:cNvPr id="27" name="Text 22"/>
          <p:cNvSpPr/>
          <p:nvPr/>
        </p:nvSpPr>
        <p:spPr>
          <a:xfrm>
            <a:off x="9656445" y="6552486"/>
            <a:ext cx="3013829" cy="178237"/>
          </a:xfrm>
          <a:prstGeom prst="rect">
            <a:avLst/>
          </a:prstGeom>
          <a:noFill/>
          <a:ln/>
        </p:spPr>
        <p:txBody>
          <a:bodyPr wrap="none" lIns="0" tIns="0" rIns="0" bIns="0" rtlCol="0" anchor="t"/>
          <a:lstStyle/>
          <a:p>
            <a:pPr algn="l" indent="0" marL="0">
              <a:lnSpc>
                <a:spcPts val="1400"/>
              </a:lnSpc>
              <a:buNone/>
            </a:pPr>
            <a:r>
              <a:rPr lang="en-US" sz="1050" dirty="0">
                <a:solidFill>
                  <a:srgbClr val="000000"/>
                </a:solidFill>
                <a:latin typeface="Roboto" pitchFamily="34" charset="0"/>
                <a:ea typeface="Roboto" pitchFamily="34" charset="-122"/>
                <a:cs typeface="Roboto" pitchFamily="34" charset="-120"/>
              </a:rPr>
              <a:t>✅</a:t>
            </a:r>
            <a:pPr algn="l" indent="0" marL="0">
              <a:lnSpc>
                <a:spcPts val="1400"/>
              </a:lnSpc>
              <a:buNone/>
            </a:pPr>
            <a:r>
              <a:rPr lang="en-US" sz="1050" dirty="0">
                <a:solidFill>
                  <a:srgbClr val="384653"/>
                </a:solidFill>
                <a:latin typeface="Roboto" pitchFamily="34" charset="0"/>
                <a:ea typeface="Roboto" pitchFamily="34" charset="-122"/>
                <a:cs typeface="Roboto" pitchFamily="34" charset="-120"/>
              </a:rPr>
              <a:t> Disponible hoy</a:t>
            </a:r>
            <a:endParaRPr lang="en-US" sz="1050" dirty="0"/>
          </a:p>
        </p:txBody>
      </p:sp>
      <p:sp>
        <p:nvSpPr>
          <p:cNvPr id="28" name="Text 23"/>
          <p:cNvSpPr/>
          <p:nvPr/>
        </p:nvSpPr>
        <p:spPr>
          <a:xfrm>
            <a:off x="1960245" y="6871216"/>
            <a:ext cx="3013829" cy="178237"/>
          </a:xfrm>
          <a:prstGeom prst="rect">
            <a:avLst/>
          </a:prstGeom>
          <a:noFill/>
          <a:ln/>
        </p:spPr>
        <p:txBody>
          <a:bodyPr wrap="none" lIns="0" tIns="0" rIns="0" bIns="0" rtlCol="0" anchor="t"/>
          <a:lstStyle/>
          <a:p>
            <a:pPr algn="l" indent="0" marL="0">
              <a:lnSpc>
                <a:spcPts val="1400"/>
              </a:lnSpc>
              <a:buNone/>
            </a:pPr>
            <a:r>
              <a:rPr lang="en-US" sz="1050" dirty="0">
                <a:solidFill>
                  <a:srgbClr val="384653"/>
                </a:solidFill>
                <a:latin typeface="Roboto" pitchFamily="34" charset="0"/>
                <a:ea typeface="Roboto" pitchFamily="34" charset="-122"/>
                <a:cs typeface="Roboto" pitchFamily="34" charset="-120"/>
              </a:rPr>
              <a:t>Precio de la caña</a:t>
            </a:r>
            <a:endParaRPr lang="en-US" sz="1050" dirty="0"/>
          </a:p>
        </p:txBody>
      </p:sp>
      <p:sp>
        <p:nvSpPr>
          <p:cNvPr id="29" name="Text 24"/>
          <p:cNvSpPr/>
          <p:nvPr/>
        </p:nvSpPr>
        <p:spPr>
          <a:xfrm>
            <a:off x="5260777" y="6871216"/>
            <a:ext cx="4108966" cy="178237"/>
          </a:xfrm>
          <a:prstGeom prst="rect">
            <a:avLst/>
          </a:prstGeom>
          <a:noFill/>
          <a:ln/>
        </p:spPr>
        <p:txBody>
          <a:bodyPr wrap="none" lIns="0" tIns="0" rIns="0" bIns="0" rtlCol="0" anchor="t"/>
          <a:lstStyle/>
          <a:p>
            <a:pPr algn="l" indent="0" marL="0">
              <a:lnSpc>
                <a:spcPts val="1400"/>
              </a:lnSpc>
              <a:buNone/>
            </a:pPr>
            <a:r>
              <a:rPr lang="en-US" sz="1050" dirty="0">
                <a:solidFill>
                  <a:srgbClr val="384653"/>
                </a:solidFill>
                <a:latin typeface="Roboto" pitchFamily="34" charset="0"/>
                <a:ea typeface="Roboto" pitchFamily="34" charset="-122"/>
                <a:cs typeface="Roboto" pitchFamily="34" charset="-120"/>
              </a:rPr>
              <a:t>≥ $791.27 MXN/ton</a:t>
            </a:r>
            <a:endParaRPr lang="en-US" sz="1050" dirty="0"/>
          </a:p>
        </p:txBody>
      </p:sp>
      <p:sp>
        <p:nvSpPr>
          <p:cNvPr id="30" name="Text 25"/>
          <p:cNvSpPr/>
          <p:nvPr/>
        </p:nvSpPr>
        <p:spPr>
          <a:xfrm>
            <a:off x="9656445" y="6871216"/>
            <a:ext cx="3013829" cy="178237"/>
          </a:xfrm>
          <a:prstGeom prst="rect">
            <a:avLst/>
          </a:prstGeom>
          <a:noFill/>
          <a:ln/>
        </p:spPr>
        <p:txBody>
          <a:bodyPr wrap="none" lIns="0" tIns="0" rIns="0" bIns="0" rtlCol="0" anchor="t"/>
          <a:lstStyle/>
          <a:p>
            <a:pPr algn="l" indent="0" marL="0">
              <a:lnSpc>
                <a:spcPts val="1400"/>
              </a:lnSpc>
              <a:buNone/>
            </a:pPr>
            <a:r>
              <a:rPr lang="en-US" sz="1050" dirty="0">
                <a:solidFill>
                  <a:srgbClr val="000000"/>
                </a:solidFill>
                <a:latin typeface="Roboto" pitchFamily="34" charset="0"/>
                <a:ea typeface="Roboto" pitchFamily="34" charset="-122"/>
                <a:cs typeface="Roboto" pitchFamily="34" charset="-120"/>
              </a:rPr>
              <a:t>✅</a:t>
            </a:r>
            <a:pPr algn="l" indent="0" marL="0">
              <a:lnSpc>
                <a:spcPts val="1400"/>
              </a:lnSpc>
              <a:buNone/>
            </a:pPr>
            <a:r>
              <a:rPr lang="en-US" sz="1050" dirty="0">
                <a:solidFill>
                  <a:srgbClr val="384653"/>
                </a:solidFill>
                <a:latin typeface="Roboto" pitchFamily="34" charset="0"/>
                <a:ea typeface="Roboto" pitchFamily="34" charset="-122"/>
                <a:cs typeface="Roboto" pitchFamily="34" charset="-120"/>
              </a:rPr>
              <a:t> $807.04 MXN/ton</a:t>
            </a:r>
            <a:endParaRPr lang="en-US" sz="1050" dirty="0"/>
          </a:p>
        </p:txBody>
      </p:sp>
      <p:sp>
        <p:nvSpPr>
          <p:cNvPr id="31" name="Text 26"/>
          <p:cNvSpPr/>
          <p:nvPr/>
        </p:nvSpPr>
        <p:spPr>
          <a:xfrm>
            <a:off x="1960245" y="7189946"/>
            <a:ext cx="3013829" cy="178237"/>
          </a:xfrm>
          <a:prstGeom prst="rect">
            <a:avLst/>
          </a:prstGeom>
          <a:noFill/>
          <a:ln/>
        </p:spPr>
        <p:txBody>
          <a:bodyPr wrap="none" lIns="0" tIns="0" rIns="0" bIns="0" rtlCol="0" anchor="t"/>
          <a:lstStyle/>
          <a:p>
            <a:pPr algn="l" indent="0" marL="0">
              <a:lnSpc>
                <a:spcPts val="1400"/>
              </a:lnSpc>
              <a:buNone/>
            </a:pPr>
            <a:r>
              <a:rPr lang="en-US" sz="1050" dirty="0">
                <a:solidFill>
                  <a:srgbClr val="384653"/>
                </a:solidFill>
                <a:latin typeface="Roboto" pitchFamily="34" charset="0"/>
                <a:ea typeface="Roboto" pitchFamily="34" charset="-122"/>
                <a:cs typeface="Roboto" pitchFamily="34" charset="-120"/>
              </a:rPr>
              <a:t>Horizonte de recuperación</a:t>
            </a:r>
            <a:endParaRPr lang="en-US" sz="1050" dirty="0"/>
          </a:p>
        </p:txBody>
      </p:sp>
      <p:sp>
        <p:nvSpPr>
          <p:cNvPr id="32" name="Text 27"/>
          <p:cNvSpPr/>
          <p:nvPr/>
        </p:nvSpPr>
        <p:spPr>
          <a:xfrm>
            <a:off x="5260777" y="7189946"/>
            <a:ext cx="4108966" cy="178237"/>
          </a:xfrm>
          <a:prstGeom prst="rect">
            <a:avLst/>
          </a:prstGeom>
          <a:noFill/>
          <a:ln/>
        </p:spPr>
        <p:txBody>
          <a:bodyPr wrap="none" lIns="0" tIns="0" rIns="0" bIns="0" rtlCol="0" anchor="t"/>
          <a:lstStyle/>
          <a:p>
            <a:pPr algn="l" indent="0" marL="0">
              <a:lnSpc>
                <a:spcPts val="1400"/>
              </a:lnSpc>
              <a:buNone/>
            </a:pPr>
            <a:r>
              <a:rPr lang="en-US" sz="1050" dirty="0">
                <a:solidFill>
                  <a:srgbClr val="384653"/>
                </a:solidFill>
                <a:latin typeface="Roboto" pitchFamily="34" charset="0"/>
                <a:ea typeface="Roboto" pitchFamily="34" charset="-122"/>
                <a:cs typeface="Roboto" pitchFamily="34" charset="-120"/>
              </a:rPr>
              <a:t>≤ 7 años</a:t>
            </a:r>
            <a:endParaRPr lang="en-US" sz="1050" dirty="0"/>
          </a:p>
        </p:txBody>
      </p:sp>
      <p:sp>
        <p:nvSpPr>
          <p:cNvPr id="33" name="Text 28"/>
          <p:cNvSpPr/>
          <p:nvPr/>
        </p:nvSpPr>
        <p:spPr>
          <a:xfrm>
            <a:off x="9656445" y="7189946"/>
            <a:ext cx="3013829" cy="178237"/>
          </a:xfrm>
          <a:prstGeom prst="rect">
            <a:avLst/>
          </a:prstGeom>
          <a:noFill/>
          <a:ln/>
        </p:spPr>
        <p:txBody>
          <a:bodyPr wrap="none" lIns="0" tIns="0" rIns="0" bIns="0" rtlCol="0" anchor="t"/>
          <a:lstStyle/>
          <a:p>
            <a:pPr algn="l" indent="0" marL="0">
              <a:lnSpc>
                <a:spcPts val="1400"/>
              </a:lnSpc>
              <a:buNone/>
            </a:pPr>
            <a:r>
              <a:rPr lang="en-US" sz="1050" dirty="0">
                <a:solidFill>
                  <a:srgbClr val="000000"/>
                </a:solidFill>
                <a:latin typeface="Roboto" pitchFamily="34" charset="0"/>
                <a:ea typeface="Roboto" pitchFamily="34" charset="-122"/>
                <a:cs typeface="Roboto" pitchFamily="34" charset="-120"/>
              </a:rPr>
              <a:t>✅</a:t>
            </a:r>
            <a:pPr algn="l" indent="0" marL="0">
              <a:lnSpc>
                <a:spcPts val="1400"/>
              </a:lnSpc>
              <a:buNone/>
            </a:pPr>
            <a:r>
              <a:rPr lang="en-US" sz="1050" dirty="0">
                <a:solidFill>
                  <a:srgbClr val="384653"/>
                </a:solidFill>
                <a:latin typeface="Roboto" pitchFamily="34" charset="0"/>
                <a:ea typeface="Roboto" pitchFamily="34" charset="-122"/>
                <a:cs typeface="Roboto" pitchFamily="34" charset="-120"/>
              </a:rPr>
              <a:t> 6.5 años</a:t>
            </a:r>
            <a:endParaRPr lang="en-US" sz="1050" dirty="0"/>
          </a:p>
        </p:txBody>
      </p:sp>
      <p:sp>
        <p:nvSpPr>
          <p:cNvPr id="34" name="Text 29"/>
          <p:cNvSpPr/>
          <p:nvPr/>
        </p:nvSpPr>
        <p:spPr>
          <a:xfrm>
            <a:off x="1960245" y="7508677"/>
            <a:ext cx="3013829" cy="178237"/>
          </a:xfrm>
          <a:prstGeom prst="rect">
            <a:avLst/>
          </a:prstGeom>
          <a:noFill/>
          <a:ln/>
        </p:spPr>
        <p:txBody>
          <a:bodyPr wrap="none" lIns="0" tIns="0" rIns="0" bIns="0" rtlCol="0" anchor="t"/>
          <a:lstStyle/>
          <a:p>
            <a:pPr algn="l" indent="0" marL="0">
              <a:lnSpc>
                <a:spcPts val="1400"/>
              </a:lnSpc>
              <a:buNone/>
            </a:pPr>
            <a:r>
              <a:rPr lang="en-US" sz="1050" dirty="0">
                <a:solidFill>
                  <a:srgbClr val="384653"/>
                </a:solidFill>
                <a:latin typeface="Roboto" pitchFamily="34" charset="0"/>
                <a:ea typeface="Roboto" pitchFamily="34" charset="-122"/>
                <a:cs typeface="Roboto" pitchFamily="34" charset="-120"/>
              </a:rPr>
              <a:t>Financiamiento accesible</a:t>
            </a:r>
            <a:endParaRPr lang="en-US" sz="1050" dirty="0"/>
          </a:p>
        </p:txBody>
      </p:sp>
      <p:sp>
        <p:nvSpPr>
          <p:cNvPr id="35" name="Text 30"/>
          <p:cNvSpPr/>
          <p:nvPr/>
        </p:nvSpPr>
        <p:spPr>
          <a:xfrm>
            <a:off x="5260777" y="7508677"/>
            <a:ext cx="4108966" cy="178237"/>
          </a:xfrm>
          <a:prstGeom prst="rect">
            <a:avLst/>
          </a:prstGeom>
          <a:noFill/>
          <a:ln/>
        </p:spPr>
        <p:txBody>
          <a:bodyPr wrap="none" lIns="0" tIns="0" rIns="0" bIns="0" rtlCol="0" anchor="t"/>
          <a:lstStyle/>
          <a:p>
            <a:pPr algn="l" indent="0" marL="0">
              <a:lnSpc>
                <a:spcPts val="1400"/>
              </a:lnSpc>
              <a:buNone/>
            </a:pPr>
            <a:r>
              <a:rPr lang="en-US" sz="1050" dirty="0">
                <a:solidFill>
                  <a:srgbClr val="384653"/>
                </a:solidFill>
                <a:latin typeface="Roboto" pitchFamily="34" charset="0"/>
                <a:ea typeface="Roboto" pitchFamily="34" charset="-122"/>
                <a:cs typeface="Roboto" pitchFamily="34" charset="-120"/>
              </a:rPr>
              <a:t>Brecha ≤ margen razonable</a:t>
            </a:r>
            <a:endParaRPr lang="en-US" sz="1050" dirty="0"/>
          </a:p>
        </p:txBody>
      </p:sp>
      <p:sp>
        <p:nvSpPr>
          <p:cNvPr id="36" name="Text 31"/>
          <p:cNvSpPr/>
          <p:nvPr/>
        </p:nvSpPr>
        <p:spPr>
          <a:xfrm>
            <a:off x="9656445" y="7508677"/>
            <a:ext cx="3013829" cy="178237"/>
          </a:xfrm>
          <a:prstGeom prst="rect">
            <a:avLst/>
          </a:prstGeom>
          <a:noFill/>
          <a:ln/>
        </p:spPr>
        <p:txBody>
          <a:bodyPr wrap="none" lIns="0" tIns="0" rIns="0" bIns="0" rtlCol="0" anchor="t"/>
          <a:lstStyle/>
          <a:p>
            <a:pPr algn="l" indent="0" marL="0">
              <a:lnSpc>
                <a:spcPts val="1400"/>
              </a:lnSpc>
              <a:buNone/>
            </a:pPr>
            <a:r>
              <a:rPr lang="en-US" sz="1050" dirty="0">
                <a:solidFill>
                  <a:srgbClr val="000000"/>
                </a:solidFill>
                <a:latin typeface="Roboto" pitchFamily="34" charset="0"/>
                <a:ea typeface="Roboto" pitchFamily="34" charset="-122"/>
                <a:cs typeface="Roboto" pitchFamily="34" charset="-120"/>
              </a:rPr>
              <a:t>✅</a:t>
            </a:r>
            <a:pPr algn="l" indent="0" marL="0">
              <a:lnSpc>
                <a:spcPts val="1400"/>
              </a:lnSpc>
              <a:buNone/>
            </a:pPr>
            <a:r>
              <a:rPr lang="en-US" sz="1050" dirty="0">
                <a:solidFill>
                  <a:srgbClr val="384653"/>
                </a:solidFill>
                <a:latin typeface="Roboto" pitchFamily="34" charset="0"/>
                <a:ea typeface="Roboto" pitchFamily="34" charset="-122"/>
                <a:cs typeface="Roboto" pitchFamily="34" charset="-120"/>
              </a:rPr>
              <a:t> Solo $16,947/mes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645694" y="1316712"/>
            <a:ext cx="7339012" cy="855821"/>
          </a:xfrm>
          <a:prstGeom prst="rect">
            <a:avLst/>
          </a:prstGeom>
          <a:noFill/>
          <a:ln/>
        </p:spPr>
        <p:txBody>
          <a:bodyPr wrap="none" lIns="0" tIns="0" rIns="0" bIns="0" rtlCol="0" anchor="t"/>
          <a:lstStyle/>
          <a:p>
            <a:pPr algn="ctr" indent="0" marL="0">
              <a:lnSpc>
                <a:spcPts val="6700"/>
              </a:lnSpc>
              <a:buNone/>
            </a:pPr>
            <a:r>
              <a:rPr lang="en-US" sz="5350" dirty="0">
                <a:solidFill>
                  <a:srgbClr val="2E3C4E"/>
                </a:solidFill>
                <a:latin typeface="Host Grotesk Medium" pitchFamily="34" charset="0"/>
                <a:ea typeface="Host Grotesk Medium" pitchFamily="34" charset="-122"/>
                <a:cs typeface="Host Grotesk Medium" pitchFamily="34" charset="-120"/>
              </a:rPr>
              <a:t>¿Firmamos el contrato?</a:t>
            </a:r>
            <a:endParaRPr lang="en-US" sz="5350" dirty="0"/>
          </a:p>
        </p:txBody>
      </p:sp>
      <p:sp>
        <p:nvSpPr>
          <p:cNvPr id="3" name="Shape 1"/>
          <p:cNvSpPr/>
          <p:nvPr/>
        </p:nvSpPr>
        <p:spPr>
          <a:xfrm>
            <a:off x="793790" y="2569369"/>
            <a:ext cx="4215289" cy="2031802"/>
          </a:xfrm>
          <a:prstGeom prst="roundRect">
            <a:avLst>
              <a:gd name="adj" fmla="val 4103"/>
            </a:avLst>
          </a:prstGeom>
          <a:solidFill>
            <a:srgbClr val="D9EDF2"/>
          </a:solidFill>
          <a:ln w="7620">
            <a:solidFill>
              <a:srgbClr val="BFD3D8"/>
            </a:solidFill>
            <a:prstDash val="solid"/>
          </a:ln>
        </p:spPr>
      </p:sp>
      <p:sp>
        <p:nvSpPr>
          <p:cNvPr id="4" name="Text 2"/>
          <p:cNvSpPr/>
          <p:nvPr/>
        </p:nvSpPr>
        <p:spPr>
          <a:xfrm>
            <a:off x="999768" y="2775347"/>
            <a:ext cx="2745819"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Host Grotesk Medium" pitchFamily="34" charset="0"/>
                <a:ea typeface="Host Grotesk Medium" pitchFamily="34" charset="-122"/>
                <a:cs typeface="Host Grotesk Medium" pitchFamily="34" charset="-120"/>
              </a:rPr>
              <a:t>📅</a:t>
            </a:r>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 Vigencia de la oferta</a:t>
            </a:r>
            <a:endParaRPr lang="en-US" sz="1950" dirty="0"/>
          </a:p>
        </p:txBody>
      </p:sp>
      <p:sp>
        <p:nvSpPr>
          <p:cNvPr id="5" name="Text 3"/>
          <p:cNvSpPr/>
          <p:nvPr/>
        </p:nvSpPr>
        <p:spPr>
          <a:xfrm>
            <a:off x="999768" y="3204567"/>
            <a:ext cx="3803333" cy="1190625"/>
          </a:xfrm>
          <a:prstGeom prst="rect">
            <a:avLst/>
          </a:prstGeom>
          <a:noFill/>
          <a:ln/>
        </p:spPr>
        <p:txBody>
          <a:bodyPr wrap="squar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30 de abril de 2026.</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Después de esta fecha, el precio regresa a $8,000,000 MXN. Sin excepciones, sin segunda oportunidad esta temporada.</a:t>
            </a:r>
            <a:endParaRPr lang="en-US" sz="1550" dirty="0"/>
          </a:p>
        </p:txBody>
      </p:sp>
      <p:sp>
        <p:nvSpPr>
          <p:cNvPr id="6" name="Shape 4"/>
          <p:cNvSpPr/>
          <p:nvPr/>
        </p:nvSpPr>
        <p:spPr>
          <a:xfrm>
            <a:off x="5207437" y="2569369"/>
            <a:ext cx="4215408" cy="2031802"/>
          </a:xfrm>
          <a:prstGeom prst="roundRect">
            <a:avLst>
              <a:gd name="adj" fmla="val 4103"/>
            </a:avLst>
          </a:prstGeom>
          <a:solidFill>
            <a:srgbClr val="D9EDF2"/>
          </a:solidFill>
          <a:ln w="7620">
            <a:solidFill>
              <a:srgbClr val="BFD3D8"/>
            </a:solidFill>
            <a:prstDash val="solid"/>
          </a:ln>
        </p:spPr>
      </p:sp>
      <p:sp>
        <p:nvSpPr>
          <p:cNvPr id="7" name="Text 5"/>
          <p:cNvSpPr/>
          <p:nvPr/>
        </p:nvSpPr>
        <p:spPr>
          <a:xfrm>
            <a:off x="5413415" y="277534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Host Grotesk Medium" pitchFamily="34" charset="0"/>
                <a:ea typeface="Host Grotesk Medium" pitchFamily="34" charset="-122"/>
                <a:cs typeface="Host Grotesk Medium" pitchFamily="34" charset="-120"/>
              </a:rPr>
              <a:t>📍</a:t>
            </a:r>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 Disponibilidad</a:t>
            </a:r>
            <a:endParaRPr lang="en-US" sz="1950" dirty="0"/>
          </a:p>
        </p:txBody>
      </p:sp>
      <p:sp>
        <p:nvSpPr>
          <p:cNvPr id="8" name="Text 6"/>
          <p:cNvSpPr/>
          <p:nvPr/>
        </p:nvSpPr>
        <p:spPr>
          <a:xfrm>
            <a:off x="5413415" y="3204567"/>
            <a:ext cx="3803452" cy="892969"/>
          </a:xfrm>
          <a:prstGeom prst="rect">
            <a:avLst/>
          </a:prstGeom>
          <a:noFill/>
          <a:ln/>
        </p:spPr>
        <p:txBody>
          <a:bodyPr wrap="squar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Últimos 3 cupos</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en la región de Pánuco. Cuando se cierren, se cierra la ventana. No hay lista de espera.</a:t>
            </a:r>
            <a:endParaRPr lang="en-US" sz="1550" dirty="0"/>
          </a:p>
        </p:txBody>
      </p:sp>
      <p:sp>
        <p:nvSpPr>
          <p:cNvPr id="9" name="Shape 7"/>
          <p:cNvSpPr/>
          <p:nvPr/>
        </p:nvSpPr>
        <p:spPr>
          <a:xfrm>
            <a:off x="9621203" y="2569369"/>
            <a:ext cx="4215289" cy="2031802"/>
          </a:xfrm>
          <a:prstGeom prst="roundRect">
            <a:avLst>
              <a:gd name="adj" fmla="val 4103"/>
            </a:avLst>
          </a:prstGeom>
          <a:solidFill>
            <a:srgbClr val="D9EDF2"/>
          </a:solidFill>
          <a:ln w="7620">
            <a:solidFill>
              <a:srgbClr val="BFD3D8"/>
            </a:solidFill>
            <a:prstDash val="solid"/>
          </a:ln>
        </p:spPr>
      </p:sp>
      <p:sp>
        <p:nvSpPr>
          <p:cNvPr id="10" name="Text 8"/>
          <p:cNvSpPr/>
          <p:nvPr/>
        </p:nvSpPr>
        <p:spPr>
          <a:xfrm>
            <a:off x="9827181" y="277534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Host Grotesk Medium" pitchFamily="34" charset="0"/>
                <a:ea typeface="Host Grotesk Medium" pitchFamily="34" charset="-122"/>
                <a:cs typeface="Host Grotesk Medium" pitchFamily="34" charset="-120"/>
              </a:rPr>
              <a:t>💰</a:t>
            </a:r>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 Su inversión hoy</a:t>
            </a:r>
            <a:endParaRPr lang="en-US" sz="1950" dirty="0"/>
          </a:p>
        </p:txBody>
      </p:sp>
      <p:sp>
        <p:nvSpPr>
          <p:cNvPr id="11" name="Text 9"/>
          <p:cNvSpPr/>
          <p:nvPr/>
        </p:nvSpPr>
        <p:spPr>
          <a:xfrm>
            <a:off x="9827181" y="3204567"/>
            <a:ext cx="3803333" cy="892969"/>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Precio con descuento 30%: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$5,600,000 MXN</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financiado por FIRA a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$16,947 MXN/mes reales</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de su bolsillo.</a:t>
            </a:r>
            <a:endParaRPr lang="en-US" sz="1550" dirty="0"/>
          </a:p>
        </p:txBody>
      </p:sp>
      <p:sp>
        <p:nvSpPr>
          <p:cNvPr id="12" name="Text 10"/>
          <p:cNvSpPr/>
          <p:nvPr/>
        </p:nvSpPr>
        <p:spPr>
          <a:xfrm>
            <a:off x="1091446" y="5047655"/>
            <a:ext cx="12745164"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Cada mes que pasa sin el sistema de riego es un mes que su rancho opera en números rojos. Los números ya dijeron sí. Ahora le toca a usted.</a:t>
            </a:r>
            <a:endParaRPr lang="en-US" sz="1550" dirty="0"/>
          </a:p>
        </p:txBody>
      </p:sp>
      <p:sp>
        <p:nvSpPr>
          <p:cNvPr id="13" name="Shape 11"/>
          <p:cNvSpPr/>
          <p:nvPr/>
        </p:nvSpPr>
        <p:spPr>
          <a:xfrm>
            <a:off x="793790" y="4824413"/>
            <a:ext cx="22860" cy="744141"/>
          </a:xfrm>
          <a:prstGeom prst="rect">
            <a:avLst/>
          </a:prstGeom>
          <a:solidFill>
            <a:srgbClr val="95CCDA"/>
          </a:solidFill>
          <a:ln/>
        </p:spPr>
      </p:sp>
      <p:sp>
        <p:nvSpPr>
          <p:cNvPr id="14" name="Shape 12"/>
          <p:cNvSpPr/>
          <p:nvPr/>
        </p:nvSpPr>
        <p:spPr>
          <a:xfrm>
            <a:off x="793790" y="5791795"/>
            <a:ext cx="13042821" cy="1120973"/>
          </a:xfrm>
          <a:prstGeom prst="roundRect">
            <a:avLst>
              <a:gd name="adj" fmla="val 7436"/>
            </a:avLst>
          </a:prstGeom>
          <a:solidFill>
            <a:srgbClr val="B6FCB8"/>
          </a:solidFill>
          <a:ln/>
        </p:spPr>
      </p:sp>
      <p:pic>
        <p:nvPicPr>
          <p:cNvPr id="15" name="Image 0" descr="preencoded.png">    </p:cNvPr>
          <p:cNvPicPr>
            <a:picLocks noChangeAspect="1"/>
          </p:cNvPicPr>
          <p:nvPr/>
        </p:nvPicPr>
        <p:blipFill>
          <a:blip r:embed="rId1"/>
          <a:stretch>
            <a:fillRect/>
          </a:stretch>
        </p:blipFill>
        <p:spPr>
          <a:xfrm>
            <a:off x="992148" y="6079450"/>
            <a:ext cx="248007" cy="198358"/>
          </a:xfrm>
          <a:prstGeom prst="rect">
            <a:avLst/>
          </a:prstGeom>
        </p:spPr>
      </p:pic>
      <p:sp>
        <p:nvSpPr>
          <p:cNvPr id="16" name="Text 13"/>
          <p:cNvSpPr/>
          <p:nvPr/>
        </p:nvSpPr>
        <p:spPr>
          <a:xfrm>
            <a:off x="1438513" y="6039683"/>
            <a:ext cx="12199739" cy="595313"/>
          </a:xfrm>
          <a:prstGeom prst="rect">
            <a:avLst/>
          </a:prstGeom>
          <a:noFill/>
          <a:ln/>
        </p:spPr>
        <p:txBody>
          <a:bodyPr wrap="square" lIns="0" tIns="0" rIns="0" bIns="0" rtlCol="0" anchor="t"/>
          <a:lstStyle/>
          <a:p>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Las cuatro condiciones de viabilidad se cumplen hoy, simultáneamente. Con los precios actuales y el descuento disponible, </a:t>
            </a:r>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el riego con FIRA ya es rentable</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No espere a que suban los precios — actúe antes de que se agoten los cupos.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2026-04-22T03:22:53Z</dcterms:created>
  <dcterms:modified xsi:type="dcterms:W3CDTF">2026-04-22T03:22:53Z</dcterms:modified>
</cp:coreProperties>
</file>