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Host Grotesk Medium"/>
      <p:regular r:id="rId17"/>
    </p:embeddedFont>
    <p:embeddedFont>
      <p:font typeface="Host Grotesk Medium"/>
      <p:regular r:id="rId18"/>
    </p:embeddedFont>
    <p:embeddedFont>
      <p:font typeface="Host Grotesk Medium"/>
      <p:regular r:id="rId19"/>
    </p:embeddedFont>
    <p:embeddedFont>
      <p:font typeface="Host Grotesk Medium"/>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6.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3051929"/>
            <a:ext cx="6943963"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Decisión de Inversión en Riego</a:t>
            </a:r>
            <a:endParaRPr lang="en-US" sz="3900" dirty="0"/>
          </a:p>
        </p:txBody>
      </p:sp>
      <p:sp>
        <p:nvSpPr>
          <p:cNvPr id="4" name="Text 1"/>
          <p:cNvSpPr/>
          <p:nvPr/>
        </p:nvSpPr>
        <p:spPr>
          <a:xfrm>
            <a:off x="6280190" y="3751302"/>
            <a:ext cx="6439972"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Caso: Productor de Caña de Azúcar en Pánuco, Veracruz</a:t>
            </a:r>
            <a:endParaRPr lang="en-US" sz="1950" dirty="0"/>
          </a:p>
        </p:txBody>
      </p:sp>
      <p:sp>
        <p:nvSpPr>
          <p:cNvPr id="5" name="Text 2"/>
          <p:cNvSpPr/>
          <p:nvPr/>
        </p:nvSpPr>
        <p:spPr>
          <a:xfrm>
            <a:off x="6280190" y="4359116"/>
            <a:ext cx="7556421"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Carlos Pulido Rosas · Tópicos Selectos de Grandes Bases de Datos</a:t>
            </a:r>
            <a:endParaRPr lang="en-US" sz="1550" dirty="0"/>
          </a:p>
        </p:txBody>
      </p:sp>
      <p:sp>
        <p:nvSpPr>
          <p:cNvPr id="6" name="Text 3"/>
          <p:cNvSpPr/>
          <p:nvPr/>
        </p:nvSpPr>
        <p:spPr>
          <a:xfrm>
            <a:off x="6280190" y="4880015"/>
            <a:ext cx="7556421"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MCD UdeG CUCEA · 2026</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1613297"/>
            <a:ext cx="5545812"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El Productor y su Dilema</a:t>
            </a:r>
            <a:endParaRPr lang="en-US" sz="3900" dirty="0"/>
          </a:p>
        </p:txBody>
      </p:sp>
      <p:sp>
        <p:nvSpPr>
          <p:cNvPr id="4" name="Text 1"/>
          <p:cNvSpPr/>
          <p:nvPr/>
        </p:nvSpPr>
        <p:spPr>
          <a:xfrm>
            <a:off x="793790" y="2531031"/>
            <a:ext cx="7556421" cy="1190625"/>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Un productor con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100 hectáreas en Pánuco, Veracruz</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enfrenta una caída sostenida en su productividad bajo condiciones de temporal. La mayor variabilidad climática y las sequías frecuentes han deteriorado su rendimiento de forma significativa en los últimos cinco años.</a:t>
            </a:r>
            <a:endParaRPr lang="en-US" sz="1550" dirty="0"/>
          </a:p>
        </p:txBody>
      </p:sp>
      <p:sp>
        <p:nvSpPr>
          <p:cNvPr id="5" name="Shape 2"/>
          <p:cNvSpPr/>
          <p:nvPr/>
        </p:nvSpPr>
        <p:spPr>
          <a:xfrm>
            <a:off x="650915" y="3944898"/>
            <a:ext cx="3821906" cy="2671405"/>
          </a:xfrm>
          <a:prstGeom prst="roundRect">
            <a:avLst>
              <a:gd name="adj" fmla="val 5349"/>
            </a:avLst>
          </a:prstGeom>
          <a:solidFill>
            <a:srgbClr val="C3643D"/>
          </a:solidFill>
          <a:ln/>
        </p:spPr>
      </p:sp>
      <p:sp>
        <p:nvSpPr>
          <p:cNvPr id="6" name="Text 3"/>
          <p:cNvSpPr/>
          <p:nvPr/>
        </p:nvSpPr>
        <p:spPr>
          <a:xfrm>
            <a:off x="849273" y="414325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La caída en números</a:t>
            </a:r>
            <a:endParaRPr lang="en-US" sz="1950" dirty="0"/>
          </a:p>
        </p:txBody>
      </p:sp>
      <p:sp>
        <p:nvSpPr>
          <p:cNvPr id="7" name="Text 4"/>
          <p:cNvSpPr/>
          <p:nvPr/>
        </p:nvSpPr>
        <p:spPr>
          <a:xfrm>
            <a:off x="849273" y="4651772"/>
            <a:ext cx="3425190" cy="1785938"/>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Hace 5 años producía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90 ton/ha/año</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Hoy produce apenas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60 ton/ha/año</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 una caída del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33%</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atribuida principalmente a la mayor variabilidad climática y las sequías recurrentes en la región.</a:t>
            </a:r>
            <a:endParaRPr lang="en-US" sz="1550" dirty="0"/>
          </a:p>
        </p:txBody>
      </p:sp>
      <p:sp>
        <p:nvSpPr>
          <p:cNvPr id="8" name="Text 5"/>
          <p:cNvSpPr/>
          <p:nvPr/>
        </p:nvSpPr>
        <p:spPr>
          <a:xfrm>
            <a:off x="4821674" y="414325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La pregunta clave</a:t>
            </a:r>
            <a:endParaRPr lang="en-US" sz="1950" dirty="0"/>
          </a:p>
        </p:txBody>
      </p:sp>
      <p:sp>
        <p:nvSpPr>
          <p:cNvPr id="9" name="Text 6"/>
          <p:cNvSpPr/>
          <p:nvPr/>
        </p:nvSpPr>
        <p:spPr>
          <a:xfrm>
            <a:off x="4821674" y="4651772"/>
            <a:ext cx="3536156" cy="1785938"/>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El precio de la caña oscila entre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$701 y $901 MXN/ton</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añadiendo volatilidad a los ingresos. Ante este panorama, surge la decisión más importante: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¿Vale la pena invertir $8,000,000 MXN en un sistema de riego?</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24545"/>
            <a:ext cx="7818596"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¿Qué Implica el Sistema de Riego?</a:t>
            </a:r>
            <a:endParaRPr lang="en-US" sz="3900" dirty="0"/>
          </a:p>
        </p:txBody>
      </p:sp>
      <p:sp>
        <p:nvSpPr>
          <p:cNvPr id="3" name="Text 1"/>
          <p:cNvSpPr/>
          <p:nvPr/>
        </p:nvSpPr>
        <p:spPr>
          <a:xfrm>
            <a:off x="793790" y="2141458"/>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La inversión contempla la instalación de infraestructura de riego sobre las 100 hectáreas productivas, calculada 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4,000 USD/ha × 100 ha × $20 MXN/USD</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El desembolso es único al inicio y la vida útil del sistema es de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7 años</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que define el horizonte de análisis.</a:t>
            </a:r>
            <a:endParaRPr lang="en-US" sz="1550" dirty="0"/>
          </a:p>
        </p:txBody>
      </p:sp>
      <p:sp>
        <p:nvSpPr>
          <p:cNvPr id="4" name="Shape 2"/>
          <p:cNvSpPr/>
          <p:nvPr/>
        </p:nvSpPr>
        <p:spPr>
          <a:xfrm>
            <a:off x="793790" y="2960013"/>
            <a:ext cx="13042821" cy="2800826"/>
          </a:xfrm>
          <a:prstGeom prst="roundRect">
            <a:avLst>
              <a:gd name="adj" fmla="val 2976"/>
            </a:avLst>
          </a:prstGeom>
          <a:noFill/>
          <a:ln w="7620">
            <a:solidFill>
              <a:srgbClr val="000000">
                <a:alpha val="8000"/>
              </a:srgbClr>
            </a:solidFill>
            <a:prstDash val="solid"/>
          </a:ln>
        </p:spPr>
      </p:sp>
      <p:sp>
        <p:nvSpPr>
          <p:cNvPr id="5" name="Text 3"/>
          <p:cNvSpPr/>
          <p:nvPr/>
        </p:nvSpPr>
        <p:spPr>
          <a:xfrm>
            <a:off x="999887" y="3094315"/>
            <a:ext cx="5461873"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Concepto</a:t>
            </a:r>
            <a:endParaRPr lang="en-US" sz="1550" dirty="0"/>
          </a:p>
        </p:txBody>
      </p:sp>
      <p:sp>
        <p:nvSpPr>
          <p:cNvPr id="6" name="Text 4"/>
          <p:cNvSpPr/>
          <p:nvPr/>
        </p:nvSpPr>
        <p:spPr>
          <a:xfrm>
            <a:off x="6866096" y="3094315"/>
            <a:ext cx="3113008"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Sin riego</a:t>
            </a:r>
            <a:endParaRPr lang="en-US" sz="1550" dirty="0"/>
          </a:p>
        </p:txBody>
      </p:sp>
      <p:sp>
        <p:nvSpPr>
          <p:cNvPr id="7" name="Text 5"/>
          <p:cNvSpPr/>
          <p:nvPr/>
        </p:nvSpPr>
        <p:spPr>
          <a:xfrm>
            <a:off x="10383441" y="3094315"/>
            <a:ext cx="3247192"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Con riego</a:t>
            </a:r>
            <a:endParaRPr lang="en-US" sz="1550" dirty="0"/>
          </a:p>
        </p:txBody>
      </p:sp>
      <p:sp>
        <p:nvSpPr>
          <p:cNvPr id="8" name="Text 6"/>
          <p:cNvSpPr/>
          <p:nvPr/>
        </p:nvSpPr>
        <p:spPr>
          <a:xfrm>
            <a:off x="999887" y="3652957"/>
            <a:ext cx="5461873"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Inversión inicial</a:t>
            </a:r>
            <a:endParaRPr lang="en-US" sz="1550" dirty="0"/>
          </a:p>
        </p:txBody>
      </p:sp>
      <p:sp>
        <p:nvSpPr>
          <p:cNvPr id="9" name="Text 7"/>
          <p:cNvSpPr/>
          <p:nvPr/>
        </p:nvSpPr>
        <p:spPr>
          <a:xfrm>
            <a:off x="6866096" y="3652957"/>
            <a:ext cx="3113008"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$0</a:t>
            </a:r>
            <a:endParaRPr lang="en-US" sz="1550" dirty="0"/>
          </a:p>
        </p:txBody>
      </p:sp>
      <p:sp>
        <p:nvSpPr>
          <p:cNvPr id="10" name="Text 8"/>
          <p:cNvSpPr/>
          <p:nvPr/>
        </p:nvSpPr>
        <p:spPr>
          <a:xfrm>
            <a:off x="10383441" y="3652957"/>
            <a:ext cx="324719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$8,000,000 MXN</a:t>
            </a:r>
            <a:endParaRPr lang="en-US" sz="1550" dirty="0"/>
          </a:p>
        </p:txBody>
      </p:sp>
      <p:sp>
        <p:nvSpPr>
          <p:cNvPr id="11" name="Text 9"/>
          <p:cNvSpPr/>
          <p:nvPr/>
        </p:nvSpPr>
        <p:spPr>
          <a:xfrm>
            <a:off x="999887" y="4211598"/>
            <a:ext cx="5461873"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Costo operativo anual</a:t>
            </a:r>
            <a:endParaRPr lang="en-US" sz="1550" dirty="0"/>
          </a:p>
        </p:txBody>
      </p:sp>
      <p:sp>
        <p:nvSpPr>
          <p:cNvPr id="12" name="Text 10"/>
          <p:cNvSpPr/>
          <p:nvPr/>
        </p:nvSpPr>
        <p:spPr>
          <a:xfrm>
            <a:off x="6866096" y="4211598"/>
            <a:ext cx="3113008"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$38,000 / ha</a:t>
            </a:r>
            <a:endParaRPr lang="en-US" sz="1550" dirty="0"/>
          </a:p>
        </p:txBody>
      </p:sp>
      <p:sp>
        <p:nvSpPr>
          <p:cNvPr id="13" name="Text 11"/>
          <p:cNvSpPr/>
          <p:nvPr/>
        </p:nvSpPr>
        <p:spPr>
          <a:xfrm>
            <a:off x="10383441" y="4211598"/>
            <a:ext cx="324719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$63,000 / ha</a:t>
            </a:r>
            <a:endParaRPr lang="en-US" sz="1550" dirty="0"/>
          </a:p>
        </p:txBody>
      </p:sp>
      <p:sp>
        <p:nvSpPr>
          <p:cNvPr id="14" name="Text 12"/>
          <p:cNvSpPr/>
          <p:nvPr/>
        </p:nvSpPr>
        <p:spPr>
          <a:xfrm>
            <a:off x="999887" y="4770239"/>
            <a:ext cx="5461873"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Costo total anual (100 ha)</a:t>
            </a:r>
            <a:endParaRPr lang="en-US" sz="1550" dirty="0"/>
          </a:p>
        </p:txBody>
      </p:sp>
      <p:sp>
        <p:nvSpPr>
          <p:cNvPr id="15" name="Text 13"/>
          <p:cNvSpPr/>
          <p:nvPr/>
        </p:nvSpPr>
        <p:spPr>
          <a:xfrm>
            <a:off x="6866096" y="4770239"/>
            <a:ext cx="3113008"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$3,800,000 MXN</a:t>
            </a:r>
            <a:endParaRPr lang="en-US" sz="1550" dirty="0"/>
          </a:p>
        </p:txBody>
      </p:sp>
      <p:sp>
        <p:nvSpPr>
          <p:cNvPr id="16" name="Text 14"/>
          <p:cNvSpPr/>
          <p:nvPr/>
        </p:nvSpPr>
        <p:spPr>
          <a:xfrm>
            <a:off x="10383441" y="4770239"/>
            <a:ext cx="324719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$6,300,000 MXN</a:t>
            </a:r>
            <a:endParaRPr lang="en-US" sz="1550" dirty="0"/>
          </a:p>
        </p:txBody>
      </p:sp>
      <p:sp>
        <p:nvSpPr>
          <p:cNvPr id="17" name="Text 15"/>
          <p:cNvSpPr/>
          <p:nvPr/>
        </p:nvSpPr>
        <p:spPr>
          <a:xfrm>
            <a:off x="999887" y="5328880"/>
            <a:ext cx="5461873"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Vida útil del sistema</a:t>
            </a:r>
            <a:endParaRPr lang="en-US" sz="1550" dirty="0"/>
          </a:p>
        </p:txBody>
      </p:sp>
      <p:sp>
        <p:nvSpPr>
          <p:cNvPr id="18" name="Text 16"/>
          <p:cNvSpPr/>
          <p:nvPr/>
        </p:nvSpPr>
        <p:spPr>
          <a:xfrm>
            <a:off x="6866096" y="5328880"/>
            <a:ext cx="3113008"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a:t>
            </a:r>
            <a:endParaRPr lang="en-US" sz="1550" dirty="0"/>
          </a:p>
        </p:txBody>
      </p:sp>
      <p:sp>
        <p:nvSpPr>
          <p:cNvPr id="19" name="Text 17"/>
          <p:cNvSpPr/>
          <p:nvPr/>
        </p:nvSpPr>
        <p:spPr>
          <a:xfrm>
            <a:off x="10383441" y="5328880"/>
            <a:ext cx="324719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7 años</a:t>
            </a:r>
            <a:endParaRPr lang="en-US" sz="1550" dirty="0"/>
          </a:p>
        </p:txBody>
      </p:sp>
      <p:sp>
        <p:nvSpPr>
          <p:cNvPr id="20" name="Shape 18"/>
          <p:cNvSpPr/>
          <p:nvPr/>
        </p:nvSpPr>
        <p:spPr>
          <a:xfrm>
            <a:off x="793790" y="5984081"/>
            <a:ext cx="13042821" cy="1120973"/>
          </a:xfrm>
          <a:prstGeom prst="roundRect">
            <a:avLst>
              <a:gd name="adj" fmla="val 7436"/>
            </a:avLst>
          </a:prstGeom>
          <a:solidFill>
            <a:srgbClr val="B6D6FC"/>
          </a:solidFill>
          <a:ln/>
        </p:spPr>
      </p:sp>
      <p:pic>
        <p:nvPicPr>
          <p:cNvPr id="21" name="Image 0" descr="preencoded.png">    </p:cNvPr>
          <p:cNvPicPr>
            <a:picLocks noChangeAspect="1"/>
          </p:cNvPicPr>
          <p:nvPr/>
        </p:nvPicPr>
        <p:blipFill>
          <a:blip r:embed="rId1"/>
          <a:stretch>
            <a:fillRect/>
          </a:stretch>
        </p:blipFill>
        <p:spPr>
          <a:xfrm>
            <a:off x="992148" y="6271736"/>
            <a:ext cx="248007" cy="198358"/>
          </a:xfrm>
          <a:prstGeom prst="rect">
            <a:avLst/>
          </a:prstGeom>
        </p:spPr>
      </p:pic>
      <p:sp>
        <p:nvSpPr>
          <p:cNvPr id="22" name="Text 19"/>
          <p:cNvSpPr/>
          <p:nvPr/>
        </p:nvSpPr>
        <p:spPr>
          <a:xfrm>
            <a:off x="1438513" y="6231969"/>
            <a:ext cx="12199739" cy="595313"/>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El costo operativo con riego es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$25,000 MXN/ha/año mayor</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que sin riego — incremento del 65.8% en costos de operación que deberá ser compensado por el aumento en rendimiento.</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77045"/>
            <a:ext cx="10344507"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Tres Variables Fuera del Control del Productor</a:t>
            </a:r>
            <a:endParaRPr lang="en-US" sz="3900" dirty="0"/>
          </a:p>
        </p:txBody>
      </p:sp>
      <p:sp>
        <p:nvSpPr>
          <p:cNvPr id="3" name="Text 1"/>
          <p:cNvSpPr/>
          <p:nvPr/>
        </p:nvSpPr>
        <p:spPr>
          <a:xfrm>
            <a:off x="793790" y="3093958"/>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El análisis incorpora explícitamente las principales fuentes de incertidumbre que determinan la rentabilidad del cultivo. Ninguna de ellas puede ser controlada por el productor, pero sí modeladas con distribuciones de probabilidad basadas en datos históricos.</a:t>
            </a:r>
            <a:endParaRPr lang="en-US" sz="1550" dirty="0"/>
          </a:p>
        </p:txBody>
      </p:sp>
      <p:sp>
        <p:nvSpPr>
          <p:cNvPr id="4" name="Shape 2"/>
          <p:cNvSpPr/>
          <p:nvPr/>
        </p:nvSpPr>
        <p:spPr>
          <a:xfrm>
            <a:off x="793790" y="3912513"/>
            <a:ext cx="4215289" cy="2240042"/>
          </a:xfrm>
          <a:prstGeom prst="roundRect">
            <a:avLst>
              <a:gd name="adj" fmla="val 3721"/>
            </a:avLst>
          </a:prstGeom>
          <a:solidFill>
            <a:srgbClr val="D9EDF2"/>
          </a:solidFill>
          <a:ln w="7620">
            <a:solidFill>
              <a:srgbClr val="BFD3D8"/>
            </a:solidFill>
            <a:prstDash val="solid"/>
          </a:ln>
        </p:spPr>
      </p:sp>
      <p:sp>
        <p:nvSpPr>
          <p:cNvPr id="5" name="Text 3"/>
          <p:cNvSpPr/>
          <p:nvPr/>
        </p:nvSpPr>
        <p:spPr>
          <a:xfrm>
            <a:off x="999768" y="411849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 Precio de la Caña</a:t>
            </a:r>
            <a:endParaRPr lang="en-US" sz="1950" dirty="0"/>
          </a:p>
        </p:txBody>
      </p:sp>
      <p:sp>
        <p:nvSpPr>
          <p:cNvPr id="6" name="Text 4"/>
          <p:cNvSpPr/>
          <p:nvPr/>
        </p:nvSpPr>
        <p:spPr>
          <a:xfrm>
            <a:off x="999768" y="4547711"/>
            <a:ext cx="3803333" cy="1190625"/>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Distribución discreta sobre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6 precios históricos</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Promedio esperado: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$807 MXN/ton</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Rango observado: $701 – $901 MXN/ton.</a:t>
            </a:r>
            <a:endParaRPr lang="en-US" sz="1550" dirty="0"/>
          </a:p>
        </p:txBody>
      </p:sp>
      <p:sp>
        <p:nvSpPr>
          <p:cNvPr id="7" name="Shape 5"/>
          <p:cNvSpPr/>
          <p:nvPr/>
        </p:nvSpPr>
        <p:spPr>
          <a:xfrm>
            <a:off x="5207437" y="3912513"/>
            <a:ext cx="4215408" cy="2240042"/>
          </a:xfrm>
          <a:prstGeom prst="roundRect">
            <a:avLst>
              <a:gd name="adj" fmla="val 3721"/>
            </a:avLst>
          </a:prstGeom>
          <a:solidFill>
            <a:srgbClr val="D9EDF2"/>
          </a:solidFill>
          <a:ln w="7620">
            <a:solidFill>
              <a:srgbClr val="BFD3D8"/>
            </a:solidFill>
            <a:prstDash val="solid"/>
          </a:ln>
        </p:spPr>
      </p:sp>
      <p:sp>
        <p:nvSpPr>
          <p:cNvPr id="8" name="Text 6"/>
          <p:cNvSpPr/>
          <p:nvPr/>
        </p:nvSpPr>
        <p:spPr>
          <a:xfrm>
            <a:off x="5413415" y="4118491"/>
            <a:ext cx="3085147"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 Condición Hídrica Anual</a:t>
            </a:r>
            <a:endParaRPr lang="en-US" sz="1950" dirty="0"/>
          </a:p>
        </p:txBody>
      </p:sp>
      <p:sp>
        <p:nvSpPr>
          <p:cNvPr id="9" name="Text 7"/>
          <p:cNvSpPr/>
          <p:nvPr/>
        </p:nvSpPr>
        <p:spPr>
          <a:xfrm>
            <a:off x="5413415" y="4547711"/>
            <a:ext cx="3803452" cy="139886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Normal / anormal seca: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40%</a:t>
            </a:r>
            <a:endParaRPr lang="en-US" sz="1550" dirty="0"/>
          </a:p>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Sequía moderada: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30%</a:t>
            </a:r>
            <a:endParaRPr lang="en-US" sz="1550" dirty="0"/>
          </a:p>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Sequía severa: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20%</a:t>
            </a:r>
            <a:endParaRPr lang="en-US" sz="1550" dirty="0"/>
          </a:p>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Sequía extrema: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10%</a:t>
            </a:r>
            <a:endParaRPr lang="en-US" sz="1550" dirty="0"/>
          </a:p>
        </p:txBody>
      </p:sp>
      <p:sp>
        <p:nvSpPr>
          <p:cNvPr id="10" name="Shape 8"/>
          <p:cNvSpPr/>
          <p:nvPr/>
        </p:nvSpPr>
        <p:spPr>
          <a:xfrm>
            <a:off x="9621203" y="3912513"/>
            <a:ext cx="4215289" cy="2240042"/>
          </a:xfrm>
          <a:prstGeom prst="roundRect">
            <a:avLst>
              <a:gd name="adj" fmla="val 3721"/>
            </a:avLst>
          </a:prstGeom>
          <a:solidFill>
            <a:srgbClr val="D9EDF2"/>
          </a:solidFill>
          <a:ln w="7620">
            <a:solidFill>
              <a:srgbClr val="BFD3D8"/>
            </a:solidFill>
            <a:prstDash val="solid"/>
          </a:ln>
        </p:spPr>
      </p:sp>
      <p:sp>
        <p:nvSpPr>
          <p:cNvPr id="11" name="Text 9"/>
          <p:cNvSpPr/>
          <p:nvPr/>
        </p:nvSpPr>
        <p:spPr>
          <a:xfrm>
            <a:off x="9827181" y="411849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a:t>
            </a:r>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 Tormenta Severa</a:t>
            </a:r>
            <a:endParaRPr lang="en-US" sz="1950" dirty="0"/>
          </a:p>
        </p:txBody>
      </p:sp>
      <p:sp>
        <p:nvSpPr>
          <p:cNvPr id="12" name="Text 10"/>
          <p:cNvSpPr/>
          <p:nvPr/>
        </p:nvSpPr>
        <p:spPr>
          <a:xfrm>
            <a:off x="9827181" y="4547711"/>
            <a:ext cx="3803333" cy="1190625"/>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Probabilidad del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5%</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en cualquier año. Evento catastrófico que destruye la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cosecha completa</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bajo cualquier escenario — con o sin riego.</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75109"/>
            <a:ext cx="7274838"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Estructura del Árbol de Decisión</a:t>
            </a:r>
            <a:endParaRPr lang="en-US" sz="3900" dirty="0"/>
          </a:p>
        </p:txBody>
      </p:sp>
      <p:sp>
        <p:nvSpPr>
          <p:cNvPr id="3" name="Text 1"/>
          <p:cNvSpPr/>
          <p:nvPr/>
        </p:nvSpPr>
        <p:spPr>
          <a:xfrm>
            <a:off x="793790" y="1892022"/>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El árbol de decisión modela dos alternativas principales con sus respectivos nodos de probabilidad. Cada rama captura cómo responde el rendimiento ante las distintas combinaciones de condición climática y precio.</a:t>
            </a:r>
            <a:endParaRPr lang="en-US" sz="1550" dirty="0"/>
          </a:p>
        </p:txBody>
      </p:sp>
      <p:sp>
        <p:nvSpPr>
          <p:cNvPr id="4" name="Shape 2"/>
          <p:cNvSpPr/>
          <p:nvPr/>
        </p:nvSpPr>
        <p:spPr>
          <a:xfrm>
            <a:off x="793790" y="2933819"/>
            <a:ext cx="841177" cy="372547"/>
          </a:xfrm>
          <a:prstGeom prst="roundRect">
            <a:avLst>
              <a:gd name="adj" fmla="val 17900"/>
            </a:avLst>
          </a:prstGeom>
          <a:noFill/>
          <a:ln w="7620">
            <a:solidFill>
              <a:srgbClr val="95CCDA"/>
            </a:solidFill>
            <a:prstDash val="solid"/>
          </a:ln>
        </p:spPr>
      </p:sp>
      <p:sp>
        <p:nvSpPr>
          <p:cNvPr id="5" name="Text 3"/>
          <p:cNvSpPr/>
          <p:nvPr/>
        </p:nvSpPr>
        <p:spPr>
          <a:xfrm>
            <a:off x="920472" y="3000970"/>
            <a:ext cx="587812" cy="238244"/>
          </a:xfrm>
          <a:prstGeom prst="rect">
            <a:avLst/>
          </a:prstGeom>
          <a:noFill/>
          <a:ln/>
        </p:spPr>
        <p:txBody>
          <a:bodyPr wrap="none" lIns="0" tIns="0" rIns="0" bIns="0" rtlCol="0" anchor="t"/>
          <a:lstStyle/>
          <a:p>
            <a:pPr algn="l" indent="0" marL="0">
              <a:lnSpc>
                <a:spcPts val="1850"/>
              </a:lnSpc>
              <a:buNone/>
            </a:pPr>
            <a:r>
              <a:rPr lang="en-US" sz="1250" dirty="0">
                <a:solidFill>
                  <a:srgbClr val="95CCDA"/>
                </a:solidFill>
                <a:latin typeface="Roboto" pitchFamily="34" charset="0"/>
                <a:ea typeface="Roboto" pitchFamily="34" charset="-122"/>
                <a:cs typeface="Roboto" pitchFamily="34" charset="-120"/>
              </a:rPr>
              <a:t>RAMA A</a:t>
            </a:r>
            <a:endParaRPr lang="en-US" sz="1250" dirty="0"/>
          </a:p>
        </p:txBody>
      </p:sp>
      <p:sp>
        <p:nvSpPr>
          <p:cNvPr id="6" name="Text 4"/>
          <p:cNvSpPr/>
          <p:nvPr/>
        </p:nvSpPr>
        <p:spPr>
          <a:xfrm>
            <a:off x="793790" y="338566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Sin Riego (Temporal)</a:t>
            </a:r>
            <a:endParaRPr lang="en-US" sz="19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204" y="3925133"/>
            <a:ext cx="297656" cy="297656"/>
          </a:xfrm>
          <a:prstGeom prst="rect">
            <a:avLst/>
          </a:prstGeom>
        </p:spPr>
      </p:pic>
      <p:sp>
        <p:nvSpPr>
          <p:cNvPr id="8" name="Text 5"/>
          <p:cNvSpPr/>
          <p:nvPr/>
        </p:nvSpPr>
        <p:spPr>
          <a:xfrm>
            <a:off x="1438632" y="391906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Tormenta (5%)</a:t>
            </a:r>
            <a:endParaRPr lang="en-US" sz="1950" dirty="0"/>
          </a:p>
        </p:txBody>
      </p:sp>
      <p:sp>
        <p:nvSpPr>
          <p:cNvPr id="9" name="Text 6"/>
          <p:cNvSpPr/>
          <p:nvPr/>
        </p:nvSpPr>
        <p:spPr>
          <a:xfrm>
            <a:off x="1438632" y="4427577"/>
            <a:ext cx="5634514"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0 ton/ha</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 pérdida total de la cosecha</a:t>
            </a:r>
            <a:endParaRPr lang="en-US" sz="15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204" y="5128141"/>
            <a:ext cx="297656" cy="297656"/>
          </a:xfrm>
          <a:prstGeom prst="rect">
            <a:avLst/>
          </a:prstGeom>
        </p:spPr>
      </p:pic>
      <p:sp>
        <p:nvSpPr>
          <p:cNvPr id="11" name="Text 7"/>
          <p:cNvSpPr/>
          <p:nvPr/>
        </p:nvSpPr>
        <p:spPr>
          <a:xfrm>
            <a:off x="1438632" y="512206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Sin tormenta (95%)</a:t>
            </a:r>
            <a:endParaRPr lang="en-US" sz="1950" dirty="0"/>
          </a:p>
        </p:txBody>
      </p:sp>
      <p:sp>
        <p:nvSpPr>
          <p:cNvPr id="12" name="Text 8"/>
          <p:cNvSpPr/>
          <p:nvPr/>
        </p:nvSpPr>
        <p:spPr>
          <a:xfrm>
            <a:off x="1438632" y="5630585"/>
            <a:ext cx="5634514"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Rendimiento según condición hídrica: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60 / 50 / 40 / 25 ton/ha</a:t>
            </a:r>
            <a:endParaRPr lang="en-US" sz="1550" dirty="0"/>
          </a:p>
        </p:txBody>
      </p:sp>
      <p:sp>
        <p:nvSpPr>
          <p:cNvPr id="13" name="Shape 9"/>
          <p:cNvSpPr/>
          <p:nvPr/>
        </p:nvSpPr>
        <p:spPr>
          <a:xfrm>
            <a:off x="7421999" y="2710577"/>
            <a:ext cx="6565106" cy="4643914"/>
          </a:xfrm>
          <a:prstGeom prst="roundRect">
            <a:avLst>
              <a:gd name="adj" fmla="val 3077"/>
            </a:avLst>
          </a:prstGeom>
          <a:solidFill>
            <a:srgbClr val="95CCDA"/>
          </a:solidFill>
          <a:ln/>
        </p:spPr>
      </p:sp>
      <p:sp>
        <p:nvSpPr>
          <p:cNvPr id="14" name="Shape 10"/>
          <p:cNvSpPr/>
          <p:nvPr/>
        </p:nvSpPr>
        <p:spPr>
          <a:xfrm>
            <a:off x="7620357" y="2933819"/>
            <a:ext cx="836533" cy="372547"/>
          </a:xfrm>
          <a:prstGeom prst="roundRect">
            <a:avLst>
              <a:gd name="adj" fmla="val 17900"/>
            </a:avLst>
          </a:prstGeom>
          <a:noFill/>
          <a:ln w="7620">
            <a:solidFill>
              <a:srgbClr val="95CCDA"/>
            </a:solidFill>
            <a:prstDash val="solid"/>
          </a:ln>
        </p:spPr>
      </p:sp>
      <p:sp>
        <p:nvSpPr>
          <p:cNvPr id="15" name="Text 11"/>
          <p:cNvSpPr/>
          <p:nvPr/>
        </p:nvSpPr>
        <p:spPr>
          <a:xfrm>
            <a:off x="7747040" y="3000970"/>
            <a:ext cx="583168" cy="238244"/>
          </a:xfrm>
          <a:prstGeom prst="rect">
            <a:avLst/>
          </a:prstGeom>
          <a:noFill/>
          <a:ln/>
        </p:spPr>
        <p:txBody>
          <a:bodyPr wrap="none" lIns="0" tIns="0" rIns="0" bIns="0" rtlCol="0" anchor="t"/>
          <a:lstStyle/>
          <a:p>
            <a:pPr algn="l" indent="0" marL="0">
              <a:lnSpc>
                <a:spcPts val="1850"/>
              </a:lnSpc>
              <a:buNone/>
            </a:pPr>
            <a:r>
              <a:rPr lang="en-US" sz="1250" dirty="0">
                <a:solidFill>
                  <a:srgbClr val="95CCDA"/>
                </a:solidFill>
                <a:latin typeface="Roboto" pitchFamily="34" charset="0"/>
                <a:ea typeface="Roboto" pitchFamily="34" charset="-122"/>
                <a:cs typeface="Roboto" pitchFamily="34" charset="-120"/>
              </a:rPr>
              <a:t>RAMA B</a:t>
            </a:r>
            <a:endParaRPr lang="en-US" sz="1250" dirty="0"/>
          </a:p>
        </p:txBody>
      </p:sp>
      <p:sp>
        <p:nvSpPr>
          <p:cNvPr id="16" name="Text 12"/>
          <p:cNvSpPr/>
          <p:nvPr/>
        </p:nvSpPr>
        <p:spPr>
          <a:xfrm>
            <a:off x="7620357" y="338566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Con Riego</a:t>
            </a:r>
            <a:endParaRPr lang="en-US" sz="195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94771" y="3925133"/>
            <a:ext cx="297656" cy="297656"/>
          </a:xfrm>
          <a:prstGeom prst="rect">
            <a:avLst/>
          </a:prstGeom>
        </p:spPr>
      </p:pic>
      <p:sp>
        <p:nvSpPr>
          <p:cNvPr id="18" name="Text 13"/>
          <p:cNvSpPr/>
          <p:nvPr/>
        </p:nvSpPr>
        <p:spPr>
          <a:xfrm>
            <a:off x="8265200" y="391906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Tormenta (5%)</a:t>
            </a:r>
            <a:endParaRPr lang="en-US" sz="1950" dirty="0"/>
          </a:p>
        </p:txBody>
      </p:sp>
      <p:sp>
        <p:nvSpPr>
          <p:cNvPr id="19" name="Text 14"/>
          <p:cNvSpPr/>
          <p:nvPr/>
        </p:nvSpPr>
        <p:spPr>
          <a:xfrm>
            <a:off x="8265200" y="4427577"/>
            <a:ext cx="5523548" cy="297656"/>
          </a:xfrm>
          <a:prstGeom prst="rect">
            <a:avLst/>
          </a:prstGeom>
          <a:noFill/>
          <a:ln/>
        </p:spPr>
        <p:txBody>
          <a:bodyPr wrap="none" lIns="0" tIns="0" rIns="0" bIns="0" rtlCol="0" anchor="t"/>
          <a:lstStyle/>
          <a:p>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0 ton/ha</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 pérdida total de la cosecha</a:t>
            </a:r>
            <a:endParaRPr lang="en-US" sz="1550" dirty="0"/>
          </a:p>
        </p:txBody>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94771" y="5128141"/>
            <a:ext cx="297656" cy="297656"/>
          </a:xfrm>
          <a:prstGeom prst="rect">
            <a:avLst/>
          </a:prstGeom>
        </p:spPr>
      </p:pic>
      <p:sp>
        <p:nvSpPr>
          <p:cNvPr id="21" name="Text 15"/>
          <p:cNvSpPr/>
          <p:nvPr/>
        </p:nvSpPr>
        <p:spPr>
          <a:xfrm>
            <a:off x="8265200" y="512206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Condición normal</a:t>
            </a:r>
            <a:endParaRPr lang="en-US" sz="1950" dirty="0"/>
          </a:p>
        </p:txBody>
      </p:sp>
      <p:sp>
        <p:nvSpPr>
          <p:cNvPr id="22" name="Text 16"/>
          <p:cNvSpPr/>
          <p:nvPr/>
        </p:nvSpPr>
        <p:spPr>
          <a:xfrm>
            <a:off x="8265200" y="5630585"/>
            <a:ext cx="5523548" cy="297656"/>
          </a:xfrm>
          <a:prstGeom prst="rect">
            <a:avLst/>
          </a:prstGeom>
          <a:noFill/>
          <a:ln/>
        </p:spPr>
        <p:txBody>
          <a:bodyPr wrap="non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Sub-distribución: 50%→</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90</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 30%→</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120</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 20%→</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200</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ton/ha</a:t>
            </a:r>
            <a:endParaRPr lang="en-US" sz="1550" dirty="0"/>
          </a:p>
        </p:txBody>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94771" y="6331148"/>
            <a:ext cx="297656" cy="297656"/>
          </a:xfrm>
          <a:prstGeom prst="rect">
            <a:avLst/>
          </a:prstGeom>
        </p:spPr>
      </p:pic>
      <p:sp>
        <p:nvSpPr>
          <p:cNvPr id="24" name="Text 17"/>
          <p:cNvSpPr/>
          <p:nvPr/>
        </p:nvSpPr>
        <p:spPr>
          <a:xfrm>
            <a:off x="8265200" y="6325076"/>
            <a:ext cx="434018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Host Grotesk Medium" pitchFamily="34" charset="0"/>
                <a:ea typeface="Host Grotesk Medium" pitchFamily="34" charset="-122"/>
                <a:cs typeface="Host Grotesk Medium" pitchFamily="34" charset="-120"/>
              </a:rPr>
              <a:t>Sequías moderada / severa / extrema</a:t>
            </a:r>
            <a:endParaRPr lang="en-US" sz="1950" dirty="0"/>
          </a:p>
        </p:txBody>
      </p:sp>
      <p:sp>
        <p:nvSpPr>
          <p:cNvPr id="25" name="Text 18"/>
          <p:cNvSpPr/>
          <p:nvPr/>
        </p:nvSpPr>
        <p:spPr>
          <a:xfrm>
            <a:off x="8265200" y="6833592"/>
            <a:ext cx="5523548" cy="297656"/>
          </a:xfrm>
          <a:prstGeom prst="rect">
            <a:avLst/>
          </a:prstGeom>
          <a:noFill/>
          <a:ln/>
        </p:spPr>
        <p:txBody>
          <a:bodyPr wrap="none" lIns="0" tIns="0" rIns="0" bIns="0" rtlCol="0" anchor="t"/>
          <a:lstStyle/>
          <a:p>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90 / 70 / 40 ton/ha</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respectivamente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86069"/>
            <a:ext cx="11020187"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¿Cuánto Produce Cada Alternativa en Promedio?</a:t>
            </a:r>
            <a:endParaRPr lang="en-US" sz="3900" dirty="0"/>
          </a:p>
        </p:txBody>
      </p:sp>
      <p:sp>
        <p:nvSpPr>
          <p:cNvPr id="3" name="Text 1"/>
          <p:cNvSpPr/>
          <p:nvPr/>
        </p:nvSpPr>
        <p:spPr>
          <a:xfrm>
            <a:off x="793790" y="3002161"/>
            <a:ext cx="4182189" cy="654963"/>
          </a:xfrm>
          <a:prstGeom prst="rect">
            <a:avLst/>
          </a:prstGeom>
          <a:noFill/>
          <a:ln/>
        </p:spPr>
        <p:txBody>
          <a:bodyPr wrap="none" lIns="0" tIns="0" rIns="0" bIns="0" rtlCol="0" anchor="t"/>
          <a:lstStyle/>
          <a:p>
            <a:pPr algn="ctr" indent="0" marL="0">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47.0</a:t>
            </a:r>
            <a:endParaRPr lang="en-US" sz="5150" dirty="0"/>
          </a:p>
        </p:txBody>
      </p:sp>
      <p:sp>
        <p:nvSpPr>
          <p:cNvPr id="4" name="Text 2"/>
          <p:cNvSpPr/>
          <p:nvPr/>
        </p:nvSpPr>
        <p:spPr>
          <a:xfrm>
            <a:off x="1644372" y="3905131"/>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ton/ha/año</a:t>
            </a:r>
            <a:endParaRPr lang="en-US" sz="1950" dirty="0"/>
          </a:p>
        </p:txBody>
      </p:sp>
      <p:sp>
        <p:nvSpPr>
          <p:cNvPr id="5" name="Text 3"/>
          <p:cNvSpPr/>
          <p:nvPr/>
        </p:nvSpPr>
        <p:spPr>
          <a:xfrm>
            <a:off x="793790" y="4334351"/>
            <a:ext cx="4182189" cy="892969"/>
          </a:xfrm>
          <a:prstGeom prst="rect">
            <a:avLst/>
          </a:prstGeom>
          <a:noFill/>
          <a:ln/>
        </p:spPr>
        <p:txBody>
          <a:bodyPr wrap="square" lIns="0" tIns="0" rIns="0" bIns="0" rtlCol="0" anchor="t"/>
          <a:lstStyle/>
          <a:p>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Rendimiento esperado </a:t>
            </a:r>
            <a:pPr algn="ctr" indent="0" marL="0">
              <a:lnSpc>
                <a:spcPts val="2300"/>
              </a:lnSpc>
              <a:buNone/>
            </a:pPr>
            <a:r>
              <a:rPr lang="en-US" sz="1550" b="1" dirty="0">
                <a:solidFill>
                  <a:srgbClr val="384653"/>
                </a:solidFill>
                <a:latin typeface="Roboto" pitchFamily="34" charset="0"/>
                <a:ea typeface="Roboto" pitchFamily="34" charset="-122"/>
                <a:cs typeface="Roboto" pitchFamily="34" charset="-120"/>
              </a:rPr>
              <a:t>sin riego</a:t>
            </a:r>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 (temporal). Refleja el impacto acumulado de sequías frecuentes.</a:t>
            </a:r>
            <a:endParaRPr lang="en-US" sz="1550" dirty="0"/>
          </a:p>
        </p:txBody>
      </p:sp>
      <p:sp>
        <p:nvSpPr>
          <p:cNvPr id="6" name="Text 4"/>
          <p:cNvSpPr/>
          <p:nvPr/>
        </p:nvSpPr>
        <p:spPr>
          <a:xfrm>
            <a:off x="5223986" y="3002161"/>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88.7</a:t>
            </a:r>
            <a:endParaRPr lang="en-US" sz="5150" dirty="0"/>
          </a:p>
        </p:txBody>
      </p:sp>
      <p:sp>
        <p:nvSpPr>
          <p:cNvPr id="7" name="Text 5"/>
          <p:cNvSpPr/>
          <p:nvPr/>
        </p:nvSpPr>
        <p:spPr>
          <a:xfrm>
            <a:off x="6074688" y="3905131"/>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ton/ha/año</a:t>
            </a:r>
            <a:endParaRPr lang="en-US" sz="1950" dirty="0"/>
          </a:p>
        </p:txBody>
      </p:sp>
      <p:sp>
        <p:nvSpPr>
          <p:cNvPr id="8" name="Text 6"/>
          <p:cNvSpPr/>
          <p:nvPr/>
        </p:nvSpPr>
        <p:spPr>
          <a:xfrm>
            <a:off x="5223986" y="4334351"/>
            <a:ext cx="4182308" cy="892969"/>
          </a:xfrm>
          <a:prstGeom prst="rect">
            <a:avLst/>
          </a:prstGeom>
          <a:noFill/>
          <a:ln/>
        </p:spPr>
        <p:txBody>
          <a:bodyPr wrap="square" lIns="0" tIns="0" rIns="0" bIns="0" rtlCol="0" anchor="t"/>
          <a:lstStyle/>
          <a:p>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Rendimiento esperado </a:t>
            </a:r>
            <a:pPr algn="ctr" indent="0" marL="0">
              <a:lnSpc>
                <a:spcPts val="2300"/>
              </a:lnSpc>
              <a:buNone/>
            </a:pPr>
            <a:r>
              <a:rPr lang="en-US" sz="1550" b="1" dirty="0">
                <a:solidFill>
                  <a:srgbClr val="384653"/>
                </a:solidFill>
                <a:latin typeface="Roboto" pitchFamily="34" charset="0"/>
                <a:ea typeface="Roboto" pitchFamily="34" charset="-122"/>
                <a:cs typeface="Roboto" pitchFamily="34" charset="-120"/>
              </a:rPr>
              <a:t>con riego</a:t>
            </a:r>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 Casi el doble que el temporal gracias a la compensación hídrica.</a:t>
            </a:r>
            <a:endParaRPr lang="en-US" sz="1550" dirty="0"/>
          </a:p>
        </p:txBody>
      </p:sp>
      <p:sp>
        <p:nvSpPr>
          <p:cNvPr id="9" name="Text 7"/>
          <p:cNvSpPr/>
          <p:nvPr/>
        </p:nvSpPr>
        <p:spPr>
          <a:xfrm>
            <a:off x="9654302" y="3002161"/>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+88%</a:t>
            </a:r>
            <a:endParaRPr lang="en-US" sz="5150" dirty="0"/>
          </a:p>
        </p:txBody>
      </p:sp>
      <p:sp>
        <p:nvSpPr>
          <p:cNvPr id="10" name="Text 8"/>
          <p:cNvSpPr/>
          <p:nvPr/>
        </p:nvSpPr>
        <p:spPr>
          <a:xfrm>
            <a:off x="10340816" y="3905131"/>
            <a:ext cx="2809280" cy="310158"/>
          </a:xfrm>
          <a:prstGeom prst="rect">
            <a:avLst/>
          </a:prstGeom>
          <a:noFill/>
          <a:ln/>
        </p:spPr>
        <p:txBody>
          <a:bodyPr wrap="none" lIns="0" tIns="0" rIns="0" bIns="0" rtlCol="0" anchor="t"/>
          <a:lstStyle/>
          <a:p>
            <a:pPr algn="ctr"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ganancia en rendimiento</a:t>
            </a:r>
            <a:endParaRPr lang="en-US" sz="1950" dirty="0"/>
          </a:p>
        </p:txBody>
      </p:sp>
      <p:sp>
        <p:nvSpPr>
          <p:cNvPr id="11" name="Text 9"/>
          <p:cNvSpPr/>
          <p:nvPr/>
        </p:nvSpPr>
        <p:spPr>
          <a:xfrm>
            <a:off x="9654302" y="4334351"/>
            <a:ext cx="4182308" cy="892969"/>
          </a:xfrm>
          <a:prstGeom prst="rect">
            <a:avLst/>
          </a:prstGeom>
          <a:noFill/>
          <a:ln/>
        </p:spPr>
        <p:txBody>
          <a:bodyPr wrap="square" lIns="0" tIns="0" rIns="0" bIns="0" rtlCol="0" anchor="t"/>
          <a:lstStyle/>
          <a:p>
            <a:pPr algn="ctr" indent="0" marL="0">
              <a:lnSpc>
                <a:spcPts val="2300"/>
              </a:lnSpc>
              <a:buNone/>
            </a:pPr>
            <a:r>
              <a:rPr lang="en-US" sz="1550" dirty="0">
                <a:solidFill>
                  <a:srgbClr val="384653"/>
                </a:solidFill>
                <a:latin typeface="Roboto" pitchFamily="34" charset="0"/>
                <a:ea typeface="Roboto" pitchFamily="34" charset="-122"/>
                <a:cs typeface="Roboto" pitchFamily="34" charset="-120"/>
              </a:rPr>
              <a:t>Incremento relativo que genera el riego frente al temporal, antes de descontar costos adicionales.</a:t>
            </a:r>
            <a:endParaRPr lang="en-US" sz="1550" dirty="0"/>
          </a:p>
        </p:txBody>
      </p:sp>
      <p:sp>
        <p:nvSpPr>
          <p:cNvPr id="12" name="Text 10"/>
          <p:cNvSpPr/>
          <p:nvPr/>
        </p:nvSpPr>
        <p:spPr>
          <a:xfrm>
            <a:off x="793790" y="5450562"/>
            <a:ext cx="13042821"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El riego casi duplica el rendimiento esperado al compensar el déficit hídrico en sequías moderadas y severas, y abre la posibilidad de alcanzar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120 o 200 ton/ha</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en años con condición normal favorable. Sin embargo, este mayor rendimiento viene acompañado de un costo operativo adicional de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$25,000 MXN/ha/año</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82040"/>
            <a:ext cx="8301871"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¿Cuánto Gana el Productor por Año?</a:t>
            </a:r>
            <a:endParaRPr lang="en-US" sz="3900" dirty="0"/>
          </a:p>
        </p:txBody>
      </p:sp>
      <p:sp>
        <p:nvSpPr>
          <p:cNvPr id="3" name="Text 1"/>
          <p:cNvSpPr/>
          <p:nvPr/>
        </p:nvSpPr>
        <p:spPr>
          <a:xfrm>
            <a:off x="793790" y="2098953"/>
            <a:ext cx="13042821"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Al calcular los ingresos brutos esperados y deducir los costos operativos totales, se obtiene la utilidad anual esperada de cada alternativa. El resultado revela una diferencia estructural entre ambas estrategias.</a:t>
            </a:r>
            <a:endParaRPr lang="en-US" sz="1550" dirty="0"/>
          </a:p>
        </p:txBody>
      </p:sp>
      <p:sp>
        <p:nvSpPr>
          <p:cNvPr id="4" name="Shape 2"/>
          <p:cNvSpPr/>
          <p:nvPr/>
        </p:nvSpPr>
        <p:spPr>
          <a:xfrm>
            <a:off x="793790" y="2917507"/>
            <a:ext cx="13042821" cy="2242185"/>
          </a:xfrm>
          <a:prstGeom prst="roundRect">
            <a:avLst>
              <a:gd name="adj" fmla="val 3718"/>
            </a:avLst>
          </a:prstGeom>
          <a:noFill/>
          <a:ln w="7620">
            <a:solidFill>
              <a:srgbClr val="000000">
                <a:alpha val="8000"/>
              </a:srgbClr>
            </a:solidFill>
            <a:prstDash val="solid"/>
          </a:ln>
        </p:spPr>
      </p:sp>
      <p:sp>
        <p:nvSpPr>
          <p:cNvPr id="5" name="Text 3"/>
          <p:cNvSpPr/>
          <p:nvPr/>
        </p:nvSpPr>
        <p:spPr>
          <a:xfrm>
            <a:off x="999887" y="3051810"/>
            <a:ext cx="4810482"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Concepto</a:t>
            </a:r>
            <a:endParaRPr lang="en-US" sz="1550" dirty="0"/>
          </a:p>
        </p:txBody>
      </p:sp>
      <p:sp>
        <p:nvSpPr>
          <p:cNvPr id="6" name="Text 4"/>
          <p:cNvSpPr/>
          <p:nvPr/>
        </p:nvSpPr>
        <p:spPr>
          <a:xfrm>
            <a:off x="6214705" y="3051810"/>
            <a:ext cx="3503890"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Sin riego</a:t>
            </a:r>
            <a:endParaRPr lang="en-US" sz="1550" dirty="0"/>
          </a:p>
        </p:txBody>
      </p:sp>
      <p:sp>
        <p:nvSpPr>
          <p:cNvPr id="7" name="Text 5"/>
          <p:cNvSpPr/>
          <p:nvPr/>
        </p:nvSpPr>
        <p:spPr>
          <a:xfrm>
            <a:off x="10122932" y="3051810"/>
            <a:ext cx="3507700"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Con riego</a:t>
            </a:r>
            <a:endParaRPr lang="en-US" sz="1550" dirty="0"/>
          </a:p>
        </p:txBody>
      </p:sp>
      <p:sp>
        <p:nvSpPr>
          <p:cNvPr id="8" name="Text 6"/>
          <p:cNvSpPr/>
          <p:nvPr/>
        </p:nvSpPr>
        <p:spPr>
          <a:xfrm>
            <a:off x="999887" y="3610451"/>
            <a:ext cx="481048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Ingreso bruto esperado</a:t>
            </a:r>
            <a:endParaRPr lang="en-US" sz="1550" dirty="0"/>
          </a:p>
        </p:txBody>
      </p:sp>
      <p:sp>
        <p:nvSpPr>
          <p:cNvPr id="9" name="Text 7"/>
          <p:cNvSpPr/>
          <p:nvPr/>
        </p:nvSpPr>
        <p:spPr>
          <a:xfrm>
            <a:off x="6214705" y="3610451"/>
            <a:ext cx="3503890"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$3,795,098 MXN</a:t>
            </a:r>
            <a:endParaRPr lang="en-US" sz="1550" dirty="0"/>
          </a:p>
        </p:txBody>
      </p:sp>
      <p:sp>
        <p:nvSpPr>
          <p:cNvPr id="10" name="Text 8"/>
          <p:cNvSpPr/>
          <p:nvPr/>
        </p:nvSpPr>
        <p:spPr>
          <a:xfrm>
            <a:off x="10122932" y="3610451"/>
            <a:ext cx="3507700"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$7,160,851 MXN</a:t>
            </a:r>
            <a:endParaRPr lang="en-US" sz="1550" dirty="0"/>
          </a:p>
        </p:txBody>
      </p:sp>
      <p:sp>
        <p:nvSpPr>
          <p:cNvPr id="11" name="Text 9"/>
          <p:cNvSpPr/>
          <p:nvPr/>
        </p:nvSpPr>
        <p:spPr>
          <a:xfrm>
            <a:off x="999887" y="4169093"/>
            <a:ext cx="481048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Costo operativo total</a:t>
            </a:r>
            <a:endParaRPr lang="en-US" sz="1550" dirty="0"/>
          </a:p>
        </p:txBody>
      </p:sp>
      <p:sp>
        <p:nvSpPr>
          <p:cNvPr id="12" name="Text 10"/>
          <p:cNvSpPr/>
          <p:nvPr/>
        </p:nvSpPr>
        <p:spPr>
          <a:xfrm>
            <a:off x="6214705" y="4169093"/>
            <a:ext cx="3503890"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$3,800,000 MXN</a:t>
            </a:r>
            <a:endParaRPr lang="en-US" sz="1550" dirty="0"/>
          </a:p>
        </p:txBody>
      </p:sp>
      <p:sp>
        <p:nvSpPr>
          <p:cNvPr id="13" name="Text 11"/>
          <p:cNvSpPr/>
          <p:nvPr/>
        </p:nvSpPr>
        <p:spPr>
          <a:xfrm>
            <a:off x="10122932" y="4169093"/>
            <a:ext cx="3507700"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$6,300,000 MXN</a:t>
            </a:r>
            <a:endParaRPr lang="en-US" sz="1550" dirty="0"/>
          </a:p>
        </p:txBody>
      </p:sp>
      <p:sp>
        <p:nvSpPr>
          <p:cNvPr id="14" name="Text 12"/>
          <p:cNvSpPr/>
          <p:nvPr/>
        </p:nvSpPr>
        <p:spPr>
          <a:xfrm>
            <a:off x="999887" y="4727734"/>
            <a:ext cx="4810482"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Utilidad anual esperada</a:t>
            </a:r>
            <a:endParaRPr lang="en-US" sz="1550" dirty="0"/>
          </a:p>
        </p:txBody>
      </p:sp>
      <p:sp>
        <p:nvSpPr>
          <p:cNvPr id="15" name="Text 13"/>
          <p:cNvSpPr/>
          <p:nvPr/>
        </p:nvSpPr>
        <p:spPr>
          <a:xfrm>
            <a:off x="6214705" y="4727734"/>
            <a:ext cx="3503890"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−$4,902 MXN</a:t>
            </a:r>
            <a:endParaRPr lang="en-US" sz="1550" dirty="0"/>
          </a:p>
        </p:txBody>
      </p:sp>
      <p:sp>
        <p:nvSpPr>
          <p:cNvPr id="16" name="Text 14"/>
          <p:cNvSpPr/>
          <p:nvPr/>
        </p:nvSpPr>
        <p:spPr>
          <a:xfrm>
            <a:off x="10122932" y="4727734"/>
            <a:ext cx="3507700"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$860,851 MXN</a:t>
            </a:r>
            <a:endParaRPr lang="en-US" sz="1550" dirty="0"/>
          </a:p>
        </p:txBody>
      </p:sp>
      <p:sp>
        <p:nvSpPr>
          <p:cNvPr id="17" name="Shape 15"/>
          <p:cNvSpPr/>
          <p:nvPr/>
        </p:nvSpPr>
        <p:spPr>
          <a:xfrm>
            <a:off x="793790" y="5382935"/>
            <a:ext cx="6422231" cy="1764625"/>
          </a:xfrm>
          <a:prstGeom prst="roundRect">
            <a:avLst>
              <a:gd name="adj" fmla="val 6218"/>
            </a:avLst>
          </a:prstGeom>
          <a:solidFill>
            <a:srgbClr val="FAF9F5"/>
          </a:solidFill>
          <a:ln w="22860">
            <a:solidFill>
              <a:srgbClr val="BFD3D8"/>
            </a:solidFill>
            <a:prstDash val="solid"/>
          </a:ln>
        </p:spPr>
      </p:sp>
      <p:pic>
        <p:nvPicPr>
          <p:cNvPr id="18" name="Image 0" descr="preencoded.png">    </p:cNvPr>
          <p:cNvPicPr>
            <a:picLocks noChangeAspect="1"/>
          </p:cNvPicPr>
          <p:nvPr/>
        </p:nvPicPr>
        <p:blipFill>
          <a:blip r:embed="rId1"/>
          <a:stretch>
            <a:fillRect/>
          </a:stretch>
        </p:blipFill>
        <p:spPr>
          <a:xfrm>
            <a:off x="770930" y="5382935"/>
            <a:ext cx="91440" cy="1764625"/>
          </a:xfrm>
          <a:prstGeom prst="rect">
            <a:avLst/>
          </a:prstGeom>
        </p:spPr>
      </p:pic>
      <p:sp>
        <p:nvSpPr>
          <p:cNvPr id="19" name="Text 16"/>
          <p:cNvSpPr/>
          <p:nvPr/>
        </p:nvSpPr>
        <p:spPr>
          <a:xfrm>
            <a:off x="1083588" y="5604153"/>
            <a:ext cx="3868222"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El temporal, en punto de equilibrio</a:t>
            </a:r>
            <a:endParaRPr lang="en-US" sz="1950" dirty="0"/>
          </a:p>
        </p:txBody>
      </p:sp>
      <p:sp>
        <p:nvSpPr>
          <p:cNvPr id="20" name="Text 17"/>
          <p:cNvSpPr/>
          <p:nvPr/>
        </p:nvSpPr>
        <p:spPr>
          <a:xfrm>
            <a:off x="1083588" y="6033373"/>
            <a:ext cx="5911215"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Con una utilidad de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−$4,902 MXN/año</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el temporal prácticamente no genera utilidad. El productor trabaja todo el año para no perder — ni ganar.</a:t>
            </a:r>
            <a:endParaRPr lang="en-US" sz="1550" dirty="0"/>
          </a:p>
        </p:txBody>
      </p:sp>
      <p:sp>
        <p:nvSpPr>
          <p:cNvPr id="21" name="Shape 18"/>
          <p:cNvSpPr/>
          <p:nvPr/>
        </p:nvSpPr>
        <p:spPr>
          <a:xfrm>
            <a:off x="7414379" y="5382935"/>
            <a:ext cx="6422231" cy="1764625"/>
          </a:xfrm>
          <a:prstGeom prst="roundRect">
            <a:avLst>
              <a:gd name="adj" fmla="val 6218"/>
            </a:avLst>
          </a:prstGeom>
          <a:solidFill>
            <a:srgbClr val="FAF9F5"/>
          </a:solidFill>
          <a:ln w="22860">
            <a:solidFill>
              <a:srgbClr val="BFD3D8"/>
            </a:solidFill>
            <a:prstDash val="solid"/>
          </a:ln>
        </p:spPr>
      </p:sp>
      <p:pic>
        <p:nvPicPr>
          <p:cNvPr id="22" name="Image 1" descr="preencoded.png">    </p:cNvPr>
          <p:cNvPicPr>
            <a:picLocks noChangeAspect="1"/>
          </p:cNvPicPr>
          <p:nvPr/>
        </p:nvPicPr>
        <p:blipFill>
          <a:blip r:embed="rId2"/>
          <a:stretch>
            <a:fillRect/>
          </a:stretch>
        </p:blipFill>
        <p:spPr>
          <a:xfrm>
            <a:off x="7391519" y="5382935"/>
            <a:ext cx="91440" cy="1764625"/>
          </a:xfrm>
          <a:prstGeom prst="rect">
            <a:avLst/>
          </a:prstGeom>
        </p:spPr>
      </p:pic>
      <p:sp>
        <p:nvSpPr>
          <p:cNvPr id="23" name="Text 19"/>
          <p:cNvSpPr/>
          <p:nvPr/>
        </p:nvSpPr>
        <p:spPr>
          <a:xfrm>
            <a:off x="7704177" y="5604153"/>
            <a:ext cx="3489722" cy="310158"/>
          </a:xfrm>
          <a:prstGeom prst="rect">
            <a:avLst/>
          </a:prstGeom>
          <a:noFill/>
          <a:ln/>
        </p:spPr>
        <p:txBody>
          <a:bodyPr wrap="none" lIns="0" tIns="0" rIns="0" bIns="0" rtlCol="0" anchor="t"/>
          <a:lstStyle/>
          <a:p>
            <a:pPr algn="l" indent="0" marL="0">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El riego genera valor operativo</a:t>
            </a:r>
            <a:endParaRPr lang="en-US" sz="1950" dirty="0"/>
          </a:p>
        </p:txBody>
      </p:sp>
      <p:sp>
        <p:nvSpPr>
          <p:cNvPr id="24" name="Text 20"/>
          <p:cNvSpPr/>
          <p:nvPr/>
        </p:nvSpPr>
        <p:spPr>
          <a:xfrm>
            <a:off x="7704177" y="6033373"/>
            <a:ext cx="5911215" cy="892969"/>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El riego produce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$860,851 MXN/año</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antes de considerar la inversión inicial. La diferencia operativa es de </a:t>
            </a:r>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~$865,000 MXN/año</a:t>
            </a:r>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 a favor del riego.</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65114"/>
            <a:ext cx="8518208"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¿Se Recupera la Inversión en 7 Años?</a:t>
            </a:r>
            <a:endParaRPr lang="en-US" sz="3900" dirty="0"/>
          </a:p>
        </p:txBody>
      </p:sp>
      <p:sp>
        <p:nvSpPr>
          <p:cNvPr id="3" name="Shape 1"/>
          <p:cNvSpPr/>
          <p:nvPr/>
        </p:nvSpPr>
        <p:spPr>
          <a:xfrm>
            <a:off x="793790" y="3006090"/>
            <a:ext cx="6955631" cy="3135154"/>
          </a:xfrm>
          <a:prstGeom prst="roundRect">
            <a:avLst>
              <a:gd name="adj" fmla="val 2659"/>
            </a:avLst>
          </a:prstGeom>
          <a:noFill/>
          <a:ln w="7620">
            <a:solidFill>
              <a:srgbClr val="000000">
                <a:alpha val="8000"/>
              </a:srgbClr>
            </a:solidFill>
            <a:prstDash val="solid"/>
          </a:ln>
        </p:spPr>
      </p:sp>
      <p:sp>
        <p:nvSpPr>
          <p:cNvPr id="4" name="Text 2"/>
          <p:cNvSpPr/>
          <p:nvPr/>
        </p:nvSpPr>
        <p:spPr>
          <a:xfrm>
            <a:off x="999768" y="3140393"/>
            <a:ext cx="3069669"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Concepto</a:t>
            </a:r>
            <a:endParaRPr lang="en-US" sz="1550" dirty="0"/>
          </a:p>
        </p:txBody>
      </p:sp>
      <p:sp>
        <p:nvSpPr>
          <p:cNvPr id="5" name="Text 3"/>
          <p:cNvSpPr/>
          <p:nvPr/>
        </p:nvSpPr>
        <p:spPr>
          <a:xfrm>
            <a:off x="4473773" y="3140393"/>
            <a:ext cx="1330762"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Sin riego</a:t>
            </a:r>
            <a:endParaRPr lang="en-US" sz="1550" dirty="0"/>
          </a:p>
        </p:txBody>
      </p:sp>
      <p:sp>
        <p:nvSpPr>
          <p:cNvPr id="6" name="Text 4"/>
          <p:cNvSpPr/>
          <p:nvPr/>
        </p:nvSpPr>
        <p:spPr>
          <a:xfrm>
            <a:off x="6208871" y="3140393"/>
            <a:ext cx="1334572"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Con riego</a:t>
            </a:r>
            <a:endParaRPr lang="en-US" sz="1550" dirty="0"/>
          </a:p>
        </p:txBody>
      </p:sp>
      <p:sp>
        <p:nvSpPr>
          <p:cNvPr id="7" name="Text 5"/>
          <p:cNvSpPr/>
          <p:nvPr/>
        </p:nvSpPr>
        <p:spPr>
          <a:xfrm>
            <a:off x="999768" y="3699034"/>
            <a:ext cx="3069669"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Utilidad operativa acumulada (×7)</a:t>
            </a:r>
            <a:endParaRPr lang="en-US" sz="1550" dirty="0"/>
          </a:p>
        </p:txBody>
      </p:sp>
      <p:sp>
        <p:nvSpPr>
          <p:cNvPr id="8" name="Text 6"/>
          <p:cNvSpPr/>
          <p:nvPr/>
        </p:nvSpPr>
        <p:spPr>
          <a:xfrm>
            <a:off x="4473773" y="3699034"/>
            <a:ext cx="133076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−$34,316 MXN</a:t>
            </a:r>
            <a:endParaRPr lang="en-US" sz="1550" dirty="0"/>
          </a:p>
        </p:txBody>
      </p:sp>
      <p:sp>
        <p:nvSpPr>
          <p:cNvPr id="9" name="Text 7"/>
          <p:cNvSpPr/>
          <p:nvPr/>
        </p:nvSpPr>
        <p:spPr>
          <a:xfrm>
            <a:off x="6208871" y="3699034"/>
            <a:ext cx="1334572"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$6,025,958 MXN</a:t>
            </a:r>
            <a:endParaRPr lang="en-US" sz="1550" dirty="0"/>
          </a:p>
        </p:txBody>
      </p:sp>
      <p:sp>
        <p:nvSpPr>
          <p:cNvPr id="10" name="Text 8"/>
          <p:cNvSpPr/>
          <p:nvPr/>
        </p:nvSpPr>
        <p:spPr>
          <a:xfrm>
            <a:off x="999768" y="4555331"/>
            <a:ext cx="3069669"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Inversión inicial</a:t>
            </a:r>
            <a:endParaRPr lang="en-US" sz="1550" dirty="0"/>
          </a:p>
        </p:txBody>
      </p:sp>
      <p:sp>
        <p:nvSpPr>
          <p:cNvPr id="11" name="Text 9"/>
          <p:cNvSpPr/>
          <p:nvPr/>
        </p:nvSpPr>
        <p:spPr>
          <a:xfrm>
            <a:off x="4473773" y="4555331"/>
            <a:ext cx="1330762" cy="297656"/>
          </a:xfrm>
          <a:prstGeom prst="rect">
            <a:avLst/>
          </a:prstGeom>
          <a:noFill/>
          <a:ln/>
        </p:spPr>
        <p:txBody>
          <a:bodyPr wrap="non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$0</a:t>
            </a:r>
            <a:endParaRPr lang="en-US" sz="1550" dirty="0"/>
          </a:p>
        </p:txBody>
      </p:sp>
      <p:sp>
        <p:nvSpPr>
          <p:cNvPr id="12" name="Text 10"/>
          <p:cNvSpPr/>
          <p:nvPr/>
        </p:nvSpPr>
        <p:spPr>
          <a:xfrm>
            <a:off x="6208871" y="4555331"/>
            <a:ext cx="1334572" cy="595313"/>
          </a:xfrm>
          <a:prstGeom prst="rect">
            <a:avLst/>
          </a:prstGeom>
          <a:noFill/>
          <a:ln/>
        </p:spPr>
        <p:txBody>
          <a:bodyPr wrap="square" lIns="0" tIns="0" rIns="0" bIns="0" rtlCol="0" anchor="t"/>
          <a:lstStyle/>
          <a:p>
            <a:pPr algn="l" indent="0" marL="0">
              <a:lnSpc>
                <a:spcPts val="2300"/>
              </a:lnSpc>
              <a:buNone/>
            </a:pPr>
            <a:r>
              <a:rPr lang="en-US" sz="1550" dirty="0">
                <a:solidFill>
                  <a:srgbClr val="384653"/>
                </a:solidFill>
                <a:latin typeface="Roboto" pitchFamily="34" charset="0"/>
                <a:ea typeface="Roboto" pitchFamily="34" charset="-122"/>
                <a:cs typeface="Roboto" pitchFamily="34" charset="-120"/>
              </a:rPr>
              <a:t>−$8,000,000 MXN</a:t>
            </a:r>
            <a:endParaRPr lang="en-US" sz="1550" dirty="0"/>
          </a:p>
        </p:txBody>
      </p:sp>
      <p:sp>
        <p:nvSpPr>
          <p:cNvPr id="13" name="Text 11"/>
          <p:cNvSpPr/>
          <p:nvPr/>
        </p:nvSpPr>
        <p:spPr>
          <a:xfrm>
            <a:off x="999768" y="5411629"/>
            <a:ext cx="3069669" cy="297656"/>
          </a:xfrm>
          <a:prstGeom prst="rect">
            <a:avLst/>
          </a:prstGeom>
          <a:noFill/>
          <a:ln/>
        </p:spPr>
        <p:txBody>
          <a:bodyPr wrap="non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Utilidad neta acumulada</a:t>
            </a:r>
            <a:endParaRPr lang="en-US" sz="1550" dirty="0"/>
          </a:p>
        </p:txBody>
      </p:sp>
      <p:sp>
        <p:nvSpPr>
          <p:cNvPr id="14" name="Text 12"/>
          <p:cNvSpPr/>
          <p:nvPr/>
        </p:nvSpPr>
        <p:spPr>
          <a:xfrm>
            <a:off x="4473773" y="5411629"/>
            <a:ext cx="1330762" cy="595313"/>
          </a:xfrm>
          <a:prstGeom prst="rect">
            <a:avLst/>
          </a:prstGeom>
          <a:noFill/>
          <a:ln/>
        </p:spPr>
        <p:txBody>
          <a:bodyPr wrap="squar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−$34,316 MXN</a:t>
            </a:r>
            <a:endParaRPr lang="en-US" sz="1550" dirty="0"/>
          </a:p>
        </p:txBody>
      </p:sp>
      <p:sp>
        <p:nvSpPr>
          <p:cNvPr id="15" name="Text 13"/>
          <p:cNvSpPr/>
          <p:nvPr/>
        </p:nvSpPr>
        <p:spPr>
          <a:xfrm>
            <a:off x="6208871" y="5411629"/>
            <a:ext cx="1334572" cy="595313"/>
          </a:xfrm>
          <a:prstGeom prst="rect">
            <a:avLst/>
          </a:prstGeom>
          <a:noFill/>
          <a:ln/>
        </p:spPr>
        <p:txBody>
          <a:bodyPr wrap="square" lIns="0" tIns="0" rIns="0" bIns="0" rtlCol="0" anchor="t"/>
          <a:lstStyle/>
          <a:p>
            <a:pPr algn="l" indent="0" marL="0">
              <a:lnSpc>
                <a:spcPts val="2300"/>
              </a:lnSpc>
              <a:buNone/>
            </a:pPr>
            <a:r>
              <a:rPr lang="en-US" sz="1550" b="1" dirty="0">
                <a:solidFill>
                  <a:srgbClr val="384653"/>
                </a:solidFill>
                <a:latin typeface="Roboto" pitchFamily="34" charset="0"/>
                <a:ea typeface="Roboto" pitchFamily="34" charset="-122"/>
                <a:cs typeface="Roboto" pitchFamily="34" charset="-120"/>
              </a:rPr>
              <a:t>−$1,974,042 MXN</a:t>
            </a:r>
            <a:endParaRPr lang="en-US" sz="1550" dirty="0"/>
          </a:p>
        </p:txBody>
      </p:sp>
      <p:sp>
        <p:nvSpPr>
          <p:cNvPr id="16" name="Shape 14"/>
          <p:cNvSpPr/>
          <p:nvPr/>
        </p:nvSpPr>
        <p:spPr>
          <a:xfrm>
            <a:off x="8241149" y="3006090"/>
            <a:ext cx="5602962" cy="2013942"/>
          </a:xfrm>
          <a:prstGeom prst="roundRect">
            <a:avLst>
              <a:gd name="adj" fmla="val 4139"/>
            </a:avLst>
          </a:prstGeom>
          <a:solidFill>
            <a:srgbClr val="FCF2B5"/>
          </a:solidFill>
          <a:ln/>
        </p:spPr>
      </p:sp>
      <p:pic>
        <p:nvPicPr>
          <p:cNvPr id="17" name="Image 0" descr="preencoded.png">    </p:cNvPr>
          <p:cNvPicPr>
            <a:picLocks noChangeAspect="1"/>
          </p:cNvPicPr>
          <p:nvPr/>
        </p:nvPicPr>
        <p:blipFill>
          <a:blip r:embed="rId1"/>
          <a:stretch>
            <a:fillRect/>
          </a:stretch>
        </p:blipFill>
        <p:spPr>
          <a:xfrm>
            <a:off x="8439507" y="3293745"/>
            <a:ext cx="248007" cy="198358"/>
          </a:xfrm>
          <a:prstGeom prst="rect">
            <a:avLst/>
          </a:prstGeom>
        </p:spPr>
      </p:pic>
      <p:sp>
        <p:nvSpPr>
          <p:cNvPr id="18" name="Text 15"/>
          <p:cNvSpPr/>
          <p:nvPr/>
        </p:nvSpPr>
        <p:spPr>
          <a:xfrm>
            <a:off x="8885873" y="3253978"/>
            <a:ext cx="4759881" cy="1488281"/>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El riego genera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$6 millones</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en 7 años de operación, pero la inversión inicial de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$8 millones</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consume esa ganancia y deja un saldo negativo de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$1.97 millones</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La inversión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no se recupera</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en el horizonte de vida útil del sistema.</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4611" y="527090"/>
            <a:ext cx="8702873" cy="542687"/>
          </a:xfrm>
          <a:prstGeom prst="rect">
            <a:avLst/>
          </a:prstGeom>
          <a:noFill/>
          <a:ln/>
        </p:spPr>
        <p:txBody>
          <a:bodyPr wrap="none" lIns="0" tIns="0" rIns="0" bIns="0" rtlCol="0" anchor="t"/>
          <a:lstStyle/>
          <a:p>
            <a:pPr algn="l" indent="0" marL="0">
              <a:lnSpc>
                <a:spcPts val="4250"/>
              </a:lnSpc>
              <a:buNone/>
            </a:pPr>
            <a:r>
              <a:rPr lang="en-US" sz="3400" dirty="0">
                <a:solidFill>
                  <a:srgbClr val="2E3C4E"/>
                </a:solidFill>
                <a:latin typeface="Host Grotesk Medium" pitchFamily="34" charset="0"/>
                <a:ea typeface="Host Grotesk Medium" pitchFamily="34" charset="-122"/>
                <a:cs typeface="Host Grotesk Medium" pitchFamily="34" charset="-120"/>
              </a:rPr>
              <a:t>Simulación Monte Carlo: 10,000 Escenarios</a:t>
            </a:r>
            <a:endParaRPr lang="en-US" sz="3400" dirty="0"/>
          </a:p>
        </p:txBody>
      </p:sp>
      <p:sp>
        <p:nvSpPr>
          <p:cNvPr id="3" name="Text 1"/>
          <p:cNvSpPr/>
          <p:nvPr/>
        </p:nvSpPr>
        <p:spPr>
          <a:xfrm>
            <a:off x="694611" y="1373624"/>
            <a:ext cx="13241179" cy="488394"/>
          </a:xfrm>
          <a:prstGeom prst="rect">
            <a:avLst/>
          </a:prstGeom>
          <a:noFill/>
          <a:ln/>
        </p:spPr>
        <p:txBody>
          <a:bodyPr wrap="squar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Para capturar la variabilidad completa del sistema, se simularon </a:t>
            </a:r>
            <a:pPr algn="l" indent="0" marL="0">
              <a:lnSpc>
                <a:spcPts val="1900"/>
              </a:lnSpc>
              <a:buNone/>
            </a:pPr>
            <a:r>
              <a:rPr lang="en-US" sz="1350" b="1" dirty="0">
                <a:solidFill>
                  <a:srgbClr val="384653"/>
                </a:solidFill>
                <a:latin typeface="Roboto" pitchFamily="34" charset="0"/>
                <a:ea typeface="Roboto" pitchFamily="34" charset="-122"/>
                <a:cs typeface="Roboto" pitchFamily="34" charset="-120"/>
              </a:rPr>
              <a:t>10,000 combinaciones aleatorias</a:t>
            </a:r>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 de precio, condición hídrica y probabilidad de tormenta durante los 7 años del horizonte. Los resultados cuantifican tanto el valor esperado como el riesgo de cada alternativa.</a:t>
            </a:r>
            <a:endParaRPr lang="en-US" sz="1350" dirty="0"/>
          </a:p>
        </p:txBody>
      </p:sp>
      <p:sp>
        <p:nvSpPr>
          <p:cNvPr id="4" name="Shape 2"/>
          <p:cNvSpPr/>
          <p:nvPr/>
        </p:nvSpPr>
        <p:spPr>
          <a:xfrm>
            <a:off x="694611" y="2032873"/>
            <a:ext cx="13241179" cy="1804511"/>
          </a:xfrm>
          <a:prstGeom prst="roundRect">
            <a:avLst>
              <a:gd name="adj" fmla="val 4042"/>
            </a:avLst>
          </a:prstGeom>
          <a:noFill/>
          <a:ln w="7620">
            <a:solidFill>
              <a:srgbClr val="000000">
                <a:alpha val="8000"/>
              </a:srgbClr>
            </a:solidFill>
            <a:prstDash val="solid"/>
          </a:ln>
        </p:spPr>
      </p:sp>
      <p:sp>
        <p:nvSpPr>
          <p:cNvPr id="5" name="Text 3"/>
          <p:cNvSpPr/>
          <p:nvPr/>
        </p:nvSpPr>
        <p:spPr>
          <a:xfrm>
            <a:off x="876062" y="2139196"/>
            <a:ext cx="5732859" cy="244197"/>
          </a:xfrm>
          <a:prstGeom prst="rect">
            <a:avLst/>
          </a:prstGeom>
          <a:noFill/>
          <a:ln/>
        </p:spPr>
        <p:txBody>
          <a:bodyPr wrap="none" lIns="0" tIns="0" rIns="0" bIns="0" rtlCol="0" anchor="t"/>
          <a:lstStyle/>
          <a:p>
            <a:pPr algn="l" indent="0" marL="0">
              <a:lnSpc>
                <a:spcPts val="1900"/>
              </a:lnSpc>
              <a:buNone/>
            </a:pPr>
            <a:r>
              <a:rPr lang="en-US" sz="1350" b="1" dirty="0">
                <a:solidFill>
                  <a:srgbClr val="384653"/>
                </a:solidFill>
                <a:latin typeface="Roboto" pitchFamily="34" charset="0"/>
                <a:ea typeface="Roboto" pitchFamily="34" charset="-122"/>
                <a:cs typeface="Roboto" pitchFamily="34" charset="-120"/>
              </a:rPr>
              <a:t>Resultado</a:t>
            </a:r>
            <a:endParaRPr lang="en-US" sz="1350" dirty="0"/>
          </a:p>
        </p:txBody>
      </p:sp>
      <p:sp>
        <p:nvSpPr>
          <p:cNvPr id="6" name="Text 4"/>
          <p:cNvSpPr/>
          <p:nvPr/>
        </p:nvSpPr>
        <p:spPr>
          <a:xfrm>
            <a:off x="6963728" y="2139196"/>
            <a:ext cx="3216116" cy="244197"/>
          </a:xfrm>
          <a:prstGeom prst="rect">
            <a:avLst/>
          </a:prstGeom>
          <a:noFill/>
          <a:ln/>
        </p:spPr>
        <p:txBody>
          <a:bodyPr wrap="none" lIns="0" tIns="0" rIns="0" bIns="0" rtlCol="0" anchor="t"/>
          <a:lstStyle/>
          <a:p>
            <a:pPr algn="l" indent="0" marL="0">
              <a:lnSpc>
                <a:spcPts val="1900"/>
              </a:lnSpc>
              <a:buNone/>
            </a:pPr>
            <a:r>
              <a:rPr lang="en-US" sz="1350" b="1" dirty="0">
                <a:solidFill>
                  <a:srgbClr val="384653"/>
                </a:solidFill>
                <a:latin typeface="Roboto" pitchFamily="34" charset="0"/>
                <a:ea typeface="Roboto" pitchFamily="34" charset="-122"/>
                <a:cs typeface="Roboto" pitchFamily="34" charset="-120"/>
              </a:rPr>
              <a:t>Sin riego</a:t>
            </a:r>
            <a:endParaRPr lang="en-US" sz="1350" dirty="0"/>
          </a:p>
        </p:txBody>
      </p:sp>
      <p:sp>
        <p:nvSpPr>
          <p:cNvPr id="7" name="Text 5"/>
          <p:cNvSpPr/>
          <p:nvPr/>
        </p:nvSpPr>
        <p:spPr>
          <a:xfrm>
            <a:off x="10534650" y="2139196"/>
            <a:ext cx="3219926" cy="244197"/>
          </a:xfrm>
          <a:prstGeom prst="rect">
            <a:avLst/>
          </a:prstGeom>
          <a:noFill/>
          <a:ln/>
        </p:spPr>
        <p:txBody>
          <a:bodyPr wrap="none" lIns="0" tIns="0" rIns="0" bIns="0" rtlCol="0" anchor="t"/>
          <a:lstStyle/>
          <a:p>
            <a:pPr algn="l" indent="0" marL="0">
              <a:lnSpc>
                <a:spcPts val="1900"/>
              </a:lnSpc>
              <a:buNone/>
            </a:pPr>
            <a:r>
              <a:rPr lang="en-US" sz="1350" b="1" dirty="0">
                <a:solidFill>
                  <a:srgbClr val="384653"/>
                </a:solidFill>
                <a:latin typeface="Roboto" pitchFamily="34" charset="0"/>
                <a:ea typeface="Roboto" pitchFamily="34" charset="-122"/>
                <a:cs typeface="Roboto" pitchFamily="34" charset="-120"/>
              </a:rPr>
              <a:t>Con riego</a:t>
            </a:r>
            <a:endParaRPr lang="en-US" sz="1350" dirty="0"/>
          </a:p>
        </p:txBody>
      </p:sp>
      <p:sp>
        <p:nvSpPr>
          <p:cNvPr id="8" name="Text 6"/>
          <p:cNvSpPr/>
          <p:nvPr/>
        </p:nvSpPr>
        <p:spPr>
          <a:xfrm>
            <a:off x="876062" y="2588419"/>
            <a:ext cx="5732859"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Utilidad media simulada</a:t>
            </a:r>
            <a:endParaRPr lang="en-US" sz="1350" dirty="0"/>
          </a:p>
        </p:txBody>
      </p:sp>
      <p:sp>
        <p:nvSpPr>
          <p:cNvPr id="9" name="Text 7"/>
          <p:cNvSpPr/>
          <p:nvPr/>
        </p:nvSpPr>
        <p:spPr>
          <a:xfrm>
            <a:off x="6963728" y="2588419"/>
            <a:ext cx="3216116"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−$59,979 MXN</a:t>
            </a:r>
            <a:endParaRPr lang="en-US" sz="1350" dirty="0"/>
          </a:p>
        </p:txBody>
      </p:sp>
      <p:sp>
        <p:nvSpPr>
          <p:cNvPr id="10" name="Text 8"/>
          <p:cNvSpPr/>
          <p:nvPr/>
        </p:nvSpPr>
        <p:spPr>
          <a:xfrm>
            <a:off x="10534650" y="2588419"/>
            <a:ext cx="3219926"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−$2,087,268 MXN</a:t>
            </a:r>
            <a:endParaRPr lang="en-US" sz="1350" dirty="0"/>
          </a:p>
        </p:txBody>
      </p:sp>
      <p:sp>
        <p:nvSpPr>
          <p:cNvPr id="11" name="Text 9"/>
          <p:cNvSpPr/>
          <p:nvPr/>
        </p:nvSpPr>
        <p:spPr>
          <a:xfrm>
            <a:off x="876062" y="3037642"/>
            <a:ext cx="5732859"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Percentil 5% (peor escenario)</a:t>
            </a:r>
            <a:endParaRPr lang="en-US" sz="1350" dirty="0"/>
          </a:p>
        </p:txBody>
      </p:sp>
      <p:sp>
        <p:nvSpPr>
          <p:cNvPr id="12" name="Text 10"/>
          <p:cNvSpPr/>
          <p:nvPr/>
        </p:nvSpPr>
        <p:spPr>
          <a:xfrm>
            <a:off x="6963728" y="3037642"/>
            <a:ext cx="3216116"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−$6,103,296 MXN</a:t>
            </a:r>
            <a:endParaRPr lang="en-US" sz="1350" dirty="0"/>
          </a:p>
        </p:txBody>
      </p:sp>
      <p:sp>
        <p:nvSpPr>
          <p:cNvPr id="13" name="Text 11"/>
          <p:cNvSpPr/>
          <p:nvPr/>
        </p:nvSpPr>
        <p:spPr>
          <a:xfrm>
            <a:off x="10534650" y="3037642"/>
            <a:ext cx="3219926"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−$16,086,886 MXN</a:t>
            </a:r>
            <a:endParaRPr lang="en-US" sz="1350" dirty="0"/>
          </a:p>
        </p:txBody>
      </p:sp>
      <p:sp>
        <p:nvSpPr>
          <p:cNvPr id="14" name="Text 12"/>
          <p:cNvSpPr/>
          <p:nvPr/>
        </p:nvSpPr>
        <p:spPr>
          <a:xfrm>
            <a:off x="876062" y="3486864"/>
            <a:ext cx="5732859"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Percentil 95% (mejor escenario)</a:t>
            </a:r>
            <a:endParaRPr lang="en-US" sz="1350" dirty="0"/>
          </a:p>
        </p:txBody>
      </p:sp>
      <p:sp>
        <p:nvSpPr>
          <p:cNvPr id="15" name="Text 13"/>
          <p:cNvSpPr/>
          <p:nvPr/>
        </p:nvSpPr>
        <p:spPr>
          <a:xfrm>
            <a:off x="6963728" y="3486864"/>
            <a:ext cx="3216116"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$4,987,906 MXN</a:t>
            </a:r>
            <a:endParaRPr lang="en-US" sz="1350" dirty="0"/>
          </a:p>
        </p:txBody>
      </p:sp>
      <p:sp>
        <p:nvSpPr>
          <p:cNvPr id="16" name="Text 14"/>
          <p:cNvSpPr/>
          <p:nvPr/>
        </p:nvSpPr>
        <p:spPr>
          <a:xfrm>
            <a:off x="10534650" y="3486864"/>
            <a:ext cx="3219926" cy="244197"/>
          </a:xfrm>
          <a:prstGeom prst="rect">
            <a:avLst/>
          </a:prstGeom>
          <a:noFill/>
          <a:ln/>
        </p:spPr>
        <p:txBody>
          <a:bodyPr wrap="none" lIns="0" tIns="0" rIns="0" bIns="0" rtlCol="0" anchor="t"/>
          <a:lstStyle/>
          <a:p>
            <a:pPr algn="l" indent="0" marL="0">
              <a:lnSpc>
                <a:spcPts val="1900"/>
              </a:lnSpc>
              <a:buNone/>
            </a:pPr>
            <a:r>
              <a:rPr lang="en-US" sz="1350" dirty="0">
                <a:solidFill>
                  <a:srgbClr val="384653"/>
                </a:solidFill>
                <a:latin typeface="Roboto" pitchFamily="34" charset="0"/>
                <a:ea typeface="Roboto" pitchFamily="34" charset="-122"/>
                <a:cs typeface="Roboto" pitchFamily="34" charset="-120"/>
              </a:rPr>
              <a:t>$13,476,621 MXN</a:t>
            </a:r>
            <a:endParaRPr lang="en-US" sz="1350" dirty="0"/>
          </a:p>
        </p:txBody>
      </p:sp>
      <p:sp>
        <p:nvSpPr>
          <p:cNvPr id="17" name="Text 15"/>
          <p:cNvSpPr/>
          <p:nvPr/>
        </p:nvSpPr>
        <p:spPr>
          <a:xfrm>
            <a:off x="2889290" y="5136952"/>
            <a:ext cx="2135981" cy="434102"/>
          </a:xfrm>
          <a:prstGeom prst="rect">
            <a:avLst/>
          </a:prstGeom>
          <a:noFill/>
          <a:ln/>
        </p:spPr>
        <p:txBody>
          <a:bodyPr wrap="none" lIns="0" tIns="0" rIns="0" bIns="0" rtlCol="0" anchor="t"/>
          <a:lstStyle/>
          <a:p>
            <a:pPr algn="ctr" indent="0" marL="0">
              <a:lnSpc>
                <a:spcPts val="3400"/>
              </a:lnSpc>
              <a:buNone/>
            </a:pPr>
            <a:r>
              <a:rPr lang="en-US" sz="3400" dirty="0">
                <a:solidFill>
                  <a:srgbClr val="384653"/>
                </a:solidFill>
                <a:latin typeface="Host Grotesk Medium" pitchFamily="34" charset="0"/>
                <a:ea typeface="Host Grotesk Medium" pitchFamily="34" charset="-122"/>
                <a:cs typeface="Host Grotesk Medium" pitchFamily="34" charset="-120"/>
              </a:rPr>
              <a:t>35.3%</a:t>
            </a:r>
            <a:endParaRPr lang="en-US" sz="3400" dirty="0"/>
          </a:p>
        </p:txBody>
      </p:sp>
      <p:pic>
        <p:nvPicPr>
          <p:cNvPr id="18" name="Image 0" descr="preencoded.png">    </p:cNvPr>
          <p:cNvPicPr>
            <a:picLocks noChangeAspect="1"/>
          </p:cNvPicPr>
          <p:nvPr/>
        </p:nvPicPr>
        <p:blipFill>
          <a:blip r:embed="rId1"/>
          <a:stretch>
            <a:fillRect/>
          </a:stretch>
        </p:blipFill>
        <p:spPr>
          <a:xfrm>
            <a:off x="2654856" y="4051578"/>
            <a:ext cx="2604968" cy="2604968"/>
          </a:xfrm>
          <a:prstGeom prst="rect">
            <a:avLst/>
          </a:prstGeom>
        </p:spPr>
      </p:pic>
      <p:sp>
        <p:nvSpPr>
          <p:cNvPr id="19" name="Text 16"/>
          <p:cNvSpPr/>
          <p:nvPr/>
        </p:nvSpPr>
        <p:spPr>
          <a:xfrm>
            <a:off x="2486501" y="6851809"/>
            <a:ext cx="2941677" cy="271224"/>
          </a:xfrm>
          <a:prstGeom prst="rect">
            <a:avLst/>
          </a:prstGeom>
          <a:noFill/>
          <a:ln/>
        </p:spPr>
        <p:txBody>
          <a:bodyPr wrap="none" lIns="0" tIns="0" rIns="0" bIns="0" rtlCol="0" anchor="t"/>
          <a:lstStyle/>
          <a:p>
            <a:pPr algn="ctr" indent="0" marL="0">
              <a:lnSpc>
                <a:spcPts val="2100"/>
              </a:lnSpc>
              <a:buNone/>
            </a:pPr>
            <a:r>
              <a:rPr lang="en-US" sz="1700" dirty="0">
                <a:solidFill>
                  <a:srgbClr val="384653"/>
                </a:solidFill>
                <a:latin typeface="Host Grotesk Medium" pitchFamily="34" charset="0"/>
                <a:ea typeface="Host Grotesk Medium" pitchFamily="34" charset="-122"/>
                <a:cs typeface="Host Grotesk Medium" pitchFamily="34" charset="-120"/>
              </a:rPr>
              <a:t>Escenarios favorables al riego</a:t>
            </a:r>
            <a:endParaRPr lang="en-US" sz="1700" dirty="0"/>
          </a:p>
        </p:txBody>
      </p:sp>
      <p:sp>
        <p:nvSpPr>
          <p:cNvPr id="20" name="Text 17"/>
          <p:cNvSpPr/>
          <p:nvPr/>
        </p:nvSpPr>
        <p:spPr>
          <a:xfrm>
            <a:off x="694611" y="7214116"/>
            <a:ext cx="6525578" cy="488394"/>
          </a:xfrm>
          <a:prstGeom prst="rect">
            <a:avLst/>
          </a:prstGeom>
          <a:noFill/>
          <a:ln/>
        </p:spPr>
        <p:txBody>
          <a:bodyPr wrap="square" lIns="0" tIns="0" rIns="0" bIns="0" rtlCol="0" anchor="t"/>
          <a:lstStyle/>
          <a:p>
            <a:pPr algn="ctr" indent="0" marL="0">
              <a:lnSpc>
                <a:spcPts val="1900"/>
              </a:lnSpc>
              <a:buNone/>
            </a:pPr>
            <a:r>
              <a:rPr lang="en-US" sz="1350" dirty="0">
                <a:solidFill>
                  <a:srgbClr val="384653"/>
                </a:solidFill>
                <a:latin typeface="Roboto" pitchFamily="34" charset="0"/>
                <a:ea typeface="Roboto" pitchFamily="34" charset="-122"/>
                <a:cs typeface="Roboto" pitchFamily="34" charset="-120"/>
              </a:rPr>
              <a:t>Solo en 1 de cada 3 simulaciones el riego resultó más rentable que el temporal en el horizonte de 7 años.</a:t>
            </a:r>
            <a:endParaRPr lang="en-US" sz="1350" dirty="0"/>
          </a:p>
        </p:txBody>
      </p:sp>
      <p:sp>
        <p:nvSpPr>
          <p:cNvPr id="21" name="Text 18"/>
          <p:cNvSpPr/>
          <p:nvPr/>
        </p:nvSpPr>
        <p:spPr>
          <a:xfrm>
            <a:off x="9604891" y="5136952"/>
            <a:ext cx="2135981" cy="434102"/>
          </a:xfrm>
          <a:prstGeom prst="rect">
            <a:avLst/>
          </a:prstGeom>
          <a:noFill/>
          <a:ln/>
        </p:spPr>
        <p:txBody>
          <a:bodyPr wrap="none" lIns="0" tIns="0" rIns="0" bIns="0" rtlCol="0" anchor="t"/>
          <a:lstStyle/>
          <a:p>
            <a:pPr algn="ctr" indent="0" marL="0">
              <a:lnSpc>
                <a:spcPts val="3400"/>
              </a:lnSpc>
              <a:buNone/>
            </a:pPr>
            <a:r>
              <a:rPr lang="en-US" sz="3400" dirty="0">
                <a:solidFill>
                  <a:srgbClr val="384653"/>
                </a:solidFill>
                <a:latin typeface="Host Grotesk Medium" pitchFamily="34" charset="0"/>
                <a:ea typeface="Host Grotesk Medium" pitchFamily="34" charset="-122"/>
                <a:cs typeface="Host Grotesk Medium" pitchFamily="34" charset="-120"/>
              </a:rPr>
              <a:t>64.7%</a:t>
            </a:r>
            <a:endParaRPr lang="en-US" sz="3400" dirty="0"/>
          </a:p>
        </p:txBody>
      </p:sp>
      <p:pic>
        <p:nvPicPr>
          <p:cNvPr id="22" name="Image 1" descr="preencoded.png">    </p:cNvPr>
          <p:cNvPicPr>
            <a:picLocks noChangeAspect="1"/>
          </p:cNvPicPr>
          <p:nvPr/>
        </p:nvPicPr>
        <p:blipFill>
          <a:blip r:embed="rId2"/>
          <a:stretch>
            <a:fillRect/>
          </a:stretch>
        </p:blipFill>
        <p:spPr>
          <a:xfrm>
            <a:off x="9370457" y="4051578"/>
            <a:ext cx="2604968" cy="2604968"/>
          </a:xfrm>
          <a:prstGeom prst="rect">
            <a:avLst/>
          </a:prstGeom>
        </p:spPr>
      </p:pic>
      <p:sp>
        <p:nvSpPr>
          <p:cNvPr id="23" name="Text 19"/>
          <p:cNvSpPr/>
          <p:nvPr/>
        </p:nvSpPr>
        <p:spPr>
          <a:xfrm>
            <a:off x="9012436" y="6851809"/>
            <a:ext cx="3321010" cy="271224"/>
          </a:xfrm>
          <a:prstGeom prst="rect">
            <a:avLst/>
          </a:prstGeom>
          <a:noFill/>
          <a:ln/>
        </p:spPr>
        <p:txBody>
          <a:bodyPr wrap="none" lIns="0" tIns="0" rIns="0" bIns="0" rtlCol="0" anchor="t"/>
          <a:lstStyle/>
          <a:p>
            <a:pPr algn="ctr" indent="0" marL="0">
              <a:lnSpc>
                <a:spcPts val="2100"/>
              </a:lnSpc>
              <a:buNone/>
            </a:pPr>
            <a:r>
              <a:rPr lang="en-US" sz="1700" dirty="0">
                <a:solidFill>
                  <a:srgbClr val="384653"/>
                </a:solidFill>
                <a:latin typeface="Host Grotesk Medium" pitchFamily="34" charset="0"/>
                <a:ea typeface="Host Grotesk Medium" pitchFamily="34" charset="-122"/>
                <a:cs typeface="Host Grotesk Medium" pitchFamily="34" charset="-120"/>
              </a:rPr>
              <a:t>Escenarios favorables al temporal</a:t>
            </a:r>
            <a:endParaRPr lang="en-US" sz="1700" dirty="0"/>
          </a:p>
        </p:txBody>
      </p:sp>
      <p:sp>
        <p:nvSpPr>
          <p:cNvPr id="24" name="Text 20"/>
          <p:cNvSpPr/>
          <p:nvPr/>
        </p:nvSpPr>
        <p:spPr>
          <a:xfrm>
            <a:off x="7410093" y="7214116"/>
            <a:ext cx="6525697" cy="488394"/>
          </a:xfrm>
          <a:prstGeom prst="rect">
            <a:avLst/>
          </a:prstGeom>
          <a:noFill/>
          <a:ln/>
        </p:spPr>
        <p:txBody>
          <a:bodyPr wrap="square" lIns="0" tIns="0" rIns="0" bIns="0" rtlCol="0" anchor="t"/>
          <a:lstStyle/>
          <a:p>
            <a:pPr algn="ctr" indent="0" marL="0">
              <a:lnSpc>
                <a:spcPts val="1900"/>
              </a:lnSpc>
              <a:buNone/>
            </a:pPr>
            <a:r>
              <a:rPr lang="en-US" sz="1350" dirty="0">
                <a:solidFill>
                  <a:srgbClr val="384653"/>
                </a:solidFill>
                <a:latin typeface="Roboto" pitchFamily="34" charset="0"/>
                <a:ea typeface="Roboto" pitchFamily="34" charset="-122"/>
                <a:cs typeface="Roboto" pitchFamily="34" charset="-120"/>
              </a:rPr>
              <a:t>En casi 2 de cada 3 simulaciones, operar sin riego fue financieramente más conveniente.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861774"/>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Recomendación Final</a:t>
            </a:r>
            <a:endParaRPr lang="en-US" sz="3900" dirty="0"/>
          </a:p>
        </p:txBody>
      </p:sp>
      <p:sp>
        <p:nvSpPr>
          <p:cNvPr id="4" name="Shape 1"/>
          <p:cNvSpPr/>
          <p:nvPr/>
        </p:nvSpPr>
        <p:spPr>
          <a:xfrm>
            <a:off x="793790" y="1779508"/>
            <a:ext cx="2251710" cy="357307"/>
          </a:xfrm>
          <a:prstGeom prst="roundRect">
            <a:avLst>
              <a:gd name="adj" fmla="val 18664"/>
            </a:avLst>
          </a:prstGeom>
          <a:solidFill>
            <a:srgbClr val="D9EDF2"/>
          </a:solidFill>
          <a:ln/>
        </p:spPr>
      </p:sp>
      <p:sp>
        <p:nvSpPr>
          <p:cNvPr id="5" name="Text 2"/>
          <p:cNvSpPr/>
          <p:nvPr/>
        </p:nvSpPr>
        <p:spPr>
          <a:xfrm>
            <a:off x="912852" y="1839039"/>
            <a:ext cx="2013585" cy="238244"/>
          </a:xfrm>
          <a:prstGeom prst="rect">
            <a:avLst/>
          </a:prstGeom>
          <a:noFill/>
          <a:ln/>
        </p:spPr>
        <p:txBody>
          <a:bodyPr wrap="none" lIns="0" tIns="0" rIns="0" bIns="0" rtlCol="0" anchor="t"/>
          <a:lstStyle/>
          <a:p>
            <a:pPr algn="l" indent="0" marL="0">
              <a:lnSpc>
                <a:spcPts val="1850"/>
              </a:lnSpc>
              <a:buNone/>
            </a:pPr>
            <a:r>
              <a:rPr lang="en-US" sz="1250" dirty="0">
                <a:solidFill>
                  <a:srgbClr val="384653"/>
                </a:solidFill>
                <a:latin typeface="Roboto" pitchFamily="34" charset="0"/>
                <a:ea typeface="Roboto" pitchFamily="34" charset="-122"/>
                <a:cs typeface="Roboto" pitchFamily="34" charset="-120"/>
              </a:rPr>
              <a:t>CONCLUSIÓN DEL ANÁLISIS</a:t>
            </a:r>
            <a:endParaRPr lang="en-US" sz="1250" dirty="0"/>
          </a:p>
        </p:txBody>
      </p:sp>
      <p:sp>
        <p:nvSpPr>
          <p:cNvPr id="6" name="Shape 3"/>
          <p:cNvSpPr/>
          <p:nvPr/>
        </p:nvSpPr>
        <p:spPr>
          <a:xfrm>
            <a:off x="793790" y="2360057"/>
            <a:ext cx="7556421" cy="1418630"/>
          </a:xfrm>
          <a:prstGeom prst="roundRect">
            <a:avLst>
              <a:gd name="adj" fmla="val 5876"/>
            </a:avLst>
          </a:prstGeom>
          <a:solidFill>
            <a:srgbClr val="FFB3B4"/>
          </a:solidFill>
          <a:ln/>
        </p:spPr>
      </p:sp>
      <p:pic>
        <p:nvPicPr>
          <p:cNvPr id="7" name="Image 1" descr="preencoded.png">    </p:cNvPr>
          <p:cNvPicPr>
            <a:picLocks noChangeAspect="1"/>
          </p:cNvPicPr>
          <p:nvPr/>
        </p:nvPicPr>
        <p:blipFill>
          <a:blip r:embed="rId2"/>
          <a:stretch>
            <a:fillRect/>
          </a:stretch>
        </p:blipFill>
        <p:spPr>
          <a:xfrm>
            <a:off x="992148" y="2647712"/>
            <a:ext cx="248007" cy="198358"/>
          </a:xfrm>
          <a:prstGeom prst="rect">
            <a:avLst/>
          </a:prstGeom>
        </p:spPr>
      </p:pic>
      <p:sp>
        <p:nvSpPr>
          <p:cNvPr id="8" name="Text 4"/>
          <p:cNvSpPr/>
          <p:nvPr/>
        </p:nvSpPr>
        <p:spPr>
          <a:xfrm>
            <a:off x="1438513" y="2607945"/>
            <a:ext cx="6713339" cy="892969"/>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Recomendación: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No invertir en el horizonte de 7 años.</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Ambos criterios de decisión coinciden: mayor utilidad esperada (−$34,316 vs −$1,974,042 MXN) y mayoría de escenarios favorables (64.7%) apuntan al temporal.</a:t>
            </a:r>
            <a:endParaRPr lang="en-US" sz="1550" dirty="0"/>
          </a:p>
        </p:txBody>
      </p:sp>
      <p:sp>
        <p:nvSpPr>
          <p:cNvPr id="9" name="Text 5"/>
          <p:cNvSpPr/>
          <p:nvPr/>
        </p:nvSpPr>
        <p:spPr>
          <a:xfrm>
            <a:off x="793790" y="4200287"/>
            <a:ext cx="3377446"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¿Cuándo sí conviene el riego?</a:t>
            </a:r>
            <a:endParaRPr lang="en-US" sz="1950" dirty="0"/>
          </a:p>
        </p:txBody>
      </p:sp>
      <p:sp>
        <p:nvSpPr>
          <p:cNvPr id="10" name="Text 6"/>
          <p:cNvSpPr/>
          <p:nvPr/>
        </p:nvSpPr>
        <p:spPr>
          <a:xfrm>
            <a:off x="793790" y="4708803"/>
            <a:ext cx="3536156" cy="2589490"/>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Financiamiento subsidiado con crédito rural a tasa baja</a:t>
            </a:r>
            <a:endParaRPr lang="en-US" sz="1550" dirty="0"/>
          </a:p>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Horizonte extendido más allá de los 7 años de vida útil</a:t>
            </a:r>
            <a:endParaRPr lang="en-US" sz="1550" dirty="0"/>
          </a:p>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Alta aversión al riesgo ante sequías extremas</a:t>
            </a:r>
            <a:endParaRPr lang="en-US" sz="1550" dirty="0"/>
          </a:p>
          <a:p>
            <a:pPr algn="l" marL="342900" indent="-342900">
              <a:lnSpc>
                <a:spcPts val="2300"/>
              </a:lnSpc>
              <a:buSzPct val="100000"/>
              <a:buChar char="•"/>
            </a:pPr>
            <a:r>
              <a:rPr lang="en-US" sz="1550" dirty="0">
                <a:solidFill>
                  <a:srgbClr val="384653"/>
                </a:solidFill>
                <a:latin typeface="Roboto" pitchFamily="34" charset="0"/>
                <a:ea typeface="Roboto" pitchFamily="34" charset="-122"/>
                <a:cs typeface="Roboto" pitchFamily="34" charset="-120"/>
              </a:rPr>
              <a:t>Mejora estructural sostenida en precios de la caña</a:t>
            </a:r>
            <a:endParaRPr lang="en-US" sz="1550" dirty="0"/>
          </a:p>
        </p:txBody>
      </p:sp>
      <p:sp>
        <p:nvSpPr>
          <p:cNvPr id="11" name="Shape 7"/>
          <p:cNvSpPr/>
          <p:nvPr/>
        </p:nvSpPr>
        <p:spPr>
          <a:xfrm>
            <a:off x="4678799" y="4001929"/>
            <a:ext cx="3821906" cy="3365778"/>
          </a:xfrm>
          <a:prstGeom prst="roundRect">
            <a:avLst>
              <a:gd name="adj" fmla="val 4246"/>
            </a:avLst>
          </a:prstGeom>
          <a:solidFill>
            <a:srgbClr val="95CCDA"/>
          </a:solidFill>
          <a:ln/>
        </p:spPr>
      </p:sp>
      <p:sp>
        <p:nvSpPr>
          <p:cNvPr id="12" name="Text 8"/>
          <p:cNvSpPr/>
          <p:nvPr/>
        </p:nvSpPr>
        <p:spPr>
          <a:xfrm>
            <a:off x="4877157" y="4200287"/>
            <a:ext cx="2643545" cy="310158"/>
          </a:xfrm>
          <a:prstGeom prst="rect">
            <a:avLst/>
          </a:prstGeom>
          <a:noFill/>
          <a:ln/>
        </p:spPr>
        <p:txBody>
          <a:bodyPr wrap="none" lIns="0" tIns="0" rIns="0" bIns="0" rtlCol="0" anchor="t"/>
          <a:lstStyle/>
          <a:p>
            <a:pPr algn="l" indent="0" marL="0">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Perspectiva estratégica</a:t>
            </a:r>
            <a:endParaRPr lang="en-US" sz="1950" dirty="0"/>
          </a:p>
        </p:txBody>
      </p:sp>
      <p:sp>
        <p:nvSpPr>
          <p:cNvPr id="13" name="Text 9"/>
          <p:cNvSpPr/>
          <p:nvPr/>
        </p:nvSpPr>
        <p:spPr>
          <a:xfrm>
            <a:off x="4877157" y="4708803"/>
            <a:ext cx="3425190" cy="2381250"/>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El riego es una </a:t>
            </a:r>
            <a:pPr algn="l" indent="0" marL="0">
              <a:lnSpc>
                <a:spcPts val="2300"/>
              </a:lnSpc>
              <a:buNone/>
            </a:pPr>
            <a:r>
              <a:rPr lang="en-US" sz="1550" b="1" dirty="0">
                <a:solidFill>
                  <a:srgbClr val="000000"/>
                </a:solidFill>
                <a:latin typeface="Roboto" pitchFamily="34" charset="0"/>
                <a:ea typeface="Roboto" pitchFamily="34" charset="-122"/>
                <a:cs typeface="Roboto" pitchFamily="34" charset="-120"/>
              </a:rPr>
              <a:t>decisión de largo plazo</a:t>
            </a:r>
            <a:pPr algn="l" indent="0" marL="0">
              <a:lnSpc>
                <a:spcPts val="2300"/>
              </a:lnSpc>
              <a:buNone/>
            </a:pPr>
            <a:r>
              <a:rPr lang="en-US" sz="1550" dirty="0">
                <a:solidFill>
                  <a:srgbClr val="000000"/>
                </a:solidFill>
                <a:latin typeface="Roboto" pitchFamily="34" charset="0"/>
                <a:ea typeface="Roboto" pitchFamily="34" charset="-122"/>
                <a:cs typeface="Roboto" pitchFamily="34" charset="-120"/>
              </a:rPr>
              <a:t>. No es rentable en 7 años bajo condiciones actuales, pero tiene potencial real si las condiciones de financiamiento, precio o clima cambian favorablemente. El modelo permite actualizar la decisión en cuanto cambien los supuestos.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2026-04-22T00:19:47Z</dcterms:created>
  <dcterms:modified xsi:type="dcterms:W3CDTF">2026-04-22T00:19:47Z</dcterms:modified>
</cp:coreProperties>
</file>