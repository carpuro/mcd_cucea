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embeddedFontLst>
    <p:embeddedFont>
      <p:font typeface="Inter"/>
      <p:regular r:id="rId25"/>
    </p:embeddedFont>
    <p:embeddedFont>
      <p:font typeface="Inter"/>
      <p:regular r:id="rId26"/>
    </p:embeddedFont>
    <p:embeddedFont>
      <p:font typeface="Inter"/>
      <p:regular r:id="rId27"/>
    </p:embeddedFont>
    <p:embeddedFont>
      <p:font typeface="Inter"/>
      <p:regular r:id="rId28"/>
    </p:embeddedFont>
    <p:embeddedFont>
      <p:font typeface="Inter"/>
      <p:regular r:id="rId29"/>
    </p:embeddedFont>
    <p:embeddedFont>
      <p:font typeface="Inter"/>
      <p:regular r:id="rId30"/>
    </p:embeddedFont>
    <p:embeddedFont>
      <p:font typeface="Inter"/>
      <p:regular r:id="rId31"/>
    </p:embeddedFont>
    <p:embeddedFont>
      <p:font typeface="Inter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8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8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795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Riesgo de Automatización Laboral en Jalisco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76525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SQL · Orange · Machine Learning — aplicado a datos reales de ENOE y O*NET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289622"/>
            <a:ext cx="3029992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4936" y="3336875"/>
            <a:ext cx="285035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MCD CUCEA · CARLOS PULIDO ROSAS · MAYO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9640" y="383307"/>
            <a:ext cx="4753719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Problema de Investigación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909640" y="1441103"/>
            <a:ext cx="4753719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ocupaciones en Jalisco están en riesgo de ser automatizadas por IA, y qué variables lo determinan?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909640" y="2156371"/>
            <a:ext cx="218636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Fuentes de datos oficiales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909640" y="2503884"/>
            <a:ext cx="2209354" cy="2209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ENOE Q3 2024 (entidad 14)</a:t>
            </a:r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perfil sociolaboral de trabajadores en Jalisco: educación, ingreso, sector, formalidad</a:t>
            </a:r>
            <a:endParaRPr lang="en-US" sz="10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O*NET 28.3</a:t>
            </a:r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descriptores de tareas por ocupación (EE.UU.), mapeados a clasificación mexicana vía SINCO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58769" y="2156371"/>
            <a:ext cx="177552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 de referencia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58769" y="2503884"/>
            <a:ext cx="2209354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Frey &amp; Osborne (2017)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estiman la probabilidad de automatización de 702 ocupaciones a partir de características de tareas rutinarias y no rutinarias. Es el baseline teórico que este proyecto operacionaliza con datos de Jalisco.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27720"/>
            <a:ext cx="3143324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Pipeline del Proyecto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846832"/>
            <a:ext cx="7642101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Cinco etapas integradas — cada una alimenta a la siguiente, desde el modelado relacional hasta la presentación de resultados.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1101923"/>
            <a:ext cx="7642101" cy="33009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74532" y="3337263"/>
            <a:ext cx="1134705" cy="4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Vistas y JOINs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574532" y="3809377"/>
            <a:ext cx="1134705" cy="29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Unir tablas para preguntas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8163" y="3543928"/>
            <a:ext cx="1134706" cy="206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ML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8163" y="3809377"/>
            <a:ext cx="1134706" cy="29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Entrenar y validar modelos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1332" y="1399779"/>
            <a:ext cx="1134705" cy="206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Esquema SQL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1332" y="1665228"/>
            <a:ext cx="1134705" cy="29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Modelado relacional inicial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98077" y="1399779"/>
            <a:ext cx="1134706" cy="4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Informe y Present.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98077" y="1871893"/>
            <a:ext cx="1134706" cy="29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Comunicar hallazgos clave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49430" y="1399779"/>
            <a:ext cx="1134705" cy="41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Minería en Orange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049430" y="1871893"/>
            <a:ext cx="1134705" cy="29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Explorar hipótesis visualmente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50912" y="4500190"/>
            <a:ext cx="7642101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JOIN responde una pregunta de tesis. Cada flujo de Orange explora una hipótesis. Cada algoritmo cuantifica lo que Orange mostró visualmente.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4282232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 Datos: Esquema Relacional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1526604"/>
            <a:ext cx="245454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trabajadores </a:t>
            </a:r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(fuente: ENOE Jalisco)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74489" y="1793081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id_trabajador</a:t>
            </a:r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PK · </a:t>
            </a:r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sinco_code</a:t>
            </a:r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FK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escoacum (educación) · ingocup (ingreso mensual)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scian_sector · formalidad · edad · tamanio_empresa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74489" y="2433117"/>
            <a:ext cx="275867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ocupaciones_onet </a:t>
            </a:r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(fuente: O*NET 28.3)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4489" y="2699593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sinco_code</a:t>
            </a:r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PK · frey_osborne_score · rti (rutina)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cognitive_demand · social_interaction · creativity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manual_dexterity · automation_risk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74489" y="3350865"/>
            <a:ext cx="3759622" cy="742727"/>
          </a:xfrm>
          <a:prstGeom prst="roundRect">
            <a:avLst>
              <a:gd name="adj" fmla="val 6388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50" y="3512195"/>
            <a:ext cx="141163" cy="1129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41574" y="3469035"/>
            <a:ext cx="3279577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masiva vía Python + SQLAlchemy desde CSV procesados de ENOE y O*NET. </a:t>
            </a:r>
            <a:pPr algn="l" indent="0" marL="0">
              <a:lnSpc>
                <a:spcPts val="12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200+ ocupaciones · 6 sectores · 6 niveles educativos.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503" y="935906"/>
            <a:ext cx="3759622" cy="3759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1511"/>
            <a:ext cx="71869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 SQL: JOINs que Responden la Tesis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68016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consultas documentadas, cada una con propósito investigativo específico sobre el mercado laboral jalisciense.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54299"/>
            <a:ext cx="2622724" cy="2947615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5169" y="1673349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1701180" y="175066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6927" y="2240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INNER JOIN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546896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porcentaje de la muestra ENOE tiene datos de tareas O*NET disponibles?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6927" y="3312393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~82% de ocupaciones mapeadas · 18% sin crosswalk completo — brecha documentada en sector informal y agropecuario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1654299"/>
            <a:ext cx="2622724" cy="2947615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79651" y="1673349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12" name="Text 10"/>
          <p:cNvSpPr/>
          <p:nvPr/>
        </p:nvSpPr>
        <p:spPr>
          <a:xfrm>
            <a:off x="4465662" y="175066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421410" y="2240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LEFT JOIN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1410" y="2546896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ocupaciones quedan fuera del análisis por falta de crosswalk SOC→SINCO?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1410" y="3312393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Sub-representación de trabajadores informales y agropecuarios en O*NET — precisamente los más vulnerables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083" y="1654299"/>
            <a:ext cx="2622724" cy="2947615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44133" y="1673349"/>
            <a:ext cx="2584624" cy="425276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/>
        </p:spPr>
      </p:sp>
      <p:sp>
        <p:nvSpPr>
          <p:cNvPr id="18" name="Text 16"/>
          <p:cNvSpPr/>
          <p:nvPr/>
        </p:nvSpPr>
        <p:spPr>
          <a:xfrm>
            <a:off x="7230145" y="1750665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185892" y="2240384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JOIN + GROUP BY + HAVING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85892" y="2768352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sectores concentran el mayor riesgo de automatización en Jalisco?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5892" y="3533849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Agricultura y manufactura encabezan el riesgo; servicios profesionales registran los niveles más bajos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5235"/>
            <a:ext cx="3809554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Etapa SQL: La Vista Analítica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827336" y="892522"/>
            <a:ext cx="3999905" cy="3129558"/>
          </a:xfrm>
          <a:prstGeom prst="roundRect">
            <a:avLst>
              <a:gd name="adj" fmla="val 145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821978" y="892522"/>
            <a:ext cx="4010620" cy="3129558"/>
          </a:xfrm>
          <a:prstGeom prst="roundRect">
            <a:avLst>
              <a:gd name="adj" fmla="val 52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57635" y="1001018"/>
            <a:ext cx="3739307" cy="2912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vista_riesgo_jalisco AS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t.id_trabajador,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t.escoacum        AS nivel_educativo,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t.ingocup         AS ingreso_mensual,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t.scian_sector    AS sector,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t.formalidad,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o.frey_osborne_score,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o.cognitive_demand,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o.social_interaction,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o.rti,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o.frey_osborne_score &gt;= 0.7 THEN 'Alto'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o.frey_osborne_score &gt;= 0.4 THEN 'Medio'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'Bajo'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riesgo_categoria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trabajadores t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ocupaciones_onet o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ON t.sinco_code = o.sinco_code;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96768" y="882104"/>
            <a:ext cx="201691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esta vista es central?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96768" y="1134666"/>
            <a:ext cx="322451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vista es la </a:t>
            </a:r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única fuente de datos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las Etapas 3 y 4. Consolida el perfil completo del trabajador — variables socioeconómicas y descriptores de tareas — en una sola consulta lista para análisis.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7336" y="4209008"/>
            <a:ext cx="3703067" cy="599182"/>
          </a:xfrm>
          <a:prstGeom prst="roundRect">
            <a:avLst>
              <a:gd name="adj" fmla="val 76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0594" y="432226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Orange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0594" y="4541639"/>
            <a:ext cx="3476551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la vista directamente vía widget SQL Table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13449" y="4209008"/>
            <a:ext cx="3703141" cy="599182"/>
          </a:xfrm>
          <a:prstGeom prst="roundRect">
            <a:avLst>
              <a:gd name="adj" fmla="val 76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6707" y="432226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26707" y="4541639"/>
            <a:ext cx="3476625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Carga el DataFrame con SQLAlchemy desde la misma VIEW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8654" y="351904"/>
            <a:ext cx="487769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Orange Flujo 1: Análisis Exploratorio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18654" y="1250826"/>
            <a:ext cx="487769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caracterizar estadísticamente los datos y detectar patrones iniciales en la distribución del riesgo.</a:t>
            </a:r>
            <a:endParaRPr lang="en-US" sz="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654" y="1717030"/>
            <a:ext cx="239167" cy="2391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3952" y="1758107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Distribuciones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83952" y="2005459"/>
            <a:ext cx="451239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Histogramas de frey_osborne_score por sector — agricultura concentra scores &gt;0.7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654" y="2559993"/>
            <a:ext cx="239167" cy="2391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3952" y="2601069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Box Plot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783952" y="2848421"/>
            <a:ext cx="451239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por nivel educativo — clara separación entre sin escolaridad y posgrado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654" y="3226594"/>
            <a:ext cx="239167" cy="2391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83952" y="326767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Scatter Plot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783952" y="3515023"/>
            <a:ext cx="4512394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 mensual vs. riesgo — relación inversa visible, mayor dispersión en ingresos bajos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418654" y="3981227"/>
            <a:ext cx="4877693" cy="810369"/>
          </a:xfrm>
          <a:prstGeom prst="roundRect">
            <a:avLst>
              <a:gd name="adj" fmla="val 6200"/>
            </a:avLst>
          </a:prstGeom>
          <a:solidFill>
            <a:srgbClr val="C7C9EA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237" y="4154537"/>
            <a:ext cx="149498" cy="1195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07318" y="4111972"/>
            <a:ext cx="436944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 clave: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distribución de riesgo es bimodal — riesgo alto (sector primario, baja escolaridad) vs. riesgo bajo (servicios profesionales). No existe una "zona media" uniforme.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8731"/>
            <a:ext cx="79430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Orange Flujo 2: Correlaciones y Agrupaciones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60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Widgets utilizados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39292"/>
            <a:ext cx="3478039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Correlations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mapa de calor ordenado por fuerza de correlación con automation_risk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 Map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visualización matricial por sector y nivel educativo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(k=3) → segmentación exploratoria previa al análisis Python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Mosaic Display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formalidad × categoría de riesgo: informales concentran riesgo alto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24796" y="1476077"/>
            <a:ext cx="41505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Correlaciones confirmadas con 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automation_risk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24796" y="1857003"/>
            <a:ext cx="4327773" cy="2448223"/>
          </a:xfrm>
          <a:prstGeom prst="roundRect">
            <a:avLst>
              <a:gd name="adj" fmla="val 24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29559" y="1861765"/>
            <a:ext cx="431824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471392" y="1951583"/>
            <a:ext cx="2520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80597" y="1951583"/>
            <a:ext cx="1225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9559" y="2268215"/>
            <a:ext cx="431824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471392" y="2358033"/>
            <a:ext cx="2520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cognitive_demand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80597" y="2358033"/>
            <a:ext cx="1225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−0.83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9559" y="2674665"/>
            <a:ext cx="431824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71392" y="2764482"/>
            <a:ext cx="2520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rti (rutina)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80597" y="2764482"/>
            <a:ext cx="1225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+0.71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9559" y="3081114"/>
            <a:ext cx="431824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471392" y="3170932"/>
            <a:ext cx="2520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social_interaction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80597" y="3170932"/>
            <a:ext cx="1225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−0.67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29559" y="3487564"/>
            <a:ext cx="431824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471392" y="3577382"/>
            <a:ext cx="2520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nivel_educativo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80597" y="3577382"/>
            <a:ext cx="1225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−0.66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29559" y="3894013"/>
            <a:ext cx="431824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71392" y="3983831"/>
            <a:ext cx="2520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ingreso_mensual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80597" y="3983831"/>
            <a:ext cx="122545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−0.62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471"/>
            <a:ext cx="70086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Orange Flujo 3: Modelo Predictivo Visual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7976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objetivo: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riesgo_categoria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(Alto / Medio / Bajo) — clasificación supervisada directamente en Orange.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83601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Pipeline en Orange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199233"/>
            <a:ext cx="3902943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Rows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filtrar registros con datos completos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Sampler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partición 70% entrenamiento / 30% prueba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+ Logistic Regression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entrenamiento en paralelo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errores principales entre categorías "Medio" y "Alto"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 Analysis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AUC = 0.91 para clase "Alto riesgo"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836018"/>
            <a:ext cx="22052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Comparación de modelos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2216944"/>
            <a:ext cx="3902943" cy="2185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93353"/>
            <a:ext cx="566514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ML: Algoritmo Supervisado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57796"/>
            <a:ext cx="8213675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Regressor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variable objetivo: 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frey_osborne_score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(continua, 0–1). La naturaleza continua de la variable y las relaciones no lineales entre predictores justifican el uso de Random Forest sobre regresión lineal.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5162" y="166136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Preprocesamiento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65162" y="2055912"/>
            <a:ext cx="8213675" cy="959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Imputación de nulos con mediana por sector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LabelEncoder para sector y formalidad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StandardScaler no requerido (RF basado en árboles)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 70/30 con 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random_state=42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5162" y="3202260"/>
            <a:ext cx="183884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Resultados del modelo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5162" y="3663255"/>
            <a:ext cx="26340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0.75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51533" y="42616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5162" y="4544095"/>
            <a:ext cx="26340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Varianza explicada por el modelo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54946" y="3663255"/>
            <a:ext cx="26340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0.113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3741316" y="42616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RMSE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54946" y="4544095"/>
            <a:ext cx="26340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cuadrático medio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44729" y="3663255"/>
            <a:ext cx="2634035" cy="438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6531099" y="42616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cognitive_demand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44729" y="4544095"/>
            <a:ext cx="26340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más importante del modelo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0955"/>
            <a:ext cx="66146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ML: Algoritmo No Supervisado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2746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(k=3)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clustering de ocupaciones por perfil de riesgo. PCA a 2 componentes para visualización (68% de varianza explicada). El Diagrama de Codo confirmó k=3 como óptimo.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40557"/>
            <a:ext cx="8151763" cy="1813322"/>
          </a:xfrm>
          <a:prstGeom prst="roundRect">
            <a:avLst>
              <a:gd name="adj" fmla="val 328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845320"/>
            <a:ext cx="2714030" cy="1803797"/>
          </a:xfrm>
          <a:prstGeom prst="roundRect">
            <a:avLst>
              <a:gd name="adj" fmla="val 3301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642640" y="1987079"/>
            <a:ext cx="23001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🔴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Cluster 0 — Riesgo Alto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2293590"/>
            <a:ext cx="24305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RTI alto · educación baja · ingreso bajo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2640" y="2832274"/>
            <a:ext cx="243051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Jornaleros, operadores de maquinaria, cajeros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4911" y="1845320"/>
            <a:ext cx="2714104" cy="180379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0" name="Shape 8"/>
          <p:cNvSpPr/>
          <p:nvPr/>
        </p:nvSpPr>
        <p:spPr>
          <a:xfrm>
            <a:off x="3214911" y="1845320"/>
            <a:ext cx="19050" cy="180379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1" name="Text 9"/>
          <p:cNvSpPr/>
          <p:nvPr/>
        </p:nvSpPr>
        <p:spPr>
          <a:xfrm>
            <a:off x="3356670" y="1987079"/>
            <a:ext cx="243058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🟡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Cluster 1 — Riesgo Medio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56670" y="2515046"/>
            <a:ext cx="24305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RTI medio · educación media · perfil administrativo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6670" y="3053730"/>
            <a:ext cx="24305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Administrativos, técnicos, vendedores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9015" y="1845320"/>
            <a:ext cx="2714104" cy="1803797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9015" y="1845320"/>
            <a:ext cx="19050" cy="1803797"/>
          </a:xfrm>
          <a:prstGeom prst="roundRect">
            <a:avLst>
              <a:gd name="adj" fmla="val 312558"/>
            </a:avLst>
          </a:prstGeom>
          <a:solidFill>
            <a:srgbClr val="C0C1D7"/>
          </a:solidFill>
          <a:ln/>
        </p:spPr>
      </p:sp>
      <p:sp>
        <p:nvSpPr>
          <p:cNvPr id="16" name="Text 14"/>
          <p:cNvSpPr/>
          <p:nvPr/>
        </p:nvSpPr>
        <p:spPr>
          <a:xfrm>
            <a:off x="6070774" y="1987079"/>
            <a:ext cx="23142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🟢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Cluster 2 — Riesgo Bajo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70774" y="2293590"/>
            <a:ext cx="24305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Demanda cognitiva alta · educación alta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70774" y="2832274"/>
            <a:ext cx="24305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Profesionistas, directivos, docentes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6119" y="3813349"/>
            <a:ext cx="8151763" cy="829196"/>
          </a:xfrm>
          <a:prstGeom prst="roundRect">
            <a:avLst>
              <a:gd name="adj" fmla="val 7181"/>
            </a:avLst>
          </a:prstGeom>
          <a:solidFill>
            <a:srgbClr val="FCF2B5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028405"/>
            <a:ext cx="177180" cy="14175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6816" y="3990529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 crítico: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cluster 1 es el más numeroso en Jalisco y el más expuesto a LLMs — los modelos de lenguaje apuntan exactamente al perfil administrativo que Frey-Osborne clasificaba como "seguro".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394990"/>
            <a:ext cx="3642717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Resultados Integrados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3894162" y="997148"/>
            <a:ext cx="4784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etapa del pipeline responde una dimensión distinta de la pregunta de tesis sobre automatización en Jalisco.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3945" y="1553319"/>
            <a:ext cx="199355" cy="19935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26062" y="1549226"/>
            <a:ext cx="284656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respondió: cobertura y sesgos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326062" y="1831628"/>
            <a:ext cx="435277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18% sin crosswalk O*NET son precisamente los más vulnerables (sector informal, agropecuario) — sesgo de cobertura que el modelo debe documentar explícitamente.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3945" y="2702793"/>
            <a:ext cx="199355" cy="1993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26062" y="2698700"/>
            <a:ext cx="393442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Orange respondió: estructura visual de los datos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326062" y="2981102"/>
            <a:ext cx="435277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Educación y demanda cognitiva son los ejes que separan los grupos. La informalidad amplifica el riesgo. Accuracy de 0.84 valida la robustez de la clasificación.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43945" y="3852267"/>
            <a:ext cx="199355" cy="19935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26062" y="3848174"/>
            <a:ext cx="333337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respondió: cuantificación precisa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4326062" y="4130576"/>
            <a:ext cx="435277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R²=0.75 en regresión continua. K-Means revela que el grupo más vulnerable en Jalisco es el cluster 1 — trabajadores con tareas administrativas repetitivas clasificadas previamente como "seguras".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9565"/>
            <a:ext cx="40987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¿En Qué Fase Estamos?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225153"/>
            <a:ext cx="3937174" cy="3348782"/>
          </a:xfrm>
          <a:prstGeom prst="roundRect">
            <a:avLst>
              <a:gd name="adj" fmla="val 3048"/>
            </a:avLst>
          </a:prstGeom>
          <a:solidFill>
            <a:srgbClr val="4950BC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1366912"/>
            <a:ext cx="36536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1 — Baseline Frey-Osborne 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COMPLETA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951583"/>
            <a:ext cx="365365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SQL: esquema + carga masiva + VIEW ✓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Orange: 3 flujos exploratorios ✓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Python: Random Forest R² = 0.75 ✓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Python: K-Means 3 clusters 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9739" y="1366912"/>
            <a:ext cx="40728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 2 — LLM Exposure + Incentivo Económico 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⏳</a:t>
            </a:r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EN CURSO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9739" y="1951583"/>
            <a:ext cx="4072830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3: exposición específica a LLMs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Pendiente crosswalk SOC→SINCO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4: IRA — incentivo económico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Pendiente Censos Económicos INEGI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estadística completa 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⏳</a:t>
            </a:r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Después de Bloques 3 y 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9739" y="3539133"/>
            <a:ext cx="40728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pipeline SQL + Orange + Python es la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infraestructura sobre la que se construirá la Fase 2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Las mismas tablas, las mismas herramientas — con dos bloques nuevos de variables.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0496"/>
            <a:ext cx="5614095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que se Implementará: Lado LLM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5162" y="1064940"/>
            <a:ext cx="821367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3 — Exposición específica a modelos de lenguaje.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Frey-Osborne asumía que las tareas cognitivas no rutinarias tenían bajo riesgo. Los LLMs invierten ese supuesto: GPT-4, Claude y Copilot hacen exactamente esas tareas.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5162" y="1741587"/>
            <a:ext cx="3128963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Variables de exposición a implementar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5162" y="2089398"/>
            <a:ext cx="3944764" cy="2513409"/>
          </a:xfrm>
          <a:prstGeom prst="roundRect">
            <a:avLst>
              <a:gd name="adj" fmla="val 222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2903" y="2173635"/>
            <a:ext cx="13058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79365" y="2173635"/>
            <a:ext cx="209289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 y método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2903" y="2543324"/>
            <a:ext cx="13058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gpt_exposure_score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79365" y="2543324"/>
            <a:ext cx="209289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Eloundou et al. (2023) · Scores SOC mapeados a SINCO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2903" y="3118991"/>
            <a:ext cx="13058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ltii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79365" y="3118991"/>
            <a:ext cx="209289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O*NET 28.3 · Índice compuesto: Information Input + Cognitive Abilities − Manual Dexterity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2903" y="3900636"/>
            <a:ext cx="13058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aioe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79365" y="3900636"/>
            <a:ext cx="2092896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Felten et al. (2023) · AI Occupational Exposure Index — variable de control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38836" y="1741587"/>
            <a:ext cx="268032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Modelos estadísticos pendientes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38836" y="2073846"/>
            <a:ext cx="394476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CFA: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validar que gpt_score + ltii + aioe miden un constructo latente único de "exposición LLM"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 vs. Spearman: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detectar si la relación es lineal o monotónica antes de elegir el modelo final</a:t>
            </a:r>
            <a:endParaRPr lang="en-US" sz="1000" dirty="0"/>
          </a:p>
          <a:p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SHAP values:</a:t>
            </a:r>
            <a:pPr algn="l" marL="342900" indent="-342900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comparar importancia de variables Fase 1 vs. Fase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8836" y="3537049"/>
            <a:ext cx="3944764" cy="954212"/>
          </a:xfrm>
          <a:prstGeom prst="roundRect">
            <a:avLst>
              <a:gd name="adj" fmla="val 5850"/>
            </a:avLst>
          </a:prstGeom>
          <a:solidFill>
            <a:srgbClr val="B6D6FC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1740" y="3734470"/>
            <a:ext cx="166092" cy="1329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70736" y="3694807"/>
            <a:ext cx="337996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 H1: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 se confirma, el cluster 1 de K-Means (administrativos de "riesgo medio") sube de categoría al agregar exposición LLM.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44984"/>
            <a:ext cx="5946949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que se Implementará: Lado Económico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643" y="906289"/>
            <a:ext cx="8100640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4 — ¿Cuándo le conviene al mercado automatizar?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viabilidad técnica no implica adopción. Acemoglu &amp; Restrepo (2018): la sustitución ocurre cuando el costo de automatizar es inferior al costo salarial — no antes.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1643" y="1456134"/>
            <a:ext cx="1730127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 a construir: IRA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1643" y="1736750"/>
            <a:ext cx="3487787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 de Rentabilidad de la Automatización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1643" y="2031429"/>
            <a:ext cx="3487787" cy="381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2031429"/>
            <a:ext cx="3487787" cy="3819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643" y="2536403"/>
            <a:ext cx="3487787" cy="926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Numerador:</a:t>
            </a:r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INGOCUP × 12 (ENOE Q3 2024)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Denominador:</a:t>
            </a:r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activo fijo por trabajador por sector SCIAN, amortizado a 5 años (Censos Económicos INEGI 2019)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IRA alto</a:t>
            </a:r>
            <a:pPr algn="l" marL="342900" indent="-342900">
              <a:lnSpc>
                <a:spcPts val="135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salario supera el costo de automatizar → incentivo real de mercado para sustituir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00538" y="1456134"/>
            <a:ext cx="2366888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Modelos estadísticos pendientes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0538" y="1748879"/>
            <a:ext cx="2114624" cy="1058912"/>
          </a:xfrm>
          <a:prstGeom prst="roundRect">
            <a:avLst>
              <a:gd name="adj" fmla="val 465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32176" y="188051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Ramsey RESET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432176" y="2161133"/>
            <a:ext cx="1851347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Validar forma funcional OLS antes de asumir linealidad entre IRA y adopción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512347" y="1748879"/>
            <a:ext cx="2114624" cy="1058912"/>
          </a:xfrm>
          <a:prstGeom prst="roundRect">
            <a:avLst>
              <a:gd name="adj" fmla="val 465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43985" y="1880518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VIF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43985" y="2161133"/>
            <a:ext cx="185134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Detectar multicolinealidad entre IRA, nivel educativo e ingreso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00538" y="2904976"/>
            <a:ext cx="4326434" cy="887239"/>
          </a:xfrm>
          <a:prstGeom prst="roundRect">
            <a:avLst>
              <a:gd name="adj" fmla="val 5558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32176" y="3036615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432176" y="3317230"/>
            <a:ext cx="4063157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Modelar relación no lineal entre IRA y riesgo — baseline vs. Random Forest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300538" y="3901529"/>
            <a:ext cx="4326434" cy="787598"/>
          </a:xfrm>
          <a:prstGeom prst="roundRect">
            <a:avLst>
              <a:gd name="adj" fmla="val 6261"/>
            </a:avLst>
          </a:prstGeom>
          <a:solidFill>
            <a:srgbClr val="C7C9EA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888" y="4074096"/>
            <a:ext cx="146745" cy="11735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681984" y="4028033"/>
            <a:ext cx="3827636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Hipótesis H2: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IRA modera la relación entre riesgo técnico y adopción real. Explica por qué agricultura sigue siendo manual en Jalisco pese al riesgo teórico alto de Frey-Osborne.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87176"/>
            <a:ext cx="804780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 Modelo que Prueba la Pregunta de Investigación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976238"/>
            <a:ext cx="8229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corazón de nuestra investigación es la </a:t>
            </a:r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Regresión Jerárquica por Bloques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un enfoque robusto para evaluar la contribución incremental de cada conjunto de variables a la varianza explicada del riesgo de automatización.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349" y="1513433"/>
            <a:ext cx="8229302" cy="1802978"/>
          </a:xfrm>
          <a:prstGeom prst="roundRect">
            <a:avLst>
              <a:gd name="adj" fmla="val 304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2782" y="1595214"/>
            <a:ext cx="9692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130" y="1595214"/>
            <a:ext cx="384378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que se agrega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38019" y="1595214"/>
            <a:ext cx="261319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2782" y="1954857"/>
            <a:ext cx="9692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130" y="1954857"/>
            <a:ext cx="384378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 ENOE: educación, edad, ingreso, sector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38019" y="1954857"/>
            <a:ext cx="261319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R²₁ baseline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2782" y="2314501"/>
            <a:ext cx="9692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130" y="2314501"/>
            <a:ext cx="384378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O*NET: RTI, demanda cognitiva, interacción social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38019" y="2314501"/>
            <a:ext cx="261319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ΔR²₂ + F-test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2782" y="2674144"/>
            <a:ext cx="9692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130" y="2674144"/>
            <a:ext cx="384378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exposure: gpt_score, LTII, AIOE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38019" y="2674144"/>
            <a:ext cx="261319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ΔR²₃ + F-test → H1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2782" y="3033787"/>
            <a:ext cx="96924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130" y="3033787"/>
            <a:ext cx="384378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IRA: salario anual / costo amortizado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38019" y="3033787"/>
            <a:ext cx="261319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ΔR²₄ + F-test → H2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349" y="3451920"/>
            <a:ext cx="4054376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307" y="359687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 H1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2307" y="3873252"/>
            <a:ext cx="376445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ΔR²₃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significativo, los LLMs modifican el riesgo más allá de Frey-Osborne.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32201" y="3451920"/>
            <a:ext cx="4054450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7160" y="3596878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Hipótesis H2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77160" y="3873252"/>
            <a:ext cx="376453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ΔR²₄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significativo, el incentivo económico explica la adopción real.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349" y="4555406"/>
            <a:ext cx="8229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significancia de 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ΔR²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el Bloque 3 validará (o no) el impacto de los LLMs. Ambos resultados son valiosos científicamente.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923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Stack Tecnológico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85739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1727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Bases de Datos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223790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/ PostgreSQL · SQLAlchemy · Scripts SQL documentados con integridad referencial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38573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1917278"/>
            <a:ext cx="186950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Orange Data Mining 3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223790"/>
            <a:ext cx="398732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Table · Feature Statistics · Distributions · Box Plot · Scatter Plot · Correlations · Heat Map · k-Means · Random Forest · ROC Analysis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87750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7192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ML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4025801"/>
            <a:ext cx="398725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· numpy · scikit-learn · matplotlib · sqlalchemy · Conda env 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ai_automation_thesis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Jupyter Notebook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187750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71928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Datos Oficiales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402580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ENOE Q3 2024 (entidad 14) · O*NET 28.3 · Censos Económicos INEGI 2019 · Crosswalk SOC→SINCO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374005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Conclusiones y Trabajo Futuro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01901" y="1540520"/>
            <a:ext cx="22197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que este proyecto demuestra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901901" y="2091482"/>
            <a:ext cx="2219771" cy="2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pipeline SQL → Orange → Python es 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completamente funcional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datos reales de Jalisco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logra 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R²=0.75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el baseline Frey-Osborne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identifica 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grupos accionables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ocupaciones con perfiles de riesgo diferenciados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456090" y="1540520"/>
            <a:ext cx="22197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 que sigue en la tesis — Fase 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56090" y="2091482"/>
            <a:ext cx="2219771" cy="2632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Agregar 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gpt_exposure_score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(Eloundou et al., 2023) una vez disponible el crosswalk SOC→SINCO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e integrar el 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ira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 Censos Económicos INEGI 2019</a:t>
            </a:r>
            <a:endParaRPr lang="en-US" sz="105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Probar si los LLMs 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invierten el ranking de riesgo</a:t>
            </a:r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el cluster 1 y si el IRA predice cuándo el mercado realmente actúa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2026-05-14T23:12:37Z</dcterms:created>
  <dcterms:modified xsi:type="dcterms:W3CDTF">2026-05-14T23:12:37Z</dcterms:modified>
</cp:coreProperties>
</file>