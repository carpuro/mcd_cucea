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80" r:id="rId2"/>
    <p:sldId id="281" r:id="rId3"/>
    <p:sldId id="292" r:id="rId4"/>
    <p:sldId id="306" r:id="rId5"/>
    <p:sldId id="300" r:id="rId6"/>
    <p:sldId id="301" r:id="rId7"/>
    <p:sldId id="302" r:id="rId8"/>
    <p:sldId id="304" r:id="rId9"/>
    <p:sldId id="303" r:id="rId10"/>
    <p:sldId id="305" r:id="rId11"/>
    <p:sldId id="286" r:id="rId12"/>
    <p:sldId id="287" r:id="rId13"/>
    <p:sldId id="294" r:id="rId14"/>
    <p:sldId id="293" r:id="rId15"/>
    <p:sldId id="295" r:id="rId16"/>
    <p:sldId id="297" r:id="rId17"/>
    <p:sldId id="296" r:id="rId18"/>
    <p:sldId id="298" r:id="rId19"/>
    <p:sldId id="299" r:id="rId20"/>
    <p:sldId id="29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F0CACB-427C-4D23-9699-165D29BA79E9}" v="2" dt="2025-10-29T17:28:14.3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4660"/>
  </p:normalViewPr>
  <p:slideViewPr>
    <p:cSldViewPr snapToGrid="0">
      <p:cViewPr varScale="1">
        <p:scale>
          <a:sx n="102" d="100"/>
          <a:sy n="102" d="100"/>
        </p:scale>
        <p:origin x="9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419443-513A-45DD-B072-13047FB2407A}" type="datetimeFigureOut">
              <a:rPr lang="es-MX" smtClean="0"/>
              <a:t>04/11/2025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8E680A-6115-4506-B975-5704F4F8C62D}" type="slidenum">
              <a:rPr lang="es-MX" smtClean="0"/>
              <a:t>‹Nº›</a:t>
            </a:fld>
            <a:endParaRPr lang="es-MX"/>
          </a:p>
        </p:txBody>
      </p:sp>
    </p:spTree>
    <p:extLst>
      <p:ext uri="{BB962C8B-B14F-4D97-AF65-F5344CB8AC3E}">
        <p14:creationId xmlns:p14="http://schemas.microsoft.com/office/powerpoint/2010/main" val="17157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376805-8D5A-AB8F-0938-8D87CAF4669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9053D03-91EA-B5BB-4152-7C7BB42199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94C8CA4B-23B2-A889-D700-A32750B9EE30}"/>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5" name="Marcador de pie de página 4">
            <a:extLst>
              <a:ext uri="{FF2B5EF4-FFF2-40B4-BE49-F238E27FC236}">
                <a16:creationId xmlns:a16="http://schemas.microsoft.com/office/drawing/2014/main" id="{28902BE5-1CFE-BA91-A19E-B5CE196ADDA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54B8608-3ABA-EE6C-49DF-36B9D920A4F6}"/>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1427708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F27F82-DE55-B233-1472-3D121AEDF12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4A8172F-6296-0B71-1F25-85724B62FC1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65C6EA4-BE8B-210B-5E87-6C3F9B039FC9}"/>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5" name="Marcador de pie de página 4">
            <a:extLst>
              <a:ext uri="{FF2B5EF4-FFF2-40B4-BE49-F238E27FC236}">
                <a16:creationId xmlns:a16="http://schemas.microsoft.com/office/drawing/2014/main" id="{90B3F557-DF65-7CAB-0CD5-AB382E3DB24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4A87CEC-C62C-253A-06B1-06728DAA3AB2}"/>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1862030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D571F5-86A7-E54F-284C-06C3E54B295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FE1FA79-D116-170F-9C37-C8F7247125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A5CEF85-C353-F71D-1764-2A4E85FEF7B9}"/>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5" name="Marcador de pie de página 4">
            <a:extLst>
              <a:ext uri="{FF2B5EF4-FFF2-40B4-BE49-F238E27FC236}">
                <a16:creationId xmlns:a16="http://schemas.microsoft.com/office/drawing/2014/main" id="{3AF9784A-EC20-E068-D822-7DC5FC39859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745BCAC-8A43-C110-BAC1-B523A8021C4C}"/>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1215907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C09433-1993-03F1-87B0-8AEE86E0ADF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BBDEB04-D678-9B69-B9AA-28AB754CC15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5BD29C4A-A291-8A78-DEAE-39A33AC0DBB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A2647C1-58AE-278A-3258-516858E1D3BA}"/>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6" name="Marcador de pie de página 5">
            <a:extLst>
              <a:ext uri="{FF2B5EF4-FFF2-40B4-BE49-F238E27FC236}">
                <a16:creationId xmlns:a16="http://schemas.microsoft.com/office/drawing/2014/main" id="{01EF2281-0353-7476-AF8C-B08ABA17699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6EAB8E8-6264-0686-184A-C8EC8DA9689A}"/>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1341317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8147C8-1B20-4B82-EB89-67E35F0F937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D8B70F7-C94C-5A0D-0E1F-4D5FD91C89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9241BB9-A9E9-B752-3125-E03A11E73F0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5FE4B62F-E491-A780-07BA-6583D49002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DA78B72-1246-2697-605F-73E91D8DBCF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A512443E-5DD8-1726-BBA4-31B3262F675F}"/>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8" name="Marcador de pie de página 7">
            <a:extLst>
              <a:ext uri="{FF2B5EF4-FFF2-40B4-BE49-F238E27FC236}">
                <a16:creationId xmlns:a16="http://schemas.microsoft.com/office/drawing/2014/main" id="{287A5BCF-8D57-69F8-8725-3651FB159D2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7825C08-2D3F-836B-8559-CACA283138E6}"/>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3826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C2905-1B03-1E27-BAC5-89CF5DF7A93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6F64B37-EAC8-0DF5-E227-D677665CB13E}"/>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4" name="Marcador de pie de página 3">
            <a:extLst>
              <a:ext uri="{FF2B5EF4-FFF2-40B4-BE49-F238E27FC236}">
                <a16:creationId xmlns:a16="http://schemas.microsoft.com/office/drawing/2014/main" id="{C8DB2EA7-78EA-0176-3EC0-E2F1820A75F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607615F-017F-1A97-5CB6-018542ECC402}"/>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1532571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2FACF55-6B7F-BE8A-B51F-50C2E6D81C48}"/>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3" name="Marcador de pie de página 2">
            <a:extLst>
              <a:ext uri="{FF2B5EF4-FFF2-40B4-BE49-F238E27FC236}">
                <a16:creationId xmlns:a16="http://schemas.microsoft.com/office/drawing/2014/main" id="{BA6CF56E-3006-1871-A476-EA0F3E4DEFB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E8CE11E-CD7E-5400-23C8-E79E3051BB5C}"/>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4163240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4B7D25-F084-89FA-2F47-593A038A2AE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A198AF1-AB22-6B44-8E35-2517069178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20CE7475-CA99-673A-53B2-0329BC9D01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DC26916-B14F-AD88-B291-A08DBEB9F25E}"/>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6" name="Marcador de pie de página 5">
            <a:extLst>
              <a:ext uri="{FF2B5EF4-FFF2-40B4-BE49-F238E27FC236}">
                <a16:creationId xmlns:a16="http://schemas.microsoft.com/office/drawing/2014/main" id="{EB2D65A6-9540-4A18-A396-AD1AE93D747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A05B27A-8E56-187A-7FEE-BC1E92CB21A2}"/>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2826751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DFD78C-45CB-DE7F-884A-1A237F90B7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817BBEC7-2C9B-3EB3-D274-F960963F30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BC45299-D2E0-9777-A40A-125814C470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6CE1911-CFC3-E8FE-AB37-8CEE1B62A37E}"/>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6" name="Marcador de pie de página 5">
            <a:extLst>
              <a:ext uri="{FF2B5EF4-FFF2-40B4-BE49-F238E27FC236}">
                <a16:creationId xmlns:a16="http://schemas.microsoft.com/office/drawing/2014/main" id="{57EEA64B-4D44-F7DC-74C7-B817CC6C9B4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64A99E5-4C60-3A7B-2294-95557E0F76A2}"/>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4088896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147D73-AAF2-9B1F-BECA-A66E93951B8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F7AA033-8C5F-CE61-4998-FE347657D57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C02621D-4382-529B-6F76-FB0C3E844EC3}"/>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5" name="Marcador de pie de página 4">
            <a:extLst>
              <a:ext uri="{FF2B5EF4-FFF2-40B4-BE49-F238E27FC236}">
                <a16:creationId xmlns:a16="http://schemas.microsoft.com/office/drawing/2014/main" id="{948DE426-C7F5-0169-4247-80778AFF1B5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1B5975E-0C90-6227-1470-36601371216B}"/>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78255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571E432-56D9-DCBD-E05C-0F0F5376735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11EFE7A0-C544-E004-51B9-A847324B224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8670E46-149B-C34F-B709-BEE301E2BFCE}"/>
              </a:ext>
            </a:extLst>
          </p:cNvPr>
          <p:cNvSpPr>
            <a:spLocks noGrp="1"/>
          </p:cNvSpPr>
          <p:nvPr>
            <p:ph type="dt" sz="half" idx="10"/>
          </p:nvPr>
        </p:nvSpPr>
        <p:spPr/>
        <p:txBody>
          <a:bodyPr/>
          <a:lstStyle/>
          <a:p>
            <a:fld id="{5203DD43-0545-4255-B6EF-0DF2D8A7949A}" type="datetimeFigureOut">
              <a:rPr lang="es-MX" smtClean="0"/>
              <a:t>04/11/2025</a:t>
            </a:fld>
            <a:endParaRPr lang="es-MX"/>
          </a:p>
        </p:txBody>
      </p:sp>
      <p:sp>
        <p:nvSpPr>
          <p:cNvPr id="5" name="Marcador de pie de página 4">
            <a:extLst>
              <a:ext uri="{FF2B5EF4-FFF2-40B4-BE49-F238E27FC236}">
                <a16:creationId xmlns:a16="http://schemas.microsoft.com/office/drawing/2014/main" id="{51ACBCE3-5088-A79B-EF83-8C542C59CF3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8A4E8F6-51EA-7003-2336-0DC59A4B85CD}"/>
              </a:ext>
            </a:extLst>
          </p:cNvPr>
          <p:cNvSpPr>
            <a:spLocks noGrp="1"/>
          </p:cNvSpPr>
          <p:nvPr>
            <p:ph type="sldNum" sz="quarter" idx="12"/>
          </p:nvPr>
        </p:nvSpPr>
        <p:spPr/>
        <p:txBody>
          <a:bodyPr/>
          <a:lstStyle/>
          <a:p>
            <a:fld id="{44D7BC41-A2D9-4823-883B-5A853742DA26}" type="slidenum">
              <a:rPr lang="es-MX" smtClean="0"/>
              <a:t>‹Nº›</a:t>
            </a:fld>
            <a:endParaRPr lang="es-MX"/>
          </a:p>
        </p:txBody>
      </p:sp>
    </p:spTree>
    <p:extLst>
      <p:ext uri="{BB962C8B-B14F-4D97-AF65-F5344CB8AC3E}">
        <p14:creationId xmlns:p14="http://schemas.microsoft.com/office/powerpoint/2010/main" val="1458250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712236A-D39B-5AC4-17FD-62DF9CAF32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5951543-2353-FE3A-1FD9-393478974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B79E6FC-F4F6-A1C5-7CC0-75DD787044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03DD43-0545-4255-B6EF-0DF2D8A7949A}" type="datetimeFigureOut">
              <a:rPr lang="es-MX" smtClean="0"/>
              <a:t>04/11/2025</a:t>
            </a:fld>
            <a:endParaRPr lang="es-MX"/>
          </a:p>
        </p:txBody>
      </p:sp>
      <p:sp>
        <p:nvSpPr>
          <p:cNvPr id="5" name="Marcador de pie de página 4">
            <a:extLst>
              <a:ext uri="{FF2B5EF4-FFF2-40B4-BE49-F238E27FC236}">
                <a16:creationId xmlns:a16="http://schemas.microsoft.com/office/drawing/2014/main" id="{F05F4889-8AF0-962B-750E-FE433D79C4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70AA94BB-EA99-1A6D-5DC7-7D917EAC15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D7BC41-A2D9-4823-883B-5A853742DA26}" type="slidenum">
              <a:rPr lang="es-MX" smtClean="0"/>
              <a:t>‹Nº›</a:t>
            </a:fld>
            <a:endParaRPr lang="es-MX"/>
          </a:p>
        </p:txBody>
      </p:sp>
    </p:spTree>
    <p:extLst>
      <p:ext uri="{BB962C8B-B14F-4D97-AF65-F5344CB8AC3E}">
        <p14:creationId xmlns:p14="http://schemas.microsoft.com/office/powerpoint/2010/main" val="363974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4" descr="Machine learning logo - Wi6Labs">
            <a:extLst>
              <a:ext uri="{FF2B5EF4-FFF2-40B4-BE49-F238E27FC236}">
                <a16:creationId xmlns:a16="http://schemas.microsoft.com/office/drawing/2014/main" id="{F67A7840-5900-79FD-E05E-DA49309E4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6329" y="1590715"/>
            <a:ext cx="6627336" cy="4352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5622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959833"/>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sp>
        <p:nvSpPr>
          <p:cNvPr id="8" name="CuadroTexto 7">
            <a:extLst>
              <a:ext uri="{FF2B5EF4-FFF2-40B4-BE49-F238E27FC236}">
                <a16:creationId xmlns:a16="http://schemas.microsoft.com/office/drawing/2014/main" id="{9716DF7E-5B1E-607C-18B3-BA9E9AF35B44}"/>
              </a:ext>
            </a:extLst>
          </p:cNvPr>
          <p:cNvSpPr txBox="1"/>
          <p:nvPr/>
        </p:nvSpPr>
        <p:spPr>
          <a:xfrm>
            <a:off x="1166532" y="2364485"/>
            <a:ext cx="9858936" cy="2308324"/>
          </a:xfrm>
          <a:prstGeom prst="rect">
            <a:avLst/>
          </a:prstGeom>
          <a:noFill/>
        </p:spPr>
        <p:txBody>
          <a:bodyPr wrap="square">
            <a:spAutoFit/>
          </a:bodyPr>
          <a:lstStyle/>
          <a:p>
            <a:pPr algn="just"/>
            <a:r>
              <a:rPr lang="es-ES" sz="2400" b="1" i="1" dirty="0">
                <a:solidFill>
                  <a:srgbClr val="374151"/>
                </a:solidFill>
                <a:effectLst/>
                <a:latin typeface="Times New Roman" panose="02020603050405020304" pitchFamily="18" charset="0"/>
                <a:cs typeface="Times New Roman" panose="02020603050405020304" pitchFamily="18" charset="0"/>
              </a:rPr>
              <a:t>Machine </a:t>
            </a:r>
            <a:r>
              <a:rPr lang="es-ES" sz="2400" b="1" i="1" dirty="0" err="1">
                <a:solidFill>
                  <a:srgbClr val="374151"/>
                </a:solidFill>
                <a:effectLst/>
                <a:latin typeface="Times New Roman" panose="02020603050405020304" pitchFamily="18" charset="0"/>
                <a:cs typeface="Times New Roman" panose="02020603050405020304" pitchFamily="18" charset="0"/>
              </a:rPr>
              <a:t>Learning</a:t>
            </a:r>
            <a:r>
              <a:rPr lang="es-ES" sz="2400" b="1" i="1" dirty="0">
                <a:solidFill>
                  <a:srgbClr val="374151"/>
                </a:solidFill>
                <a:effectLst/>
                <a:latin typeface="Times New Roman" panose="02020603050405020304" pitchFamily="18" charset="0"/>
                <a:cs typeface="Times New Roman" panose="02020603050405020304" pitchFamily="18" charset="0"/>
              </a:rPr>
              <a:t>:  </a:t>
            </a:r>
            <a:r>
              <a:rPr lang="es-ES" sz="2400" b="0" i="1" dirty="0">
                <a:solidFill>
                  <a:srgbClr val="374151"/>
                </a:solidFill>
                <a:effectLst/>
                <a:latin typeface="Times New Roman" panose="02020603050405020304" pitchFamily="18" charset="0"/>
                <a:cs typeface="Times New Roman" panose="02020603050405020304" pitchFamily="18" charset="0"/>
              </a:rPr>
              <a:t>es una subrama de la inteligencia artificial que se enfoca en el desarrollo de algoritmos y técnicas que permiten a las computadoras aprender de los datos sin ser programadas explícitamente para realizar una tarea específica. A través del aprendizaje automático, los sistemas pueden mejorar su rendimiento en tareas complejas con el tiempo y sin la intervención humana.</a:t>
            </a:r>
            <a:endParaRPr lang="es-MX"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3249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a:t>
            </a:r>
          </a:p>
        </p:txBody>
      </p:sp>
      <p:pic>
        <p:nvPicPr>
          <p:cNvPr id="2056" name="Picture 8" descr="Discover the Differences Between AI vs. Machine Learning vs. Deep Learning  [2022 Edition]">
            <a:extLst>
              <a:ext uri="{FF2B5EF4-FFF2-40B4-BE49-F238E27FC236}">
                <a16:creationId xmlns:a16="http://schemas.microsoft.com/office/drawing/2014/main" id="{93354619-353E-6E37-617E-FE968F8885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390" y="1863716"/>
            <a:ext cx="9472893" cy="4250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163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FC2DE-DF17-034C-6E97-5C45375E323D}"/>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7BA52089-922F-1CFF-F769-2DF3CAC7539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AB910099-A66D-66B1-5BA1-EB67DD307048}"/>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a:t>
            </a:r>
          </a:p>
        </p:txBody>
      </p:sp>
      <p:pic>
        <p:nvPicPr>
          <p:cNvPr id="7" name="Imagen 6">
            <a:extLst>
              <a:ext uri="{FF2B5EF4-FFF2-40B4-BE49-F238E27FC236}">
                <a16:creationId xmlns:a16="http://schemas.microsoft.com/office/drawing/2014/main" id="{E9E2533F-36A0-9809-E94F-52A88D8E07AB}"/>
              </a:ext>
            </a:extLst>
          </p:cNvPr>
          <p:cNvPicPr>
            <a:picLocks noChangeAspect="1"/>
          </p:cNvPicPr>
          <p:nvPr/>
        </p:nvPicPr>
        <p:blipFill>
          <a:blip r:embed="rId2"/>
          <a:stretch>
            <a:fillRect/>
          </a:stretch>
        </p:blipFill>
        <p:spPr>
          <a:xfrm>
            <a:off x="4505742" y="816993"/>
            <a:ext cx="5435488" cy="5521765"/>
          </a:xfrm>
          <a:prstGeom prst="rect">
            <a:avLst/>
          </a:prstGeom>
        </p:spPr>
      </p:pic>
    </p:spTree>
    <p:extLst>
      <p:ext uri="{BB962C8B-B14F-4D97-AF65-F5344CB8AC3E}">
        <p14:creationId xmlns:p14="http://schemas.microsoft.com/office/powerpoint/2010/main" val="710432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pic>
        <p:nvPicPr>
          <p:cNvPr id="7" name="Imagen 6">
            <a:extLst>
              <a:ext uri="{FF2B5EF4-FFF2-40B4-BE49-F238E27FC236}">
                <a16:creationId xmlns:a16="http://schemas.microsoft.com/office/drawing/2014/main" id="{A6226254-1077-544C-B731-F4DC8DFC8693}"/>
              </a:ext>
            </a:extLst>
          </p:cNvPr>
          <p:cNvPicPr>
            <a:picLocks noChangeAspect="1"/>
          </p:cNvPicPr>
          <p:nvPr/>
        </p:nvPicPr>
        <p:blipFill>
          <a:blip r:embed="rId2"/>
          <a:stretch>
            <a:fillRect/>
          </a:stretch>
        </p:blipFill>
        <p:spPr>
          <a:xfrm>
            <a:off x="2572871" y="1479930"/>
            <a:ext cx="7512424" cy="4796612"/>
          </a:xfrm>
          <a:prstGeom prst="rect">
            <a:avLst/>
          </a:prstGeom>
        </p:spPr>
      </p:pic>
    </p:spTree>
    <p:extLst>
      <p:ext uri="{BB962C8B-B14F-4D97-AF65-F5344CB8AC3E}">
        <p14:creationId xmlns:p14="http://schemas.microsoft.com/office/powerpoint/2010/main" val="2293301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a:t>
            </a:r>
          </a:p>
        </p:txBody>
      </p:sp>
      <p:pic>
        <p:nvPicPr>
          <p:cNvPr id="7" name="Imagen 6">
            <a:extLst>
              <a:ext uri="{FF2B5EF4-FFF2-40B4-BE49-F238E27FC236}">
                <a16:creationId xmlns:a16="http://schemas.microsoft.com/office/drawing/2014/main" id="{28E187F6-7163-DF35-4DFC-E35B5F97B69E}"/>
              </a:ext>
            </a:extLst>
          </p:cNvPr>
          <p:cNvPicPr>
            <a:picLocks noChangeAspect="1"/>
          </p:cNvPicPr>
          <p:nvPr/>
        </p:nvPicPr>
        <p:blipFill>
          <a:blip r:embed="rId2"/>
          <a:stretch>
            <a:fillRect/>
          </a:stretch>
        </p:blipFill>
        <p:spPr>
          <a:xfrm>
            <a:off x="2472763" y="1702020"/>
            <a:ext cx="8210359" cy="4574522"/>
          </a:xfrm>
          <a:prstGeom prst="rect">
            <a:avLst/>
          </a:prstGeom>
        </p:spPr>
      </p:pic>
    </p:spTree>
    <p:extLst>
      <p:ext uri="{BB962C8B-B14F-4D97-AF65-F5344CB8AC3E}">
        <p14:creationId xmlns:p14="http://schemas.microsoft.com/office/powerpoint/2010/main" val="2478649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a:t>
            </a:r>
          </a:p>
          <a:p>
            <a:pPr marL="0" lvl="0" indent="0" algn="l" rtl="0">
              <a:spcBef>
                <a:spcPts val="0"/>
              </a:spcBef>
              <a:spcAft>
                <a:spcPts val="0"/>
              </a:spcAft>
              <a:buClr>
                <a:srgbClr val="000000"/>
              </a:buClr>
              <a:buSzPts val="1100"/>
              <a:buFont typeface="Arial"/>
              <a:buNone/>
            </a:pPr>
            <a:r>
              <a:rPr lang="es-MX" sz="1200" b="1" dirty="0">
                <a:latin typeface="Heebo"/>
                <a:ea typeface="Heebo"/>
                <a:cs typeface="Heebo"/>
                <a:sym typeface="Heebo"/>
              </a:rPr>
              <a:t>Programación</a:t>
            </a:r>
            <a:r>
              <a:rPr lang="en-US" sz="1200" b="1" dirty="0">
                <a:latin typeface="Heebo"/>
                <a:ea typeface="Heebo"/>
                <a:cs typeface="Heebo"/>
                <a:sym typeface="Heebo"/>
              </a:rPr>
              <a:t> II</a:t>
            </a:r>
            <a:endParaRPr sz="1200" b="1" dirty="0">
              <a:latin typeface="Heebo"/>
              <a:ea typeface="Heebo"/>
              <a:cs typeface="Heebo"/>
              <a:sym typeface="Heebo"/>
            </a:endParaRPr>
          </a:p>
        </p:txBody>
      </p:sp>
      <p:pic>
        <p:nvPicPr>
          <p:cNvPr id="1026" name="Picture 2">
            <a:extLst>
              <a:ext uri="{FF2B5EF4-FFF2-40B4-BE49-F238E27FC236}">
                <a16:creationId xmlns:a16="http://schemas.microsoft.com/office/drawing/2014/main" id="{4A8041F7-AAFF-B28A-B115-869177383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411" y="2253503"/>
            <a:ext cx="8473577" cy="3659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662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80198" y="1095233"/>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(Simples)</a:t>
            </a:r>
          </a:p>
        </p:txBody>
      </p:sp>
      <p:sp>
        <p:nvSpPr>
          <p:cNvPr id="7" name="CuadroTexto 6">
            <a:extLst>
              <a:ext uri="{FF2B5EF4-FFF2-40B4-BE49-F238E27FC236}">
                <a16:creationId xmlns:a16="http://schemas.microsoft.com/office/drawing/2014/main" id="{7D162CD6-19DD-A3E9-58F3-9D008A836251}"/>
              </a:ext>
            </a:extLst>
          </p:cNvPr>
          <p:cNvSpPr txBox="1"/>
          <p:nvPr/>
        </p:nvSpPr>
        <p:spPr>
          <a:xfrm>
            <a:off x="603192" y="2121558"/>
            <a:ext cx="11203036" cy="3508653"/>
          </a:xfrm>
          <a:prstGeom prst="rect">
            <a:avLst/>
          </a:prstGeom>
          <a:noFill/>
        </p:spPr>
        <p:txBody>
          <a:bodyPr wrap="square">
            <a:spAutoFit/>
          </a:bodyPr>
          <a:lstStyle/>
          <a:p>
            <a:pPr algn="just"/>
            <a:r>
              <a:rPr lang="es-ES" sz="2000" b="1" i="1" dirty="0">
                <a:effectLst/>
                <a:latin typeface="Times New Roman" panose="02020603050405020304" pitchFamily="18" charset="0"/>
                <a:cs typeface="Times New Roman" panose="02020603050405020304" pitchFamily="18" charset="0"/>
              </a:rPr>
              <a:t>Regresión Lineal: </a:t>
            </a:r>
            <a:r>
              <a:rPr lang="es-ES" sz="2000" b="0" i="1" dirty="0">
                <a:effectLst/>
                <a:latin typeface="Times New Roman" panose="02020603050405020304" pitchFamily="18" charset="0"/>
                <a:cs typeface="Times New Roman" panose="02020603050405020304" pitchFamily="18" charset="0"/>
              </a:rPr>
              <a:t>se utiliza para predecir una variable numérica a partir de otras variables numéricas.</a:t>
            </a:r>
          </a:p>
          <a:p>
            <a:pPr algn="just"/>
            <a:endParaRPr lang="es-ES" sz="2000" b="0" i="1" dirty="0">
              <a:effectLst/>
              <a:latin typeface="Times New Roman" panose="02020603050405020304" pitchFamily="18" charset="0"/>
              <a:cs typeface="Times New Roman" panose="02020603050405020304" pitchFamily="18" charset="0"/>
            </a:endParaRPr>
          </a:p>
          <a:p>
            <a:pPr algn="just"/>
            <a:r>
              <a:rPr lang="es-ES" sz="2000" b="1" i="1" dirty="0">
                <a:effectLst/>
                <a:latin typeface="Times New Roman" panose="02020603050405020304" pitchFamily="18" charset="0"/>
                <a:cs typeface="Times New Roman" panose="02020603050405020304" pitchFamily="18" charset="0"/>
              </a:rPr>
              <a:t>Árboles de Decisión: </a:t>
            </a:r>
            <a:r>
              <a:rPr lang="es-ES" sz="2000" b="0" i="1" dirty="0">
                <a:effectLst/>
                <a:latin typeface="Times New Roman" panose="02020603050405020304" pitchFamily="18" charset="0"/>
                <a:cs typeface="Times New Roman" panose="02020603050405020304" pitchFamily="18" charset="0"/>
              </a:rPr>
              <a:t>un modelo de aprendizaje supervisado que se utiliza para la clasificación y la regresión.</a:t>
            </a:r>
          </a:p>
          <a:p>
            <a:pPr algn="just"/>
            <a:endParaRPr lang="es-ES" sz="2000" b="0" i="1" dirty="0">
              <a:effectLst/>
              <a:latin typeface="Times New Roman" panose="02020603050405020304" pitchFamily="18" charset="0"/>
              <a:cs typeface="Times New Roman" panose="02020603050405020304" pitchFamily="18" charset="0"/>
            </a:endParaRPr>
          </a:p>
          <a:p>
            <a:pPr algn="just"/>
            <a:r>
              <a:rPr lang="es-ES" sz="2000" b="1" i="1" dirty="0" err="1">
                <a:effectLst/>
                <a:latin typeface="Times New Roman" panose="02020603050405020304" pitchFamily="18" charset="0"/>
                <a:cs typeface="Times New Roman" panose="02020603050405020304" pitchFamily="18" charset="0"/>
              </a:rPr>
              <a:t>Naive</a:t>
            </a:r>
            <a:r>
              <a:rPr lang="es-ES" sz="2000" b="1" i="1" dirty="0">
                <a:effectLst/>
                <a:latin typeface="Times New Roman" panose="02020603050405020304" pitchFamily="18" charset="0"/>
                <a:cs typeface="Times New Roman" panose="02020603050405020304" pitchFamily="18" charset="0"/>
              </a:rPr>
              <a:t> Bayes: </a:t>
            </a:r>
            <a:r>
              <a:rPr lang="es-ES" sz="2000" b="0" i="1" dirty="0">
                <a:effectLst/>
                <a:latin typeface="Times New Roman" panose="02020603050405020304" pitchFamily="18" charset="0"/>
                <a:cs typeface="Times New Roman" panose="02020603050405020304" pitchFamily="18" charset="0"/>
              </a:rPr>
              <a:t>un modelo probabilístico que se utiliza para la clasificación.</a:t>
            </a:r>
          </a:p>
          <a:p>
            <a:pPr algn="just"/>
            <a:endParaRPr lang="es-ES" sz="2000" b="0" i="1" dirty="0">
              <a:effectLst/>
              <a:latin typeface="Times New Roman" panose="02020603050405020304" pitchFamily="18" charset="0"/>
              <a:cs typeface="Times New Roman" panose="02020603050405020304" pitchFamily="18" charset="0"/>
            </a:endParaRPr>
          </a:p>
          <a:p>
            <a:pPr algn="just"/>
            <a:r>
              <a:rPr lang="es-ES" sz="2000" b="1" i="1" dirty="0">
                <a:effectLst/>
                <a:latin typeface="Times New Roman" panose="02020603050405020304" pitchFamily="18" charset="0"/>
                <a:cs typeface="Times New Roman" panose="02020603050405020304" pitchFamily="18" charset="0"/>
              </a:rPr>
              <a:t>k-</a:t>
            </a:r>
            <a:r>
              <a:rPr lang="es-ES" sz="2000" b="1" i="1" dirty="0" err="1">
                <a:effectLst/>
                <a:latin typeface="Times New Roman" panose="02020603050405020304" pitchFamily="18" charset="0"/>
                <a:cs typeface="Times New Roman" panose="02020603050405020304" pitchFamily="18" charset="0"/>
              </a:rPr>
              <a:t>Nearest</a:t>
            </a:r>
            <a:r>
              <a:rPr lang="es-ES" sz="2000" b="1" i="1" dirty="0">
                <a:effectLst/>
                <a:latin typeface="Times New Roman" panose="02020603050405020304" pitchFamily="18" charset="0"/>
                <a:cs typeface="Times New Roman" panose="02020603050405020304" pitchFamily="18" charset="0"/>
              </a:rPr>
              <a:t> </a:t>
            </a:r>
            <a:r>
              <a:rPr lang="es-ES" sz="2000" b="1" i="1" dirty="0" err="1">
                <a:effectLst/>
                <a:latin typeface="Times New Roman" panose="02020603050405020304" pitchFamily="18" charset="0"/>
                <a:cs typeface="Times New Roman" panose="02020603050405020304" pitchFamily="18" charset="0"/>
              </a:rPr>
              <a:t>Neighbors</a:t>
            </a:r>
            <a:r>
              <a:rPr lang="es-ES" sz="2000" b="1" i="1" dirty="0">
                <a:effectLst/>
                <a:latin typeface="Times New Roman" panose="02020603050405020304" pitchFamily="18" charset="0"/>
                <a:cs typeface="Times New Roman" panose="02020603050405020304" pitchFamily="18" charset="0"/>
              </a:rPr>
              <a:t> (k-NN): </a:t>
            </a:r>
            <a:r>
              <a:rPr lang="es-ES" sz="2000" b="0" i="1" dirty="0">
                <a:effectLst/>
                <a:latin typeface="Times New Roman" panose="02020603050405020304" pitchFamily="18" charset="0"/>
                <a:cs typeface="Times New Roman" panose="02020603050405020304" pitchFamily="18" charset="0"/>
              </a:rPr>
              <a:t>un modelo de aprendizaje supervisado que se utiliza para la clasificación y la regresión.</a:t>
            </a:r>
          </a:p>
          <a:p>
            <a:pPr algn="just"/>
            <a:endParaRPr lang="es-ES" sz="2000" b="0" i="1" dirty="0">
              <a:effectLst/>
              <a:latin typeface="Times New Roman" panose="02020603050405020304" pitchFamily="18" charset="0"/>
              <a:cs typeface="Times New Roman" panose="02020603050405020304" pitchFamily="18" charset="0"/>
            </a:endParaRPr>
          </a:p>
          <a:p>
            <a:pPr algn="just"/>
            <a:r>
              <a:rPr lang="es-ES" sz="2000" b="1" i="1" dirty="0">
                <a:effectLst/>
                <a:latin typeface="Times New Roman" panose="02020603050405020304" pitchFamily="18" charset="0"/>
                <a:cs typeface="Times New Roman" panose="02020603050405020304" pitchFamily="18" charset="0"/>
              </a:rPr>
              <a:t>k-</a:t>
            </a:r>
            <a:r>
              <a:rPr lang="es-ES" sz="2000" b="1" i="1" dirty="0" err="1">
                <a:effectLst/>
                <a:latin typeface="Times New Roman" panose="02020603050405020304" pitchFamily="18" charset="0"/>
                <a:cs typeface="Times New Roman" panose="02020603050405020304" pitchFamily="18" charset="0"/>
              </a:rPr>
              <a:t>Means</a:t>
            </a:r>
            <a:r>
              <a:rPr lang="es-ES" sz="2000" b="1" i="1" dirty="0">
                <a:effectLst/>
                <a:latin typeface="Times New Roman" panose="02020603050405020304" pitchFamily="18" charset="0"/>
                <a:cs typeface="Times New Roman" panose="02020603050405020304" pitchFamily="18" charset="0"/>
              </a:rPr>
              <a:t>: </a:t>
            </a:r>
            <a:r>
              <a:rPr lang="es-ES" sz="2000" b="0" i="1" dirty="0">
                <a:effectLst/>
                <a:latin typeface="Times New Roman" panose="02020603050405020304" pitchFamily="18" charset="0"/>
                <a:cs typeface="Times New Roman" panose="02020603050405020304" pitchFamily="18" charset="0"/>
              </a:rPr>
              <a:t>un algoritmo de </a:t>
            </a:r>
            <a:r>
              <a:rPr lang="es-ES" sz="2000" b="0" i="1" dirty="0" err="1">
                <a:effectLst/>
                <a:latin typeface="Times New Roman" panose="02020603050405020304" pitchFamily="18" charset="0"/>
                <a:cs typeface="Times New Roman" panose="02020603050405020304" pitchFamily="18" charset="0"/>
              </a:rPr>
              <a:t>clustering</a:t>
            </a:r>
            <a:r>
              <a:rPr lang="es-ES" sz="2000" b="0" i="1" dirty="0">
                <a:effectLst/>
                <a:latin typeface="Times New Roman" panose="02020603050405020304" pitchFamily="18" charset="0"/>
                <a:cs typeface="Times New Roman" panose="02020603050405020304" pitchFamily="18" charset="0"/>
              </a:rPr>
              <a:t> que se utiliza para la segmentación de datos</a:t>
            </a:r>
            <a:r>
              <a:rPr lang="es-ES" sz="2200" b="0" i="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65577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(Semi </a:t>
            </a:r>
            <a:r>
              <a:rPr lang="en-US" sz="2400" b="1" dirty="0" err="1">
                <a:latin typeface="Heebo"/>
                <a:ea typeface="Heebo"/>
                <a:cs typeface="Heebo"/>
                <a:sym typeface="Heebo"/>
              </a:rPr>
              <a:t>avanzados</a:t>
            </a:r>
            <a:r>
              <a:rPr lang="en-US" sz="2400" b="1" dirty="0">
                <a:latin typeface="Heebo"/>
                <a:ea typeface="Heebo"/>
                <a:cs typeface="Heebo"/>
                <a:sym typeface="Heebo"/>
              </a:rPr>
              <a:t>)</a:t>
            </a:r>
          </a:p>
        </p:txBody>
      </p:sp>
      <p:sp>
        <p:nvSpPr>
          <p:cNvPr id="7" name="CuadroTexto 6">
            <a:extLst>
              <a:ext uri="{FF2B5EF4-FFF2-40B4-BE49-F238E27FC236}">
                <a16:creationId xmlns:a16="http://schemas.microsoft.com/office/drawing/2014/main" id="{8F20553A-5257-793F-9F40-0C2FFC597DE6}"/>
              </a:ext>
            </a:extLst>
          </p:cNvPr>
          <p:cNvSpPr txBox="1"/>
          <p:nvPr/>
        </p:nvSpPr>
        <p:spPr>
          <a:xfrm>
            <a:off x="466167" y="1985741"/>
            <a:ext cx="10981763" cy="4401205"/>
          </a:xfrm>
          <a:prstGeom prst="rect">
            <a:avLst/>
          </a:prstGeom>
          <a:noFill/>
        </p:spPr>
        <p:txBody>
          <a:bodyPr wrap="square">
            <a:spAutoFit/>
          </a:bodyPr>
          <a:lstStyle/>
          <a:p>
            <a:pPr algn="l"/>
            <a:r>
              <a:rPr lang="es-ES" sz="2000" b="1" i="1" dirty="0" err="1">
                <a:effectLst/>
                <a:latin typeface="Times New Roman" panose="02020603050405020304" pitchFamily="18" charset="0"/>
                <a:cs typeface="Times New Roman" panose="02020603050405020304" pitchFamily="18" charset="0"/>
              </a:rPr>
              <a:t>Random</a:t>
            </a:r>
            <a:r>
              <a:rPr lang="es-ES" sz="2000" b="1" i="1" dirty="0">
                <a:effectLst/>
                <a:latin typeface="Times New Roman" panose="02020603050405020304" pitchFamily="18" charset="0"/>
                <a:cs typeface="Times New Roman" panose="02020603050405020304" pitchFamily="18" charset="0"/>
              </a:rPr>
              <a:t> Forest: </a:t>
            </a:r>
            <a:r>
              <a:rPr lang="es-ES" sz="2000" i="1" dirty="0">
                <a:effectLst/>
                <a:latin typeface="Times New Roman" panose="02020603050405020304" pitchFamily="18" charset="0"/>
                <a:cs typeface="Times New Roman" panose="02020603050405020304" pitchFamily="18" charset="0"/>
              </a:rPr>
              <a:t>un modelo de aprendizaje supervisado que combina varios árboles de decisión para mejorar la precisión.</a:t>
            </a:r>
          </a:p>
          <a:p>
            <a:pPr algn="l"/>
            <a:endParaRPr lang="es-ES" sz="2000" i="1" dirty="0">
              <a:effectLst/>
              <a:latin typeface="Times New Roman" panose="02020603050405020304" pitchFamily="18" charset="0"/>
              <a:cs typeface="Times New Roman" panose="02020603050405020304" pitchFamily="18" charset="0"/>
            </a:endParaRPr>
          </a:p>
          <a:p>
            <a:pPr algn="l"/>
            <a:r>
              <a:rPr lang="es-ES" sz="2000" b="1" i="1" dirty="0" err="1">
                <a:effectLst/>
                <a:latin typeface="Times New Roman" panose="02020603050405020304" pitchFamily="18" charset="0"/>
                <a:cs typeface="Times New Roman" panose="02020603050405020304" pitchFamily="18" charset="0"/>
              </a:rPr>
              <a:t>Gradient</a:t>
            </a:r>
            <a:r>
              <a:rPr lang="es-ES" sz="2000" b="1" i="1" dirty="0">
                <a:effectLst/>
                <a:latin typeface="Times New Roman" panose="02020603050405020304" pitchFamily="18" charset="0"/>
                <a:cs typeface="Times New Roman" panose="02020603050405020304" pitchFamily="18" charset="0"/>
              </a:rPr>
              <a:t> </a:t>
            </a:r>
            <a:r>
              <a:rPr lang="es-ES" sz="2000" b="1" i="1" dirty="0" err="1">
                <a:effectLst/>
                <a:latin typeface="Times New Roman" panose="02020603050405020304" pitchFamily="18" charset="0"/>
                <a:cs typeface="Times New Roman" panose="02020603050405020304" pitchFamily="18" charset="0"/>
              </a:rPr>
              <a:t>Boosting</a:t>
            </a:r>
            <a:r>
              <a:rPr lang="es-ES" sz="2000" b="1" i="1" dirty="0">
                <a:effectLst/>
                <a:latin typeface="Times New Roman" panose="02020603050405020304" pitchFamily="18" charset="0"/>
                <a:cs typeface="Times New Roman" panose="02020603050405020304" pitchFamily="18" charset="0"/>
              </a:rPr>
              <a:t>: </a:t>
            </a:r>
            <a:r>
              <a:rPr lang="es-ES" sz="2000" i="1" dirty="0">
                <a:effectLst/>
                <a:latin typeface="Times New Roman" panose="02020603050405020304" pitchFamily="18" charset="0"/>
                <a:cs typeface="Times New Roman" panose="02020603050405020304" pitchFamily="18" charset="0"/>
              </a:rPr>
              <a:t>un modelo de aprendizaje supervisado que combina varios árboles de decisión débiles para crear un modelo más fuerte.</a:t>
            </a:r>
          </a:p>
          <a:p>
            <a:pPr algn="l"/>
            <a:endParaRPr lang="es-ES" sz="2000" i="1" dirty="0">
              <a:effectLst/>
              <a:latin typeface="Times New Roman" panose="02020603050405020304" pitchFamily="18" charset="0"/>
              <a:cs typeface="Times New Roman" panose="02020603050405020304" pitchFamily="18" charset="0"/>
            </a:endParaRPr>
          </a:p>
          <a:p>
            <a:pPr algn="l"/>
            <a:r>
              <a:rPr lang="es-ES" sz="2000" b="1" i="1" dirty="0" err="1">
                <a:effectLst/>
                <a:latin typeface="Times New Roman" panose="02020603050405020304" pitchFamily="18" charset="0"/>
                <a:cs typeface="Times New Roman" panose="02020603050405020304" pitchFamily="18" charset="0"/>
              </a:rPr>
              <a:t>Support</a:t>
            </a:r>
            <a:r>
              <a:rPr lang="es-ES" sz="2000" b="1" i="1" dirty="0">
                <a:effectLst/>
                <a:latin typeface="Times New Roman" panose="02020603050405020304" pitchFamily="18" charset="0"/>
                <a:cs typeface="Times New Roman" panose="02020603050405020304" pitchFamily="18" charset="0"/>
              </a:rPr>
              <a:t> Vector Machines (SVM): </a:t>
            </a:r>
            <a:r>
              <a:rPr lang="es-ES" sz="2000" i="1" dirty="0">
                <a:effectLst/>
                <a:latin typeface="Times New Roman" panose="02020603050405020304" pitchFamily="18" charset="0"/>
                <a:cs typeface="Times New Roman" panose="02020603050405020304" pitchFamily="18" charset="0"/>
              </a:rPr>
              <a:t>un modelo de aprendizaje supervisado que se utiliza para la clasificación y la regresión.</a:t>
            </a:r>
          </a:p>
          <a:p>
            <a:pPr algn="l"/>
            <a:endParaRPr lang="es-ES" sz="2000" i="1" dirty="0">
              <a:effectLst/>
              <a:latin typeface="Times New Roman" panose="02020603050405020304" pitchFamily="18" charset="0"/>
              <a:cs typeface="Times New Roman" panose="02020603050405020304" pitchFamily="18" charset="0"/>
            </a:endParaRPr>
          </a:p>
          <a:p>
            <a:pPr algn="l"/>
            <a:r>
              <a:rPr lang="es-ES" sz="2000" b="1" i="1" dirty="0">
                <a:effectLst/>
                <a:latin typeface="Times New Roman" panose="02020603050405020304" pitchFamily="18" charset="0"/>
                <a:cs typeface="Times New Roman" panose="02020603050405020304" pitchFamily="18" charset="0"/>
              </a:rPr>
              <a:t>Redes Neuronales Artificiales (RNA): </a:t>
            </a:r>
            <a:r>
              <a:rPr lang="es-ES" sz="2000" i="1" dirty="0">
                <a:effectLst/>
                <a:latin typeface="Times New Roman" panose="02020603050405020304" pitchFamily="18" charset="0"/>
                <a:cs typeface="Times New Roman" panose="02020603050405020304" pitchFamily="18" charset="0"/>
              </a:rPr>
              <a:t>un modelo de aprendizaje supervisado que simula la estructura y función del cerebro humano.</a:t>
            </a:r>
          </a:p>
          <a:p>
            <a:pPr algn="l"/>
            <a:endParaRPr lang="es-ES" sz="2000" i="1" dirty="0">
              <a:effectLst/>
              <a:latin typeface="Times New Roman" panose="02020603050405020304" pitchFamily="18" charset="0"/>
              <a:cs typeface="Times New Roman" panose="02020603050405020304" pitchFamily="18" charset="0"/>
            </a:endParaRPr>
          </a:p>
          <a:p>
            <a:pPr algn="l"/>
            <a:r>
              <a:rPr lang="es-ES" sz="2000" b="1" i="1" dirty="0">
                <a:effectLst/>
                <a:latin typeface="Times New Roman" panose="02020603050405020304" pitchFamily="18" charset="0"/>
                <a:cs typeface="Times New Roman" panose="02020603050405020304" pitchFamily="18" charset="0"/>
              </a:rPr>
              <a:t>Algoritmos de </a:t>
            </a:r>
            <a:r>
              <a:rPr lang="es-ES" sz="2000" b="1" i="1" dirty="0" err="1">
                <a:effectLst/>
                <a:latin typeface="Times New Roman" panose="02020603050405020304" pitchFamily="18" charset="0"/>
                <a:cs typeface="Times New Roman" panose="02020603050405020304" pitchFamily="18" charset="0"/>
              </a:rPr>
              <a:t>clustering</a:t>
            </a:r>
            <a:r>
              <a:rPr lang="es-ES" sz="2000" b="1" i="1" dirty="0">
                <a:effectLst/>
                <a:latin typeface="Times New Roman" panose="02020603050405020304" pitchFamily="18" charset="0"/>
                <a:cs typeface="Times New Roman" panose="02020603050405020304" pitchFamily="18" charset="0"/>
              </a:rPr>
              <a:t> : </a:t>
            </a:r>
            <a:r>
              <a:rPr lang="es-ES" sz="2000" i="1" dirty="0">
                <a:effectLst/>
                <a:latin typeface="Times New Roman" panose="02020603050405020304" pitchFamily="18" charset="0"/>
                <a:cs typeface="Times New Roman" panose="02020603050405020304" pitchFamily="18" charset="0"/>
              </a:rPr>
              <a:t>como DBSCAN y OPTICS, que son algoritmos de </a:t>
            </a:r>
            <a:r>
              <a:rPr lang="es-ES" sz="2000" i="1" dirty="0" err="1">
                <a:effectLst/>
                <a:latin typeface="Times New Roman" panose="02020603050405020304" pitchFamily="18" charset="0"/>
                <a:cs typeface="Times New Roman" panose="02020603050405020304" pitchFamily="18" charset="0"/>
              </a:rPr>
              <a:t>clustering</a:t>
            </a:r>
            <a:r>
              <a:rPr lang="es-ES" sz="2000" i="1" dirty="0">
                <a:effectLst/>
                <a:latin typeface="Times New Roman" panose="02020603050405020304" pitchFamily="18" charset="0"/>
                <a:cs typeface="Times New Roman" panose="02020603050405020304" pitchFamily="18" charset="0"/>
              </a:rPr>
              <a:t> basados en la densidad de los datos.</a:t>
            </a:r>
          </a:p>
        </p:txBody>
      </p:sp>
    </p:spTree>
    <p:extLst>
      <p:ext uri="{BB962C8B-B14F-4D97-AF65-F5344CB8AC3E}">
        <p14:creationId xmlns:p14="http://schemas.microsoft.com/office/powerpoint/2010/main" val="188011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a:t>
            </a:r>
            <a:r>
              <a:rPr lang="en-US" sz="2400" b="1" dirty="0" err="1">
                <a:latin typeface="Heebo"/>
                <a:ea typeface="Heebo"/>
                <a:cs typeface="Heebo"/>
                <a:sym typeface="Heebo"/>
              </a:rPr>
              <a:t>Avanzados</a:t>
            </a:r>
            <a:r>
              <a:rPr lang="en-US" sz="2400" b="1" dirty="0">
                <a:latin typeface="Heebo"/>
                <a:ea typeface="Heebo"/>
                <a:cs typeface="Heebo"/>
                <a:sym typeface="Heebo"/>
              </a:rPr>
              <a:t>)</a:t>
            </a:r>
          </a:p>
        </p:txBody>
      </p:sp>
      <p:sp>
        <p:nvSpPr>
          <p:cNvPr id="7" name="CuadroTexto 6">
            <a:extLst>
              <a:ext uri="{FF2B5EF4-FFF2-40B4-BE49-F238E27FC236}">
                <a16:creationId xmlns:a16="http://schemas.microsoft.com/office/drawing/2014/main" id="{7414471F-7AC5-64A1-A5E4-7BBA17CC907D}"/>
              </a:ext>
            </a:extLst>
          </p:cNvPr>
          <p:cNvSpPr txBox="1"/>
          <p:nvPr/>
        </p:nvSpPr>
        <p:spPr>
          <a:xfrm>
            <a:off x="548496" y="1985741"/>
            <a:ext cx="10721786" cy="4401205"/>
          </a:xfrm>
          <a:prstGeom prst="rect">
            <a:avLst/>
          </a:prstGeom>
          <a:noFill/>
        </p:spPr>
        <p:txBody>
          <a:bodyPr wrap="square">
            <a:spAutoFit/>
          </a:bodyPr>
          <a:lstStyle/>
          <a:p>
            <a:pPr algn="l"/>
            <a:r>
              <a:rPr lang="es-ES" sz="2000" b="1" i="1" dirty="0">
                <a:effectLst/>
                <a:latin typeface="Times New Roman" panose="02020603050405020304" pitchFamily="18" charset="0"/>
                <a:cs typeface="Times New Roman" panose="02020603050405020304" pitchFamily="18" charset="0"/>
              </a:rPr>
              <a:t>Redes Neuronales Convolucionales (</a:t>
            </a:r>
            <a:r>
              <a:rPr lang="es-ES" sz="2000" b="1" i="1" dirty="0" err="1">
                <a:effectLst/>
                <a:latin typeface="Times New Roman" panose="02020603050405020304" pitchFamily="18" charset="0"/>
                <a:cs typeface="Times New Roman" panose="02020603050405020304" pitchFamily="18" charset="0"/>
              </a:rPr>
              <a:t>ConvNets</a:t>
            </a:r>
            <a:r>
              <a:rPr lang="es-ES" sz="2000" b="1" i="1" dirty="0">
                <a:effectLst/>
                <a:latin typeface="Times New Roman" panose="02020603050405020304" pitchFamily="18" charset="0"/>
                <a:cs typeface="Times New Roman" panose="02020603050405020304" pitchFamily="18" charset="0"/>
              </a:rPr>
              <a:t> o CNN): </a:t>
            </a:r>
            <a:r>
              <a:rPr lang="es-ES" sz="2000" b="0" i="1" dirty="0">
                <a:effectLst/>
                <a:latin typeface="Times New Roman" panose="02020603050405020304" pitchFamily="18" charset="0"/>
                <a:cs typeface="Times New Roman" panose="02020603050405020304" pitchFamily="18" charset="0"/>
              </a:rPr>
              <a:t>un tipo especial de RNA utilizado en el análisis de imágenes y en la visión artificial</a:t>
            </a:r>
          </a:p>
          <a:p>
            <a:pPr algn="l"/>
            <a:endParaRPr lang="es-ES" sz="2000" b="0" i="1" dirty="0">
              <a:effectLst/>
              <a:latin typeface="Times New Roman" panose="02020603050405020304" pitchFamily="18" charset="0"/>
              <a:cs typeface="Times New Roman" panose="02020603050405020304" pitchFamily="18" charset="0"/>
            </a:endParaRPr>
          </a:p>
          <a:p>
            <a:pPr algn="l"/>
            <a:r>
              <a:rPr lang="es-ES" sz="2000" b="1" i="1" dirty="0">
                <a:effectLst/>
                <a:latin typeface="Times New Roman" panose="02020603050405020304" pitchFamily="18" charset="0"/>
                <a:cs typeface="Times New Roman" panose="02020603050405020304" pitchFamily="18" charset="0"/>
              </a:rPr>
              <a:t>Redes Neuronales Recurrentes (RNN): </a:t>
            </a:r>
            <a:r>
              <a:rPr lang="es-ES" sz="2000" b="0" i="1" dirty="0">
                <a:effectLst/>
                <a:latin typeface="Times New Roman" panose="02020603050405020304" pitchFamily="18" charset="0"/>
                <a:cs typeface="Times New Roman" panose="02020603050405020304" pitchFamily="18" charset="0"/>
              </a:rPr>
              <a:t>un tipo de RNA utilizado en el procesamiento del lenguaje natural y la secuencia de datos.</a:t>
            </a:r>
          </a:p>
          <a:p>
            <a:pPr algn="l"/>
            <a:endParaRPr lang="es-ES" sz="2000" b="0" i="1" dirty="0">
              <a:effectLst/>
              <a:latin typeface="Times New Roman" panose="02020603050405020304" pitchFamily="18" charset="0"/>
              <a:cs typeface="Times New Roman" panose="02020603050405020304" pitchFamily="18" charset="0"/>
            </a:endParaRPr>
          </a:p>
          <a:p>
            <a:pPr algn="l"/>
            <a:r>
              <a:rPr lang="es-ES" sz="2000" b="1" i="1" dirty="0">
                <a:effectLst/>
                <a:latin typeface="Times New Roman" panose="02020603050405020304" pitchFamily="18" charset="0"/>
                <a:cs typeface="Times New Roman" panose="02020603050405020304" pitchFamily="18" charset="0"/>
              </a:rPr>
              <a:t>Generative Adversarial Networks (</a:t>
            </a:r>
            <a:r>
              <a:rPr lang="es-ES" sz="2000" b="1" i="1" dirty="0" err="1">
                <a:effectLst/>
                <a:latin typeface="Times New Roman" panose="02020603050405020304" pitchFamily="18" charset="0"/>
                <a:cs typeface="Times New Roman" panose="02020603050405020304" pitchFamily="18" charset="0"/>
              </a:rPr>
              <a:t>GANs</a:t>
            </a:r>
            <a:r>
              <a:rPr lang="es-ES" sz="2000" b="1" i="1" dirty="0">
                <a:effectLst/>
                <a:latin typeface="Times New Roman" panose="02020603050405020304" pitchFamily="18" charset="0"/>
                <a:cs typeface="Times New Roman" panose="02020603050405020304" pitchFamily="18" charset="0"/>
              </a:rPr>
              <a:t>): </a:t>
            </a:r>
            <a:r>
              <a:rPr lang="es-ES" sz="2000" b="0" i="1" dirty="0">
                <a:effectLst/>
                <a:latin typeface="Times New Roman" panose="02020603050405020304" pitchFamily="18" charset="0"/>
                <a:cs typeface="Times New Roman" panose="02020603050405020304" pitchFamily="18" charset="0"/>
              </a:rPr>
              <a:t>un modelo de aprendizaje no supervisado que utiliza dos redes neurales para generar datos sintéticos similares a los datos reales.</a:t>
            </a:r>
          </a:p>
          <a:p>
            <a:pPr algn="l"/>
            <a:endParaRPr lang="es-ES" sz="2000" b="0" i="1" dirty="0">
              <a:effectLst/>
              <a:latin typeface="Times New Roman" panose="02020603050405020304" pitchFamily="18" charset="0"/>
              <a:cs typeface="Times New Roman" panose="02020603050405020304" pitchFamily="18" charset="0"/>
            </a:endParaRPr>
          </a:p>
          <a:p>
            <a:pPr algn="l"/>
            <a:r>
              <a:rPr lang="es-ES" sz="2000" b="1" i="1" dirty="0" err="1">
                <a:effectLst/>
                <a:latin typeface="Times New Roman" panose="02020603050405020304" pitchFamily="18" charset="0"/>
                <a:cs typeface="Times New Roman" panose="02020603050405020304" pitchFamily="18" charset="0"/>
              </a:rPr>
              <a:t>Autoencoders</a:t>
            </a:r>
            <a:r>
              <a:rPr lang="es-ES" sz="2000" b="0" i="1" dirty="0">
                <a:effectLst/>
                <a:latin typeface="Times New Roman" panose="02020603050405020304" pitchFamily="18" charset="0"/>
                <a:cs typeface="Times New Roman" panose="02020603050405020304" pitchFamily="18" charset="0"/>
              </a:rPr>
              <a:t>: un tipo de RNA utilizado en la reducción de dimensionalidad y la extracción de características.</a:t>
            </a:r>
          </a:p>
          <a:p>
            <a:pPr algn="l"/>
            <a:endParaRPr lang="es-ES" sz="2000" b="1" i="1" dirty="0">
              <a:effectLst/>
              <a:latin typeface="Times New Roman" panose="02020603050405020304" pitchFamily="18" charset="0"/>
              <a:cs typeface="Times New Roman" panose="02020603050405020304" pitchFamily="18" charset="0"/>
            </a:endParaRPr>
          </a:p>
          <a:p>
            <a:pPr algn="l"/>
            <a:r>
              <a:rPr lang="es-ES" sz="2000" b="1" i="1" dirty="0">
                <a:effectLst/>
                <a:latin typeface="Times New Roman" panose="02020603050405020304" pitchFamily="18" charset="0"/>
                <a:cs typeface="Times New Roman" panose="02020603050405020304" pitchFamily="18" charset="0"/>
              </a:rPr>
              <a:t>Algoritmos de Aprendizaje por Refuerzo: </a:t>
            </a:r>
            <a:r>
              <a:rPr lang="es-ES" sz="2000" b="0" i="1" dirty="0">
                <a:effectLst/>
                <a:latin typeface="Times New Roman" panose="02020603050405020304" pitchFamily="18" charset="0"/>
                <a:cs typeface="Times New Roman" panose="02020603050405020304" pitchFamily="18" charset="0"/>
              </a:rPr>
              <a:t>que se utilizan para entrenar agentes para tomar acciones en un entorno y obtener recompensas.</a:t>
            </a:r>
          </a:p>
        </p:txBody>
      </p:sp>
    </p:spTree>
    <p:extLst>
      <p:ext uri="{BB962C8B-B14F-4D97-AF65-F5344CB8AC3E}">
        <p14:creationId xmlns:p14="http://schemas.microsoft.com/office/powerpoint/2010/main" val="1812368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a:t>
            </a:r>
            <a:r>
              <a:rPr lang="en-US" sz="2400" b="1" dirty="0" err="1">
                <a:latin typeface="Heebo"/>
                <a:ea typeface="Heebo"/>
                <a:cs typeface="Heebo"/>
                <a:sym typeface="Heebo"/>
              </a:rPr>
              <a:t>Enfoques</a:t>
            </a:r>
            <a:r>
              <a:rPr lang="en-US" sz="2400" b="1" dirty="0">
                <a:latin typeface="Heebo"/>
                <a:ea typeface="Heebo"/>
                <a:cs typeface="Heebo"/>
                <a:sym typeface="Heebo"/>
              </a:rPr>
              <a:t>)</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sp>
        <p:nvSpPr>
          <p:cNvPr id="7" name="CuadroTexto 6">
            <a:extLst>
              <a:ext uri="{FF2B5EF4-FFF2-40B4-BE49-F238E27FC236}">
                <a16:creationId xmlns:a16="http://schemas.microsoft.com/office/drawing/2014/main" id="{DAE3EC34-DB2E-A7F2-A062-FC14BCB4C1B9}"/>
              </a:ext>
            </a:extLst>
          </p:cNvPr>
          <p:cNvSpPr txBox="1"/>
          <p:nvPr/>
        </p:nvSpPr>
        <p:spPr>
          <a:xfrm>
            <a:off x="1104900" y="2459922"/>
            <a:ext cx="6100482" cy="3416320"/>
          </a:xfrm>
          <a:prstGeom prst="rect">
            <a:avLst/>
          </a:prstGeom>
          <a:noFill/>
        </p:spPr>
        <p:txBody>
          <a:bodyPr wrap="square">
            <a:spAutoFit/>
          </a:bodyPr>
          <a:lstStyle/>
          <a:p>
            <a:pPr marL="285750" indent="-285750">
              <a:buFont typeface="Arial" panose="020B0604020202020204" pitchFamily="34" charset="0"/>
              <a:buChar char="•"/>
            </a:pPr>
            <a:r>
              <a:rPr lang="es-MX" sz="2400" b="1" i="1" dirty="0">
                <a:solidFill>
                  <a:srgbClr val="333333"/>
                </a:solidFill>
                <a:latin typeface="Times New Roman" panose="02020603050405020304" pitchFamily="18" charset="0"/>
                <a:cs typeface="Times New Roman" panose="02020603050405020304" pitchFamily="18" charset="0"/>
              </a:rPr>
              <a:t>Machine </a:t>
            </a:r>
            <a:r>
              <a:rPr lang="es-MX" sz="2400" b="1" i="1" dirty="0" err="1">
                <a:solidFill>
                  <a:srgbClr val="333333"/>
                </a:solidFill>
                <a:latin typeface="Times New Roman" panose="02020603050405020304" pitchFamily="18" charset="0"/>
                <a:cs typeface="Times New Roman" panose="02020603050405020304" pitchFamily="18" charset="0"/>
              </a:rPr>
              <a:t>Learning</a:t>
            </a:r>
            <a:r>
              <a:rPr lang="es-MX" sz="2400" b="1" i="1" dirty="0">
                <a:solidFill>
                  <a:srgbClr val="333333"/>
                </a:solidFill>
                <a:latin typeface="Times New Roman" panose="02020603050405020304" pitchFamily="18" charset="0"/>
                <a:cs typeface="Times New Roman" panose="02020603050405020304" pitchFamily="18" charset="0"/>
              </a:rPr>
              <a:t> supervisado</a:t>
            </a:r>
          </a:p>
          <a:p>
            <a:endParaRPr lang="es-MX" sz="2400" b="1" i="1" dirty="0">
              <a:solidFill>
                <a:srgbClr val="33333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MX" sz="2400" b="1" i="1" dirty="0">
                <a:solidFill>
                  <a:srgbClr val="333333"/>
                </a:solidFill>
                <a:latin typeface="Times New Roman" panose="02020603050405020304" pitchFamily="18" charset="0"/>
                <a:cs typeface="Times New Roman" panose="02020603050405020304" pitchFamily="18" charset="0"/>
              </a:rPr>
              <a:t>Machine </a:t>
            </a:r>
            <a:r>
              <a:rPr lang="es-MX" sz="2400" b="1" i="1" dirty="0" err="1">
                <a:solidFill>
                  <a:srgbClr val="333333"/>
                </a:solidFill>
                <a:latin typeface="Times New Roman" panose="02020603050405020304" pitchFamily="18" charset="0"/>
                <a:cs typeface="Times New Roman" panose="02020603050405020304" pitchFamily="18" charset="0"/>
              </a:rPr>
              <a:t>Learning</a:t>
            </a:r>
            <a:r>
              <a:rPr lang="es-MX" sz="2400" b="1" i="1" dirty="0">
                <a:solidFill>
                  <a:srgbClr val="333333"/>
                </a:solidFill>
                <a:latin typeface="Times New Roman" panose="02020603050405020304" pitchFamily="18" charset="0"/>
                <a:cs typeface="Times New Roman" panose="02020603050405020304" pitchFamily="18" charset="0"/>
              </a:rPr>
              <a:t> no Supervisado</a:t>
            </a:r>
          </a:p>
          <a:p>
            <a:pPr marL="285750" indent="-285750">
              <a:buFont typeface="Arial" panose="020B0604020202020204" pitchFamily="34" charset="0"/>
              <a:buChar char="•"/>
            </a:pPr>
            <a:endParaRPr lang="es-MX" sz="2400" b="1" i="1" dirty="0">
              <a:solidFill>
                <a:srgbClr val="33333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MX" sz="2400" b="1" i="1" dirty="0">
                <a:solidFill>
                  <a:srgbClr val="333333"/>
                </a:solidFill>
                <a:latin typeface="Times New Roman" panose="02020603050405020304" pitchFamily="18" charset="0"/>
                <a:cs typeface="Times New Roman" panose="02020603050405020304" pitchFamily="18" charset="0"/>
              </a:rPr>
              <a:t>Machine </a:t>
            </a:r>
            <a:r>
              <a:rPr lang="es-MX" sz="2400" b="1" i="1" dirty="0" err="1">
                <a:solidFill>
                  <a:srgbClr val="333333"/>
                </a:solidFill>
                <a:latin typeface="Times New Roman" panose="02020603050405020304" pitchFamily="18" charset="0"/>
                <a:cs typeface="Times New Roman" panose="02020603050405020304" pitchFamily="18" charset="0"/>
              </a:rPr>
              <a:t>Learning</a:t>
            </a:r>
            <a:r>
              <a:rPr lang="es-MX" sz="2400" b="1" i="1" dirty="0">
                <a:solidFill>
                  <a:srgbClr val="333333"/>
                </a:solidFill>
                <a:latin typeface="Times New Roman" panose="02020603050405020304" pitchFamily="18" charset="0"/>
                <a:cs typeface="Times New Roman" panose="02020603050405020304" pitchFamily="18" charset="0"/>
              </a:rPr>
              <a:t> semi Supervisado</a:t>
            </a:r>
          </a:p>
          <a:p>
            <a:pPr marL="285750" indent="-285750">
              <a:buFont typeface="Arial" panose="020B0604020202020204" pitchFamily="34" charset="0"/>
              <a:buChar char="•"/>
            </a:pPr>
            <a:endParaRPr lang="es-MX" sz="2400" b="1" i="1" dirty="0">
              <a:solidFill>
                <a:srgbClr val="33333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MX" sz="2400" b="1" i="1" dirty="0">
                <a:solidFill>
                  <a:srgbClr val="333333"/>
                </a:solidFill>
                <a:latin typeface="Times New Roman" panose="02020603050405020304" pitchFamily="18" charset="0"/>
                <a:cs typeface="Times New Roman" panose="02020603050405020304" pitchFamily="18" charset="0"/>
              </a:rPr>
              <a:t>Machine </a:t>
            </a:r>
            <a:r>
              <a:rPr lang="es-MX" sz="2400" b="1" i="1" dirty="0" err="1">
                <a:solidFill>
                  <a:srgbClr val="333333"/>
                </a:solidFill>
                <a:latin typeface="Times New Roman" panose="02020603050405020304" pitchFamily="18" charset="0"/>
                <a:cs typeface="Times New Roman" panose="02020603050405020304" pitchFamily="18" charset="0"/>
              </a:rPr>
              <a:t>Learning</a:t>
            </a:r>
            <a:r>
              <a:rPr lang="es-MX" sz="2400" b="1" i="1" dirty="0">
                <a:solidFill>
                  <a:srgbClr val="333333"/>
                </a:solidFill>
                <a:latin typeface="Times New Roman" panose="02020603050405020304" pitchFamily="18" charset="0"/>
                <a:cs typeface="Times New Roman" panose="02020603050405020304" pitchFamily="18" charset="0"/>
              </a:rPr>
              <a:t> por refuerzo</a:t>
            </a:r>
          </a:p>
          <a:p>
            <a:pPr marL="285750" indent="-285750">
              <a:buFont typeface="Arial" panose="020B0604020202020204" pitchFamily="34" charset="0"/>
              <a:buChar char="•"/>
            </a:pPr>
            <a:endParaRPr lang="en-US" sz="2400" i="1" dirty="0">
              <a:solidFill>
                <a:srgbClr val="33333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s-MX" sz="2400" i="1" dirty="0">
              <a:latin typeface="Times New Roman" panose="02020603050405020304" pitchFamily="18" charset="0"/>
              <a:cs typeface="Times New Roman" panose="02020603050405020304" pitchFamily="18" charset="0"/>
            </a:endParaRPr>
          </a:p>
        </p:txBody>
      </p:sp>
      <p:pic>
        <p:nvPicPr>
          <p:cNvPr id="4098" name="Picture 2" descr="Machine Learning Logo Images – Browse 17,504 Stock Photos, Vectors, and  Video | Adobe Stock">
            <a:extLst>
              <a:ext uri="{FF2B5EF4-FFF2-40B4-BE49-F238E27FC236}">
                <a16:creationId xmlns:a16="http://schemas.microsoft.com/office/drawing/2014/main" id="{E9235FAD-828B-AB12-2F04-B5627BE08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1300" y="1250220"/>
            <a:ext cx="2134027" cy="120039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rtificial intelligence - Free technology icons">
            <a:extLst>
              <a:ext uri="{FF2B5EF4-FFF2-40B4-BE49-F238E27FC236}">
                <a16:creationId xmlns:a16="http://schemas.microsoft.com/office/drawing/2014/main" id="{C6F4033A-155E-1619-7D98-ECCDB37FE7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6759" y="5126692"/>
            <a:ext cx="1137335" cy="113733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Deep learning - Free miscellaneous icons">
            <a:extLst>
              <a:ext uri="{FF2B5EF4-FFF2-40B4-BE49-F238E27FC236}">
                <a16:creationId xmlns:a16="http://schemas.microsoft.com/office/drawing/2014/main" id="{F673ADBB-73A7-0577-3281-92458851E1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2051" y="3052506"/>
            <a:ext cx="1013012" cy="1013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347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E0B8FA8-418F-01E1-2D98-601F3E6D3C0B}"/>
              </a:ext>
            </a:extLst>
          </p:cNvPr>
          <p:cNvPicPr>
            <a:picLocks noChangeAspect="1"/>
          </p:cNvPicPr>
          <p:nvPr/>
        </p:nvPicPr>
        <p:blipFill>
          <a:blip r:embed="rId2"/>
          <a:stretch>
            <a:fillRect/>
          </a:stretch>
        </p:blipFill>
        <p:spPr>
          <a:xfrm>
            <a:off x="586673" y="199720"/>
            <a:ext cx="1569856" cy="617273"/>
          </a:xfrm>
          <a:prstGeom prst="rect">
            <a:avLst/>
          </a:prstGeom>
        </p:spPr>
      </p:pic>
      <p:pic>
        <p:nvPicPr>
          <p:cNvPr id="3" name="Imagen 2">
            <a:extLst>
              <a:ext uri="{FF2B5EF4-FFF2-40B4-BE49-F238E27FC236}">
                <a16:creationId xmlns:a16="http://schemas.microsoft.com/office/drawing/2014/main" id="{E71355BC-9B2D-39A0-4DEC-988DB2F7D1CA}"/>
              </a:ext>
            </a:extLst>
          </p:cNvPr>
          <p:cNvPicPr>
            <a:picLocks noChangeAspect="1"/>
          </p:cNvPicPr>
          <p:nvPr/>
        </p:nvPicPr>
        <p:blipFill>
          <a:blip r:embed="rId3"/>
          <a:stretch>
            <a:fillRect/>
          </a:stretch>
        </p:blipFill>
        <p:spPr>
          <a:xfrm>
            <a:off x="9760918" y="303552"/>
            <a:ext cx="1844409" cy="498033"/>
          </a:xfrm>
          <a:prstGeom prst="rect">
            <a:avLst/>
          </a:prstGeom>
        </p:spPr>
      </p:pic>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a:t>
            </a:r>
            <a:r>
              <a:rPr lang="en-US" sz="2400" b="1" dirty="0" err="1">
                <a:latin typeface="Heebo"/>
                <a:ea typeface="Heebo"/>
                <a:cs typeface="Heebo"/>
                <a:sym typeface="Heebo"/>
              </a:rPr>
              <a:t>Supervisado</a:t>
            </a:r>
            <a:r>
              <a:rPr lang="en-US" sz="2400" b="1" dirty="0">
                <a:latin typeface="Heebo"/>
                <a:ea typeface="Heebo"/>
                <a:cs typeface="Heebo"/>
                <a:sym typeface="Heebo"/>
              </a:rPr>
              <a:t>)</a:t>
            </a:r>
          </a:p>
          <a:p>
            <a:pPr marL="0" lvl="0" indent="0" algn="l" rtl="0">
              <a:spcBef>
                <a:spcPts val="0"/>
              </a:spcBef>
              <a:spcAft>
                <a:spcPts val="0"/>
              </a:spcAft>
              <a:buClr>
                <a:srgbClr val="000000"/>
              </a:buClr>
              <a:buSzPts val="1100"/>
              <a:buFont typeface="Arial"/>
              <a:buNone/>
            </a:pPr>
            <a:r>
              <a:rPr lang="es-MX" sz="1200" b="1" dirty="0">
                <a:latin typeface="Heebo"/>
                <a:ea typeface="Heebo"/>
                <a:cs typeface="Heebo"/>
                <a:sym typeface="Heebo"/>
              </a:rPr>
              <a:t>Programación</a:t>
            </a:r>
            <a:r>
              <a:rPr lang="en-US" sz="1200" b="1" dirty="0">
                <a:latin typeface="Heebo"/>
                <a:ea typeface="Heebo"/>
                <a:cs typeface="Heebo"/>
                <a:sym typeface="Heebo"/>
              </a:rPr>
              <a:t> II</a:t>
            </a:r>
            <a:endParaRPr sz="1200" b="1" dirty="0">
              <a:latin typeface="Heebo"/>
              <a:ea typeface="Heebo"/>
              <a:cs typeface="Heebo"/>
              <a:sym typeface="Heebo"/>
            </a:endParaRPr>
          </a:p>
        </p:txBody>
      </p:sp>
      <p:sp>
        <p:nvSpPr>
          <p:cNvPr id="7" name="CuadroTexto 6">
            <a:extLst>
              <a:ext uri="{FF2B5EF4-FFF2-40B4-BE49-F238E27FC236}">
                <a16:creationId xmlns:a16="http://schemas.microsoft.com/office/drawing/2014/main" id="{E2400FD6-6370-29C5-89D6-3410FE293600}"/>
              </a:ext>
            </a:extLst>
          </p:cNvPr>
          <p:cNvSpPr txBox="1"/>
          <p:nvPr/>
        </p:nvSpPr>
        <p:spPr>
          <a:xfrm>
            <a:off x="586673" y="2391379"/>
            <a:ext cx="9912725" cy="2308324"/>
          </a:xfrm>
          <a:prstGeom prst="rect">
            <a:avLst/>
          </a:prstGeom>
          <a:noFill/>
        </p:spPr>
        <p:txBody>
          <a:bodyPr wrap="square">
            <a:spAutoFit/>
          </a:bodyPr>
          <a:lstStyle/>
          <a:p>
            <a:pPr algn="just"/>
            <a:r>
              <a:rPr lang="es-ES" sz="2400" b="1" i="1" dirty="0">
                <a:effectLst/>
                <a:latin typeface="Times New Roman" panose="02020603050405020304" pitchFamily="18" charset="0"/>
                <a:cs typeface="Times New Roman" panose="02020603050405020304" pitchFamily="18" charset="0"/>
              </a:rPr>
              <a:t>Machine </a:t>
            </a:r>
            <a:r>
              <a:rPr lang="es-ES" sz="2400" b="1" i="1" dirty="0" err="1">
                <a:effectLst/>
                <a:latin typeface="Times New Roman" panose="02020603050405020304" pitchFamily="18" charset="0"/>
                <a:cs typeface="Times New Roman" panose="02020603050405020304" pitchFamily="18" charset="0"/>
              </a:rPr>
              <a:t>Learning</a:t>
            </a:r>
            <a:r>
              <a:rPr lang="es-ES" sz="2400" b="1" i="1" dirty="0">
                <a:effectLst/>
                <a:latin typeface="Times New Roman" panose="02020603050405020304" pitchFamily="18" charset="0"/>
                <a:cs typeface="Times New Roman" panose="02020603050405020304" pitchFamily="18" charset="0"/>
              </a:rPr>
              <a:t> supervisado: </a:t>
            </a:r>
            <a:r>
              <a:rPr lang="es-ES" sz="2400" b="0" i="1" dirty="0">
                <a:effectLst/>
                <a:latin typeface="Times New Roman" panose="02020603050405020304" pitchFamily="18" charset="0"/>
                <a:cs typeface="Times New Roman" panose="02020603050405020304" pitchFamily="18" charset="0"/>
              </a:rPr>
              <a:t>es un tipo de aprendizaje automático donde el modelo es entrenado con datos etiquetados y se busca que generalice la relación entre las características de los datos y su etiqueta o variable objetivo. El objetivo es que, dado un nuevo conjunto de datos con características similares, el modelo sea capaz de predecir la variable objetivo de manera precisa.</a:t>
            </a:r>
            <a:endParaRPr lang="es-MX"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6999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E0B8FA8-418F-01E1-2D98-601F3E6D3C0B}"/>
              </a:ext>
            </a:extLst>
          </p:cNvPr>
          <p:cNvPicPr>
            <a:picLocks noChangeAspect="1"/>
          </p:cNvPicPr>
          <p:nvPr/>
        </p:nvPicPr>
        <p:blipFill>
          <a:blip r:embed="rId2"/>
          <a:stretch>
            <a:fillRect/>
          </a:stretch>
        </p:blipFill>
        <p:spPr>
          <a:xfrm>
            <a:off x="586673" y="199720"/>
            <a:ext cx="1569856" cy="617273"/>
          </a:xfrm>
          <a:prstGeom prst="rect">
            <a:avLst/>
          </a:prstGeom>
        </p:spPr>
      </p:pic>
      <p:pic>
        <p:nvPicPr>
          <p:cNvPr id="3" name="Imagen 2">
            <a:extLst>
              <a:ext uri="{FF2B5EF4-FFF2-40B4-BE49-F238E27FC236}">
                <a16:creationId xmlns:a16="http://schemas.microsoft.com/office/drawing/2014/main" id="{E71355BC-9B2D-39A0-4DEC-988DB2F7D1CA}"/>
              </a:ext>
            </a:extLst>
          </p:cNvPr>
          <p:cNvPicPr>
            <a:picLocks noChangeAspect="1"/>
          </p:cNvPicPr>
          <p:nvPr/>
        </p:nvPicPr>
        <p:blipFill>
          <a:blip r:embed="rId3"/>
          <a:stretch>
            <a:fillRect/>
          </a:stretch>
        </p:blipFill>
        <p:spPr>
          <a:xfrm>
            <a:off x="9760918" y="303552"/>
            <a:ext cx="1844409" cy="498033"/>
          </a:xfrm>
          <a:prstGeom prst="rect">
            <a:avLst/>
          </a:prstGeom>
        </p:spPr>
      </p:pic>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934467"/>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a:t>
            </a:r>
            <a:r>
              <a:rPr lang="en-US" sz="2400" b="1" dirty="0" err="1">
                <a:latin typeface="Heebo"/>
                <a:ea typeface="Heebo"/>
                <a:cs typeface="Heebo"/>
                <a:sym typeface="Heebo"/>
              </a:rPr>
              <a:t>Supervisado</a:t>
            </a:r>
            <a:r>
              <a:rPr lang="en-US" sz="2400" b="1" dirty="0">
                <a:latin typeface="Heebo"/>
                <a:ea typeface="Heebo"/>
                <a:cs typeface="Heebo"/>
                <a:sym typeface="Heebo"/>
              </a:rPr>
              <a:t>)</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sp>
        <p:nvSpPr>
          <p:cNvPr id="8" name="CuadroTexto 7">
            <a:extLst>
              <a:ext uri="{FF2B5EF4-FFF2-40B4-BE49-F238E27FC236}">
                <a16:creationId xmlns:a16="http://schemas.microsoft.com/office/drawing/2014/main" id="{0D503977-FB3A-788A-AC02-5C31BCC8C759}"/>
              </a:ext>
            </a:extLst>
          </p:cNvPr>
          <p:cNvSpPr txBox="1"/>
          <p:nvPr/>
        </p:nvSpPr>
        <p:spPr>
          <a:xfrm>
            <a:off x="446969" y="1748841"/>
            <a:ext cx="11203036" cy="4801314"/>
          </a:xfrm>
          <a:prstGeom prst="rect">
            <a:avLst/>
          </a:prstGeom>
          <a:noFill/>
        </p:spPr>
        <p:txBody>
          <a:bodyPr wrap="square">
            <a:spAutoFit/>
          </a:bodyPr>
          <a:lstStyle/>
          <a:p>
            <a:pPr algn="just"/>
            <a:r>
              <a:rPr lang="es-ES" b="1" i="1" dirty="0">
                <a:effectLst/>
                <a:latin typeface="Times New Roman" panose="02020603050405020304" pitchFamily="18" charset="0"/>
                <a:cs typeface="Times New Roman" panose="02020603050405020304" pitchFamily="18" charset="0"/>
              </a:rPr>
              <a:t>Regresión: </a:t>
            </a:r>
            <a:r>
              <a:rPr lang="es-ES" b="0" i="1" dirty="0">
                <a:effectLst/>
                <a:latin typeface="Times New Roman" panose="02020603050405020304" pitchFamily="18" charset="0"/>
                <a:cs typeface="Times New Roman" panose="02020603050405020304" pitchFamily="18" charset="0"/>
              </a:rPr>
              <a:t>Predice una variable continua a partir de un conjunto de características.</a:t>
            </a:r>
          </a:p>
          <a:p>
            <a:pPr algn="just"/>
            <a:endParaRPr lang="es-ES" b="0" i="1" dirty="0">
              <a:effectLst/>
              <a:latin typeface="Times New Roman" panose="02020603050405020304" pitchFamily="18" charset="0"/>
              <a:cs typeface="Times New Roman" panose="02020603050405020304" pitchFamily="18" charset="0"/>
            </a:endParaRPr>
          </a:p>
          <a:p>
            <a:pPr algn="just"/>
            <a:r>
              <a:rPr lang="es-ES" b="1" i="1" dirty="0">
                <a:effectLst/>
                <a:latin typeface="Times New Roman" panose="02020603050405020304" pitchFamily="18" charset="0"/>
                <a:cs typeface="Times New Roman" panose="02020603050405020304" pitchFamily="18" charset="0"/>
              </a:rPr>
              <a:t>Clasificación: </a:t>
            </a:r>
            <a:r>
              <a:rPr lang="es-ES" b="0" i="1" dirty="0">
                <a:effectLst/>
                <a:latin typeface="Times New Roman" panose="02020603050405020304" pitchFamily="18" charset="0"/>
                <a:cs typeface="Times New Roman" panose="02020603050405020304" pitchFamily="18" charset="0"/>
              </a:rPr>
              <a:t>Predice una variable categórica a partir de un conjunto de características.</a:t>
            </a:r>
          </a:p>
          <a:p>
            <a:pPr algn="just"/>
            <a:endParaRPr lang="es-ES" b="0" i="1" dirty="0">
              <a:effectLst/>
              <a:latin typeface="Times New Roman" panose="02020603050405020304" pitchFamily="18" charset="0"/>
              <a:cs typeface="Times New Roman" panose="02020603050405020304" pitchFamily="18" charset="0"/>
            </a:endParaRPr>
          </a:p>
          <a:p>
            <a:pPr algn="just"/>
            <a:r>
              <a:rPr lang="es-ES" b="1" i="1" dirty="0">
                <a:effectLst/>
                <a:latin typeface="Times New Roman" panose="02020603050405020304" pitchFamily="18" charset="0"/>
                <a:cs typeface="Times New Roman" panose="02020603050405020304" pitchFamily="18" charset="0"/>
              </a:rPr>
              <a:t>Árboles de decisión: </a:t>
            </a:r>
            <a:r>
              <a:rPr lang="es-ES" b="0" i="1" dirty="0">
                <a:effectLst/>
                <a:latin typeface="Times New Roman" panose="02020603050405020304" pitchFamily="18" charset="0"/>
                <a:cs typeface="Times New Roman" panose="02020603050405020304" pitchFamily="18" charset="0"/>
              </a:rPr>
              <a:t>Crea un modelo de decisión basado en reglas simples y </a:t>
            </a:r>
            <a:r>
              <a:rPr lang="es-ES" b="0" i="1" dirty="0" err="1">
                <a:effectLst/>
                <a:latin typeface="Times New Roman" panose="02020603050405020304" pitchFamily="18" charset="0"/>
                <a:cs typeface="Times New Roman" panose="02020603050405020304" pitchFamily="18" charset="0"/>
              </a:rPr>
              <a:t>if-then</a:t>
            </a:r>
            <a:r>
              <a:rPr lang="es-ES" b="0" i="1" dirty="0">
                <a:effectLst/>
                <a:latin typeface="Times New Roman" panose="02020603050405020304" pitchFamily="18" charset="0"/>
                <a:cs typeface="Times New Roman" panose="02020603050405020304" pitchFamily="18" charset="0"/>
              </a:rPr>
              <a:t> para predecir una variable objetivo.</a:t>
            </a:r>
          </a:p>
          <a:p>
            <a:pPr algn="just"/>
            <a:endParaRPr lang="es-ES" b="0" i="1" dirty="0">
              <a:effectLst/>
              <a:latin typeface="Times New Roman" panose="02020603050405020304" pitchFamily="18" charset="0"/>
              <a:cs typeface="Times New Roman" panose="02020603050405020304" pitchFamily="18" charset="0"/>
            </a:endParaRPr>
          </a:p>
          <a:p>
            <a:pPr algn="just"/>
            <a:r>
              <a:rPr lang="es-ES" b="1" i="1" dirty="0" err="1">
                <a:effectLst/>
                <a:latin typeface="Times New Roman" panose="02020603050405020304" pitchFamily="18" charset="0"/>
                <a:cs typeface="Times New Roman" panose="02020603050405020304" pitchFamily="18" charset="0"/>
              </a:rPr>
              <a:t>Random</a:t>
            </a:r>
            <a:r>
              <a:rPr lang="es-ES" b="1" i="1" dirty="0">
                <a:effectLst/>
                <a:latin typeface="Times New Roman" panose="02020603050405020304" pitchFamily="18" charset="0"/>
                <a:cs typeface="Times New Roman" panose="02020603050405020304" pitchFamily="18" charset="0"/>
              </a:rPr>
              <a:t> Forest: </a:t>
            </a:r>
            <a:r>
              <a:rPr lang="es-ES" b="0" i="1" dirty="0">
                <a:effectLst/>
                <a:latin typeface="Times New Roman" panose="02020603050405020304" pitchFamily="18" charset="0"/>
                <a:cs typeface="Times New Roman" panose="02020603050405020304" pitchFamily="18" charset="0"/>
              </a:rPr>
              <a:t>Un conjunto de árboles de decisión que trabajan juntos para mejorar la precisión de la predicción.</a:t>
            </a:r>
          </a:p>
          <a:p>
            <a:pPr algn="just"/>
            <a:endParaRPr lang="es-ES" b="0" i="1" dirty="0">
              <a:effectLst/>
              <a:latin typeface="Times New Roman" panose="02020603050405020304" pitchFamily="18" charset="0"/>
              <a:cs typeface="Times New Roman" panose="02020603050405020304" pitchFamily="18" charset="0"/>
            </a:endParaRPr>
          </a:p>
          <a:p>
            <a:pPr algn="just"/>
            <a:r>
              <a:rPr lang="es-ES" b="1" i="1" dirty="0">
                <a:effectLst/>
                <a:latin typeface="Times New Roman" panose="02020603050405020304" pitchFamily="18" charset="0"/>
                <a:cs typeface="Times New Roman" panose="02020603050405020304" pitchFamily="18" charset="0"/>
              </a:rPr>
              <a:t>Redes neuronales: </a:t>
            </a:r>
            <a:r>
              <a:rPr lang="es-ES" b="0" i="1" dirty="0">
                <a:effectLst/>
                <a:latin typeface="Times New Roman" panose="02020603050405020304" pitchFamily="18" charset="0"/>
                <a:cs typeface="Times New Roman" panose="02020603050405020304" pitchFamily="18" charset="0"/>
              </a:rPr>
              <a:t>Un modelo inspirado en el funcionamiento del cerebro humano que puede aprender a partir de datos complejos y hacer predicciones precisas.</a:t>
            </a:r>
          </a:p>
          <a:p>
            <a:pPr algn="just"/>
            <a:endParaRPr lang="es-ES" b="0" i="1" dirty="0">
              <a:effectLst/>
              <a:latin typeface="Times New Roman" panose="02020603050405020304" pitchFamily="18" charset="0"/>
              <a:cs typeface="Times New Roman" panose="02020603050405020304" pitchFamily="18" charset="0"/>
            </a:endParaRPr>
          </a:p>
          <a:p>
            <a:pPr algn="just"/>
            <a:r>
              <a:rPr lang="es-ES" b="1" i="1" dirty="0" err="1">
                <a:effectLst/>
                <a:latin typeface="Times New Roman" panose="02020603050405020304" pitchFamily="18" charset="0"/>
                <a:cs typeface="Times New Roman" panose="02020603050405020304" pitchFamily="18" charset="0"/>
              </a:rPr>
              <a:t>Naive</a:t>
            </a:r>
            <a:r>
              <a:rPr lang="es-ES" b="1" i="1" dirty="0">
                <a:effectLst/>
                <a:latin typeface="Times New Roman" panose="02020603050405020304" pitchFamily="18" charset="0"/>
                <a:cs typeface="Times New Roman" panose="02020603050405020304" pitchFamily="18" charset="0"/>
              </a:rPr>
              <a:t> Bayes: </a:t>
            </a:r>
            <a:r>
              <a:rPr lang="es-ES" b="0" i="1" dirty="0">
                <a:effectLst/>
                <a:latin typeface="Times New Roman" panose="02020603050405020304" pitchFamily="18" charset="0"/>
                <a:cs typeface="Times New Roman" panose="02020603050405020304" pitchFamily="18" charset="0"/>
              </a:rPr>
              <a:t>Un algoritmo basado en probabilidades que se utiliza para predecir la probabilidad de un evento dado un conjunto de características.</a:t>
            </a:r>
          </a:p>
          <a:p>
            <a:pPr algn="just"/>
            <a:endParaRPr lang="es-ES" b="0" i="1" dirty="0">
              <a:effectLst/>
              <a:latin typeface="Times New Roman" panose="02020603050405020304" pitchFamily="18" charset="0"/>
              <a:cs typeface="Times New Roman" panose="02020603050405020304" pitchFamily="18" charset="0"/>
            </a:endParaRPr>
          </a:p>
          <a:p>
            <a:pPr algn="just"/>
            <a:r>
              <a:rPr lang="es-ES" b="1" i="1" dirty="0">
                <a:effectLst/>
                <a:latin typeface="Times New Roman" panose="02020603050405020304" pitchFamily="18" charset="0"/>
                <a:cs typeface="Times New Roman" panose="02020603050405020304" pitchFamily="18" charset="0"/>
              </a:rPr>
              <a:t>SVM (</a:t>
            </a:r>
            <a:r>
              <a:rPr lang="es-ES" b="1" i="1" dirty="0" err="1">
                <a:effectLst/>
                <a:latin typeface="Times New Roman" panose="02020603050405020304" pitchFamily="18" charset="0"/>
                <a:cs typeface="Times New Roman" panose="02020603050405020304" pitchFamily="18" charset="0"/>
              </a:rPr>
              <a:t>Support</a:t>
            </a:r>
            <a:r>
              <a:rPr lang="es-ES" b="1" i="1" dirty="0">
                <a:effectLst/>
                <a:latin typeface="Times New Roman" panose="02020603050405020304" pitchFamily="18" charset="0"/>
                <a:cs typeface="Times New Roman" panose="02020603050405020304" pitchFamily="18" charset="0"/>
              </a:rPr>
              <a:t> Vector Machines): </a:t>
            </a:r>
            <a:r>
              <a:rPr lang="es-ES" b="0" i="1" dirty="0">
                <a:effectLst/>
                <a:latin typeface="Times New Roman" panose="02020603050405020304" pitchFamily="18" charset="0"/>
                <a:cs typeface="Times New Roman" panose="02020603050405020304" pitchFamily="18" charset="0"/>
              </a:rPr>
              <a:t>Un algoritmo de aprendizaje automático que se utiliza para clasificar datos en dos o más categorías.</a:t>
            </a:r>
          </a:p>
        </p:txBody>
      </p:sp>
    </p:spTree>
    <p:extLst>
      <p:ext uri="{BB962C8B-B14F-4D97-AF65-F5344CB8AC3E}">
        <p14:creationId xmlns:p14="http://schemas.microsoft.com/office/powerpoint/2010/main" val="167273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E0B8FA8-418F-01E1-2D98-601F3E6D3C0B}"/>
              </a:ext>
            </a:extLst>
          </p:cNvPr>
          <p:cNvPicPr>
            <a:picLocks noChangeAspect="1"/>
          </p:cNvPicPr>
          <p:nvPr/>
        </p:nvPicPr>
        <p:blipFill>
          <a:blip r:embed="rId2"/>
          <a:stretch>
            <a:fillRect/>
          </a:stretch>
        </p:blipFill>
        <p:spPr>
          <a:xfrm>
            <a:off x="586673" y="199720"/>
            <a:ext cx="1569856" cy="617273"/>
          </a:xfrm>
          <a:prstGeom prst="rect">
            <a:avLst/>
          </a:prstGeom>
        </p:spPr>
      </p:pic>
      <p:pic>
        <p:nvPicPr>
          <p:cNvPr id="3" name="Imagen 2">
            <a:extLst>
              <a:ext uri="{FF2B5EF4-FFF2-40B4-BE49-F238E27FC236}">
                <a16:creationId xmlns:a16="http://schemas.microsoft.com/office/drawing/2014/main" id="{E71355BC-9B2D-39A0-4DEC-988DB2F7D1CA}"/>
              </a:ext>
            </a:extLst>
          </p:cNvPr>
          <p:cNvPicPr>
            <a:picLocks noChangeAspect="1"/>
          </p:cNvPicPr>
          <p:nvPr/>
        </p:nvPicPr>
        <p:blipFill>
          <a:blip r:embed="rId3"/>
          <a:stretch>
            <a:fillRect/>
          </a:stretch>
        </p:blipFill>
        <p:spPr>
          <a:xfrm>
            <a:off x="9760918" y="303552"/>
            <a:ext cx="1844409" cy="498033"/>
          </a:xfrm>
          <a:prstGeom prst="rect">
            <a:avLst/>
          </a:prstGeom>
        </p:spPr>
      </p:pic>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(No </a:t>
            </a:r>
            <a:r>
              <a:rPr lang="en-US" sz="2400" b="1" dirty="0" err="1">
                <a:latin typeface="Heebo"/>
                <a:ea typeface="Heebo"/>
                <a:cs typeface="Heebo"/>
                <a:sym typeface="Heebo"/>
              </a:rPr>
              <a:t>Supervisado</a:t>
            </a:r>
            <a:r>
              <a:rPr lang="en-US" sz="2400" b="1" dirty="0">
                <a:latin typeface="Heebo"/>
                <a:ea typeface="Heebo"/>
                <a:cs typeface="Heebo"/>
                <a:sym typeface="Heebo"/>
              </a:rPr>
              <a:t>)</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sp>
        <p:nvSpPr>
          <p:cNvPr id="7" name="CuadroTexto 6">
            <a:extLst>
              <a:ext uri="{FF2B5EF4-FFF2-40B4-BE49-F238E27FC236}">
                <a16:creationId xmlns:a16="http://schemas.microsoft.com/office/drawing/2014/main" id="{E2400FD6-6370-29C5-89D6-3410FE293600}"/>
              </a:ext>
            </a:extLst>
          </p:cNvPr>
          <p:cNvSpPr txBox="1"/>
          <p:nvPr/>
        </p:nvSpPr>
        <p:spPr>
          <a:xfrm>
            <a:off x="862853" y="2163983"/>
            <a:ext cx="9948582" cy="2308324"/>
          </a:xfrm>
          <a:prstGeom prst="rect">
            <a:avLst/>
          </a:prstGeom>
          <a:noFill/>
        </p:spPr>
        <p:txBody>
          <a:bodyPr wrap="square">
            <a:spAutoFit/>
          </a:bodyPr>
          <a:lstStyle/>
          <a:p>
            <a:pPr algn="just"/>
            <a:r>
              <a:rPr lang="es-ES" sz="2400" b="1" i="1" dirty="0">
                <a:effectLst/>
                <a:latin typeface="Times New Roman" panose="02020603050405020304" pitchFamily="18" charset="0"/>
                <a:cs typeface="Times New Roman" panose="02020603050405020304" pitchFamily="18" charset="0"/>
              </a:rPr>
              <a:t>Machine </a:t>
            </a:r>
            <a:r>
              <a:rPr lang="es-ES" sz="2400" b="1" i="1" dirty="0" err="1">
                <a:effectLst/>
                <a:latin typeface="Times New Roman" panose="02020603050405020304" pitchFamily="18" charset="0"/>
                <a:cs typeface="Times New Roman" panose="02020603050405020304" pitchFamily="18" charset="0"/>
              </a:rPr>
              <a:t>Learning</a:t>
            </a:r>
            <a:r>
              <a:rPr lang="es-ES" sz="2400" b="1" i="1" dirty="0">
                <a:effectLst/>
                <a:latin typeface="Times New Roman" panose="02020603050405020304" pitchFamily="18" charset="0"/>
                <a:cs typeface="Times New Roman" panose="02020603050405020304" pitchFamily="18" charset="0"/>
              </a:rPr>
              <a:t> no supervisado: </a:t>
            </a:r>
            <a:r>
              <a:rPr lang="es-ES" sz="2400" b="0" i="1" dirty="0">
                <a:effectLst/>
                <a:latin typeface="Times New Roman" panose="02020603050405020304" pitchFamily="18" charset="0"/>
                <a:cs typeface="Times New Roman" panose="02020603050405020304" pitchFamily="18" charset="0"/>
              </a:rPr>
              <a:t>es un tipo de aprendizaje automático donde el modelo es entrenado con datos sin etiquetar. El objetivo es encontrar patrones o estructuras ocultas en los datos, sin una variable objetivo específica. Ejemplos de técnicas de aprendizaje no supervisado incluyen agrupamiento (</a:t>
            </a:r>
            <a:r>
              <a:rPr lang="es-ES" sz="2400" b="0" i="1" dirty="0" err="1">
                <a:effectLst/>
                <a:latin typeface="Times New Roman" panose="02020603050405020304" pitchFamily="18" charset="0"/>
                <a:cs typeface="Times New Roman" panose="02020603050405020304" pitchFamily="18" charset="0"/>
              </a:rPr>
              <a:t>clustering</a:t>
            </a:r>
            <a:r>
              <a:rPr lang="es-ES" sz="2400" b="0" i="1" dirty="0">
                <a:effectLst/>
                <a:latin typeface="Times New Roman" panose="02020603050405020304" pitchFamily="18" charset="0"/>
                <a:cs typeface="Times New Roman" panose="02020603050405020304" pitchFamily="18" charset="0"/>
              </a:rPr>
              <a:t>), reducción de dimensionalidad y visualización de datos.</a:t>
            </a:r>
            <a:endParaRPr lang="es-MX"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9676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(No </a:t>
            </a:r>
            <a:r>
              <a:rPr lang="en-US" sz="2400" b="1" dirty="0" err="1">
                <a:latin typeface="Heebo"/>
                <a:ea typeface="Heebo"/>
                <a:cs typeface="Heebo"/>
                <a:sym typeface="Heebo"/>
              </a:rPr>
              <a:t>Supervisado</a:t>
            </a:r>
            <a:r>
              <a:rPr lang="en-US" sz="2400" b="1" dirty="0">
                <a:latin typeface="Heebo"/>
                <a:ea typeface="Heebo"/>
                <a:cs typeface="Heebo"/>
                <a:sym typeface="Heebo"/>
              </a:rPr>
              <a:t>)</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sp>
        <p:nvSpPr>
          <p:cNvPr id="8" name="CuadroTexto 7">
            <a:extLst>
              <a:ext uri="{FF2B5EF4-FFF2-40B4-BE49-F238E27FC236}">
                <a16:creationId xmlns:a16="http://schemas.microsoft.com/office/drawing/2014/main" id="{F16265CD-104F-83EF-3335-673271CA4281}"/>
              </a:ext>
            </a:extLst>
          </p:cNvPr>
          <p:cNvSpPr txBox="1"/>
          <p:nvPr/>
        </p:nvSpPr>
        <p:spPr>
          <a:xfrm>
            <a:off x="408110" y="1863716"/>
            <a:ext cx="11703208" cy="4247317"/>
          </a:xfrm>
          <a:prstGeom prst="rect">
            <a:avLst/>
          </a:prstGeom>
          <a:noFill/>
        </p:spPr>
        <p:txBody>
          <a:bodyPr wrap="square">
            <a:spAutoFit/>
          </a:bodyPr>
          <a:lstStyle/>
          <a:p>
            <a:pPr algn="l"/>
            <a:r>
              <a:rPr lang="es-ES" b="1" i="1" dirty="0" err="1">
                <a:effectLst/>
                <a:latin typeface="Times New Roman" panose="02020603050405020304" pitchFamily="18" charset="0"/>
                <a:cs typeface="Times New Roman" panose="02020603050405020304" pitchFamily="18" charset="0"/>
              </a:rPr>
              <a:t>Clustering</a:t>
            </a:r>
            <a:r>
              <a:rPr lang="es-ES" b="1" i="1" dirty="0">
                <a:effectLst/>
                <a:latin typeface="Times New Roman" panose="02020603050405020304" pitchFamily="18" charset="0"/>
                <a:cs typeface="Times New Roman" panose="02020603050405020304" pitchFamily="18" charset="0"/>
              </a:rPr>
              <a:t>: </a:t>
            </a:r>
            <a:r>
              <a:rPr lang="es-ES" i="1" dirty="0">
                <a:effectLst/>
                <a:latin typeface="Times New Roman" panose="02020603050405020304" pitchFamily="18" charset="0"/>
                <a:cs typeface="Times New Roman" panose="02020603050405020304" pitchFamily="18" charset="0"/>
              </a:rPr>
              <a:t>Agrupa datos similares en categorías o grupos.</a:t>
            </a:r>
          </a:p>
          <a:p>
            <a:pPr algn="l"/>
            <a:endParaRPr lang="es-ES" i="1" dirty="0">
              <a:effectLst/>
              <a:latin typeface="Times New Roman" panose="02020603050405020304" pitchFamily="18" charset="0"/>
              <a:cs typeface="Times New Roman" panose="02020603050405020304" pitchFamily="18" charset="0"/>
            </a:endParaRPr>
          </a:p>
          <a:p>
            <a:pPr algn="l"/>
            <a:r>
              <a:rPr lang="es-ES" b="1" i="1" dirty="0">
                <a:effectLst/>
                <a:latin typeface="Times New Roman" panose="02020603050405020304" pitchFamily="18" charset="0"/>
                <a:cs typeface="Times New Roman" panose="02020603050405020304" pitchFamily="18" charset="0"/>
              </a:rPr>
              <a:t>Reducción de dimensionalidad: </a:t>
            </a:r>
            <a:r>
              <a:rPr lang="es-ES" b="0" i="1" dirty="0">
                <a:effectLst/>
                <a:latin typeface="Times New Roman" panose="02020603050405020304" pitchFamily="18" charset="0"/>
                <a:cs typeface="Times New Roman" panose="02020603050405020304" pitchFamily="18" charset="0"/>
              </a:rPr>
              <a:t>Reduce la cantidad de características en los datos para facilitar la visualización y la comprensión.</a:t>
            </a:r>
          </a:p>
          <a:p>
            <a:pPr algn="l"/>
            <a:endParaRPr lang="es-ES" b="0" i="1" dirty="0">
              <a:effectLst/>
              <a:latin typeface="Times New Roman" panose="02020603050405020304" pitchFamily="18" charset="0"/>
              <a:cs typeface="Times New Roman" panose="02020603050405020304" pitchFamily="18" charset="0"/>
            </a:endParaRPr>
          </a:p>
          <a:p>
            <a:pPr algn="l"/>
            <a:r>
              <a:rPr lang="es-ES" b="1" i="1" dirty="0">
                <a:effectLst/>
                <a:latin typeface="Times New Roman" panose="02020603050405020304" pitchFamily="18" charset="0"/>
                <a:cs typeface="Times New Roman" panose="02020603050405020304" pitchFamily="18" charset="0"/>
              </a:rPr>
              <a:t>Visualización de datos: </a:t>
            </a:r>
            <a:r>
              <a:rPr lang="es-ES" b="0" i="1" dirty="0">
                <a:effectLst/>
                <a:latin typeface="Times New Roman" panose="02020603050405020304" pitchFamily="18" charset="0"/>
                <a:cs typeface="Times New Roman" panose="02020603050405020304" pitchFamily="18" charset="0"/>
              </a:rPr>
              <a:t>Representa los datos en un formato gráfico para facilitar la identificación de patrones y tendencias.</a:t>
            </a:r>
          </a:p>
          <a:p>
            <a:pPr algn="l"/>
            <a:endParaRPr lang="es-ES" b="0" i="1" dirty="0">
              <a:effectLst/>
              <a:latin typeface="Times New Roman" panose="02020603050405020304" pitchFamily="18" charset="0"/>
              <a:cs typeface="Times New Roman" panose="02020603050405020304" pitchFamily="18" charset="0"/>
            </a:endParaRPr>
          </a:p>
          <a:p>
            <a:pPr algn="l"/>
            <a:r>
              <a:rPr lang="es-ES" b="1" i="1" dirty="0">
                <a:effectLst/>
                <a:latin typeface="Times New Roman" panose="02020603050405020304" pitchFamily="18" charset="0"/>
                <a:cs typeface="Times New Roman" panose="02020603050405020304" pitchFamily="18" charset="0"/>
              </a:rPr>
              <a:t>Análisis de componentes principales (PCA, por sus siglas en inglés): </a:t>
            </a:r>
            <a:r>
              <a:rPr lang="es-ES" b="0" i="1" dirty="0">
                <a:effectLst/>
                <a:latin typeface="Times New Roman" panose="02020603050405020304" pitchFamily="18" charset="0"/>
                <a:cs typeface="Times New Roman" panose="02020603050405020304" pitchFamily="18" charset="0"/>
              </a:rPr>
              <a:t>Una técnica de reducción de dimensionalidad que encuentra una combinación lineal de características que explica la mayor parte de la variabilidad en los datos.</a:t>
            </a:r>
          </a:p>
          <a:p>
            <a:pPr algn="l"/>
            <a:endParaRPr lang="es-ES" b="0" i="1" dirty="0">
              <a:effectLst/>
              <a:latin typeface="Times New Roman" panose="02020603050405020304" pitchFamily="18" charset="0"/>
              <a:cs typeface="Times New Roman" panose="02020603050405020304" pitchFamily="18" charset="0"/>
            </a:endParaRPr>
          </a:p>
          <a:p>
            <a:pPr algn="l"/>
            <a:r>
              <a:rPr lang="es-ES" b="1" i="1" dirty="0" err="1">
                <a:effectLst/>
                <a:latin typeface="Times New Roman" panose="02020603050405020304" pitchFamily="18" charset="0"/>
                <a:cs typeface="Times New Roman" panose="02020603050405020304" pitchFamily="18" charset="0"/>
              </a:rPr>
              <a:t>Autoencoders</a:t>
            </a:r>
            <a:r>
              <a:rPr lang="es-ES" b="1" i="1" dirty="0">
                <a:effectLst/>
                <a:latin typeface="Times New Roman" panose="02020603050405020304" pitchFamily="18" charset="0"/>
                <a:cs typeface="Times New Roman" panose="02020603050405020304" pitchFamily="18" charset="0"/>
              </a:rPr>
              <a:t>: </a:t>
            </a:r>
            <a:r>
              <a:rPr lang="es-ES" b="0" i="1" dirty="0">
                <a:effectLst/>
                <a:latin typeface="Times New Roman" panose="02020603050405020304" pitchFamily="18" charset="0"/>
                <a:cs typeface="Times New Roman" panose="02020603050405020304" pitchFamily="18" charset="0"/>
              </a:rPr>
              <a:t>Una técnica de aprendizaje profundo que se utiliza para aprender una representación comprimida de los datos y luego reconstruir la representación original a partir de la representación comprimida.</a:t>
            </a:r>
          </a:p>
          <a:p>
            <a:pPr algn="l"/>
            <a:endParaRPr lang="es-ES" b="0" i="1" dirty="0">
              <a:effectLst/>
              <a:latin typeface="Times New Roman" panose="02020603050405020304" pitchFamily="18" charset="0"/>
              <a:cs typeface="Times New Roman" panose="02020603050405020304" pitchFamily="18" charset="0"/>
            </a:endParaRPr>
          </a:p>
          <a:p>
            <a:pPr algn="l"/>
            <a:r>
              <a:rPr lang="es-ES" b="1" i="1" dirty="0">
                <a:effectLst/>
                <a:latin typeface="Times New Roman" panose="02020603050405020304" pitchFamily="18" charset="0"/>
                <a:cs typeface="Times New Roman" panose="02020603050405020304" pitchFamily="18" charset="0"/>
              </a:rPr>
              <a:t>Mapas </a:t>
            </a:r>
            <a:r>
              <a:rPr lang="es-ES" b="1" i="1" dirty="0" err="1">
                <a:effectLst/>
                <a:latin typeface="Times New Roman" panose="02020603050405020304" pitchFamily="18" charset="0"/>
                <a:cs typeface="Times New Roman" panose="02020603050405020304" pitchFamily="18" charset="0"/>
              </a:rPr>
              <a:t>auto-organizativos</a:t>
            </a:r>
            <a:r>
              <a:rPr lang="es-ES" b="1" i="1" dirty="0">
                <a:effectLst/>
                <a:latin typeface="Times New Roman" panose="02020603050405020304" pitchFamily="18" charset="0"/>
                <a:cs typeface="Times New Roman" panose="02020603050405020304" pitchFamily="18" charset="0"/>
              </a:rPr>
              <a:t> (SOM, por sus siglas en inglés): </a:t>
            </a:r>
            <a:r>
              <a:rPr lang="es-ES" b="0" i="1" dirty="0">
                <a:effectLst/>
                <a:latin typeface="Times New Roman" panose="02020603050405020304" pitchFamily="18" charset="0"/>
                <a:cs typeface="Times New Roman" panose="02020603050405020304" pitchFamily="18" charset="0"/>
              </a:rPr>
              <a:t>Un algoritmo de </a:t>
            </a:r>
            <a:r>
              <a:rPr lang="es-ES" b="0" i="1" dirty="0" err="1">
                <a:effectLst/>
                <a:latin typeface="Times New Roman" panose="02020603050405020304" pitchFamily="18" charset="0"/>
                <a:cs typeface="Times New Roman" panose="02020603050405020304" pitchFamily="18" charset="0"/>
              </a:rPr>
              <a:t>clustering</a:t>
            </a:r>
            <a:r>
              <a:rPr lang="es-ES" b="0" i="1" dirty="0">
                <a:effectLst/>
                <a:latin typeface="Times New Roman" panose="02020603050405020304" pitchFamily="18" charset="0"/>
                <a:cs typeface="Times New Roman" panose="02020603050405020304" pitchFamily="18" charset="0"/>
              </a:rPr>
              <a:t> que crea un mapa de los datos y agrupa datos similares en la misma región del mapa.</a:t>
            </a:r>
          </a:p>
        </p:txBody>
      </p:sp>
    </p:spTree>
    <p:extLst>
      <p:ext uri="{BB962C8B-B14F-4D97-AF65-F5344CB8AC3E}">
        <p14:creationId xmlns:p14="http://schemas.microsoft.com/office/powerpoint/2010/main" val="2238069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(Semi </a:t>
            </a:r>
            <a:r>
              <a:rPr lang="en-US" sz="2400" b="1" dirty="0" err="1">
                <a:latin typeface="Heebo"/>
                <a:ea typeface="Heebo"/>
                <a:cs typeface="Heebo"/>
                <a:sym typeface="Heebo"/>
              </a:rPr>
              <a:t>Supervisado</a:t>
            </a:r>
            <a:r>
              <a:rPr lang="en-US" sz="2400" b="1" dirty="0">
                <a:latin typeface="Heebo"/>
                <a:ea typeface="Heebo"/>
                <a:cs typeface="Heebo"/>
                <a:sym typeface="Heebo"/>
              </a:rPr>
              <a:t>)</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sp>
        <p:nvSpPr>
          <p:cNvPr id="8" name="CuadroTexto 7">
            <a:extLst>
              <a:ext uri="{FF2B5EF4-FFF2-40B4-BE49-F238E27FC236}">
                <a16:creationId xmlns:a16="http://schemas.microsoft.com/office/drawing/2014/main" id="{CE987C36-BF88-C0F1-CA7F-9F0A764D2038}"/>
              </a:ext>
            </a:extLst>
          </p:cNvPr>
          <p:cNvSpPr txBox="1"/>
          <p:nvPr/>
        </p:nvSpPr>
        <p:spPr>
          <a:xfrm>
            <a:off x="382675" y="1998004"/>
            <a:ext cx="10300447" cy="3046988"/>
          </a:xfrm>
          <a:prstGeom prst="rect">
            <a:avLst/>
          </a:prstGeom>
          <a:noFill/>
        </p:spPr>
        <p:txBody>
          <a:bodyPr wrap="square">
            <a:spAutoFit/>
          </a:bodyPr>
          <a:lstStyle/>
          <a:p>
            <a:pPr algn="just"/>
            <a:r>
              <a:rPr lang="es-ES" sz="2400" b="1" i="1" dirty="0">
                <a:latin typeface="Times New Roman" panose="02020603050405020304" pitchFamily="18" charset="0"/>
                <a:cs typeface="Times New Roman" panose="02020603050405020304" pitchFamily="18" charset="0"/>
              </a:rPr>
              <a:t>Machine </a:t>
            </a:r>
            <a:r>
              <a:rPr lang="es-ES" sz="2400" b="1" i="1" dirty="0" err="1">
                <a:latin typeface="Times New Roman" panose="02020603050405020304" pitchFamily="18" charset="0"/>
                <a:cs typeface="Times New Roman" panose="02020603050405020304" pitchFamily="18" charset="0"/>
              </a:rPr>
              <a:t>Learning</a:t>
            </a:r>
            <a:r>
              <a:rPr lang="es-ES" sz="2400" b="1" i="1" dirty="0">
                <a:effectLst/>
                <a:latin typeface="Times New Roman" panose="02020603050405020304" pitchFamily="18" charset="0"/>
                <a:cs typeface="Times New Roman" panose="02020603050405020304" pitchFamily="18" charset="0"/>
              </a:rPr>
              <a:t> </a:t>
            </a:r>
            <a:r>
              <a:rPr lang="es-ES" sz="2400" b="1" i="1" dirty="0" err="1">
                <a:effectLst/>
                <a:latin typeface="Times New Roman" panose="02020603050405020304" pitchFamily="18" charset="0"/>
                <a:cs typeface="Times New Roman" panose="02020603050405020304" pitchFamily="18" charset="0"/>
              </a:rPr>
              <a:t>semi-supervisado</a:t>
            </a:r>
            <a:r>
              <a:rPr lang="es-ES" sz="2400" b="1" i="1" dirty="0">
                <a:effectLst/>
                <a:latin typeface="Times New Roman" panose="02020603050405020304" pitchFamily="18" charset="0"/>
                <a:cs typeface="Times New Roman" panose="02020603050405020304" pitchFamily="18" charset="0"/>
              </a:rPr>
              <a:t>: </a:t>
            </a:r>
            <a:r>
              <a:rPr lang="es-ES" sz="2400" b="0" i="1" dirty="0">
                <a:effectLst/>
                <a:latin typeface="Times New Roman" panose="02020603050405020304" pitchFamily="18" charset="0"/>
                <a:cs typeface="Times New Roman" panose="02020603050405020304" pitchFamily="18" charset="0"/>
              </a:rPr>
              <a:t>es una técnica de aprendizaje automático en la que el algoritmo se entrena con un pequeño conjunto de datos etiquetados y un gran conjunto de datos sin etiquetar. El objetivo es aprovechar la gran cantidad de datos sin etiquetar para mejorar el rendimiento del modelo. El algoritmo trata de aprender la estructura subyacente de los datos y luego usa esta información para hacer predicciones en los datos sin etiquetar. Este enfoque es útil cuando hay una cantidad limitada de datos etiquetados disponibles y el costo de obtener más datos etiquetados es alto.</a:t>
            </a:r>
            <a:endParaRPr lang="es-MX"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2272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(Semi </a:t>
            </a:r>
            <a:r>
              <a:rPr lang="en-US" sz="2400" b="1" dirty="0" err="1">
                <a:latin typeface="Heebo"/>
                <a:ea typeface="Heebo"/>
                <a:cs typeface="Heebo"/>
                <a:sym typeface="Heebo"/>
              </a:rPr>
              <a:t>Supervisado</a:t>
            </a:r>
            <a:r>
              <a:rPr lang="en-US" sz="2400" b="1" dirty="0">
                <a:latin typeface="Heebo"/>
                <a:ea typeface="Heebo"/>
                <a:cs typeface="Heebo"/>
                <a:sym typeface="Heebo"/>
              </a:rPr>
              <a:t>)</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sp>
        <p:nvSpPr>
          <p:cNvPr id="8" name="CuadroTexto 7">
            <a:extLst>
              <a:ext uri="{FF2B5EF4-FFF2-40B4-BE49-F238E27FC236}">
                <a16:creationId xmlns:a16="http://schemas.microsoft.com/office/drawing/2014/main" id="{05800EC5-8036-7FAE-4F26-E38B2E0E7A74}"/>
              </a:ext>
            </a:extLst>
          </p:cNvPr>
          <p:cNvSpPr txBox="1"/>
          <p:nvPr/>
        </p:nvSpPr>
        <p:spPr>
          <a:xfrm>
            <a:off x="831134" y="2139630"/>
            <a:ext cx="10774193" cy="3477875"/>
          </a:xfrm>
          <a:prstGeom prst="rect">
            <a:avLst/>
          </a:prstGeom>
          <a:noFill/>
        </p:spPr>
        <p:txBody>
          <a:bodyPr wrap="square">
            <a:spAutoFit/>
          </a:bodyPr>
          <a:lstStyle/>
          <a:p>
            <a:pPr algn="l"/>
            <a:r>
              <a:rPr lang="es-ES" sz="2000" b="1" i="1" dirty="0">
                <a:effectLst/>
                <a:latin typeface="Times New Roman" panose="02020603050405020304" pitchFamily="18" charset="0"/>
                <a:cs typeface="Times New Roman" panose="02020603050405020304" pitchFamily="18" charset="0"/>
              </a:rPr>
              <a:t>Enriquecimiento de etiquetas: </a:t>
            </a:r>
            <a:r>
              <a:rPr lang="es-ES" sz="2000" b="0" i="1" dirty="0">
                <a:effectLst/>
                <a:latin typeface="Times New Roman" panose="02020603050405020304" pitchFamily="18" charset="0"/>
                <a:cs typeface="Times New Roman" panose="02020603050405020304" pitchFamily="18" charset="0"/>
              </a:rPr>
              <a:t>aquí, se utilizan los datos sin etiquetar para enriquecer las etiquetas de los datos etiquetados, y luego se utilizan estos datos enriquecidos para entrenar el modelo.</a:t>
            </a:r>
          </a:p>
          <a:p>
            <a:pPr algn="l"/>
            <a:endParaRPr lang="es-ES" sz="2000" b="0" i="1" dirty="0">
              <a:effectLst/>
              <a:latin typeface="Times New Roman" panose="02020603050405020304" pitchFamily="18" charset="0"/>
              <a:cs typeface="Times New Roman" panose="02020603050405020304" pitchFamily="18" charset="0"/>
            </a:endParaRPr>
          </a:p>
          <a:p>
            <a:pPr algn="l"/>
            <a:r>
              <a:rPr lang="es-ES" sz="2000" b="1" i="1" dirty="0">
                <a:effectLst/>
                <a:latin typeface="Times New Roman" panose="02020603050405020304" pitchFamily="18" charset="0"/>
                <a:cs typeface="Times New Roman" panose="02020603050405020304" pitchFamily="18" charset="0"/>
              </a:rPr>
              <a:t>Transferencia de aprendizaje: </a:t>
            </a:r>
            <a:r>
              <a:rPr lang="es-ES" sz="2000" b="0" i="1" dirty="0">
                <a:effectLst/>
                <a:latin typeface="Times New Roman" panose="02020603050405020304" pitchFamily="18" charset="0"/>
                <a:cs typeface="Times New Roman" panose="02020603050405020304" pitchFamily="18" charset="0"/>
              </a:rPr>
              <a:t>aquí, se entrena un modelo en un conjunto de datos etiquetados y luego se transfiere ese aprendizaje a otro conjunto de datos sin etiquetar.</a:t>
            </a:r>
          </a:p>
          <a:p>
            <a:pPr algn="l"/>
            <a:endParaRPr lang="es-ES" sz="2000" b="0" i="1" dirty="0">
              <a:effectLst/>
              <a:latin typeface="Times New Roman" panose="02020603050405020304" pitchFamily="18" charset="0"/>
              <a:cs typeface="Times New Roman" panose="02020603050405020304" pitchFamily="18" charset="0"/>
            </a:endParaRPr>
          </a:p>
          <a:p>
            <a:pPr algn="l"/>
            <a:r>
              <a:rPr lang="es-ES" sz="2000" b="1" i="1" dirty="0" err="1">
                <a:effectLst/>
                <a:latin typeface="Times New Roman" panose="02020603050405020304" pitchFamily="18" charset="0"/>
                <a:cs typeface="Times New Roman" panose="02020603050405020304" pitchFamily="18" charset="0"/>
              </a:rPr>
              <a:t>Clustering</a:t>
            </a:r>
            <a:r>
              <a:rPr lang="es-ES" sz="2000" b="1" i="1" dirty="0">
                <a:effectLst/>
                <a:latin typeface="Times New Roman" panose="02020603050405020304" pitchFamily="18" charset="0"/>
                <a:cs typeface="Times New Roman" panose="02020603050405020304" pitchFamily="18" charset="0"/>
              </a:rPr>
              <a:t>: </a:t>
            </a:r>
            <a:r>
              <a:rPr lang="es-ES" sz="2000" b="0" i="1" dirty="0">
                <a:effectLst/>
                <a:latin typeface="Times New Roman" panose="02020603050405020304" pitchFamily="18" charset="0"/>
                <a:cs typeface="Times New Roman" panose="02020603050405020304" pitchFamily="18" charset="0"/>
              </a:rPr>
              <a:t>aquí, se utilizan técnicas de agrupamiento para agrupar los datos sin etiquetar en diferentes categorías, y luego se utilizan esas categorías para entrenar el modelo.</a:t>
            </a:r>
          </a:p>
          <a:p>
            <a:pPr algn="l"/>
            <a:endParaRPr lang="es-ES" sz="2000" i="1" dirty="0">
              <a:latin typeface="Times New Roman" panose="02020603050405020304" pitchFamily="18" charset="0"/>
              <a:cs typeface="Times New Roman" panose="02020603050405020304" pitchFamily="18" charset="0"/>
            </a:endParaRPr>
          </a:p>
          <a:p>
            <a:pPr algn="l"/>
            <a:r>
              <a:rPr lang="es-ES" sz="2000" b="1" i="1" dirty="0" err="1">
                <a:effectLst/>
                <a:latin typeface="Times New Roman" panose="02020603050405020304" pitchFamily="18" charset="0"/>
                <a:cs typeface="Times New Roman" panose="02020603050405020304" pitchFamily="18" charset="0"/>
              </a:rPr>
              <a:t>Pseudo-etiquetado</a:t>
            </a:r>
            <a:r>
              <a:rPr lang="es-ES" sz="2000" b="1" i="1" dirty="0">
                <a:effectLst/>
                <a:latin typeface="Times New Roman" panose="02020603050405020304" pitchFamily="18" charset="0"/>
                <a:cs typeface="Times New Roman" panose="02020603050405020304" pitchFamily="18" charset="0"/>
              </a:rPr>
              <a:t>: </a:t>
            </a:r>
            <a:r>
              <a:rPr lang="es-ES" sz="2000" b="0" i="1" dirty="0">
                <a:effectLst/>
                <a:latin typeface="Times New Roman" panose="02020603050405020304" pitchFamily="18" charset="0"/>
                <a:cs typeface="Times New Roman" panose="02020603050405020304" pitchFamily="18" charset="0"/>
              </a:rPr>
              <a:t>aquí, se utiliza el modelo entrenado con datos etiquetados para hacer predicciones en los datos sin etiquetar, y luego se utilizan esas predicciones como etiquetas para entrenar el modelo.</a:t>
            </a:r>
          </a:p>
        </p:txBody>
      </p:sp>
    </p:spTree>
    <p:extLst>
      <p:ext uri="{BB962C8B-B14F-4D97-AF65-F5344CB8AC3E}">
        <p14:creationId xmlns:p14="http://schemas.microsoft.com/office/powerpoint/2010/main" val="2135106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(Por </a:t>
            </a:r>
            <a:r>
              <a:rPr lang="en-US" sz="2400" b="1" dirty="0" err="1">
                <a:latin typeface="Heebo"/>
                <a:ea typeface="Heebo"/>
                <a:cs typeface="Heebo"/>
                <a:sym typeface="Heebo"/>
              </a:rPr>
              <a:t>refuerzo</a:t>
            </a:r>
            <a:r>
              <a:rPr lang="en-US" sz="2400" b="1" dirty="0">
                <a:latin typeface="Heebo"/>
                <a:ea typeface="Heebo"/>
                <a:cs typeface="Heebo"/>
                <a:sym typeface="Heebo"/>
              </a:rPr>
              <a:t>)</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sp>
        <p:nvSpPr>
          <p:cNvPr id="8" name="CuadroTexto 7">
            <a:extLst>
              <a:ext uri="{FF2B5EF4-FFF2-40B4-BE49-F238E27FC236}">
                <a16:creationId xmlns:a16="http://schemas.microsoft.com/office/drawing/2014/main" id="{CE987C36-BF88-C0F1-CA7F-9F0A764D2038}"/>
              </a:ext>
            </a:extLst>
          </p:cNvPr>
          <p:cNvSpPr txBox="1"/>
          <p:nvPr/>
        </p:nvSpPr>
        <p:spPr>
          <a:xfrm>
            <a:off x="759416" y="2505483"/>
            <a:ext cx="10300447" cy="2308324"/>
          </a:xfrm>
          <a:prstGeom prst="rect">
            <a:avLst/>
          </a:prstGeom>
          <a:noFill/>
        </p:spPr>
        <p:txBody>
          <a:bodyPr wrap="square">
            <a:spAutoFit/>
          </a:bodyPr>
          <a:lstStyle/>
          <a:p>
            <a:pPr algn="just"/>
            <a:r>
              <a:rPr lang="es-ES" sz="2400" b="1" i="1" dirty="0">
                <a:effectLst/>
                <a:latin typeface="Times New Roman" panose="02020603050405020304" pitchFamily="18" charset="0"/>
                <a:cs typeface="Times New Roman" panose="02020603050405020304" pitchFamily="18" charset="0"/>
              </a:rPr>
              <a:t>Machine </a:t>
            </a:r>
            <a:r>
              <a:rPr lang="es-ES" sz="2400" b="1" i="1" dirty="0" err="1">
                <a:effectLst/>
                <a:latin typeface="Times New Roman" panose="02020603050405020304" pitchFamily="18" charset="0"/>
                <a:cs typeface="Times New Roman" panose="02020603050405020304" pitchFamily="18" charset="0"/>
              </a:rPr>
              <a:t>Learning</a:t>
            </a:r>
            <a:r>
              <a:rPr lang="es-ES" sz="2400" b="1" i="1" dirty="0">
                <a:effectLst/>
                <a:latin typeface="Times New Roman" panose="02020603050405020304" pitchFamily="18" charset="0"/>
                <a:cs typeface="Times New Roman" panose="02020603050405020304" pitchFamily="18" charset="0"/>
              </a:rPr>
              <a:t> por refuerzo: </a:t>
            </a:r>
            <a:r>
              <a:rPr lang="es-ES" sz="2400" i="1" dirty="0">
                <a:effectLst/>
                <a:latin typeface="Times New Roman" panose="02020603050405020304" pitchFamily="18" charset="0"/>
                <a:cs typeface="Times New Roman" panose="02020603050405020304" pitchFamily="18" charset="0"/>
              </a:rPr>
              <a:t>es un tipo de aprendizaje automático en el que un agente aprende a tomar acciones en un entorno para maximizar una recompensa acumulada. El agente aprende a través de la interacción con el entorno y recibe recompensas o castigos por sus acciones, lo que le permite mejorar su comportamiento a lo largo del tiempo. Este enfoque se utiliza comúnmente en problemas de control de sistemas, juegos, entre otros.</a:t>
            </a:r>
            <a:endParaRPr lang="es-MX"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6602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 (Por </a:t>
            </a:r>
            <a:r>
              <a:rPr lang="en-US" sz="2400" b="1" dirty="0" err="1">
                <a:latin typeface="Heebo"/>
                <a:ea typeface="Heebo"/>
                <a:cs typeface="Heebo"/>
                <a:sym typeface="Heebo"/>
              </a:rPr>
              <a:t>refuerzo</a:t>
            </a:r>
            <a:r>
              <a:rPr lang="en-US" sz="2400" b="1" dirty="0">
                <a:latin typeface="Heebo"/>
                <a:ea typeface="Heebo"/>
                <a:cs typeface="Heebo"/>
                <a:sym typeface="Heebo"/>
              </a:rPr>
              <a:t>)</a:t>
            </a:r>
          </a:p>
          <a:p>
            <a:pPr marL="0" lvl="0" indent="0" algn="l" rtl="0">
              <a:spcBef>
                <a:spcPts val="0"/>
              </a:spcBef>
              <a:spcAft>
                <a:spcPts val="0"/>
              </a:spcAft>
              <a:buClr>
                <a:srgbClr val="000000"/>
              </a:buClr>
              <a:buSzPts val="1100"/>
              <a:buFont typeface="Arial"/>
              <a:buNone/>
            </a:pPr>
            <a:r>
              <a:rPr lang="es-MX" sz="1200" b="1" dirty="0">
                <a:latin typeface="Heebo"/>
                <a:ea typeface="Heebo"/>
                <a:cs typeface="Heebo"/>
                <a:sym typeface="Heebo"/>
              </a:rPr>
              <a:t>Programación</a:t>
            </a:r>
            <a:r>
              <a:rPr lang="en-US" sz="1200" b="1" dirty="0">
                <a:latin typeface="Heebo"/>
                <a:ea typeface="Heebo"/>
                <a:cs typeface="Heebo"/>
                <a:sym typeface="Heebo"/>
              </a:rPr>
              <a:t> II</a:t>
            </a:r>
            <a:endParaRPr sz="1200" b="1" dirty="0">
              <a:latin typeface="Heebo"/>
              <a:ea typeface="Heebo"/>
              <a:cs typeface="Heebo"/>
              <a:sym typeface="Heebo"/>
            </a:endParaRPr>
          </a:p>
        </p:txBody>
      </p:sp>
      <p:sp>
        <p:nvSpPr>
          <p:cNvPr id="8" name="CuadroTexto 7">
            <a:extLst>
              <a:ext uri="{FF2B5EF4-FFF2-40B4-BE49-F238E27FC236}">
                <a16:creationId xmlns:a16="http://schemas.microsoft.com/office/drawing/2014/main" id="{CE987C36-BF88-C0F1-CA7F-9F0A764D2038}"/>
              </a:ext>
            </a:extLst>
          </p:cNvPr>
          <p:cNvSpPr txBox="1"/>
          <p:nvPr/>
        </p:nvSpPr>
        <p:spPr>
          <a:xfrm>
            <a:off x="586673" y="2294594"/>
            <a:ext cx="10679549" cy="3539430"/>
          </a:xfrm>
          <a:prstGeom prst="rect">
            <a:avLst/>
          </a:prstGeom>
          <a:noFill/>
        </p:spPr>
        <p:txBody>
          <a:bodyPr wrap="square">
            <a:spAutoFit/>
          </a:bodyPr>
          <a:lstStyle/>
          <a:p>
            <a:pPr algn="just"/>
            <a:r>
              <a:rPr lang="es-ES" sz="2000" b="1" i="1" dirty="0">
                <a:latin typeface="Times New Roman" panose="02020603050405020304" pitchFamily="18" charset="0"/>
                <a:cs typeface="Times New Roman" panose="02020603050405020304" pitchFamily="18" charset="0"/>
              </a:rPr>
              <a:t>Algoritmos de políticas: </a:t>
            </a:r>
            <a:r>
              <a:rPr lang="es-ES" sz="2000" i="1" dirty="0">
                <a:latin typeface="Times New Roman" panose="02020603050405020304" pitchFamily="18" charset="0"/>
                <a:cs typeface="Times New Roman" panose="02020603050405020304" pitchFamily="18" charset="0"/>
              </a:rPr>
              <a:t>como la política de iteración de valor y la política de monte-</a:t>
            </a:r>
            <a:r>
              <a:rPr lang="es-ES" sz="2000" i="1" dirty="0" err="1">
                <a:latin typeface="Times New Roman" panose="02020603050405020304" pitchFamily="18" charset="0"/>
                <a:cs typeface="Times New Roman" panose="02020603050405020304" pitchFamily="18" charset="0"/>
              </a:rPr>
              <a:t>carlo</a:t>
            </a:r>
            <a:r>
              <a:rPr lang="es-ES" sz="2000" i="1" dirty="0">
                <a:latin typeface="Times New Roman" panose="02020603050405020304" pitchFamily="18" charset="0"/>
                <a:cs typeface="Times New Roman" panose="02020603050405020304" pitchFamily="18" charset="0"/>
              </a:rPr>
              <a:t>.</a:t>
            </a:r>
          </a:p>
          <a:p>
            <a:pPr algn="just"/>
            <a:endParaRPr lang="es-ES" sz="2000" i="1" dirty="0">
              <a:latin typeface="Times New Roman" panose="02020603050405020304" pitchFamily="18" charset="0"/>
              <a:cs typeface="Times New Roman" panose="02020603050405020304" pitchFamily="18" charset="0"/>
            </a:endParaRPr>
          </a:p>
          <a:p>
            <a:pPr algn="just"/>
            <a:r>
              <a:rPr lang="es-ES" sz="2000" b="1" i="1" dirty="0">
                <a:latin typeface="Times New Roman" panose="02020603050405020304" pitchFamily="18" charset="0"/>
                <a:cs typeface="Times New Roman" panose="02020603050405020304" pitchFamily="18" charset="0"/>
              </a:rPr>
              <a:t>Algoritmos de valor: </a:t>
            </a:r>
            <a:r>
              <a:rPr lang="es-ES" sz="2000" i="1" dirty="0">
                <a:latin typeface="Times New Roman" panose="02020603050405020304" pitchFamily="18" charset="0"/>
                <a:cs typeface="Times New Roman" panose="02020603050405020304" pitchFamily="18" charset="0"/>
              </a:rPr>
              <a:t>como el algoritmo Q-</a:t>
            </a:r>
            <a:r>
              <a:rPr lang="es-ES" sz="2000" i="1" dirty="0" err="1">
                <a:latin typeface="Times New Roman" panose="02020603050405020304" pitchFamily="18" charset="0"/>
                <a:cs typeface="Times New Roman" panose="02020603050405020304" pitchFamily="18" charset="0"/>
              </a:rPr>
              <a:t>Learning</a:t>
            </a:r>
            <a:r>
              <a:rPr lang="es-ES" sz="2000" i="1" dirty="0">
                <a:latin typeface="Times New Roman" panose="02020603050405020304" pitchFamily="18" charset="0"/>
                <a:cs typeface="Times New Roman" panose="02020603050405020304" pitchFamily="18" charset="0"/>
              </a:rPr>
              <a:t> y SARSA.</a:t>
            </a:r>
          </a:p>
          <a:p>
            <a:pPr algn="just"/>
            <a:endParaRPr lang="es-ES" sz="2000" i="1" dirty="0">
              <a:latin typeface="Times New Roman" panose="02020603050405020304" pitchFamily="18" charset="0"/>
              <a:cs typeface="Times New Roman" panose="02020603050405020304" pitchFamily="18" charset="0"/>
            </a:endParaRPr>
          </a:p>
          <a:p>
            <a:pPr algn="just"/>
            <a:r>
              <a:rPr lang="es-ES" sz="2000" b="1" i="1" dirty="0">
                <a:latin typeface="Times New Roman" panose="02020603050405020304" pitchFamily="18" charset="0"/>
                <a:cs typeface="Times New Roman" panose="02020603050405020304" pitchFamily="18" charset="0"/>
              </a:rPr>
              <a:t>Algoritmos de Actor-</a:t>
            </a:r>
            <a:r>
              <a:rPr lang="es-ES" sz="2000" b="1" i="1" dirty="0" err="1">
                <a:latin typeface="Times New Roman" panose="02020603050405020304" pitchFamily="18" charset="0"/>
                <a:cs typeface="Times New Roman" panose="02020603050405020304" pitchFamily="18" charset="0"/>
              </a:rPr>
              <a:t>Critic</a:t>
            </a:r>
            <a:r>
              <a:rPr lang="es-ES" sz="2000" b="1" i="1" dirty="0">
                <a:latin typeface="Times New Roman" panose="02020603050405020304" pitchFamily="18" charset="0"/>
                <a:cs typeface="Times New Roman" panose="02020603050405020304" pitchFamily="18" charset="0"/>
              </a:rPr>
              <a:t>: </a:t>
            </a:r>
            <a:r>
              <a:rPr lang="es-ES" sz="2000" i="1" dirty="0">
                <a:latin typeface="Times New Roman" panose="02020603050405020304" pitchFamily="18" charset="0"/>
                <a:cs typeface="Times New Roman" panose="02020603050405020304" pitchFamily="18" charset="0"/>
              </a:rPr>
              <a:t>combinan tanto los algoritmos de política como los algoritmos de valor.</a:t>
            </a:r>
          </a:p>
          <a:p>
            <a:pPr algn="just"/>
            <a:endParaRPr lang="es-ES" sz="2000" i="1" dirty="0">
              <a:latin typeface="Times New Roman" panose="02020603050405020304" pitchFamily="18" charset="0"/>
              <a:cs typeface="Times New Roman" panose="02020603050405020304" pitchFamily="18" charset="0"/>
            </a:endParaRPr>
          </a:p>
          <a:p>
            <a:pPr algn="just"/>
            <a:r>
              <a:rPr lang="es-ES" sz="2000" b="1" i="1" dirty="0">
                <a:latin typeface="Times New Roman" panose="02020603050405020304" pitchFamily="18" charset="0"/>
                <a:cs typeface="Times New Roman" panose="02020603050405020304" pitchFamily="18" charset="0"/>
              </a:rPr>
              <a:t>Aprendizaje por imitación: </a:t>
            </a:r>
            <a:r>
              <a:rPr lang="es-ES" sz="2000" i="1" dirty="0">
                <a:latin typeface="Times New Roman" panose="02020603050405020304" pitchFamily="18" charset="0"/>
                <a:cs typeface="Times New Roman" panose="02020603050405020304" pitchFamily="18" charset="0"/>
              </a:rPr>
              <a:t>en el que un agente aprende a realizar tareas a través de la observación de ejemplos de comportamientos expertos.</a:t>
            </a:r>
          </a:p>
          <a:p>
            <a:pPr algn="just"/>
            <a:endParaRPr lang="es-ES" sz="2000" i="1" dirty="0">
              <a:latin typeface="Times New Roman" panose="02020603050405020304" pitchFamily="18" charset="0"/>
              <a:cs typeface="Times New Roman" panose="02020603050405020304" pitchFamily="18" charset="0"/>
            </a:endParaRPr>
          </a:p>
          <a:p>
            <a:pPr algn="just"/>
            <a:r>
              <a:rPr lang="es-ES" sz="2000" b="1" i="1" dirty="0">
                <a:latin typeface="Times New Roman" panose="02020603050405020304" pitchFamily="18" charset="0"/>
                <a:cs typeface="Times New Roman" panose="02020603050405020304" pitchFamily="18" charset="0"/>
              </a:rPr>
              <a:t>Aprendizaje por mejora de la calidad: </a:t>
            </a:r>
            <a:r>
              <a:rPr lang="es-ES" sz="2000" i="1" dirty="0">
                <a:latin typeface="Times New Roman" panose="02020603050405020304" pitchFamily="18" charset="0"/>
                <a:cs typeface="Times New Roman" panose="02020603050405020304" pitchFamily="18" charset="0"/>
              </a:rPr>
              <a:t>en el que un agente mejora su comportamiento a través de la exploración y la explotación del entorno</a:t>
            </a:r>
            <a:r>
              <a:rPr lang="es-ES" sz="2400" b="1" i="1" dirty="0">
                <a:latin typeface="Times New Roman" panose="02020603050405020304" pitchFamily="18" charset="0"/>
                <a:cs typeface="Times New Roman" panose="02020603050405020304" pitchFamily="18" charset="0"/>
              </a:rPr>
              <a:t>.</a:t>
            </a:r>
            <a:endParaRPr lang="es-MX"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9588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6D9D7D9-ECEF-1359-698E-EA3B1652C3AE}"/>
              </a:ext>
            </a:extLst>
          </p:cNvPr>
          <p:cNvSpPr/>
          <p:nvPr/>
        </p:nvSpPr>
        <p:spPr>
          <a:xfrm>
            <a:off x="0" y="6651812"/>
            <a:ext cx="12192000" cy="2061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242;p42">
            <a:extLst>
              <a:ext uri="{FF2B5EF4-FFF2-40B4-BE49-F238E27FC236}">
                <a16:creationId xmlns:a16="http://schemas.microsoft.com/office/drawing/2014/main" id="{5B1B1760-5003-A17A-2171-22C0ED1E3AD9}"/>
              </a:ext>
            </a:extLst>
          </p:cNvPr>
          <p:cNvSpPr txBox="1"/>
          <p:nvPr/>
        </p:nvSpPr>
        <p:spPr>
          <a:xfrm>
            <a:off x="759416" y="1023976"/>
            <a:ext cx="6656700" cy="6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Heebo"/>
                <a:ea typeface="Heebo"/>
                <a:cs typeface="Heebo"/>
                <a:sym typeface="Heebo"/>
              </a:rPr>
              <a:t>Machine Learning</a:t>
            </a:r>
          </a:p>
          <a:p>
            <a:pPr marL="0" lvl="0" indent="0" algn="l" rtl="0">
              <a:spcBef>
                <a:spcPts val="0"/>
              </a:spcBef>
              <a:spcAft>
                <a:spcPts val="0"/>
              </a:spcAft>
              <a:buClr>
                <a:srgbClr val="000000"/>
              </a:buClr>
              <a:buSzPts val="1100"/>
              <a:buFont typeface="Arial"/>
              <a:buNone/>
            </a:pPr>
            <a:endParaRPr sz="1200" b="1" dirty="0">
              <a:latin typeface="Heebo"/>
              <a:ea typeface="Heebo"/>
              <a:cs typeface="Heebo"/>
              <a:sym typeface="Heebo"/>
            </a:endParaRPr>
          </a:p>
        </p:txBody>
      </p:sp>
      <p:pic>
        <p:nvPicPr>
          <p:cNvPr id="3074" name="Picture 2" descr="foto">
            <a:extLst>
              <a:ext uri="{FF2B5EF4-FFF2-40B4-BE49-F238E27FC236}">
                <a16:creationId xmlns:a16="http://schemas.microsoft.com/office/drawing/2014/main" id="{628F12BA-6224-F361-352C-CAF987C4AF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6529" y="1464750"/>
            <a:ext cx="8597153" cy="4912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64283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5383</TotalTime>
  <Words>1286</Words>
  <Application>Microsoft Office PowerPoint</Application>
  <PresentationFormat>Panorámica</PresentationFormat>
  <Paragraphs>101</Paragraphs>
  <Slides>20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Calibri</vt:lpstr>
      <vt:lpstr>Calibri Light</vt:lpstr>
      <vt:lpstr>Heebo</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Osvaldo Medina</dc:creator>
  <cp:lastModifiedBy>Osvaldo Medina</cp:lastModifiedBy>
  <cp:revision>21</cp:revision>
  <dcterms:created xsi:type="dcterms:W3CDTF">2023-01-17T20:05:31Z</dcterms:created>
  <dcterms:modified xsi:type="dcterms:W3CDTF">2025-11-05T02:20:17Z</dcterms:modified>
</cp:coreProperties>
</file>