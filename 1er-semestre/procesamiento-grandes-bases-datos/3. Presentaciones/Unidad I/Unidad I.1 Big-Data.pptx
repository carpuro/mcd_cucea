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heme/themeOverride1.xml" ContentType="application/vnd.openxmlformats-officedocument.themeOverr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heme/themeOverride2.xml" ContentType="application/vnd.openxmlformats-officedocument.themeOverr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heme/themeOverride3.xml" ContentType="application/vnd.openxmlformats-officedocument.themeOverride+xml"/>
  <Override PartName="/ppt/notesSlides/notesSlide35.xml" ContentType="application/vnd.openxmlformats-officedocument.presentationml.notesSlide+xml"/>
  <Override PartName="/ppt/theme/themeOverride4.xml" ContentType="application/vnd.openxmlformats-officedocument.themeOverr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heme/themeOverride5.xml" ContentType="application/vnd.openxmlformats-officedocument.themeOverride+xml"/>
  <Override PartName="/ppt/notesSlides/notesSlide4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7" r:id="rId1"/>
  </p:sldMasterIdLst>
  <p:notesMasterIdLst>
    <p:notesMasterId r:id="rId42"/>
  </p:notesMasterIdLst>
  <p:sldIdLst>
    <p:sldId id="256" r:id="rId2"/>
    <p:sldId id="334" r:id="rId3"/>
    <p:sldId id="304" r:id="rId4"/>
    <p:sldId id="305" r:id="rId5"/>
    <p:sldId id="306" r:id="rId6"/>
    <p:sldId id="300" r:id="rId7"/>
    <p:sldId id="301" r:id="rId8"/>
    <p:sldId id="262" r:id="rId9"/>
    <p:sldId id="302" r:id="rId10"/>
    <p:sldId id="275" r:id="rId11"/>
    <p:sldId id="303" r:id="rId12"/>
    <p:sldId id="307" r:id="rId13"/>
    <p:sldId id="278" r:id="rId14"/>
    <p:sldId id="318" r:id="rId15"/>
    <p:sldId id="319" r:id="rId16"/>
    <p:sldId id="320" r:id="rId17"/>
    <p:sldId id="321" r:id="rId18"/>
    <p:sldId id="323" r:id="rId19"/>
    <p:sldId id="324" r:id="rId20"/>
    <p:sldId id="325" r:id="rId21"/>
    <p:sldId id="310" r:id="rId22"/>
    <p:sldId id="322" r:id="rId23"/>
    <p:sldId id="326" r:id="rId24"/>
    <p:sldId id="327" r:id="rId25"/>
    <p:sldId id="328" r:id="rId26"/>
    <p:sldId id="329" r:id="rId27"/>
    <p:sldId id="330" r:id="rId28"/>
    <p:sldId id="331" r:id="rId29"/>
    <p:sldId id="332" r:id="rId30"/>
    <p:sldId id="333" r:id="rId31"/>
    <p:sldId id="308" r:id="rId32"/>
    <p:sldId id="309" r:id="rId33"/>
    <p:sldId id="286" r:id="rId34"/>
    <p:sldId id="315" r:id="rId35"/>
    <p:sldId id="316" r:id="rId36"/>
    <p:sldId id="317" r:id="rId37"/>
    <p:sldId id="311" r:id="rId38"/>
    <p:sldId id="312" r:id="rId39"/>
    <p:sldId id="313" r:id="rId40"/>
    <p:sldId id="314" r:id="rId41"/>
  </p:sldIdLst>
  <p:sldSz cx="24387175" cy="13716000"/>
  <p:notesSz cx="6858000" cy="9144000"/>
  <p:embeddedFontLst>
    <p:embeddedFont>
      <p:font typeface="Montserrat" panose="00000500000000000000" pitchFamily="2" charset="0"/>
      <p:regular r:id="rId43"/>
      <p:bold r:id="rId44"/>
      <p:italic r:id="rId45"/>
      <p:boldItalic r:id="rId46"/>
    </p:embeddedFont>
    <p:embeddedFont>
      <p:font typeface="Poppins" panose="00000500000000000000" pitchFamily="2" charset="0"/>
      <p:regular r:id="rId47"/>
      <p:bold r:id="rId48"/>
      <p:italic r:id="rId49"/>
      <p:boldItalic r:id="rId50"/>
    </p:embeddedFont>
    <p:embeddedFont>
      <p:font typeface="Roboto" panose="02000000000000000000" pitchFamily="2" charset="0"/>
      <p:regular r:id="rId51"/>
      <p:bold r:id="rId52"/>
      <p:italic r:id="rId53"/>
      <p:boldItalic r:id="rId5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616">
          <p15:clr>
            <a:srgbClr val="9AA0A6"/>
          </p15:clr>
        </p15:guide>
        <p15:guide id="2" pos="768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0913BC-475C-4A96-B624-8CC7F7E60BD8}" v="3" dt="2025-08-20T00:05:02.5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642" autoAdjust="0"/>
  </p:normalViewPr>
  <p:slideViewPr>
    <p:cSldViewPr snapToGrid="0">
      <p:cViewPr varScale="1">
        <p:scale>
          <a:sx n="49" d="100"/>
          <a:sy n="49" d="100"/>
        </p:scale>
        <p:origin x="1038" y="276"/>
      </p:cViewPr>
      <p:guideLst>
        <p:guide orient="horz" pos="5616"/>
        <p:guide pos="768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3" Type="http://schemas.openxmlformats.org/officeDocument/2006/relationships/font" Target="fonts/font11.fntdata"/><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59"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7.fntdata"/><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font" Target="fonts/font10.fntdata"/><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svaldo Medina" userId="43860acd52628d02" providerId="LiveId" clId="{080913BC-475C-4A96-B624-8CC7F7E60BD8}"/>
    <pc:docChg chg="addSld modSld">
      <pc:chgData name="Osvaldo Medina" userId="43860acd52628d02" providerId="LiveId" clId="{080913BC-475C-4A96-B624-8CC7F7E60BD8}" dt="2025-08-20T00:05:19.715" v="22" actId="1076"/>
      <pc:docMkLst>
        <pc:docMk/>
      </pc:docMkLst>
      <pc:sldChg chg="modSp mod">
        <pc:chgData name="Osvaldo Medina" userId="43860acd52628d02" providerId="LiveId" clId="{080913BC-475C-4A96-B624-8CC7F7E60BD8}" dt="2025-08-20T00:02:46.179" v="0" actId="20577"/>
        <pc:sldMkLst>
          <pc:docMk/>
          <pc:sldMk cId="0" sldId="256"/>
        </pc:sldMkLst>
        <pc:spChg chg="mod">
          <ac:chgData name="Osvaldo Medina" userId="43860acd52628d02" providerId="LiveId" clId="{080913BC-475C-4A96-B624-8CC7F7E60BD8}" dt="2025-08-20T00:02:46.179" v="0" actId="20577"/>
          <ac:spMkLst>
            <pc:docMk/>
            <pc:sldMk cId="0" sldId="256"/>
            <ac:spMk id="7" creationId="{723C9D5A-7F3D-A9B3-8892-BCC49AC8A02A}"/>
          </ac:spMkLst>
        </pc:spChg>
      </pc:sldChg>
      <pc:sldChg chg="addSp modSp add mod modAnim">
        <pc:chgData name="Osvaldo Medina" userId="43860acd52628d02" providerId="LiveId" clId="{080913BC-475C-4A96-B624-8CC7F7E60BD8}" dt="2025-08-20T00:05:19.715" v="22" actId="1076"/>
        <pc:sldMkLst>
          <pc:docMk/>
          <pc:sldMk cId="2253518671" sldId="334"/>
        </pc:sldMkLst>
        <pc:spChg chg="mod">
          <ac:chgData name="Osvaldo Medina" userId="43860acd52628d02" providerId="LiveId" clId="{080913BC-475C-4A96-B624-8CC7F7E60BD8}" dt="2025-08-20T00:05:14.331" v="20" actId="1076"/>
          <ac:spMkLst>
            <pc:docMk/>
            <pc:sldMk cId="2253518671" sldId="334"/>
            <ac:spMk id="6" creationId="{B7F19FF1-12BB-942F-CBB1-7257C97CA16B}"/>
          </ac:spMkLst>
        </pc:spChg>
        <pc:spChg chg="mod">
          <ac:chgData name="Osvaldo Medina" userId="43860acd52628d02" providerId="LiveId" clId="{080913BC-475C-4A96-B624-8CC7F7E60BD8}" dt="2025-08-20T00:04:31.554" v="2" actId="20577"/>
          <ac:spMkLst>
            <pc:docMk/>
            <pc:sldMk cId="2253518671" sldId="334"/>
            <ac:spMk id="7" creationId="{0A78CAB9-9CFE-6B21-0D2E-E77A4C702E56}"/>
          </ac:spMkLst>
        </pc:spChg>
        <pc:picChg chg="add mod">
          <ac:chgData name="Osvaldo Medina" userId="43860acd52628d02" providerId="LiveId" clId="{080913BC-475C-4A96-B624-8CC7F7E60BD8}" dt="2025-08-20T00:05:19.715" v="22" actId="1076"/>
          <ac:picMkLst>
            <pc:docMk/>
            <pc:sldMk cId="2253518671" sldId="334"/>
            <ac:picMk id="8" creationId="{A410C585-99D1-5390-110F-25CCDE4B25F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100" b="0" i="0" u="none" strike="noStrike" cap="none"/>
            </a:lvl1pPr>
            <a:lvl2pPr marL="914400" marR="0" lvl="1" indent="-228600" algn="l" rtl="0">
              <a:spcBef>
                <a:spcPts val="0"/>
              </a:spcBef>
              <a:spcAft>
                <a:spcPts val="0"/>
              </a:spcAft>
              <a:buSzPts val="1400"/>
              <a:buNone/>
              <a:defRPr sz="1100" b="0" i="0" u="none" strike="noStrike" cap="none"/>
            </a:lvl2pPr>
            <a:lvl3pPr marL="1371600" marR="0" lvl="2" indent="-228600" algn="l" rtl="0">
              <a:spcBef>
                <a:spcPts val="0"/>
              </a:spcBef>
              <a:spcAft>
                <a:spcPts val="0"/>
              </a:spcAft>
              <a:buSzPts val="1400"/>
              <a:buNone/>
              <a:defRPr sz="1100" b="0" i="0" u="none" strike="noStrike" cap="none"/>
            </a:lvl3pPr>
            <a:lvl4pPr marL="1828800" marR="0" lvl="3" indent="-228600" algn="l" rtl="0">
              <a:spcBef>
                <a:spcPts val="0"/>
              </a:spcBef>
              <a:spcAft>
                <a:spcPts val="0"/>
              </a:spcAft>
              <a:buSzPts val="1400"/>
              <a:buNone/>
              <a:defRPr sz="1100" b="0" i="0" u="none" strike="noStrike" cap="none"/>
            </a:lvl4pPr>
            <a:lvl5pPr marL="2286000" marR="0" lvl="4" indent="-228600" algn="l" rtl="0">
              <a:spcBef>
                <a:spcPts val="0"/>
              </a:spcBef>
              <a:spcAft>
                <a:spcPts val="0"/>
              </a:spcAft>
              <a:buSzPts val="1400"/>
              <a:buNone/>
              <a:defRPr sz="1100" b="0" i="0" u="none" strike="noStrike" cap="none"/>
            </a:lvl5pPr>
            <a:lvl6pPr marL="2743200" marR="0" lvl="5" indent="-228600" algn="l" rtl="0">
              <a:spcBef>
                <a:spcPts val="0"/>
              </a:spcBef>
              <a:spcAft>
                <a:spcPts val="0"/>
              </a:spcAft>
              <a:buSzPts val="1400"/>
              <a:buNone/>
              <a:defRPr sz="1100" b="0" i="0" u="none" strike="noStrike" cap="none"/>
            </a:lvl6pPr>
            <a:lvl7pPr marL="3200400" marR="0" lvl="6" indent="-228600" algn="l" rtl="0">
              <a:spcBef>
                <a:spcPts val="0"/>
              </a:spcBef>
              <a:spcAft>
                <a:spcPts val="0"/>
              </a:spcAft>
              <a:buSzPts val="1400"/>
              <a:buNone/>
              <a:defRPr sz="1100" b="0" i="0" u="none" strike="noStrike" cap="none"/>
            </a:lvl7pPr>
            <a:lvl8pPr marL="3657600" marR="0" lvl="7" indent="-228600" algn="l" rtl="0">
              <a:spcBef>
                <a:spcPts val="0"/>
              </a:spcBef>
              <a:spcAft>
                <a:spcPts val="0"/>
              </a:spcAft>
              <a:buSzPts val="1400"/>
              <a:buNone/>
              <a:defRPr sz="1100" b="0" i="0" u="none" strike="noStrike" cap="none"/>
            </a:lvl8pPr>
            <a:lvl9pPr marL="4114800" marR="0" lvl="8" indent="-228600" algn="l" rtl="0">
              <a:spcBef>
                <a:spcPts val="0"/>
              </a:spcBef>
              <a:spcAft>
                <a:spcPts val="0"/>
              </a:spcAft>
              <a:buSzPts val="1400"/>
              <a:buNone/>
              <a:defRPr sz="1100" b="0" i="0" u="none" strike="noStrike" cap="none"/>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p:cNvGrpSpPr/>
        <p:nvPr/>
      </p:nvGrpSpPr>
      <p:grpSpPr>
        <a:xfrm>
          <a:off x="0" y="0"/>
          <a:ext cx="0" cy="0"/>
          <a:chOff x="0" y="0"/>
          <a:chExt cx="0" cy="0"/>
        </a:xfrm>
      </p:grpSpPr>
      <p:sp>
        <p:nvSpPr>
          <p:cNvPr id="24" name="Google Shape;24;g8a7df07aed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SzPts val="1100"/>
              <a:buNone/>
            </a:pPr>
            <a:endParaRPr/>
          </a:p>
        </p:txBody>
      </p:sp>
      <p:sp>
        <p:nvSpPr>
          <p:cNvPr id="25" name="Google Shape;25;g8a7df07aed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8D048E26-3AC1-E233-47C0-1D7A52C5D6ED}"/>
            </a:ext>
          </a:extLst>
        </p:cNvPr>
        <p:cNvGrpSpPr/>
        <p:nvPr/>
      </p:nvGrpSpPr>
      <p:grpSpPr>
        <a:xfrm>
          <a:off x="0" y="0"/>
          <a:ext cx="0" cy="0"/>
          <a:chOff x="0" y="0"/>
          <a:chExt cx="0" cy="0"/>
        </a:xfrm>
      </p:grpSpPr>
      <p:sp>
        <p:nvSpPr>
          <p:cNvPr id="24" name="Google Shape;24;g8a7df07aed_0_2:notes">
            <a:extLst>
              <a:ext uri="{FF2B5EF4-FFF2-40B4-BE49-F238E27FC236}">
                <a16:creationId xmlns:a16="http://schemas.microsoft.com/office/drawing/2014/main" id="{C2AE20C1-4ABA-A20A-753D-0393A8DF1D2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SzPts val="1100"/>
              <a:buNone/>
            </a:pPr>
            <a:endParaRPr/>
          </a:p>
        </p:txBody>
      </p:sp>
      <p:sp>
        <p:nvSpPr>
          <p:cNvPr id="25" name="Google Shape;25;g8a7df07aed_0_2:notes">
            <a:extLst>
              <a:ext uri="{FF2B5EF4-FFF2-40B4-BE49-F238E27FC236}">
                <a16:creationId xmlns:a16="http://schemas.microsoft.com/office/drawing/2014/main" id="{03812E2A-D319-481D-3804-837FF8AE93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304324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SzPts val="1100"/>
              <a:buNone/>
            </a:pPr>
            <a:endParaRPr/>
          </a:p>
        </p:txBody>
      </p:sp>
      <p:sp>
        <p:nvSpPr>
          <p:cNvPr id="47" name="Google Shape;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545588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a81927de4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SzPts val="1100"/>
              <a:buNone/>
            </a:pPr>
            <a:endParaRPr/>
          </a:p>
        </p:txBody>
      </p:sp>
      <p:sp>
        <p:nvSpPr>
          <p:cNvPr id="74" name="Google Shape;74;ga81927de4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049056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a81927de4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SzPts val="1100"/>
              <a:buNone/>
            </a:pPr>
            <a:endParaRPr/>
          </a:p>
        </p:txBody>
      </p:sp>
      <p:sp>
        <p:nvSpPr>
          <p:cNvPr id="74" name="Google Shape;74;ga81927de4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238959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8e91b49eda_0_6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8e91b49eda_0_6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b="0" i="0" dirty="0">
                <a:solidFill>
                  <a:srgbClr val="374151"/>
                </a:solidFill>
                <a:effectLst/>
                <a:latin typeface="+mj-lt"/>
              </a:rPr>
              <a:t>En el contexto de Big Data, el "volumen" se refiere a la cantidad masiva de datos que se generan, recopilan y almacenan a una escala mucho mayor de lo que puede ser procesado y analizado utilizando herramientas y técnicas tradicionales. El volumen es uno de los tres desafíos principales de Big Data, junto con la variedad y la velocidad.</a:t>
            </a:r>
          </a:p>
          <a:p>
            <a:pPr marL="0" lvl="0" indent="0" algn="l" rtl="0">
              <a:spcBef>
                <a:spcPts val="0"/>
              </a:spcBef>
              <a:spcAft>
                <a:spcPts val="0"/>
              </a:spcAft>
              <a:buNone/>
            </a:pPr>
            <a:endParaRPr lang="es-ES" b="0" i="0" dirty="0">
              <a:solidFill>
                <a:srgbClr val="374151"/>
              </a:solidFill>
              <a:effectLst/>
              <a:latin typeface="+mj-lt"/>
            </a:endParaRPr>
          </a:p>
          <a:p>
            <a:pPr marL="0" lvl="0" indent="0" algn="l" rtl="0">
              <a:spcBef>
                <a:spcPts val="0"/>
              </a:spcBef>
              <a:spcAft>
                <a:spcPts val="0"/>
              </a:spcAft>
              <a:buNone/>
            </a:pPr>
            <a:r>
              <a:rPr lang="es-ES" b="0" i="0" dirty="0">
                <a:solidFill>
                  <a:srgbClr val="374151"/>
                </a:solidFill>
                <a:effectLst/>
                <a:latin typeface="+mj-lt"/>
              </a:rPr>
              <a:t>El crecimiento explosivo en la cantidad de datos se ha producido debido a varios factores, como la mayor adopción de dispositivos conectados a Internet, el almacenamiento más asequible, el aumento en la cantidad de datos generados por usuarios y sistemas, y la recopilación proactiva de información para análisis y toma de decisiones.</a:t>
            </a:r>
          </a:p>
          <a:p>
            <a:pPr marL="0" lvl="0" indent="0" algn="l" rtl="0">
              <a:spcBef>
                <a:spcPts val="0"/>
              </a:spcBef>
              <a:spcAft>
                <a:spcPts val="0"/>
              </a:spcAft>
              <a:buNone/>
            </a:pPr>
            <a:endParaRPr lang="es-ES" b="0" i="0" dirty="0">
              <a:solidFill>
                <a:srgbClr val="374151"/>
              </a:solidFill>
              <a:effectLst/>
              <a:latin typeface="+mj-lt"/>
            </a:endParaRPr>
          </a:p>
          <a:p>
            <a:pPr marL="0" lvl="0" indent="0" algn="l" rtl="0">
              <a:spcBef>
                <a:spcPts val="0"/>
              </a:spcBef>
              <a:spcAft>
                <a:spcPts val="0"/>
              </a:spcAft>
              <a:buNone/>
            </a:pPr>
            <a:r>
              <a:rPr lang="es-ES" b="0" i="0" dirty="0">
                <a:solidFill>
                  <a:srgbClr val="374151"/>
                </a:solidFill>
                <a:effectLst/>
                <a:latin typeface="+mj-lt"/>
              </a:rPr>
              <a:t>Para abordar el desafío del volumen en Big Data, se requiere una infraestructura y tecnologías adecuadas que puedan manejar y procesar grandes cantidades de datos de manera eficiente. Algunas de las herramientas populares utilizadas para lidiar con el volumen de datos en Big Data incluyen sistemas de almacenamiento distribuido como Hadoop </a:t>
            </a:r>
            <a:r>
              <a:rPr lang="es-ES" b="0" i="0" dirty="0" err="1">
                <a:solidFill>
                  <a:srgbClr val="374151"/>
                </a:solidFill>
                <a:effectLst/>
                <a:latin typeface="+mj-lt"/>
              </a:rPr>
              <a:t>Distributed</a:t>
            </a:r>
            <a:r>
              <a:rPr lang="es-ES" b="0" i="0" dirty="0">
                <a:solidFill>
                  <a:srgbClr val="374151"/>
                </a:solidFill>
                <a:effectLst/>
                <a:latin typeface="+mj-lt"/>
              </a:rPr>
              <a:t> File </a:t>
            </a:r>
            <a:r>
              <a:rPr lang="es-ES" b="0" i="0" dirty="0" err="1">
                <a:solidFill>
                  <a:srgbClr val="374151"/>
                </a:solidFill>
                <a:effectLst/>
                <a:latin typeface="+mj-lt"/>
              </a:rPr>
              <a:t>System</a:t>
            </a:r>
            <a:r>
              <a:rPr lang="es-ES" b="0" i="0" dirty="0">
                <a:solidFill>
                  <a:srgbClr val="374151"/>
                </a:solidFill>
                <a:effectLst/>
                <a:latin typeface="+mj-lt"/>
              </a:rPr>
              <a:t> (HDFS), sistemas de procesamiento en paralelo como Apache </a:t>
            </a:r>
            <a:r>
              <a:rPr lang="es-ES" b="0" i="0" dirty="0" err="1">
                <a:solidFill>
                  <a:srgbClr val="374151"/>
                </a:solidFill>
                <a:effectLst/>
                <a:latin typeface="+mj-lt"/>
              </a:rPr>
              <a:t>Spark</a:t>
            </a:r>
            <a:r>
              <a:rPr lang="es-ES" b="0" i="0" dirty="0">
                <a:solidFill>
                  <a:srgbClr val="374151"/>
                </a:solidFill>
                <a:effectLst/>
                <a:latin typeface="+mj-lt"/>
              </a:rPr>
              <a:t>, bases de datos NoSQL y servicios en la nube escalables.</a:t>
            </a:r>
            <a:endParaRPr lang="es-ES" dirty="0">
              <a:latin typeface="+mj-lt"/>
            </a:endParaRPr>
          </a:p>
        </p:txBody>
      </p:sp>
    </p:spTree>
    <p:extLst>
      <p:ext uri="{BB962C8B-B14F-4D97-AF65-F5344CB8AC3E}">
        <p14:creationId xmlns:p14="http://schemas.microsoft.com/office/powerpoint/2010/main" val="3762002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8e91b49eda_0_6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8e91b49eda_0_6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s-ES" b="0" i="0" dirty="0">
                <a:solidFill>
                  <a:srgbClr val="374151"/>
                </a:solidFill>
                <a:effectLst/>
                <a:latin typeface="Söhne"/>
              </a:rPr>
              <a:t>En el contexto de Big Data, la "variedad" se refiere a la diversidad de tipos y formatos de datos que se manejan en un entorno de análisis y procesamiento masivo de información. A diferencia de los datos estructurados que se encuentran en bases de datos tradicionales, los datos en el ámbito del Big Data pueden ser de naturaleza muy variada y no estar organizados en tablas o esquemas predefinidos.</a:t>
            </a:r>
          </a:p>
          <a:p>
            <a:pPr algn="l"/>
            <a:endParaRPr lang="es-ES" b="0" i="0" dirty="0">
              <a:solidFill>
                <a:srgbClr val="374151"/>
              </a:solidFill>
              <a:effectLst/>
              <a:latin typeface="Söhne"/>
            </a:endParaRPr>
          </a:p>
          <a:p>
            <a:pPr algn="l"/>
            <a:r>
              <a:rPr lang="es-ES" b="0" i="0" dirty="0">
                <a:solidFill>
                  <a:srgbClr val="374151"/>
                </a:solidFill>
                <a:effectLst/>
                <a:latin typeface="Söhne"/>
              </a:rPr>
              <a:t>Los datos pueden clasificarse en tres categorías principales en términos de variedad:</a:t>
            </a:r>
          </a:p>
          <a:p>
            <a:pPr algn="l"/>
            <a:endParaRPr lang="es-ES" b="0" i="0" dirty="0">
              <a:solidFill>
                <a:srgbClr val="374151"/>
              </a:solidFill>
              <a:effectLst/>
              <a:latin typeface="Söhne"/>
            </a:endParaRPr>
          </a:p>
          <a:p>
            <a:pPr algn="l">
              <a:buFont typeface="+mj-lt"/>
              <a:buAutoNum type="arabicPeriod"/>
            </a:pPr>
            <a:r>
              <a:rPr lang="es-ES" b="0" i="0" dirty="0">
                <a:solidFill>
                  <a:srgbClr val="374151"/>
                </a:solidFill>
                <a:effectLst/>
                <a:latin typeface="Söhne"/>
              </a:rPr>
              <a:t>Datos estructurados: Son datos organizados en tablas con filas y columnas. Estos datos se almacenan en bases de datos relacionales y suelen tener un esquema fijo. Ejemplos de datos estructurados incluyen información almacenada en hojas de cálculo, sistemas de gestión de bases de datos tradicionales y archivos CSV (valores separados por comas).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0547839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8e91b49eda_0_6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8e91b49eda_0_6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b="0" i="0" dirty="0">
                <a:solidFill>
                  <a:srgbClr val="374151"/>
                </a:solidFill>
                <a:effectLst/>
                <a:latin typeface="Söhne"/>
              </a:rPr>
              <a:t>Datos no estructurados: Son datos que no siguen un formato fijo y no se pueden almacenar en tablas. Estos datos pueden incluir texto libre, imágenes, videos, audio, correos electrónicos, publicaciones en redes sociales, documentos PDF, entre otros. El procesamiento y análisis de datos no estructurados presentan desafíos adicionales debido a la falta de una estructura predefinida.</a:t>
            </a:r>
            <a:endParaRPr dirty="0"/>
          </a:p>
        </p:txBody>
      </p:sp>
    </p:spTree>
    <p:extLst>
      <p:ext uri="{BB962C8B-B14F-4D97-AF65-F5344CB8AC3E}">
        <p14:creationId xmlns:p14="http://schemas.microsoft.com/office/powerpoint/2010/main" val="785591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8e91b49eda_0_6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8e91b49eda_0_6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b="0" i="0" dirty="0">
                <a:solidFill>
                  <a:srgbClr val="374151"/>
                </a:solidFill>
                <a:effectLst/>
                <a:latin typeface="Söhne"/>
              </a:rPr>
              <a:t>Datos semiestructurados: Son datos que contienen alguna estructura, pero no se ajustan a un esquema fijo como los datos estructurados. Los datos semiestructurados se caracterizan por tener metadatos que describen la estructura o relación entre los elementos. Ejemplos de datos semiestructurados incluyen documentos XML, JSON y HTML.</a:t>
            </a:r>
          </a:p>
          <a:p>
            <a:pPr marL="0" lvl="0" indent="0" algn="l" rtl="0">
              <a:spcBef>
                <a:spcPts val="0"/>
              </a:spcBef>
              <a:spcAft>
                <a:spcPts val="0"/>
              </a:spcAft>
              <a:buNone/>
            </a:pPr>
            <a:endParaRPr lang="es-ES" b="0" i="0" dirty="0">
              <a:solidFill>
                <a:srgbClr val="374151"/>
              </a:solidFill>
              <a:effectLst/>
              <a:latin typeface="Söhne"/>
            </a:endParaRPr>
          </a:p>
          <a:p>
            <a:pPr marL="0" lvl="0" indent="0" algn="l" rtl="0">
              <a:spcBef>
                <a:spcPts val="0"/>
              </a:spcBef>
              <a:spcAft>
                <a:spcPts val="0"/>
              </a:spcAft>
              <a:buNone/>
            </a:pPr>
            <a:r>
              <a:rPr lang="es-ES" b="0" i="0" dirty="0">
                <a:solidFill>
                  <a:srgbClr val="374151"/>
                </a:solidFill>
                <a:effectLst/>
                <a:latin typeface="Söhne"/>
              </a:rPr>
              <a:t>La variedad en Big Data se convierte en un desafío significativo porque requiere la utilización de herramientas y técnicas adecuadas para procesar y analizar datos de diferentes formatos y tipos. Las tecnologías de Big Data, como Hadoop y </a:t>
            </a:r>
            <a:r>
              <a:rPr lang="es-ES" b="0" i="0" dirty="0" err="1">
                <a:solidFill>
                  <a:srgbClr val="374151"/>
                </a:solidFill>
                <a:effectLst/>
                <a:latin typeface="Söhne"/>
              </a:rPr>
              <a:t>Spark</a:t>
            </a:r>
            <a:r>
              <a:rPr lang="es-ES" b="0" i="0" dirty="0">
                <a:solidFill>
                  <a:srgbClr val="374151"/>
                </a:solidFill>
                <a:effectLst/>
                <a:latin typeface="Söhne"/>
              </a:rPr>
              <a:t>, son especialmente útiles para abordar la variedad, ya que permiten la ingestión, almacenamiento y procesamiento de datos heterogéneos y no estructurados en clústeres distribuidos. Al hacer frente a la variedad de datos, las organizaciones pueden aprovechar una amplia gama de fuentes para obtener información más completa y valiosa.</a:t>
            </a:r>
            <a:endParaRPr dirty="0"/>
          </a:p>
        </p:txBody>
      </p:sp>
    </p:spTree>
    <p:extLst>
      <p:ext uri="{BB962C8B-B14F-4D97-AF65-F5344CB8AC3E}">
        <p14:creationId xmlns:p14="http://schemas.microsoft.com/office/powerpoint/2010/main" val="12182987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8e91b49eda_0_6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8e91b49eda_0_6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just"/>
            <a:r>
              <a:rPr lang="es-ES" b="0" i="0" dirty="0">
                <a:solidFill>
                  <a:srgbClr val="374151"/>
                </a:solidFill>
                <a:effectLst/>
                <a:latin typeface="Söhne"/>
              </a:rPr>
              <a:t>En el contexto de Big Data, la "velocidad" se refiere a la capacidad de procesar y analizar grandes volúmenes de datos de manera rápida y eficiente. Big Data se caracteriza por la generación y recopilación de enormes cantidades de información en tiempo real o a un ritmo muy acelerado. Por lo tanto, la velocidad se convierte en un factor crítico para extraer información útil y tomar decisiones rápidas en entornos comerciales y científicos.</a:t>
            </a:r>
          </a:p>
          <a:p>
            <a:pPr algn="just"/>
            <a:endParaRPr lang="es-ES" b="0" i="0" dirty="0">
              <a:solidFill>
                <a:srgbClr val="374151"/>
              </a:solidFill>
              <a:effectLst/>
              <a:latin typeface="Söhne"/>
            </a:endParaRPr>
          </a:p>
          <a:p>
            <a:pPr algn="l"/>
            <a:r>
              <a:rPr lang="es-ES" b="0" i="0" dirty="0">
                <a:solidFill>
                  <a:srgbClr val="374151"/>
                </a:solidFill>
                <a:effectLst/>
                <a:latin typeface="Söhne"/>
              </a:rPr>
              <a:t>La velocidad en Big Data implica dos aspectos principales:</a:t>
            </a:r>
          </a:p>
          <a:p>
            <a:pPr algn="l"/>
            <a:endParaRPr lang="es-ES" b="0" i="0" dirty="0">
              <a:solidFill>
                <a:srgbClr val="374151"/>
              </a:solidFill>
              <a:effectLst/>
              <a:latin typeface="Söhne"/>
            </a:endParaRPr>
          </a:p>
          <a:p>
            <a:pPr marL="228600" indent="0" algn="l">
              <a:buFont typeface="+mj-lt"/>
              <a:buNone/>
            </a:pPr>
            <a:r>
              <a:rPr lang="es-ES" b="0" i="0" dirty="0">
                <a:solidFill>
                  <a:srgbClr val="374151"/>
                </a:solidFill>
                <a:effectLst/>
                <a:latin typeface="Söhne"/>
              </a:rPr>
              <a:t>1. Velocidad de adquisición de datos: Se refiere a la rapidez con la que los datos pueden ser recopilados e ingresados en el sistema de Big Data. Esta velocidad puede variar según el tipo de datos y las fuentes de adquisición. Por ejemplo, en aplicaciones de </a:t>
            </a:r>
            <a:r>
              <a:rPr lang="es-ES" b="0" i="0" dirty="0" err="1">
                <a:solidFill>
                  <a:srgbClr val="374151"/>
                </a:solidFill>
                <a:effectLst/>
                <a:latin typeface="Söhne"/>
              </a:rPr>
              <a:t>IoT</a:t>
            </a:r>
            <a:r>
              <a:rPr lang="es-ES" b="0" i="0" dirty="0">
                <a:solidFill>
                  <a:srgbClr val="374151"/>
                </a:solidFill>
                <a:effectLst/>
                <a:latin typeface="Söhne"/>
              </a:rPr>
              <a:t> (Internet de las cosas), los sensores pueden generar datos continuamente, lo que requiere un procesamiento rápido para no perder información relevante.</a:t>
            </a:r>
          </a:p>
          <a:p>
            <a:pPr marL="228600" indent="0" algn="l">
              <a:buFont typeface="+mj-lt"/>
              <a:buNone/>
            </a:pPr>
            <a:endParaRPr lang="es-ES" b="0" i="0" dirty="0">
              <a:solidFill>
                <a:srgbClr val="374151"/>
              </a:solidFill>
              <a:effectLst/>
              <a:latin typeface="Söhne"/>
            </a:endParaRPr>
          </a:p>
          <a:p>
            <a:pPr marL="228600" indent="0" algn="l">
              <a:buFont typeface="+mj-lt"/>
              <a:buNone/>
            </a:pPr>
            <a:r>
              <a:rPr lang="es-ES" b="0" i="0" dirty="0">
                <a:solidFill>
                  <a:srgbClr val="374151"/>
                </a:solidFill>
                <a:effectLst/>
                <a:latin typeface="Söhne"/>
              </a:rPr>
              <a:t>2. Velocidad de procesamiento y análisis: Una vez que los datos están disponibles en el sistema de Big Data, la velocidad de procesamiento y análisis se vuelve esencial para obtener información en tiempo real o en un tiempo aceptable. Esta tarea a menudo involucra el uso de sistemas de procesamiento distribuido, como Hadoop, </a:t>
            </a:r>
            <a:r>
              <a:rPr lang="es-ES" b="0" i="0" dirty="0" err="1">
                <a:solidFill>
                  <a:srgbClr val="374151"/>
                </a:solidFill>
                <a:effectLst/>
                <a:latin typeface="Söhne"/>
              </a:rPr>
              <a:t>Spark</a:t>
            </a:r>
            <a:r>
              <a:rPr lang="es-ES" b="0" i="0" dirty="0">
                <a:solidFill>
                  <a:srgbClr val="374151"/>
                </a:solidFill>
                <a:effectLst/>
                <a:latin typeface="Söhne"/>
              </a:rPr>
              <a:t> u otras herramientas de procesamiento en paralelo, para lograr un rendimiento óptimo.</a:t>
            </a:r>
          </a:p>
          <a:p>
            <a:pPr marL="228600" indent="0" algn="l">
              <a:buFont typeface="+mj-lt"/>
              <a:buNone/>
            </a:pPr>
            <a:endParaRPr lang="es-ES" b="0" i="0" dirty="0">
              <a:solidFill>
                <a:srgbClr val="374151"/>
              </a:solidFill>
              <a:effectLst/>
              <a:latin typeface="Söhne"/>
            </a:endParaRPr>
          </a:p>
          <a:p>
            <a:pPr algn="l"/>
            <a:r>
              <a:rPr lang="es-ES" b="0" i="0" dirty="0">
                <a:solidFill>
                  <a:srgbClr val="374151"/>
                </a:solidFill>
                <a:effectLst/>
                <a:latin typeface="Söhne"/>
              </a:rPr>
              <a:t>La velocidad se considera uno de los tres desafíos principales de Big Data, junto con el volumen (cantidad masiva de datos) y la variedad (diversidad de fuentes y formatos de datos). Al abordar estos desafíos, las organizaciones pueden aprovechar el poder del Big Data para obtener información valiosa, mejorar la toma de decisiones, detectar patrones y tendencias, optimizar operaciones comerciales, entre otras aplicaciones.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307782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8e91b49eda_0_6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8e91b49eda_0_6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buFont typeface="+mj-lt"/>
              <a:buAutoNum type="arabicPeriod"/>
            </a:pPr>
            <a:r>
              <a:rPr lang="es-ES" b="0" i="0" dirty="0">
                <a:solidFill>
                  <a:srgbClr val="000000"/>
                </a:solidFill>
                <a:effectLst/>
                <a:latin typeface="Söhne"/>
              </a:rPr>
              <a:t>Veracidad: Se refiere a la calidad y confiabilidad de los datos. Es importante asegurar que los datos sean precisos y estén libres de errores o información falsa.</a:t>
            </a:r>
          </a:p>
          <a:p>
            <a:pPr algn="l">
              <a:buFont typeface="+mj-lt"/>
              <a:buAutoNum type="arabicPeriod"/>
            </a:pPr>
            <a:r>
              <a:rPr lang="es-ES" b="0" i="0" dirty="0">
                <a:solidFill>
                  <a:srgbClr val="000000"/>
                </a:solidFill>
                <a:effectLst/>
                <a:latin typeface="Söhne"/>
              </a:rPr>
              <a:t>Valor: Es el objetivo principal de Big Data, extraer información significativa y relevante de los datos para obtener </a:t>
            </a:r>
            <a:r>
              <a:rPr lang="es-ES" b="0" i="0" dirty="0" err="1">
                <a:solidFill>
                  <a:srgbClr val="000000"/>
                </a:solidFill>
                <a:effectLst/>
                <a:latin typeface="Söhne"/>
              </a:rPr>
              <a:t>insights</a:t>
            </a:r>
            <a:r>
              <a:rPr lang="es-ES" b="0" i="0" dirty="0">
                <a:solidFill>
                  <a:srgbClr val="000000"/>
                </a:solidFill>
                <a:effectLst/>
                <a:latin typeface="Söhne"/>
              </a:rPr>
              <a:t> y conocimientos que generen valor y ventaja competitiva en diversas áreas.</a:t>
            </a:r>
          </a:p>
          <a:p>
            <a:pPr algn="l">
              <a:buFont typeface="+mj-lt"/>
              <a:buAutoNum type="arabicPeriod"/>
            </a:pPr>
            <a:r>
              <a:rPr lang="es-ES" b="0" i="0" dirty="0">
                <a:solidFill>
                  <a:srgbClr val="000000"/>
                </a:solidFill>
                <a:effectLst/>
                <a:latin typeface="Söhne"/>
              </a:rPr>
              <a:t>Variabilidad: Se refiere a la inconsistencia y cambios en los datos a lo largo del tiempo, lo que puede agregar complejidad al análisis y la gestión de Big Data.</a:t>
            </a:r>
          </a:p>
          <a:p>
            <a:pPr algn="l">
              <a:buFont typeface="+mj-lt"/>
              <a:buAutoNum type="arabicPeriod"/>
            </a:pPr>
            <a:r>
              <a:rPr lang="es-ES" b="0" i="0" dirty="0">
                <a:solidFill>
                  <a:srgbClr val="000000"/>
                </a:solidFill>
                <a:effectLst/>
                <a:latin typeface="Söhne"/>
              </a:rPr>
              <a:t>Visualización: Hace referencia a la presentación y representación gráfica de los datos para facilitar la comprensión y la toma de decisiones por parte de los usuarios.</a:t>
            </a:r>
          </a:p>
          <a:p>
            <a:pPr algn="l">
              <a:buFont typeface="+mj-lt"/>
              <a:buAutoNum type="arabicPeriod"/>
            </a:pPr>
            <a:endParaRPr lang="es-ES" b="0" i="0" dirty="0">
              <a:solidFill>
                <a:srgbClr val="000000"/>
              </a:solidFill>
              <a:effectLst/>
              <a:latin typeface="Söhne"/>
            </a:endParaRPr>
          </a:p>
          <a:p>
            <a:pPr marL="228600" indent="0" algn="l">
              <a:buFont typeface="+mj-lt"/>
              <a:buNone/>
            </a:pPr>
            <a:endParaRPr lang="es-ES" b="0" i="0" dirty="0">
              <a:solidFill>
                <a:srgbClr val="000000"/>
              </a:solidFill>
              <a:effectLst/>
              <a:latin typeface="Söhne"/>
            </a:endParaRPr>
          </a:p>
          <a:p>
            <a:pPr algn="l"/>
            <a:r>
              <a:rPr lang="es-ES" b="0" i="0" dirty="0">
                <a:solidFill>
                  <a:srgbClr val="000000"/>
                </a:solidFill>
                <a:effectLst/>
                <a:latin typeface="Söhne"/>
              </a:rPr>
              <a:t>Estas "7V" ayudan a destacar los desafíos y oportunidades que surgen al trabajar con Big Data, y enfatizan la necesidad de utilizar enfoques y herramientas adecuadas para aprovechar al máximo el potencial de estos grandes conjuntos de datos.</a:t>
            </a:r>
          </a:p>
          <a:p>
            <a:br>
              <a:rPr lang="es-ES" b="0" i="0" dirty="0">
                <a:solidFill>
                  <a:srgbClr val="000000"/>
                </a:solidFill>
                <a:effectLst/>
                <a:latin typeface="Söhne"/>
              </a:rPr>
            </a:br>
            <a:endParaRPr dirty="0"/>
          </a:p>
        </p:txBody>
      </p:sp>
    </p:spTree>
    <p:extLst>
      <p:ext uri="{BB962C8B-B14F-4D97-AF65-F5344CB8AC3E}">
        <p14:creationId xmlns:p14="http://schemas.microsoft.com/office/powerpoint/2010/main" val="12866026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SzPts val="1100"/>
              <a:buNone/>
            </a:pPr>
            <a:endParaRPr/>
          </a:p>
        </p:txBody>
      </p:sp>
      <p:sp>
        <p:nvSpPr>
          <p:cNvPr id="47" name="Google Shape;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170506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8e91b49eda_0_6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8e91b49eda_0_6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s-ES" b="0" i="0" dirty="0">
                <a:solidFill>
                  <a:srgbClr val="374151"/>
                </a:solidFill>
                <a:effectLst/>
                <a:latin typeface="Söhne"/>
              </a:rPr>
              <a:t>Un proyecto de Big Data generalmente se divide en varias fases, que incluyen desde la planificación y preparación inicial hasta la implementación y mantenimiento continuo. A continuación, se describen las fases típicas de un proyecto de Big Data:</a:t>
            </a:r>
          </a:p>
          <a:p>
            <a:pPr algn="l">
              <a:buFont typeface="+mj-lt"/>
              <a:buAutoNum type="arabicPeriod"/>
            </a:pPr>
            <a:r>
              <a:rPr lang="es-ES" b="0" i="0" dirty="0">
                <a:solidFill>
                  <a:srgbClr val="374151"/>
                </a:solidFill>
                <a:effectLst/>
                <a:latin typeface="Söhne"/>
              </a:rPr>
              <a:t>Definición del objetivo y alcance: En esta fase inicial, se establecen los objetivos comerciales o científicos del proyecto de Big Data. Se identifican los problemas o preguntas específicas que se desean abordar, y se define el alcance del proyecto.</a:t>
            </a:r>
          </a:p>
          <a:p>
            <a:pPr algn="l">
              <a:buFont typeface="+mj-lt"/>
              <a:buAutoNum type="arabicPeriod"/>
            </a:pPr>
            <a:r>
              <a:rPr lang="es-ES" b="0" i="0" dirty="0">
                <a:solidFill>
                  <a:srgbClr val="374151"/>
                </a:solidFill>
                <a:effectLst/>
                <a:latin typeface="Söhne"/>
              </a:rPr>
              <a:t>Recopilación y preparación de datos: En esta etapa, se identifican y recopilan las fuentes de datos relevantes para el proyecto. Los datos pueden provenir de diversas fuentes, como bases de datos, archivos, registros de aplicaciones, sensores, redes sociales, entre otros. Luego, los datos se preparan y transforman para asegurarse de que estén en el formato adecuado y sean adecuados para su posterior análisis.</a:t>
            </a:r>
          </a:p>
          <a:p>
            <a:pPr algn="l">
              <a:buFont typeface="+mj-lt"/>
              <a:buAutoNum type="arabicPeriod"/>
            </a:pPr>
            <a:r>
              <a:rPr lang="es-ES" b="0" i="0" dirty="0">
                <a:solidFill>
                  <a:srgbClr val="374151"/>
                </a:solidFill>
                <a:effectLst/>
                <a:latin typeface="Söhne"/>
              </a:rPr>
              <a:t>Almacenamiento y gestión de datos: En esta fase, los datos se almacenan en un entorno de Big Data adecuado, que puede incluir sistemas de almacenamiento distribuido como Hadoop </a:t>
            </a:r>
            <a:r>
              <a:rPr lang="es-ES" b="0" i="0" dirty="0" err="1">
                <a:solidFill>
                  <a:srgbClr val="374151"/>
                </a:solidFill>
                <a:effectLst/>
                <a:latin typeface="Söhne"/>
              </a:rPr>
              <a:t>Distributed</a:t>
            </a:r>
            <a:r>
              <a:rPr lang="es-ES" b="0" i="0" dirty="0">
                <a:solidFill>
                  <a:srgbClr val="374151"/>
                </a:solidFill>
                <a:effectLst/>
                <a:latin typeface="Söhne"/>
              </a:rPr>
              <a:t> File </a:t>
            </a:r>
            <a:r>
              <a:rPr lang="es-ES" b="0" i="0" dirty="0" err="1">
                <a:solidFill>
                  <a:srgbClr val="374151"/>
                </a:solidFill>
                <a:effectLst/>
                <a:latin typeface="Söhne"/>
              </a:rPr>
              <a:t>System</a:t>
            </a:r>
            <a:r>
              <a:rPr lang="es-ES" b="0" i="0" dirty="0">
                <a:solidFill>
                  <a:srgbClr val="374151"/>
                </a:solidFill>
                <a:effectLst/>
                <a:latin typeface="Söhne"/>
              </a:rPr>
              <a:t> (HDFS) o bases de datos NoSQL. Se implementa una infraestructura de gestión de datos que permita el acceso y la recuperación eficientes de los datos.</a:t>
            </a:r>
          </a:p>
          <a:p>
            <a:pPr algn="l">
              <a:buFont typeface="+mj-lt"/>
              <a:buAutoNum type="arabicPeriod"/>
            </a:pPr>
            <a:r>
              <a:rPr lang="es-ES" b="0" i="0" dirty="0">
                <a:solidFill>
                  <a:srgbClr val="374151"/>
                </a:solidFill>
                <a:effectLst/>
                <a:latin typeface="Söhne"/>
              </a:rPr>
              <a:t>Procesamiento y análisis de datos: En esta etapa, se aplican técnicas y algoritmos de procesamiento y análisis de datos para obtener información valiosa. Se pueden utilizar herramientas como Apache </a:t>
            </a:r>
            <a:r>
              <a:rPr lang="es-ES" b="0" i="0" dirty="0" err="1">
                <a:solidFill>
                  <a:srgbClr val="374151"/>
                </a:solidFill>
                <a:effectLst/>
                <a:latin typeface="Söhne"/>
              </a:rPr>
              <a:t>Spark</a:t>
            </a:r>
            <a:r>
              <a:rPr lang="es-ES" b="0" i="0" dirty="0">
                <a:solidFill>
                  <a:srgbClr val="374151"/>
                </a:solidFill>
                <a:effectLst/>
                <a:latin typeface="Söhne"/>
              </a:rPr>
              <a:t> o herramientas de aprendizaje automático (machine </a:t>
            </a:r>
            <a:r>
              <a:rPr lang="es-ES" b="0" i="0" dirty="0" err="1">
                <a:solidFill>
                  <a:srgbClr val="374151"/>
                </a:solidFill>
                <a:effectLst/>
                <a:latin typeface="Söhne"/>
              </a:rPr>
              <a:t>learning</a:t>
            </a:r>
            <a:r>
              <a:rPr lang="es-ES" b="0" i="0" dirty="0">
                <a:solidFill>
                  <a:srgbClr val="374151"/>
                </a:solidFill>
                <a:effectLst/>
                <a:latin typeface="Söhne"/>
              </a:rPr>
              <a:t>) para realizar análisis en los datos.</a:t>
            </a:r>
          </a:p>
          <a:p>
            <a:pPr algn="l">
              <a:buFont typeface="+mj-lt"/>
              <a:buAutoNum type="arabicPeriod"/>
            </a:pPr>
            <a:r>
              <a:rPr lang="es-ES" b="0" i="0" dirty="0">
                <a:solidFill>
                  <a:srgbClr val="374151"/>
                </a:solidFill>
                <a:effectLst/>
                <a:latin typeface="Söhne"/>
              </a:rPr>
              <a:t>Interpretación de resultados: Una vez que se ha realizado el análisis de los datos, se interpretan los resultados para extraer información significativa y relevante que responda a las preguntas planteadas en la fase de definición del objetivo.</a:t>
            </a:r>
          </a:p>
          <a:p>
            <a:pPr algn="l">
              <a:buFont typeface="+mj-lt"/>
              <a:buAutoNum type="arabicPeriod"/>
            </a:pPr>
            <a:r>
              <a:rPr lang="es-ES" b="0" i="0" dirty="0">
                <a:solidFill>
                  <a:srgbClr val="374151"/>
                </a:solidFill>
                <a:effectLst/>
                <a:latin typeface="Söhne"/>
              </a:rPr>
              <a:t>Visualización y presentación de resultados: En esta fase, los resultados del análisis se presentan visualmente en forma de gráficos, tablas u otros formatos que sean comprensibles para los usuarios y partes interesadas. La visualización es una parte importante para comunicar los hallazgos de manera efectiva.</a:t>
            </a:r>
          </a:p>
          <a:p>
            <a:pPr algn="l">
              <a:buFont typeface="+mj-lt"/>
              <a:buAutoNum type="arabicPeriod"/>
            </a:pPr>
            <a:r>
              <a:rPr lang="es-ES" b="0" i="0" dirty="0">
                <a:solidFill>
                  <a:srgbClr val="374151"/>
                </a:solidFill>
                <a:effectLst/>
                <a:latin typeface="Söhne"/>
              </a:rPr>
              <a:t>Implementación y aplicación de resultados: En esta etapa, se implementan las conclusiones y recomendaciones derivadas del análisis en las operaciones comerciales o proyectos científicos. Esto puede implicar ajustar estrategias, mejorar procesos, optimizar la toma de decisiones, entre otros.</a:t>
            </a:r>
          </a:p>
          <a:p>
            <a:pPr algn="l">
              <a:buFont typeface="+mj-lt"/>
              <a:buAutoNum type="arabicPeriod"/>
            </a:pPr>
            <a:r>
              <a:rPr lang="es-ES" b="0" i="0" dirty="0">
                <a:solidFill>
                  <a:srgbClr val="374151"/>
                </a:solidFill>
                <a:effectLst/>
                <a:latin typeface="Söhne"/>
              </a:rPr>
              <a:t>Monitorización y mantenimiento: Después de la implementación, se monitorea el rendimiento y los resultados para garantizar que el proyecto de Big Data continúe cumpliendo con los objetivos establecidos. Se realizan ajustes y mejoras según sea necesario para mantener la relevancia y eficacia del sistema de Big Data.</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40458235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8e91b49eda_0_6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8e91b49eda_0_6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s-ES" b="0" i="0" dirty="0">
                <a:solidFill>
                  <a:srgbClr val="374151"/>
                </a:solidFill>
                <a:effectLst/>
                <a:latin typeface="Söhne"/>
              </a:rPr>
              <a:t>En el contexto de Big Data, los modelos de generación se refieren a métodos y técnicas utilizadas para simular o crear datos masivos con características específicas para realizar pruebas, análisis y evaluaciones en entornos de desarrollo y pruebas. Estos modelos permiten generar grandes volúmenes de datos de manera controlada y reproducible, lo que es útil para probar el rendimiento, escalabilidad y eficacia de soluciones de Big Data antes de implementarlas en producción.</a:t>
            </a:r>
          </a:p>
          <a:p>
            <a:pPr algn="l"/>
            <a:endParaRPr lang="es-ES" b="0" i="0" dirty="0">
              <a:solidFill>
                <a:srgbClr val="374151"/>
              </a:solidFill>
              <a:effectLst/>
              <a:latin typeface="Söhne"/>
            </a:endParaRPr>
          </a:p>
          <a:p>
            <a:pPr algn="l"/>
            <a:r>
              <a:rPr lang="es-ES" b="0" i="0" dirty="0">
                <a:solidFill>
                  <a:srgbClr val="374151"/>
                </a:solidFill>
                <a:effectLst/>
                <a:latin typeface="Söhne"/>
              </a:rPr>
              <a:t>Algunos de los modelos de generación de Big Data más comunes son:</a:t>
            </a:r>
          </a:p>
          <a:p>
            <a:pPr algn="l"/>
            <a:endParaRPr lang="es-ES" b="0" i="0" dirty="0">
              <a:solidFill>
                <a:srgbClr val="374151"/>
              </a:solidFill>
              <a:effectLst/>
              <a:latin typeface="Söhne"/>
            </a:endParaRPr>
          </a:p>
          <a:p>
            <a:pPr algn="l">
              <a:buFont typeface="+mj-lt"/>
              <a:buAutoNum type="arabicPeriod"/>
            </a:pPr>
            <a:r>
              <a:rPr lang="es-ES" b="0" i="0" dirty="0">
                <a:solidFill>
                  <a:srgbClr val="374151"/>
                </a:solidFill>
                <a:effectLst/>
                <a:latin typeface="Söhne"/>
              </a:rPr>
              <a:t>Modelos Sintéticos: Estos modelos utilizan algoritmos para generar datos que simulan características y patrones de datos reales, pero sin estar basados en datos existentes. Pueden generar datos estructurados, no estructurados o </a:t>
            </a:r>
            <a:r>
              <a:rPr lang="es-ES" b="0" i="0" dirty="0" err="1">
                <a:solidFill>
                  <a:srgbClr val="374151"/>
                </a:solidFill>
                <a:effectLst/>
                <a:latin typeface="Söhne"/>
              </a:rPr>
              <a:t>semi-estructurados</a:t>
            </a:r>
            <a:r>
              <a:rPr lang="es-ES" b="0" i="0" dirty="0">
                <a:solidFill>
                  <a:srgbClr val="374151"/>
                </a:solidFill>
                <a:effectLst/>
                <a:latin typeface="Söhne"/>
              </a:rPr>
              <a:t>. Ejemplos de modelos sintéticos son el modelo de distribución normal para datos numéricos, generación de texto mediante cadenas de </a:t>
            </a:r>
            <a:r>
              <a:rPr lang="es-ES" b="0" i="0" dirty="0" err="1">
                <a:solidFill>
                  <a:srgbClr val="374151"/>
                </a:solidFill>
                <a:effectLst/>
                <a:latin typeface="Söhne"/>
              </a:rPr>
              <a:t>Markov</a:t>
            </a:r>
            <a:r>
              <a:rPr lang="es-ES" b="0" i="0" dirty="0">
                <a:solidFill>
                  <a:srgbClr val="374151"/>
                </a:solidFill>
                <a:effectLst/>
                <a:latin typeface="Söhne"/>
              </a:rPr>
              <a:t>, o la generación de redes sociales sintéticas.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4021305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8e91b49eda_0_6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8e91b49eda_0_6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s-ES" b="1" i="0" dirty="0">
                <a:solidFill>
                  <a:srgbClr val="525252"/>
                </a:solidFill>
                <a:effectLst/>
                <a:latin typeface="NVIDIA-APAC"/>
              </a:rPr>
              <a:t>Datos Aumentados y Anonimizados Frente a Datos Sintéticos</a:t>
            </a:r>
            <a:endParaRPr lang="es-ES" b="0" i="0" dirty="0">
              <a:solidFill>
                <a:srgbClr val="525252"/>
              </a:solidFill>
              <a:effectLst/>
              <a:latin typeface="NVIDIA-APAC"/>
            </a:endParaRPr>
          </a:p>
          <a:p>
            <a:pPr algn="l"/>
            <a:r>
              <a:rPr lang="es-ES" b="0" i="0" dirty="0">
                <a:solidFill>
                  <a:srgbClr val="000000"/>
                </a:solidFill>
                <a:effectLst/>
                <a:latin typeface="NVIDIA-APAC"/>
              </a:rPr>
              <a:t>La mayoría de los desarrolladores ya están familiarizados con el aumento de datos, una técnica que implica agregar nuevos datos a un conjunto de datos del mundo real existente. Por ejemplo, podrían rotar o iluminar una imagen existente para crear una nueva.</a:t>
            </a:r>
          </a:p>
          <a:p>
            <a:pPr algn="l"/>
            <a:r>
              <a:rPr lang="es-ES" b="0" i="0" dirty="0">
                <a:solidFill>
                  <a:srgbClr val="000000"/>
                </a:solidFill>
                <a:effectLst/>
                <a:latin typeface="NVIDIA-APAC"/>
              </a:rPr>
              <a:t>Dadas las preocupaciones y las políticas gubernamentales sobre la privacidad, eliminar información personal de un conjunto de datos es una práctica cada vez más común. Esto se llama </a:t>
            </a:r>
            <a:r>
              <a:rPr lang="es-ES" b="0" i="0" dirty="0" err="1">
                <a:solidFill>
                  <a:srgbClr val="000000"/>
                </a:solidFill>
                <a:effectLst/>
                <a:latin typeface="NVIDIA-APAC"/>
              </a:rPr>
              <a:t>anonimización</a:t>
            </a:r>
            <a:r>
              <a:rPr lang="es-ES" b="0" i="0" dirty="0">
                <a:solidFill>
                  <a:srgbClr val="000000"/>
                </a:solidFill>
                <a:effectLst/>
                <a:latin typeface="NVIDIA-APAC"/>
              </a:rPr>
              <a:t> de datos, y es especialmente popular para el texto, un tipo de datos estructurados utilizados en industrias como las finanzas y la </a:t>
            </a:r>
            <a:r>
              <a:rPr lang="es-ES" b="0" i="0" dirty="0" err="1">
                <a:solidFill>
                  <a:srgbClr val="000000"/>
                </a:solidFill>
                <a:effectLst/>
                <a:latin typeface="NVIDIA-APAC"/>
              </a:rPr>
              <a:t>area</a:t>
            </a:r>
            <a:r>
              <a:rPr lang="es-ES" b="0" i="0" dirty="0">
                <a:solidFill>
                  <a:srgbClr val="000000"/>
                </a:solidFill>
                <a:effectLst/>
                <a:latin typeface="NVIDIA-APAC"/>
              </a:rPr>
              <a:t> de la salud.</a:t>
            </a:r>
          </a:p>
          <a:p>
            <a:pPr algn="l"/>
            <a:r>
              <a:rPr lang="es-ES" b="0" i="0" dirty="0">
                <a:solidFill>
                  <a:srgbClr val="000000"/>
                </a:solidFill>
                <a:effectLst/>
                <a:latin typeface="NVIDIA-APAC"/>
              </a:rPr>
              <a:t>Los datos aumentados y anonimizados no suelen considerarse datos sintéticos. Sin embargo, es posible crear datos sintéticos mediante estas técnicas. Por ejemplo, los desarrolladores podrían combinar dos imágenes de coches del mundo real para crear una nueva imagen sintética con dos coches.</a:t>
            </a:r>
          </a:p>
          <a:p>
            <a:pPr algn="l"/>
            <a:r>
              <a:rPr lang="es-ES" b="1" i="0" dirty="0">
                <a:solidFill>
                  <a:srgbClr val="525252"/>
                </a:solidFill>
                <a:effectLst/>
                <a:latin typeface="NVIDIA-APAC"/>
              </a:rPr>
              <a:t>¿Por Qué Son Tan Importantes los Datos Sintéticos?</a:t>
            </a:r>
            <a:endParaRPr lang="es-ES" b="0" i="0" dirty="0">
              <a:solidFill>
                <a:srgbClr val="525252"/>
              </a:solidFill>
              <a:effectLst/>
              <a:latin typeface="NVIDIA-APAC"/>
            </a:endParaRPr>
          </a:p>
          <a:p>
            <a:pPr algn="l"/>
            <a:r>
              <a:rPr lang="es-ES" b="0" i="0" dirty="0">
                <a:solidFill>
                  <a:srgbClr val="000000"/>
                </a:solidFill>
                <a:effectLst/>
                <a:latin typeface="NVIDIA-APAC"/>
              </a:rPr>
              <a:t>Los desarrolladores necesitan conjuntos de datos grandes y cuidadosamente etiquetados para entrenar redes neuronales. Los datos de entrenamiento más diversos generalmente hacen que los modelos de IA sean más precisos.</a:t>
            </a:r>
          </a:p>
          <a:p>
            <a:pPr algn="l"/>
            <a:r>
              <a:rPr lang="es-ES" b="0" i="0" dirty="0">
                <a:solidFill>
                  <a:srgbClr val="000000"/>
                </a:solidFill>
                <a:effectLst/>
                <a:latin typeface="NVIDIA-APAC"/>
              </a:rPr>
              <a:t>El problema es que la recopilación y el etiquetado de conjuntos de datos que pueden contener entre unos pocos miles y decenas de millones de elementos consume mucho tiempo y, a menudo, es prohibitivamente caro.</a:t>
            </a:r>
          </a:p>
          <a:p>
            <a:pPr algn="l"/>
            <a:r>
              <a:rPr lang="es-ES" b="0" i="0" dirty="0">
                <a:solidFill>
                  <a:srgbClr val="000000"/>
                </a:solidFill>
                <a:effectLst/>
                <a:latin typeface="NVIDIA-APAC"/>
              </a:rPr>
              <a:t>Introduzca datos sintéticos. Una sola imagen que podría costar 6 dólares de un servicio de etiquetado se puede generar artificialmente por seis centavos, estima Paul </a:t>
            </a:r>
            <a:r>
              <a:rPr lang="es-ES" b="0" i="0" dirty="0" err="1">
                <a:solidFill>
                  <a:srgbClr val="000000"/>
                </a:solidFill>
                <a:effectLst/>
                <a:latin typeface="NVIDIA-APAC"/>
              </a:rPr>
              <a:t>Walborsky</a:t>
            </a:r>
            <a:r>
              <a:rPr lang="es-ES" b="0" i="0" dirty="0">
                <a:solidFill>
                  <a:srgbClr val="000000"/>
                </a:solidFill>
                <a:effectLst/>
                <a:latin typeface="NVIDIA-APAC"/>
              </a:rPr>
              <a:t>, quien cofundó uno de los primeros servicios de datos sintéticos dedicados, la </a:t>
            </a:r>
            <a:r>
              <a:rPr lang="es-ES" b="0" i="0" dirty="0" err="1">
                <a:solidFill>
                  <a:srgbClr val="000000"/>
                </a:solidFill>
                <a:effectLst/>
                <a:latin typeface="NVIDIA-APAC"/>
              </a:rPr>
              <a:t>AI.Reverie</a:t>
            </a:r>
            <a:r>
              <a:rPr lang="es-ES" b="0" i="0" dirty="0">
                <a:solidFill>
                  <a:srgbClr val="000000"/>
                </a:solidFill>
                <a:effectLst/>
                <a:latin typeface="NVIDIA-APAC"/>
              </a:rPr>
              <a:t>.</a:t>
            </a:r>
          </a:p>
          <a:p>
            <a:pPr algn="l"/>
            <a:r>
              <a:rPr lang="es-ES" b="0" i="0" dirty="0">
                <a:solidFill>
                  <a:srgbClr val="000000"/>
                </a:solidFill>
                <a:effectLst/>
                <a:latin typeface="NVIDIA-APAC"/>
              </a:rPr>
              <a:t>El ahorro de costes es solo el comienzo. «Los datos sintéticos son clave para lidiar con los problemas de privacidad y reducir el sesgo al garantizar que tenga la diversidad de datos para representar el mundo real», agregó </a:t>
            </a:r>
            <a:r>
              <a:rPr lang="es-ES" b="0" i="0" dirty="0" err="1">
                <a:solidFill>
                  <a:srgbClr val="000000"/>
                </a:solidFill>
                <a:effectLst/>
                <a:latin typeface="NVIDIA-APAC"/>
              </a:rPr>
              <a:t>Walborsky</a:t>
            </a:r>
            <a:r>
              <a:rPr lang="es-ES" b="0" i="0" dirty="0">
                <a:solidFill>
                  <a:srgbClr val="000000"/>
                </a:solidFill>
                <a:effectLst/>
                <a:latin typeface="NVIDIA-APAC"/>
              </a:rPr>
              <a:t>.</a:t>
            </a:r>
          </a:p>
          <a:p>
            <a:pPr algn="l"/>
            <a:r>
              <a:rPr lang="es-ES" b="0" i="0" dirty="0">
                <a:solidFill>
                  <a:srgbClr val="000000"/>
                </a:solidFill>
                <a:effectLst/>
                <a:latin typeface="NVIDIA-APAC"/>
              </a:rPr>
              <a:t>Dado que los conjuntos de datos sintéticos se etiquetan automáticamente y pueden incluir deliberadamente casos de esquina raros pero cruciales, a veces es mejor que los datos del mundo real.</a:t>
            </a:r>
          </a:p>
          <a:p>
            <a:pPr algn="l"/>
            <a:r>
              <a:rPr lang="es-ES" b="1" i="0" dirty="0">
                <a:solidFill>
                  <a:srgbClr val="525252"/>
                </a:solidFill>
                <a:effectLst/>
                <a:latin typeface="NVIDIA-APAC"/>
              </a:rPr>
              <a:t>¿Cuál es el Historial de los Datos Sintéticos?</a:t>
            </a:r>
            <a:endParaRPr lang="es-ES" b="0" i="0" dirty="0">
              <a:solidFill>
                <a:srgbClr val="525252"/>
              </a:solidFill>
              <a:effectLst/>
              <a:latin typeface="NVIDIA-APAC"/>
            </a:endParaRPr>
          </a:p>
          <a:p>
            <a:pPr algn="l"/>
            <a:r>
              <a:rPr lang="es-ES" b="0" i="0" dirty="0">
                <a:solidFill>
                  <a:srgbClr val="000000"/>
                </a:solidFill>
                <a:effectLst/>
                <a:latin typeface="NVIDIA-APAC"/>
              </a:rPr>
              <a:t>Los datos sintéticos han existido de una forma u otra durante décadas. Está en juegos de ordenador como simuladores de vuelo y simulaciones científicas de todo, desde átomos hasta galaxias.</a:t>
            </a:r>
          </a:p>
          <a:p>
            <a:pPr algn="l"/>
            <a:r>
              <a:rPr lang="es-ES" b="0" i="0" dirty="0">
                <a:solidFill>
                  <a:srgbClr val="000000"/>
                </a:solidFill>
                <a:effectLst/>
                <a:latin typeface="NVIDIA-APAC"/>
              </a:rPr>
              <a:t>Donald B. </a:t>
            </a:r>
            <a:r>
              <a:rPr lang="es-ES" b="0" i="0" dirty="0" err="1">
                <a:solidFill>
                  <a:srgbClr val="000000"/>
                </a:solidFill>
                <a:effectLst/>
                <a:latin typeface="NVIDIA-APAC"/>
              </a:rPr>
              <a:t>Rubin</a:t>
            </a:r>
            <a:r>
              <a:rPr lang="es-ES" b="0" i="0" dirty="0">
                <a:solidFill>
                  <a:srgbClr val="000000"/>
                </a:solidFill>
                <a:effectLst/>
                <a:latin typeface="NVIDIA-APAC"/>
              </a:rPr>
              <a:t>, un profesor de estadística de Harvard, estaba ayudando a las ramas del gobierno de Estados Unidos a resolver problemas como un recuento insuficiente, especialmente de personas pobres en un censo, cuando se le dio una idea. Lo describió en un artículo de 1993 a menudo citado como el nacimiento de datos sintéticos.</a:t>
            </a:r>
          </a:p>
          <a:p>
            <a:pPr algn="l"/>
            <a:r>
              <a:rPr lang="es-ES" b="0" i="0" dirty="0">
                <a:solidFill>
                  <a:srgbClr val="000000"/>
                </a:solidFill>
                <a:effectLst/>
                <a:latin typeface="NVIDIA-APAC"/>
              </a:rPr>
              <a:t>«Utilicé el término datos sintéticos en ese documento refiriéndose a múltiples conjuntos de datos simulados», explicó </a:t>
            </a:r>
            <a:r>
              <a:rPr lang="es-ES" b="0" i="0" dirty="0" err="1">
                <a:solidFill>
                  <a:srgbClr val="000000"/>
                </a:solidFill>
                <a:effectLst/>
                <a:latin typeface="NVIDIA-APAC"/>
              </a:rPr>
              <a:t>Rubin</a:t>
            </a:r>
            <a:r>
              <a:rPr lang="es-ES" b="0" i="0" dirty="0">
                <a:solidFill>
                  <a:srgbClr val="000000"/>
                </a:solidFill>
                <a:effectLst/>
                <a:latin typeface="NVIDIA-APAC"/>
              </a:rPr>
              <a:t>.</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4795110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8e91b49eda_0_6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8e91b49eda_0_6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s-ES" b="0" i="0" dirty="0">
                <a:solidFill>
                  <a:srgbClr val="374151"/>
                </a:solidFill>
                <a:effectLst/>
                <a:latin typeface="Söhne"/>
              </a:rPr>
              <a:t>Existen varios modelos sintéticos utilizados en Big Data para generar datos que simulan características y patrones de datos reales, pero sin estar basados en datos existentes. A continuación, algunos ejemplos de modelos sintéticos comunes:</a:t>
            </a:r>
          </a:p>
          <a:p>
            <a:pPr algn="l">
              <a:buFont typeface="+mj-lt"/>
              <a:buAutoNum type="arabicPeriod"/>
            </a:pPr>
            <a:r>
              <a:rPr lang="es-ES" b="0" i="0" dirty="0">
                <a:solidFill>
                  <a:srgbClr val="374151"/>
                </a:solidFill>
                <a:effectLst/>
                <a:latin typeface="Söhne"/>
              </a:rPr>
              <a:t>Modelo de Distribución Normal: Este modelo se utiliza para generar datos numéricos que siguen una distribución normal o gaussiana. Los datos generados se concentran en torno a un valor medio y se dispersan a lo largo de una desviación estándar específica. Es útil para simular datos como edad, ingresos, puntajes de exámenes, entre otros.</a:t>
            </a:r>
          </a:p>
          <a:p>
            <a:pPr algn="l">
              <a:buFont typeface="+mj-lt"/>
              <a:buAutoNum type="arabicPeriod"/>
            </a:pPr>
            <a:r>
              <a:rPr lang="es-ES" b="0" i="0" dirty="0">
                <a:solidFill>
                  <a:srgbClr val="374151"/>
                </a:solidFill>
                <a:effectLst/>
                <a:latin typeface="Söhne"/>
              </a:rPr>
              <a:t>Modelo de Distribución Uniforme: Este modelo genera datos numéricos que siguen una distribución uniforme en un rango determinado. Los datos generados son igualmente probables en todo el rango. Puede utilizarse para simular datos como coordenadas geográficas o valores de variables aleatorias.</a:t>
            </a:r>
          </a:p>
          <a:p>
            <a:pPr algn="l">
              <a:buFont typeface="+mj-lt"/>
              <a:buAutoNum type="arabicPeriod"/>
            </a:pPr>
            <a:r>
              <a:rPr lang="es-ES" b="0" i="0" dirty="0">
                <a:solidFill>
                  <a:srgbClr val="374151"/>
                </a:solidFill>
                <a:effectLst/>
                <a:latin typeface="Söhne"/>
              </a:rPr>
              <a:t>Cadena de </a:t>
            </a:r>
            <a:r>
              <a:rPr lang="es-ES" b="0" i="0" dirty="0" err="1">
                <a:solidFill>
                  <a:srgbClr val="374151"/>
                </a:solidFill>
                <a:effectLst/>
                <a:latin typeface="Söhne"/>
              </a:rPr>
              <a:t>Markov</a:t>
            </a:r>
            <a:r>
              <a:rPr lang="es-ES" b="0" i="0" dirty="0">
                <a:solidFill>
                  <a:srgbClr val="374151"/>
                </a:solidFill>
                <a:effectLst/>
                <a:latin typeface="Söhne"/>
              </a:rPr>
              <a:t>: Es un modelo utilizado para generar datos secuenciales, como texto o series temporales, que siguen una distribución específica basada en la probabilidad de transición entre estados. Se utiliza ampliamente para generar texto sintético que tenga un estilo similar al texto real.</a:t>
            </a:r>
          </a:p>
          <a:p>
            <a:pPr algn="l">
              <a:buFont typeface="+mj-lt"/>
              <a:buAutoNum type="arabicPeriod"/>
            </a:pPr>
            <a:r>
              <a:rPr lang="es-ES" b="0" i="0" dirty="0">
                <a:solidFill>
                  <a:srgbClr val="374151"/>
                </a:solidFill>
                <a:effectLst/>
                <a:latin typeface="Söhne"/>
              </a:rPr>
              <a:t>Redes Sociales Sintéticas: Se utilizan para simular interacciones y relaciones en redes sociales. Estos modelos generan comunidades, conexiones y comportamientos típicos de las redes sociales, lo que es útil para probar algoritmos de análisis de redes sociales.</a:t>
            </a:r>
          </a:p>
          <a:p>
            <a:pPr algn="l">
              <a:buFont typeface="+mj-lt"/>
              <a:buAutoNum type="arabicPeriod"/>
            </a:pPr>
            <a:r>
              <a:rPr lang="es-ES" b="0" i="0" dirty="0">
                <a:solidFill>
                  <a:srgbClr val="374151"/>
                </a:solidFill>
                <a:effectLst/>
                <a:latin typeface="Söhne"/>
              </a:rPr>
              <a:t>Árboles de Decisión: Este modelo se utiliza para generar conjuntos de datos estructurados. Los árboles de decisión generan datos siguiendo reglas y condiciones específicas, lo que permite generar conjuntos de datos con diferentes relaciones lógicas entre atributos.</a:t>
            </a:r>
          </a:p>
          <a:p>
            <a:pPr algn="l">
              <a:buFont typeface="+mj-lt"/>
              <a:buAutoNum type="arabicPeriod"/>
            </a:pPr>
            <a:r>
              <a:rPr lang="es-ES" b="0" i="0" dirty="0">
                <a:solidFill>
                  <a:srgbClr val="374151"/>
                </a:solidFill>
                <a:effectLst/>
                <a:latin typeface="Söhne"/>
              </a:rPr>
              <a:t>Generadores de Texto: Se basan en técnicas de lenguaje natural y aprendizaje automático para generar texto sintético con características similares a los textos reales. Pueden utilizarse para generar comentarios, reseñas o artículos.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7074086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8e91b49eda_0_6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8e91b49eda_0_6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s-ES" b="0" i="0" dirty="0">
                <a:solidFill>
                  <a:srgbClr val="374151"/>
                </a:solidFill>
                <a:effectLst/>
                <a:latin typeface="Söhne"/>
              </a:rPr>
              <a:t>Los modelos de extracción en Big Data se refieren a técnicas y métodos utilizados para obtener datos reales de fuentes existentes y replicarlos en un entorno de prueba o desarrollo. Estos modelos permiten extraer datos de sistemas en producción, bases de datos, registros, aplicaciones web, redes sociales u otras fuentes y utilizarlos para realizar análisis, pruebas y experimentos en un entorno controlado sin afectar los datos originales o el rendimiento del sistema en producción.</a:t>
            </a:r>
          </a:p>
          <a:p>
            <a:pPr algn="l"/>
            <a:endParaRPr lang="es-ES" b="0" i="0" dirty="0">
              <a:solidFill>
                <a:srgbClr val="374151"/>
              </a:solidFill>
              <a:effectLst/>
              <a:latin typeface="Söhne"/>
            </a:endParaRPr>
          </a:p>
          <a:p>
            <a:pPr algn="l"/>
            <a:r>
              <a:rPr lang="es-ES" b="0" i="0" dirty="0">
                <a:solidFill>
                  <a:srgbClr val="374151"/>
                </a:solidFill>
                <a:effectLst/>
                <a:latin typeface="Söhne"/>
              </a:rPr>
              <a:t>Algunas técnicas comunes de modelos de extracción en Big Data incluyen:</a:t>
            </a:r>
          </a:p>
          <a:p>
            <a:pPr algn="l"/>
            <a:endParaRPr lang="es-ES" b="0" i="0" dirty="0">
              <a:solidFill>
                <a:srgbClr val="374151"/>
              </a:solidFill>
              <a:effectLst/>
              <a:latin typeface="Söhne"/>
            </a:endParaRPr>
          </a:p>
          <a:p>
            <a:pPr marL="228600" indent="0" algn="l">
              <a:buFont typeface="+mj-lt"/>
              <a:buNone/>
            </a:pPr>
            <a:r>
              <a:rPr lang="es-ES" b="1" i="0" dirty="0">
                <a:solidFill>
                  <a:srgbClr val="374151"/>
                </a:solidFill>
                <a:effectLst/>
                <a:latin typeface="Söhne"/>
              </a:rPr>
              <a:t>Extracción de bases de datos: </a:t>
            </a:r>
            <a:r>
              <a:rPr lang="es-ES" b="0" i="0" dirty="0">
                <a:solidFill>
                  <a:srgbClr val="374151"/>
                </a:solidFill>
                <a:effectLst/>
                <a:latin typeface="Söhne"/>
              </a:rPr>
              <a:t>Se utiliza para obtener datos de bases de datos en producción mediante consultas SQL u otras técnicas de acceso a datos. Los datos extraídos pueden utilizarse para cargar bases de datos en entornos de desarrollo o pruebas.</a:t>
            </a:r>
          </a:p>
          <a:p>
            <a:pPr marL="228600" indent="0" algn="l">
              <a:buFont typeface="+mj-lt"/>
              <a:buNone/>
            </a:pPr>
            <a:endParaRPr lang="es-ES" b="0" i="0" dirty="0">
              <a:solidFill>
                <a:srgbClr val="374151"/>
              </a:solidFill>
              <a:effectLst/>
              <a:latin typeface="Söhne"/>
            </a:endParaRPr>
          </a:p>
          <a:p>
            <a:pPr marL="228600" indent="0" algn="l">
              <a:buFont typeface="+mj-lt"/>
              <a:buNone/>
            </a:pPr>
            <a:r>
              <a:rPr lang="es-ES" b="1" i="0" dirty="0">
                <a:solidFill>
                  <a:srgbClr val="374151"/>
                </a:solidFill>
                <a:effectLst/>
                <a:latin typeface="Söhne"/>
              </a:rPr>
              <a:t>Web </a:t>
            </a:r>
            <a:r>
              <a:rPr lang="es-ES" b="1" i="0" dirty="0" err="1">
                <a:solidFill>
                  <a:srgbClr val="374151"/>
                </a:solidFill>
                <a:effectLst/>
                <a:latin typeface="Söhne"/>
              </a:rPr>
              <a:t>Scraping</a:t>
            </a:r>
            <a:r>
              <a:rPr lang="es-ES" b="1" i="0" dirty="0">
                <a:solidFill>
                  <a:srgbClr val="374151"/>
                </a:solidFill>
                <a:effectLst/>
                <a:latin typeface="Söhne"/>
              </a:rPr>
              <a:t>: </a:t>
            </a:r>
            <a:r>
              <a:rPr lang="es-ES" b="0" i="0" dirty="0">
                <a:solidFill>
                  <a:srgbClr val="374151"/>
                </a:solidFill>
                <a:effectLst/>
                <a:latin typeface="Söhne"/>
              </a:rPr>
              <a:t>Es una técnica que implica el uso de rastreadores web (web </a:t>
            </a:r>
            <a:r>
              <a:rPr lang="es-ES" b="0" i="0" dirty="0" err="1">
                <a:solidFill>
                  <a:srgbClr val="374151"/>
                </a:solidFill>
                <a:effectLst/>
                <a:latin typeface="Söhne"/>
              </a:rPr>
              <a:t>crawlers</a:t>
            </a:r>
            <a:r>
              <a:rPr lang="es-ES" b="0" i="0" dirty="0">
                <a:solidFill>
                  <a:srgbClr val="374151"/>
                </a:solidFill>
                <a:effectLst/>
                <a:latin typeface="Söhne"/>
              </a:rPr>
              <a:t>) para extraer datos de sitios web públicos o privados. Se pueden extraer datos estructurados o no estructurados de páginas web y almacenarlos en un formato adecuado para su posterior análisis.</a:t>
            </a:r>
          </a:p>
          <a:p>
            <a:pPr marL="228600" indent="0" algn="l">
              <a:buFont typeface="+mj-lt"/>
              <a:buNone/>
            </a:pPr>
            <a:endParaRPr lang="es-ES" b="0" i="0" dirty="0">
              <a:solidFill>
                <a:srgbClr val="374151"/>
              </a:solidFill>
              <a:effectLst/>
              <a:latin typeface="Söhne"/>
            </a:endParaRPr>
          </a:p>
          <a:p>
            <a:pPr marL="228600" indent="0" algn="l">
              <a:buFont typeface="+mj-lt"/>
              <a:buNone/>
            </a:pPr>
            <a:r>
              <a:rPr lang="es-ES" b="1" i="0" dirty="0">
                <a:solidFill>
                  <a:srgbClr val="374151"/>
                </a:solidFill>
                <a:effectLst/>
                <a:latin typeface="Söhne"/>
              </a:rPr>
              <a:t>API (Interfaz de Programación de Aplicaciones): </a:t>
            </a:r>
            <a:r>
              <a:rPr lang="es-ES" b="0" i="0" dirty="0">
                <a:solidFill>
                  <a:srgbClr val="374151"/>
                </a:solidFill>
                <a:effectLst/>
                <a:latin typeface="Söhne"/>
              </a:rPr>
              <a:t>Algunas aplicaciones y servicios proporcionan </a:t>
            </a:r>
            <a:r>
              <a:rPr lang="es-ES" b="0" i="0" dirty="0" err="1">
                <a:solidFill>
                  <a:srgbClr val="374151"/>
                </a:solidFill>
                <a:effectLst/>
                <a:latin typeface="Söhne"/>
              </a:rPr>
              <a:t>APIs</a:t>
            </a:r>
            <a:r>
              <a:rPr lang="es-ES" b="0" i="0" dirty="0">
                <a:solidFill>
                  <a:srgbClr val="374151"/>
                </a:solidFill>
                <a:effectLst/>
                <a:latin typeface="Söhne"/>
              </a:rPr>
              <a:t> que permiten acceder a sus datos de forma programática. Los datos pueden extraerse a través de estas </a:t>
            </a:r>
            <a:r>
              <a:rPr lang="es-ES" b="0" i="0" dirty="0" err="1">
                <a:solidFill>
                  <a:srgbClr val="374151"/>
                </a:solidFill>
                <a:effectLst/>
                <a:latin typeface="Söhne"/>
              </a:rPr>
              <a:t>APIs</a:t>
            </a:r>
            <a:r>
              <a:rPr lang="es-ES" b="0" i="0" dirty="0">
                <a:solidFill>
                  <a:srgbClr val="374151"/>
                </a:solidFill>
                <a:effectLst/>
                <a:latin typeface="Söhne"/>
              </a:rPr>
              <a:t> y utilizarse para análisis y pruebas.</a:t>
            </a:r>
          </a:p>
          <a:p>
            <a:pPr marL="228600" indent="0" algn="l">
              <a:buFont typeface="+mj-lt"/>
              <a:buNone/>
            </a:pPr>
            <a:endParaRPr lang="es-ES" b="0" i="0" dirty="0">
              <a:solidFill>
                <a:srgbClr val="374151"/>
              </a:solidFill>
              <a:effectLst/>
              <a:latin typeface="Söhne"/>
            </a:endParaRPr>
          </a:p>
          <a:p>
            <a:pPr marL="228600" indent="0" algn="l">
              <a:buFont typeface="+mj-lt"/>
              <a:buNone/>
            </a:pPr>
            <a:r>
              <a:rPr lang="es-ES" b="1" i="0" dirty="0">
                <a:solidFill>
                  <a:srgbClr val="374151"/>
                </a:solidFill>
                <a:effectLst/>
                <a:latin typeface="Söhne"/>
              </a:rPr>
              <a:t>Log </a:t>
            </a:r>
            <a:r>
              <a:rPr lang="es-ES" b="1" i="0" dirty="0" err="1">
                <a:solidFill>
                  <a:srgbClr val="374151"/>
                </a:solidFill>
                <a:effectLst/>
                <a:latin typeface="Söhne"/>
              </a:rPr>
              <a:t>Parsing</a:t>
            </a:r>
            <a:r>
              <a:rPr lang="es-ES" b="1" i="0" dirty="0">
                <a:solidFill>
                  <a:srgbClr val="374151"/>
                </a:solidFill>
                <a:effectLst/>
                <a:latin typeface="Söhne"/>
              </a:rPr>
              <a:t>: </a:t>
            </a:r>
            <a:r>
              <a:rPr lang="es-ES" b="0" i="0" dirty="0">
                <a:solidFill>
                  <a:srgbClr val="374151"/>
                </a:solidFill>
                <a:effectLst/>
                <a:latin typeface="Söhne"/>
              </a:rPr>
              <a:t>Esta técnica se utiliza para extraer información relevante de archivos de registro (logs) generados por aplicaciones o sistemas. Los logs contienen registros de eventos y actividades, y el </a:t>
            </a:r>
            <a:r>
              <a:rPr lang="es-ES" b="0" i="0" dirty="0" err="1">
                <a:solidFill>
                  <a:srgbClr val="374151"/>
                </a:solidFill>
                <a:effectLst/>
                <a:latin typeface="Söhne"/>
              </a:rPr>
              <a:t>parsing</a:t>
            </a:r>
            <a:r>
              <a:rPr lang="es-ES" b="0" i="0" dirty="0">
                <a:solidFill>
                  <a:srgbClr val="374151"/>
                </a:solidFill>
                <a:effectLst/>
                <a:latin typeface="Söhne"/>
              </a:rPr>
              <a:t> permite extraer datos específicos para su análisis.</a:t>
            </a:r>
          </a:p>
          <a:p>
            <a:pPr marL="228600" indent="0" algn="l">
              <a:buFont typeface="+mj-lt"/>
              <a:buNone/>
            </a:pPr>
            <a:endParaRPr lang="es-ES" b="0" i="0" dirty="0">
              <a:solidFill>
                <a:srgbClr val="374151"/>
              </a:solidFill>
              <a:effectLst/>
              <a:latin typeface="Söhne"/>
            </a:endParaRPr>
          </a:p>
          <a:p>
            <a:pPr marL="228600" indent="0" algn="l">
              <a:buFont typeface="+mj-lt"/>
              <a:buNone/>
            </a:pPr>
            <a:r>
              <a:rPr lang="es-ES" b="1" i="0" dirty="0">
                <a:solidFill>
                  <a:srgbClr val="374151"/>
                </a:solidFill>
                <a:effectLst/>
                <a:latin typeface="Söhne"/>
              </a:rPr>
              <a:t>Extracción de datos de redes sociales: </a:t>
            </a:r>
            <a:r>
              <a:rPr lang="es-ES" b="0" i="0" dirty="0">
                <a:solidFill>
                  <a:srgbClr val="374151"/>
                </a:solidFill>
                <a:effectLst/>
                <a:latin typeface="Söhne"/>
              </a:rPr>
              <a:t>Se utiliza para obtener datos de plataformas de redes sociales como Twitter, Facebook, LinkedIn, entre otras. Los datos extraídos pueden incluir publicaciones, comentarios, información de perfil de usuarios, etc.</a:t>
            </a:r>
          </a:p>
          <a:p>
            <a:pPr marL="228600" indent="0" algn="l">
              <a:buFont typeface="+mj-lt"/>
              <a:buNone/>
            </a:pPr>
            <a:endParaRPr lang="es-ES" b="0" i="0" dirty="0">
              <a:solidFill>
                <a:srgbClr val="374151"/>
              </a:solidFill>
              <a:effectLst/>
              <a:latin typeface="Söhne"/>
            </a:endParaRPr>
          </a:p>
          <a:p>
            <a:pPr marL="228600" indent="0" algn="l">
              <a:buFont typeface="+mj-lt"/>
              <a:buNone/>
            </a:pPr>
            <a:r>
              <a:rPr lang="es-ES" b="1" i="0" dirty="0">
                <a:solidFill>
                  <a:srgbClr val="374151"/>
                </a:solidFill>
                <a:effectLst/>
                <a:latin typeface="Söhne"/>
              </a:rPr>
              <a:t>Extracción de datos de sensores y dispositivos </a:t>
            </a:r>
            <a:r>
              <a:rPr lang="es-ES" b="1" i="0" dirty="0" err="1">
                <a:solidFill>
                  <a:srgbClr val="374151"/>
                </a:solidFill>
                <a:effectLst/>
                <a:latin typeface="Söhne"/>
              </a:rPr>
              <a:t>IoT</a:t>
            </a:r>
            <a:r>
              <a:rPr lang="es-ES" b="1" i="0" dirty="0">
                <a:solidFill>
                  <a:srgbClr val="374151"/>
                </a:solidFill>
                <a:effectLst/>
                <a:latin typeface="Söhne"/>
              </a:rPr>
              <a:t>: </a:t>
            </a:r>
            <a:r>
              <a:rPr lang="es-ES" b="0" i="0" dirty="0">
                <a:solidFill>
                  <a:srgbClr val="374151"/>
                </a:solidFill>
                <a:effectLst/>
                <a:latin typeface="Söhne"/>
              </a:rPr>
              <a:t>En aplicaciones de Internet de las cosas (</a:t>
            </a:r>
            <a:r>
              <a:rPr lang="es-ES" b="0" i="0" dirty="0" err="1">
                <a:solidFill>
                  <a:srgbClr val="374151"/>
                </a:solidFill>
                <a:effectLst/>
                <a:latin typeface="Söhne"/>
              </a:rPr>
              <a:t>IoT</a:t>
            </a:r>
            <a:r>
              <a:rPr lang="es-ES" b="0" i="0" dirty="0">
                <a:solidFill>
                  <a:srgbClr val="374151"/>
                </a:solidFill>
                <a:effectLst/>
                <a:latin typeface="Söhne"/>
              </a:rPr>
              <a:t>), los sensores y dispositivos generan datos en tiempo real. La extracción de estos datos permite utilizarlos para análisis y toma de decisiones.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462575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8e91b49eda_0_6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8e91b49eda_0_6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s-ES" b="0" i="0" dirty="0">
                <a:solidFill>
                  <a:srgbClr val="374151"/>
                </a:solidFill>
                <a:effectLst/>
                <a:latin typeface="Söhne"/>
              </a:rPr>
              <a:t>En el contexto de Big Data, los modelos de ampliación se refieren a técnicas y enfoques utilizados para aumentar la cantidad de datos disponibles para su análisis y procesamiento. Estos modelos permiten generar grandes volúmenes de datos adicionales o replicar los datos existentes para realizar pruebas, entrenar algoritmos de aprendizaje automático o evaluar el rendimiento de soluciones de Big Data en un entorno de desarrollo o pruebas.</a:t>
            </a:r>
          </a:p>
          <a:p>
            <a:pPr algn="l"/>
            <a:r>
              <a:rPr lang="es-ES" b="0" i="0" dirty="0">
                <a:solidFill>
                  <a:srgbClr val="374151"/>
                </a:solidFill>
                <a:effectLst/>
                <a:latin typeface="Söhne"/>
              </a:rPr>
              <a:t>Algunos de los modelos de ampliación más comunes en Big Data son:</a:t>
            </a:r>
          </a:p>
          <a:p>
            <a:pPr algn="l">
              <a:buFont typeface="+mj-lt"/>
              <a:buAutoNum type="arabicPeriod"/>
            </a:pPr>
            <a:r>
              <a:rPr lang="es-ES" b="0" i="0" dirty="0">
                <a:solidFill>
                  <a:srgbClr val="374151"/>
                </a:solidFill>
                <a:effectLst/>
                <a:latin typeface="Söhne"/>
              </a:rPr>
              <a:t>Duplicación: En este modelo, se duplican los datos existentes para generar un conjunto de datos más grande. Esto puede ser útil para probar la escalabilidad y el rendimiento de un sistema de Big Data sin necesidad de recopilar nuevos datos.</a:t>
            </a:r>
          </a:p>
          <a:p>
            <a:pPr algn="l">
              <a:buFont typeface="+mj-lt"/>
              <a:buAutoNum type="arabicPeriod"/>
            </a:pPr>
            <a:r>
              <a:rPr lang="es-ES" b="0" i="0" dirty="0">
                <a:solidFill>
                  <a:srgbClr val="374151"/>
                </a:solidFill>
                <a:effectLst/>
                <a:latin typeface="Söhne"/>
              </a:rPr>
              <a:t>Multiplicación: En este modelo, los datos se multiplican mediante técnicas de generación de datos basadas en reglas o patrones. Por ejemplo, se pueden multiplicar registros de eventos temporales para simular un tráfico de datos más intenso.</a:t>
            </a:r>
          </a:p>
          <a:p>
            <a:pPr algn="l">
              <a:buFont typeface="+mj-lt"/>
              <a:buAutoNum type="arabicPeriod"/>
            </a:pPr>
            <a:r>
              <a:rPr lang="es-ES" b="0" i="0" dirty="0">
                <a:solidFill>
                  <a:srgbClr val="374151"/>
                </a:solidFill>
                <a:effectLst/>
                <a:latin typeface="Söhne"/>
              </a:rPr>
              <a:t>Escalamiento: En este modelo, se aumenta el tamaño de los datos existentes mediante técnicas de ampliación que conservan las propiedades y características de los datos originales. Puede implicar aumentar el tamaño de imágenes, archivos de texto o registros de bases de datos.</a:t>
            </a:r>
          </a:p>
          <a:p>
            <a:pPr algn="l">
              <a:buFont typeface="+mj-lt"/>
              <a:buAutoNum type="arabicPeriod"/>
            </a:pPr>
            <a:r>
              <a:rPr lang="es-ES" b="0" i="0" dirty="0">
                <a:solidFill>
                  <a:srgbClr val="374151"/>
                </a:solidFill>
                <a:effectLst/>
                <a:latin typeface="Söhne"/>
              </a:rPr>
              <a:t>Generación de datos sintéticos: Este modelo implica la generación de nuevos datos que simulan características y patrones de datos reales utilizando técnicas de modelado y generación de datos sintéticos. Estos datos pueden ser utilizados para aumentar la diversidad y el volumen de los conjuntos de datos.</a:t>
            </a:r>
          </a:p>
          <a:p>
            <a:pPr algn="l">
              <a:buFont typeface="+mj-lt"/>
              <a:buAutoNum type="arabicPeriod"/>
            </a:pPr>
            <a:r>
              <a:rPr lang="es-ES" b="0" i="0" dirty="0">
                <a:solidFill>
                  <a:srgbClr val="374151"/>
                </a:solidFill>
                <a:effectLst/>
                <a:latin typeface="Söhne"/>
              </a:rPr>
              <a:t>Datos enriquecidos: En este modelo, se agregan datos adicionales a los conjuntos de datos existentes para proporcionar información adicional y detallada. Por ejemplo, se pueden agregar datos geoespaciales o datos demográficos a un conjunto de datos para enriquecer su contenido.</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4293844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8e91b49eda_0_6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8e91b49eda_0_6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s-ES" b="0" i="0" dirty="0">
                <a:solidFill>
                  <a:srgbClr val="374151"/>
                </a:solidFill>
                <a:effectLst/>
                <a:latin typeface="Söhne"/>
              </a:rPr>
              <a:t>En el contexto de Big Data, los modelos de combinación se refieren a técnicas y enfoques utilizados para integrar y unificar diferentes fuentes de datos en un único conjunto de datos coherente y completo. Estos modelos permiten combinar datos de diversas fuentes, que pueden ser estructurados o no estructurados, para obtener una visión más completa y enriquecida de la información.</a:t>
            </a:r>
          </a:p>
          <a:p>
            <a:pPr algn="l"/>
            <a:r>
              <a:rPr lang="es-ES" b="0" i="0" dirty="0">
                <a:solidFill>
                  <a:srgbClr val="374151"/>
                </a:solidFill>
                <a:effectLst/>
                <a:latin typeface="Söhne"/>
              </a:rPr>
              <a:t>Algunos de los modelos de combinación más comunes en Big Data son:</a:t>
            </a:r>
          </a:p>
          <a:p>
            <a:pPr algn="l">
              <a:buFont typeface="+mj-lt"/>
              <a:buAutoNum type="arabicPeriod"/>
            </a:pPr>
            <a:r>
              <a:rPr lang="es-ES" b="0" i="0" dirty="0">
                <a:solidFill>
                  <a:srgbClr val="374151"/>
                </a:solidFill>
                <a:effectLst/>
                <a:latin typeface="Söhne"/>
              </a:rPr>
              <a:t>Integración de bases de datos: En este modelo, se combinan datos de múltiples bases de datos, ya sean bases de datos internas o externas, para crear un almacén de datos centralizado. Esto permite realizar análisis más complejos y obtener información más detallada al unificar datos dispersos en un solo lugar.</a:t>
            </a:r>
          </a:p>
          <a:p>
            <a:pPr algn="l">
              <a:buFont typeface="+mj-lt"/>
              <a:buAutoNum type="arabicPeriod"/>
            </a:pPr>
            <a:r>
              <a:rPr lang="es-ES" b="0" i="0" dirty="0">
                <a:solidFill>
                  <a:srgbClr val="374151"/>
                </a:solidFill>
                <a:effectLst/>
                <a:latin typeface="Söhne"/>
              </a:rPr>
              <a:t>Fusión de datos estructurados y no estructurados: En este modelo, se combinan datos estructurados (almacenados en tablas) y no estructurados (como texto libre, imágenes, videos) para enriquecer el análisis y obtener una visión más completa de la información. Se pueden utilizar técnicas de procesamiento de lenguaje natural y análisis de imágenes para extraer conocimientos de los datos no estructurados.</a:t>
            </a:r>
          </a:p>
          <a:p>
            <a:pPr algn="l">
              <a:buFont typeface="+mj-lt"/>
              <a:buAutoNum type="arabicPeriod"/>
            </a:pPr>
            <a:r>
              <a:rPr lang="es-ES" b="0" i="0" dirty="0">
                <a:solidFill>
                  <a:srgbClr val="374151"/>
                </a:solidFill>
                <a:effectLst/>
                <a:latin typeface="Söhne"/>
              </a:rPr>
              <a:t>Ensamblado de datos en tiempo real: En este modelo, se combinan datos en tiempo real procedentes de diferentes fuentes, como sensores </a:t>
            </a:r>
            <a:r>
              <a:rPr lang="es-ES" b="0" i="0" dirty="0" err="1">
                <a:solidFill>
                  <a:srgbClr val="374151"/>
                </a:solidFill>
                <a:effectLst/>
                <a:latin typeface="Söhne"/>
              </a:rPr>
              <a:t>IoT</a:t>
            </a:r>
            <a:r>
              <a:rPr lang="es-ES" b="0" i="0" dirty="0">
                <a:solidFill>
                  <a:srgbClr val="374151"/>
                </a:solidFill>
                <a:effectLst/>
                <a:latin typeface="Söhne"/>
              </a:rPr>
              <a:t> y redes sociales, para tomar decisiones rápidas y en tiempo real. Esto es especialmente útil en aplicaciones donde se requiere una respuesta rápida basada en datos actuales.</a:t>
            </a:r>
          </a:p>
          <a:p>
            <a:pPr algn="l">
              <a:buFont typeface="+mj-lt"/>
              <a:buAutoNum type="arabicPeriod"/>
            </a:pPr>
            <a:r>
              <a:rPr lang="es-ES" b="0" i="0" dirty="0">
                <a:solidFill>
                  <a:srgbClr val="374151"/>
                </a:solidFill>
                <a:effectLst/>
                <a:latin typeface="Söhne"/>
              </a:rPr>
              <a:t>Integración de datos de fuentes externas: En este modelo, se combinan datos de fuentes externas, como datos de proveedores, datos de redes sociales o datos de </a:t>
            </a:r>
            <a:r>
              <a:rPr lang="es-ES" b="0" i="0" dirty="0" err="1">
                <a:solidFill>
                  <a:srgbClr val="374151"/>
                </a:solidFill>
                <a:effectLst/>
                <a:latin typeface="Söhne"/>
              </a:rPr>
              <a:t>APIs</a:t>
            </a:r>
            <a:r>
              <a:rPr lang="es-ES" b="0" i="0" dirty="0">
                <a:solidFill>
                  <a:srgbClr val="374151"/>
                </a:solidFill>
                <a:effectLst/>
                <a:latin typeface="Söhne"/>
              </a:rPr>
              <a:t>, con los datos internos de una organización para enriquecer la información y obtener una visión más completa de las operaciones y el entorno de negocio.</a:t>
            </a:r>
          </a:p>
          <a:p>
            <a:pPr algn="l">
              <a:buFont typeface="+mj-lt"/>
              <a:buAutoNum type="arabicPeriod"/>
            </a:pPr>
            <a:r>
              <a:rPr lang="es-ES" b="0" i="0" dirty="0">
                <a:solidFill>
                  <a:srgbClr val="374151"/>
                </a:solidFill>
                <a:effectLst/>
                <a:latin typeface="Söhne"/>
              </a:rPr>
              <a:t>Unificación de identidades: En este modelo, se combinan datos de diferentes sistemas que hacen referencia a una misma entidad (por ejemplo, un cliente o un producto) para crear una vista unificada de esa entidad. Esto es útil para mejorar la calidad de los datos y evitar duplicidades.</a:t>
            </a:r>
          </a:p>
          <a:p>
            <a:pPr algn="l">
              <a:buFont typeface="+mj-lt"/>
              <a:buAutoNum type="arabicPeriod"/>
            </a:pPr>
            <a:r>
              <a:rPr lang="es-ES" b="0" i="0" dirty="0">
                <a:solidFill>
                  <a:srgbClr val="374151"/>
                </a:solidFill>
                <a:effectLst/>
                <a:latin typeface="Söhne"/>
              </a:rPr>
              <a:t>Combinación de datos históricos y en tiempo real: En este modelo, se combinan datos históricos almacenados en bases de datos con datos en tiempo real generados por sensores u otros dispositivos para obtener una visión completa del comportamiento de un sistema o proceso a lo largo del tiempo.</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8988900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8e91b49eda_0_6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8e91b49eda_0_6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s-ES" b="0" i="0" dirty="0" err="1">
                <a:solidFill>
                  <a:srgbClr val="374151"/>
                </a:solidFill>
                <a:effectLst/>
                <a:latin typeface="Söhne"/>
              </a:rPr>
              <a:t>xisten</a:t>
            </a:r>
            <a:r>
              <a:rPr lang="es-ES" b="0" i="0" dirty="0">
                <a:solidFill>
                  <a:srgbClr val="374151"/>
                </a:solidFill>
                <a:effectLst/>
                <a:latin typeface="Söhne"/>
              </a:rPr>
              <a:t> varias técnicas de inyección de datos que se utilizan para insertar, generar o simular datos en sistemas de gran escala. Estas técnicas son valiosas para realizar pruebas, entrenar modelos, analizar el rendimiento del sistema y evaluar su capacidad de procesamiento y almacenamiento. A continuación, algunas técnicas comunes de inyección de datos en Big Data:</a:t>
            </a:r>
          </a:p>
          <a:p>
            <a:pPr algn="l">
              <a:buFont typeface="+mj-lt"/>
              <a:buAutoNum type="arabicPeriod"/>
            </a:pPr>
            <a:r>
              <a:rPr lang="es-ES" b="0" i="0" dirty="0">
                <a:solidFill>
                  <a:srgbClr val="374151"/>
                </a:solidFill>
                <a:effectLst/>
                <a:latin typeface="Söhne"/>
              </a:rPr>
              <a:t>Carga masiva desde fuentes externas: Consiste en importar grandes volúmenes de datos desde fuentes externas, como bases de datos, archivos, o servicios de terceros. Esta técnica es útil para probar la capacidad del sistema para manejar flujos masivos de datos desde diversas fuentes.</a:t>
            </a:r>
          </a:p>
          <a:p>
            <a:pPr algn="l">
              <a:buFont typeface="+mj-lt"/>
              <a:buAutoNum type="arabicPeriod"/>
            </a:pPr>
            <a:r>
              <a:rPr lang="es-ES" b="0" i="0" dirty="0">
                <a:solidFill>
                  <a:srgbClr val="374151"/>
                </a:solidFill>
                <a:effectLst/>
                <a:latin typeface="Söhne"/>
              </a:rPr>
              <a:t>Generación programática de datos: Se crean scripts o programas para generar datos sintéticos que simulan el comportamiento y las características de los datos reales. Estos datos sintéticos pueden tener distribuciones específicas y se utilizan para pruebas y pruebas de escalabilidad.</a:t>
            </a:r>
          </a:p>
          <a:p>
            <a:pPr algn="l">
              <a:buFont typeface="+mj-lt"/>
              <a:buAutoNum type="arabicPeriod"/>
            </a:pPr>
            <a:r>
              <a:rPr lang="es-ES" b="0" i="0" dirty="0">
                <a:solidFill>
                  <a:srgbClr val="374151"/>
                </a:solidFill>
                <a:effectLst/>
                <a:latin typeface="Söhne"/>
              </a:rPr>
              <a:t>Generación de datos aleatorios: Se generan datos aleatorios siguiendo ciertas distribuciones estadísticas. Esta técnica es útil para crear grandes conjuntos de datos para pruebas de rendimiento y análisis exploratorios.</a:t>
            </a:r>
          </a:p>
          <a:p>
            <a:pPr algn="l">
              <a:buFont typeface="+mj-lt"/>
              <a:buAutoNum type="arabicPeriod"/>
            </a:pPr>
            <a:r>
              <a:rPr lang="es-ES" b="0" i="0" dirty="0">
                <a:solidFill>
                  <a:srgbClr val="374151"/>
                </a:solidFill>
                <a:effectLst/>
                <a:latin typeface="Söhne"/>
              </a:rPr>
              <a:t>Replicación de datos existentes: Consiste en duplicar o replicar datos ya existentes para aumentar su volumen y evaluar el comportamiento del sistema en escenarios de mayor carga.</a:t>
            </a:r>
          </a:p>
          <a:p>
            <a:pPr algn="l">
              <a:buFont typeface="+mj-lt"/>
              <a:buAutoNum type="arabicPeriod"/>
            </a:pPr>
            <a:r>
              <a:rPr lang="es-ES" b="0" i="0" dirty="0">
                <a:solidFill>
                  <a:srgbClr val="374151"/>
                </a:solidFill>
                <a:effectLst/>
                <a:latin typeface="Söhne"/>
              </a:rPr>
              <a:t>Generación de datos de prueba específicos: Se crean conjuntos de datos de prueba específicos para simular situaciones o casos de uso particulares, lo que permite realizar pruebas y </a:t>
            </a:r>
            <a:r>
              <a:rPr lang="es-ES" b="0" i="0" dirty="0" err="1">
                <a:solidFill>
                  <a:srgbClr val="374151"/>
                </a:solidFill>
                <a:effectLst/>
                <a:latin typeface="Söhne"/>
              </a:rPr>
              <a:t>Eanálisis</a:t>
            </a:r>
            <a:r>
              <a:rPr lang="es-ES" b="0" i="0" dirty="0">
                <a:solidFill>
                  <a:srgbClr val="374151"/>
                </a:solidFill>
                <a:effectLst/>
                <a:latin typeface="Söhne"/>
              </a:rPr>
              <a:t> en condiciones controladas.</a:t>
            </a:r>
          </a:p>
          <a:p>
            <a:pPr algn="l">
              <a:buFont typeface="+mj-lt"/>
              <a:buAutoNum type="arabicPeriod"/>
            </a:pPr>
            <a:r>
              <a:rPr lang="es-ES" b="0" i="0" dirty="0">
                <a:solidFill>
                  <a:srgbClr val="374151"/>
                </a:solidFill>
                <a:effectLst/>
                <a:latin typeface="Söhne"/>
              </a:rPr>
              <a:t>Inyección de datos en tiempo real: Se generan flujos de datos en tiempo real que simulan la llegada continua de información desde diversas fuentes, como sensores o sistemas de monitoreo. Esta técnica es útil para evaluar la capacidad de procesamiento y análisis en tiempo real del sistema.</a:t>
            </a:r>
          </a:p>
          <a:p>
            <a:pPr algn="l">
              <a:buFont typeface="+mj-lt"/>
              <a:buAutoNum type="arabicPeriod"/>
            </a:pPr>
            <a:r>
              <a:rPr lang="es-ES" b="0" i="0" dirty="0">
                <a:solidFill>
                  <a:srgbClr val="374151"/>
                </a:solidFill>
                <a:effectLst/>
                <a:latin typeface="Söhne"/>
              </a:rPr>
              <a:t>Utilización de conjuntos de datos públicos: Se emplean conjuntos de datos públicos disponibles para realizar pruebas y experimentos. Estos conjuntos pueden incluir datos de redes sociales, datos meteorológicos, datos gubernamentales, entre otros.</a:t>
            </a:r>
          </a:p>
          <a:p>
            <a:pPr algn="l">
              <a:buFont typeface="+mj-lt"/>
              <a:buAutoNum type="arabicPeriod"/>
            </a:pPr>
            <a:r>
              <a:rPr lang="es-ES" b="0" i="0" dirty="0">
                <a:solidFill>
                  <a:srgbClr val="374151"/>
                </a:solidFill>
                <a:effectLst/>
                <a:latin typeface="Söhne"/>
              </a:rPr>
              <a:t>Extracción y transformación de datos históricos: Se toman datos históricos almacenados en un formato específico y se transforman para adaptarlos al sistema de Big Data. Esto permite analizar datos antiguos con herramientas y tecnologías más avanzadas</a:t>
            </a:r>
          </a:p>
          <a:p>
            <a:pPr algn="l"/>
            <a:endParaRPr lang="en-US" dirty="0"/>
          </a:p>
        </p:txBody>
      </p:sp>
    </p:spTree>
    <p:extLst>
      <p:ext uri="{BB962C8B-B14F-4D97-AF65-F5344CB8AC3E}">
        <p14:creationId xmlns:p14="http://schemas.microsoft.com/office/powerpoint/2010/main" val="14231100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SzPts val="1100"/>
              <a:buNone/>
            </a:pPr>
            <a:endParaRPr/>
          </a:p>
        </p:txBody>
      </p:sp>
      <p:sp>
        <p:nvSpPr>
          <p:cNvPr id="47" name="Google Shape;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368823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solidFill>
                <a:schemeClr val="dk2"/>
              </a:solidFill>
              <a:latin typeface="Poppins"/>
              <a:cs typeface="Poppins"/>
              <a:sym typeface="Roboto"/>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solidFill>
                <a:schemeClr val="dk2"/>
              </a:solidFill>
              <a:latin typeface="Poppins"/>
              <a:cs typeface="Poppins"/>
              <a:sym typeface="Roboto"/>
            </a:endParaRPr>
          </a:p>
          <a:p>
            <a:pPr marL="0" lvl="0" indent="0" algn="l" rtl="0">
              <a:spcBef>
                <a:spcPts val="0"/>
              </a:spcBef>
              <a:spcAft>
                <a:spcPts val="0"/>
              </a:spcAft>
              <a:buSzPts val="1100"/>
              <a:buNone/>
            </a:pPr>
            <a:endParaRPr dirty="0"/>
          </a:p>
        </p:txBody>
      </p:sp>
      <p:sp>
        <p:nvSpPr>
          <p:cNvPr id="47" name="Google Shape;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206078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algn="l"/>
            <a:r>
              <a:rPr lang="es-ES" b="0" i="0" dirty="0">
                <a:solidFill>
                  <a:srgbClr val="374151"/>
                </a:solidFill>
                <a:effectLst/>
                <a:latin typeface="Söhne"/>
              </a:rPr>
              <a:t>El objetivo principal de Hadoop es permitir el procesamiento de datos a gran escala de manera eficiente y confiable, incluso en hardware convencional y asequible. El </a:t>
            </a:r>
            <a:r>
              <a:rPr lang="es-ES" b="0" i="0" dirty="0" err="1">
                <a:solidFill>
                  <a:srgbClr val="374151"/>
                </a:solidFill>
                <a:effectLst/>
                <a:latin typeface="Söhne"/>
              </a:rPr>
              <a:t>framework</a:t>
            </a:r>
            <a:r>
              <a:rPr lang="es-ES" b="0" i="0" dirty="0">
                <a:solidFill>
                  <a:srgbClr val="374151"/>
                </a:solidFill>
                <a:effectLst/>
                <a:latin typeface="Söhne"/>
              </a:rPr>
              <a:t> está diseñado para manejar datos de diversos formatos, como datos estructurados, </a:t>
            </a:r>
            <a:r>
              <a:rPr lang="es-ES" b="0" i="0" dirty="0" err="1">
                <a:solidFill>
                  <a:srgbClr val="374151"/>
                </a:solidFill>
                <a:effectLst/>
                <a:latin typeface="Söhne"/>
              </a:rPr>
              <a:t>semi-estructurados</a:t>
            </a:r>
            <a:r>
              <a:rPr lang="es-ES" b="0" i="0" dirty="0">
                <a:solidFill>
                  <a:srgbClr val="374151"/>
                </a:solidFill>
                <a:effectLst/>
                <a:latin typeface="Söhne"/>
              </a:rPr>
              <a:t> y no estructurados.</a:t>
            </a:r>
          </a:p>
          <a:p>
            <a:pPr algn="l"/>
            <a:r>
              <a:rPr lang="es-ES" b="0" i="0" dirty="0">
                <a:solidFill>
                  <a:srgbClr val="374151"/>
                </a:solidFill>
                <a:effectLst/>
                <a:latin typeface="Söhne"/>
              </a:rPr>
              <a:t>Los componentes principales de Hadoop son:</a:t>
            </a:r>
          </a:p>
          <a:p>
            <a:pPr algn="l">
              <a:buFont typeface="+mj-lt"/>
              <a:buAutoNum type="arabicPeriod"/>
            </a:pPr>
            <a:r>
              <a:rPr lang="es-ES" b="0" i="0" dirty="0">
                <a:solidFill>
                  <a:srgbClr val="374151"/>
                </a:solidFill>
                <a:effectLst/>
                <a:latin typeface="Söhne"/>
              </a:rPr>
              <a:t>Hadoop </a:t>
            </a:r>
            <a:r>
              <a:rPr lang="es-ES" b="0" i="0" dirty="0" err="1">
                <a:solidFill>
                  <a:srgbClr val="374151"/>
                </a:solidFill>
                <a:effectLst/>
                <a:latin typeface="Söhne"/>
              </a:rPr>
              <a:t>Distributed</a:t>
            </a:r>
            <a:r>
              <a:rPr lang="es-ES" b="0" i="0" dirty="0">
                <a:solidFill>
                  <a:srgbClr val="374151"/>
                </a:solidFill>
                <a:effectLst/>
                <a:latin typeface="Söhne"/>
              </a:rPr>
              <a:t> File </a:t>
            </a:r>
            <a:r>
              <a:rPr lang="es-ES" b="0" i="0" dirty="0" err="1">
                <a:solidFill>
                  <a:srgbClr val="374151"/>
                </a:solidFill>
                <a:effectLst/>
                <a:latin typeface="Söhne"/>
              </a:rPr>
              <a:t>System</a:t>
            </a:r>
            <a:r>
              <a:rPr lang="es-ES" b="0" i="0" dirty="0">
                <a:solidFill>
                  <a:srgbClr val="374151"/>
                </a:solidFill>
                <a:effectLst/>
                <a:latin typeface="Söhne"/>
              </a:rPr>
              <a:t> (HDFS): Es el sistema de archivos distribuido de Hadoop, diseñado para almacenar grandes conjuntos de datos a través de múltiples nodos en un clúster. HDFS divide los datos en bloques y los distribuye en diferentes nodos para garantizar la redundancia y la tolerancia a fallos.</a:t>
            </a:r>
          </a:p>
          <a:p>
            <a:pPr algn="l">
              <a:buFont typeface="+mj-lt"/>
              <a:buAutoNum type="arabicPeriod"/>
            </a:pPr>
            <a:r>
              <a:rPr lang="es-ES" b="0" i="0" dirty="0">
                <a:solidFill>
                  <a:srgbClr val="374151"/>
                </a:solidFill>
                <a:effectLst/>
                <a:latin typeface="Söhne"/>
              </a:rPr>
              <a:t>MapReduce: Es un modelo de programación para el procesamiento paralelo de datos en clústeres de Hadoop. Permite dividir una tarea en múltiples tareas más pequeñas (</a:t>
            </a:r>
            <a:r>
              <a:rPr lang="es-ES" b="0" i="0" dirty="0" err="1">
                <a:solidFill>
                  <a:srgbClr val="374151"/>
                </a:solidFill>
                <a:effectLst/>
                <a:latin typeface="Söhne"/>
              </a:rPr>
              <a:t>mappers</a:t>
            </a:r>
            <a:r>
              <a:rPr lang="es-ES" b="0" i="0" dirty="0">
                <a:solidFill>
                  <a:srgbClr val="374151"/>
                </a:solidFill>
                <a:effectLst/>
                <a:latin typeface="Söhne"/>
              </a:rPr>
              <a:t>) que se ejecutan en paralelo en diferentes nodos, y luego combinar y reducir los resultados para obtener el resultado final (</a:t>
            </a:r>
            <a:r>
              <a:rPr lang="es-ES" b="0" i="0" dirty="0" err="1">
                <a:solidFill>
                  <a:srgbClr val="374151"/>
                </a:solidFill>
                <a:effectLst/>
                <a:latin typeface="Söhne"/>
              </a:rPr>
              <a:t>reducers</a:t>
            </a:r>
            <a:r>
              <a:rPr lang="es-ES" b="0" i="0" dirty="0">
                <a:solidFill>
                  <a:srgbClr val="374151"/>
                </a:solidFill>
                <a:effectLst/>
                <a:latin typeface="Söhne"/>
              </a:rPr>
              <a:t>).</a:t>
            </a:r>
          </a:p>
          <a:p>
            <a:pPr algn="l">
              <a:buFont typeface="+mj-lt"/>
              <a:buAutoNum type="arabicPeriod"/>
            </a:pPr>
            <a:r>
              <a:rPr lang="es-ES" b="0" i="0" dirty="0">
                <a:solidFill>
                  <a:srgbClr val="374151"/>
                </a:solidFill>
                <a:effectLst/>
                <a:latin typeface="Söhne"/>
              </a:rPr>
              <a:t>YARN (</a:t>
            </a:r>
            <a:r>
              <a:rPr lang="es-ES" b="0" i="0" dirty="0" err="1">
                <a:solidFill>
                  <a:srgbClr val="374151"/>
                </a:solidFill>
                <a:effectLst/>
                <a:latin typeface="Söhne"/>
              </a:rPr>
              <a:t>Yet</a:t>
            </a:r>
            <a:r>
              <a:rPr lang="es-ES" b="0" i="0" dirty="0">
                <a:solidFill>
                  <a:srgbClr val="374151"/>
                </a:solidFill>
                <a:effectLst/>
                <a:latin typeface="Söhne"/>
              </a:rPr>
              <a:t> </a:t>
            </a:r>
            <a:r>
              <a:rPr lang="es-ES" b="0" i="0" dirty="0" err="1">
                <a:solidFill>
                  <a:srgbClr val="374151"/>
                </a:solidFill>
                <a:effectLst/>
                <a:latin typeface="Söhne"/>
              </a:rPr>
              <a:t>Another</a:t>
            </a:r>
            <a:r>
              <a:rPr lang="es-ES" b="0" i="0" dirty="0">
                <a:solidFill>
                  <a:srgbClr val="374151"/>
                </a:solidFill>
                <a:effectLst/>
                <a:latin typeface="Söhne"/>
              </a:rPr>
              <a:t> </a:t>
            </a:r>
            <a:r>
              <a:rPr lang="es-ES" b="0" i="0" dirty="0" err="1">
                <a:solidFill>
                  <a:srgbClr val="374151"/>
                </a:solidFill>
                <a:effectLst/>
                <a:latin typeface="Söhne"/>
              </a:rPr>
              <a:t>Resource</a:t>
            </a:r>
            <a:r>
              <a:rPr lang="es-ES" b="0" i="0" dirty="0">
                <a:solidFill>
                  <a:srgbClr val="374151"/>
                </a:solidFill>
                <a:effectLst/>
                <a:latin typeface="Söhne"/>
              </a:rPr>
              <a:t> </a:t>
            </a:r>
            <a:r>
              <a:rPr lang="es-ES" b="0" i="0" dirty="0" err="1">
                <a:solidFill>
                  <a:srgbClr val="374151"/>
                </a:solidFill>
                <a:effectLst/>
                <a:latin typeface="Söhne"/>
              </a:rPr>
              <a:t>Negotiator</a:t>
            </a:r>
            <a:r>
              <a:rPr lang="es-ES" b="0" i="0" dirty="0">
                <a:solidFill>
                  <a:srgbClr val="374151"/>
                </a:solidFill>
                <a:effectLst/>
                <a:latin typeface="Söhne"/>
              </a:rPr>
              <a:t>): Es el administrador de recursos de Hadoop que gestiona y asigna recursos de CPU y memoria en el clúster para las tareas de procesamiento.</a:t>
            </a:r>
          </a:p>
          <a:p>
            <a:pPr algn="l">
              <a:buFont typeface="+mj-lt"/>
              <a:buAutoNum type="arabicPeriod"/>
            </a:pPr>
            <a:r>
              <a:rPr lang="es-ES" b="0" i="0" dirty="0" err="1">
                <a:solidFill>
                  <a:srgbClr val="374151"/>
                </a:solidFill>
                <a:effectLst/>
                <a:latin typeface="Söhne"/>
              </a:rPr>
              <a:t>Common</a:t>
            </a:r>
            <a:r>
              <a:rPr lang="es-ES" b="0" i="0" dirty="0">
                <a:solidFill>
                  <a:srgbClr val="374151"/>
                </a:solidFill>
                <a:effectLst/>
                <a:latin typeface="Söhne"/>
              </a:rPr>
              <a:t> </a:t>
            </a:r>
            <a:r>
              <a:rPr lang="es-ES" b="0" i="0" dirty="0" err="1">
                <a:solidFill>
                  <a:srgbClr val="374151"/>
                </a:solidFill>
                <a:effectLst/>
                <a:latin typeface="Söhne"/>
              </a:rPr>
              <a:t>Utilities</a:t>
            </a:r>
            <a:r>
              <a:rPr lang="es-ES" b="0" i="0" dirty="0">
                <a:solidFill>
                  <a:srgbClr val="374151"/>
                </a:solidFill>
                <a:effectLst/>
                <a:latin typeface="Söhne"/>
              </a:rPr>
              <a:t>: Es un conjunto de librerías y utilidades compartidas que proporciona funcionalidades esenciales para todos los componentes de Hadoop.</a:t>
            </a:r>
          </a:p>
          <a:p>
            <a:pPr algn="l"/>
            <a:r>
              <a:rPr lang="es-ES" b="0" i="0" dirty="0">
                <a:solidFill>
                  <a:srgbClr val="374151"/>
                </a:solidFill>
                <a:effectLst/>
                <a:latin typeface="Söhne"/>
              </a:rPr>
              <a:t>Hadoop es ampliamente utilizado en aplicaciones de Big Data y es especialmente útil cuando se enfrentan grandes volúmenes de datos y la necesidad de procesarlos de manera eficiente y escalable. Permite el almacenamiento y procesamiento de datos en paralelo, lo que lo convierte en una opción popular para el análisis de datos masivos, el procesamiento de registros de aplicaciones, el procesamiento de datos web, la indexación y mucho más.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solidFill>
                <a:schemeClr val="dk2"/>
              </a:solidFill>
              <a:latin typeface="Poppins"/>
              <a:cs typeface="Poppins"/>
              <a:sym typeface="Roboto"/>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solidFill>
                <a:schemeClr val="dk2"/>
              </a:solidFill>
              <a:latin typeface="Poppins"/>
              <a:cs typeface="Poppins"/>
              <a:sym typeface="Roboto"/>
            </a:endParaRPr>
          </a:p>
          <a:p>
            <a:pPr marL="0" lvl="0" indent="0" algn="l" rtl="0">
              <a:spcBef>
                <a:spcPts val="0"/>
              </a:spcBef>
              <a:spcAft>
                <a:spcPts val="0"/>
              </a:spcAft>
              <a:buSzPts val="1100"/>
              <a:buNone/>
            </a:pPr>
            <a:endParaRPr dirty="0"/>
          </a:p>
        </p:txBody>
      </p:sp>
      <p:sp>
        <p:nvSpPr>
          <p:cNvPr id="47" name="Google Shape;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274259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solidFill>
                <a:schemeClr val="dk2"/>
              </a:solidFill>
              <a:latin typeface="Poppins"/>
              <a:cs typeface="Poppins"/>
              <a:sym typeface="Roboto"/>
            </a:endParaRPr>
          </a:p>
          <a:p>
            <a:pPr algn="l"/>
            <a:r>
              <a:rPr lang="es-ES" b="0" i="0" dirty="0">
                <a:solidFill>
                  <a:srgbClr val="374151"/>
                </a:solidFill>
                <a:effectLst/>
                <a:latin typeface="Söhne"/>
              </a:rPr>
              <a:t>El análisis de datos en Big Data implica generalmente los siguientes pasos:</a:t>
            </a:r>
          </a:p>
          <a:p>
            <a:pPr algn="l">
              <a:buFont typeface="+mj-lt"/>
              <a:buAutoNum type="arabicPeriod"/>
            </a:pPr>
            <a:r>
              <a:rPr lang="es-ES" b="1" i="0" dirty="0">
                <a:solidFill>
                  <a:srgbClr val="374151"/>
                </a:solidFill>
                <a:effectLst/>
                <a:latin typeface="Söhne"/>
              </a:rPr>
              <a:t>Adquisición de datos:</a:t>
            </a:r>
            <a:r>
              <a:rPr lang="es-ES" b="0" i="0" dirty="0">
                <a:solidFill>
                  <a:srgbClr val="374151"/>
                </a:solidFill>
                <a:effectLst/>
                <a:latin typeface="Söhne"/>
              </a:rPr>
              <a:t> Obtener los datos de diversas fuentes, que pueden incluir registros de servidores, sensores, redes sociales, dispositivos </a:t>
            </a:r>
            <a:r>
              <a:rPr lang="es-ES" b="0" i="0" dirty="0" err="1">
                <a:solidFill>
                  <a:srgbClr val="374151"/>
                </a:solidFill>
                <a:effectLst/>
                <a:latin typeface="Söhne"/>
              </a:rPr>
              <a:t>IoT</a:t>
            </a:r>
            <a:r>
              <a:rPr lang="es-ES" b="0" i="0" dirty="0">
                <a:solidFill>
                  <a:srgbClr val="374151"/>
                </a:solidFill>
                <a:effectLst/>
                <a:latin typeface="Söhne"/>
              </a:rPr>
              <a:t> y más.</a:t>
            </a:r>
          </a:p>
          <a:p>
            <a:pPr algn="l">
              <a:buFont typeface="+mj-lt"/>
              <a:buAutoNum type="arabicPeriod"/>
            </a:pPr>
            <a:r>
              <a:rPr lang="es-ES" b="1" i="0" dirty="0">
                <a:solidFill>
                  <a:srgbClr val="374151"/>
                </a:solidFill>
                <a:effectLst/>
                <a:latin typeface="Söhne"/>
              </a:rPr>
              <a:t>Almacenamiento:</a:t>
            </a:r>
            <a:r>
              <a:rPr lang="es-ES" b="0" i="0" dirty="0">
                <a:solidFill>
                  <a:srgbClr val="374151"/>
                </a:solidFill>
                <a:effectLst/>
                <a:latin typeface="Söhne"/>
              </a:rPr>
              <a:t> Los datos se almacenan en sistemas distribuidos y escalables, como sistemas de archivos distribuidos (HDFS), bases de datos NoSQL (como MongoDB o </a:t>
            </a:r>
            <a:r>
              <a:rPr lang="es-ES" b="0" i="0" dirty="0" err="1">
                <a:solidFill>
                  <a:srgbClr val="374151"/>
                </a:solidFill>
                <a:effectLst/>
                <a:latin typeface="Söhne"/>
              </a:rPr>
              <a:t>Cassandra</a:t>
            </a:r>
            <a:r>
              <a:rPr lang="es-ES" b="0" i="0" dirty="0">
                <a:solidFill>
                  <a:srgbClr val="374151"/>
                </a:solidFill>
                <a:effectLst/>
                <a:latin typeface="Söhne"/>
              </a:rPr>
              <a:t>) o plataformas de almacenamiento en la nube.</a:t>
            </a:r>
          </a:p>
          <a:p>
            <a:pPr algn="l">
              <a:buFont typeface="+mj-lt"/>
              <a:buAutoNum type="arabicPeriod"/>
            </a:pPr>
            <a:r>
              <a:rPr lang="es-ES" b="1" i="0" dirty="0">
                <a:solidFill>
                  <a:srgbClr val="374151"/>
                </a:solidFill>
                <a:effectLst/>
                <a:latin typeface="Söhne"/>
              </a:rPr>
              <a:t>Procesamiento:</a:t>
            </a:r>
            <a:r>
              <a:rPr lang="es-ES" b="0" i="0" dirty="0">
                <a:solidFill>
                  <a:srgbClr val="374151"/>
                </a:solidFill>
                <a:effectLst/>
                <a:latin typeface="Söhne"/>
              </a:rPr>
              <a:t> Los datos se someten a procesos de limpieza, transformación y preprocesamiento para que sean útiles y relevantes para el análisis. Esto a menudo involucra técnicas como filtrado, normalización y transformaciones complejas.</a:t>
            </a:r>
          </a:p>
          <a:p>
            <a:pPr algn="l">
              <a:buFont typeface="+mj-lt"/>
              <a:buAutoNum type="arabicPeriod"/>
            </a:pPr>
            <a:r>
              <a:rPr lang="es-ES" b="1" i="0" dirty="0">
                <a:solidFill>
                  <a:srgbClr val="374151"/>
                </a:solidFill>
                <a:effectLst/>
                <a:latin typeface="Söhne"/>
              </a:rPr>
              <a:t>Análisis:</a:t>
            </a:r>
            <a:r>
              <a:rPr lang="es-ES" b="0" i="0" dirty="0">
                <a:solidFill>
                  <a:srgbClr val="374151"/>
                </a:solidFill>
                <a:effectLst/>
                <a:latin typeface="Söhne"/>
              </a:rPr>
              <a:t> En esta etapa, se aplican técnicas de análisis estadístico, minería de datos, aprendizaje automático (machine </a:t>
            </a:r>
            <a:r>
              <a:rPr lang="es-ES" b="0" i="0" dirty="0" err="1">
                <a:solidFill>
                  <a:srgbClr val="374151"/>
                </a:solidFill>
                <a:effectLst/>
                <a:latin typeface="Söhne"/>
              </a:rPr>
              <a:t>learning</a:t>
            </a:r>
            <a:r>
              <a:rPr lang="es-ES" b="0" i="0" dirty="0">
                <a:solidFill>
                  <a:srgbClr val="374151"/>
                </a:solidFill>
                <a:effectLst/>
                <a:latin typeface="Söhne"/>
              </a:rPr>
              <a:t>) y visualización para extraer información valiosa de los datos. El objetivo es identificar patrones, tendencias y relaciones ocultas en los datos.</a:t>
            </a:r>
          </a:p>
          <a:p>
            <a:pPr algn="l">
              <a:buFont typeface="+mj-lt"/>
              <a:buAutoNum type="arabicPeriod"/>
            </a:pPr>
            <a:r>
              <a:rPr lang="es-ES" b="1" i="0" dirty="0">
                <a:solidFill>
                  <a:srgbClr val="374151"/>
                </a:solidFill>
                <a:effectLst/>
                <a:latin typeface="Söhne"/>
              </a:rPr>
              <a:t>Interpretación:</a:t>
            </a:r>
            <a:r>
              <a:rPr lang="es-ES" b="0" i="0" dirty="0">
                <a:solidFill>
                  <a:srgbClr val="374151"/>
                </a:solidFill>
                <a:effectLst/>
                <a:latin typeface="Söhne"/>
              </a:rPr>
              <a:t> Los resultados del análisis se interpretan para comprender su relevancia y su impacto en la toma de decisiones o en la solución de problemas.</a:t>
            </a:r>
          </a:p>
          <a:p>
            <a:pPr algn="l">
              <a:buFont typeface="+mj-lt"/>
              <a:buAutoNum type="arabicPeriod"/>
            </a:pPr>
            <a:r>
              <a:rPr lang="es-ES" b="1" i="0" dirty="0">
                <a:solidFill>
                  <a:srgbClr val="374151"/>
                </a:solidFill>
                <a:effectLst/>
                <a:latin typeface="Söhne"/>
              </a:rPr>
              <a:t>Visualización:</a:t>
            </a:r>
            <a:r>
              <a:rPr lang="es-ES" b="0" i="0" dirty="0">
                <a:solidFill>
                  <a:srgbClr val="374151"/>
                </a:solidFill>
                <a:effectLst/>
                <a:latin typeface="Söhne"/>
              </a:rPr>
              <a:t> La visualización de datos es una parte crucial del análisis de Big Data, ya que permite representar la información de manera comprensible y accesible. Gráficos, tablas y otros elementos visuales ayudan a comunicar los hallazgos de manera efectiva.</a:t>
            </a:r>
          </a:p>
          <a:p>
            <a:pPr algn="l">
              <a:buFont typeface="+mj-lt"/>
              <a:buAutoNum type="arabicPeriod"/>
            </a:pPr>
            <a:r>
              <a:rPr lang="es-ES" b="1" i="0" dirty="0">
                <a:solidFill>
                  <a:srgbClr val="374151"/>
                </a:solidFill>
                <a:effectLst/>
                <a:latin typeface="Söhne"/>
              </a:rPr>
              <a:t>Toma de decisiones:</a:t>
            </a:r>
            <a:r>
              <a:rPr lang="es-ES" b="0" i="0" dirty="0">
                <a:solidFill>
                  <a:srgbClr val="374151"/>
                </a:solidFill>
                <a:effectLst/>
                <a:latin typeface="Söhne"/>
              </a:rPr>
              <a:t> Los resultados del análisis se utilizan para tomar decisiones informadas, identificar oportunidades de mejora, optimizar procesos y planificar estrategias futuras.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solidFill>
                <a:schemeClr val="dk2"/>
              </a:solidFill>
              <a:latin typeface="Poppins"/>
              <a:cs typeface="Poppins"/>
              <a:sym typeface="Roboto"/>
            </a:endParaRPr>
          </a:p>
          <a:p>
            <a:pPr marL="0" lvl="0" indent="0" algn="l" rtl="0">
              <a:spcBef>
                <a:spcPts val="0"/>
              </a:spcBef>
              <a:spcAft>
                <a:spcPts val="0"/>
              </a:spcAft>
              <a:buSzPts val="1100"/>
              <a:buNone/>
            </a:pPr>
            <a:endParaRPr dirty="0"/>
          </a:p>
        </p:txBody>
      </p:sp>
      <p:sp>
        <p:nvSpPr>
          <p:cNvPr id="47" name="Google Shape;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37331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solidFill>
                <a:schemeClr val="dk2"/>
              </a:solidFill>
              <a:latin typeface="Poppins"/>
              <a:cs typeface="Poppins"/>
              <a:sym typeface="Roboto"/>
            </a:endParaRPr>
          </a:p>
          <a:p>
            <a:pPr algn="l"/>
            <a:r>
              <a:rPr lang="es-ES" b="0" i="0" dirty="0">
                <a:solidFill>
                  <a:srgbClr val="374151"/>
                </a:solidFill>
                <a:effectLst/>
                <a:latin typeface="Söhne"/>
              </a:rPr>
              <a:t>Algunas de las características y componentes clave de Apache </a:t>
            </a:r>
            <a:r>
              <a:rPr lang="es-ES" b="0" i="0" dirty="0" err="1">
                <a:solidFill>
                  <a:srgbClr val="374151"/>
                </a:solidFill>
                <a:effectLst/>
                <a:latin typeface="Söhne"/>
              </a:rPr>
              <a:t>Hive</a:t>
            </a:r>
            <a:r>
              <a:rPr lang="es-ES" b="0" i="0" dirty="0">
                <a:solidFill>
                  <a:srgbClr val="374151"/>
                </a:solidFill>
                <a:effectLst/>
                <a:latin typeface="Söhne"/>
              </a:rPr>
              <a:t> son:</a:t>
            </a:r>
          </a:p>
          <a:p>
            <a:pPr algn="l">
              <a:buFont typeface="+mj-lt"/>
              <a:buAutoNum type="arabicPeriod"/>
            </a:pPr>
            <a:r>
              <a:rPr lang="es-ES" b="1" i="0" dirty="0" err="1">
                <a:solidFill>
                  <a:srgbClr val="374151"/>
                </a:solidFill>
                <a:effectLst/>
                <a:latin typeface="Söhne"/>
              </a:rPr>
              <a:t>Metastore</a:t>
            </a:r>
            <a:r>
              <a:rPr lang="es-ES" b="1" i="0" dirty="0">
                <a:solidFill>
                  <a:srgbClr val="374151"/>
                </a:solidFill>
                <a:effectLst/>
                <a:latin typeface="Söhne"/>
              </a:rPr>
              <a:t>:</a:t>
            </a:r>
            <a:r>
              <a:rPr lang="es-ES" b="0" i="0" dirty="0">
                <a:solidFill>
                  <a:srgbClr val="374151"/>
                </a:solidFill>
                <a:effectLst/>
                <a:latin typeface="Söhne"/>
              </a:rPr>
              <a:t> </a:t>
            </a:r>
            <a:r>
              <a:rPr lang="es-ES" b="0" i="0" dirty="0" err="1">
                <a:solidFill>
                  <a:srgbClr val="374151"/>
                </a:solidFill>
                <a:effectLst/>
                <a:latin typeface="Söhne"/>
              </a:rPr>
              <a:t>Hive</a:t>
            </a:r>
            <a:r>
              <a:rPr lang="es-ES" b="0" i="0" dirty="0">
                <a:solidFill>
                  <a:srgbClr val="374151"/>
                </a:solidFill>
                <a:effectLst/>
                <a:latin typeface="Söhne"/>
              </a:rPr>
              <a:t> incluye un </a:t>
            </a:r>
            <a:r>
              <a:rPr lang="es-ES" b="0" i="0" dirty="0" err="1">
                <a:solidFill>
                  <a:srgbClr val="374151"/>
                </a:solidFill>
                <a:effectLst/>
                <a:latin typeface="Söhne"/>
              </a:rPr>
              <a:t>Metastore</a:t>
            </a:r>
            <a:r>
              <a:rPr lang="es-ES" b="0" i="0" dirty="0">
                <a:solidFill>
                  <a:srgbClr val="374151"/>
                </a:solidFill>
                <a:effectLst/>
                <a:latin typeface="Söhne"/>
              </a:rPr>
              <a:t>, que almacena los metadatos de los datos, como esquemas, tablas, particiones y columnas. Esto facilita la administración de los datos y la consulta de metadatos.</a:t>
            </a:r>
          </a:p>
          <a:p>
            <a:pPr algn="l">
              <a:buFont typeface="+mj-lt"/>
              <a:buAutoNum type="arabicPeriod"/>
            </a:pPr>
            <a:r>
              <a:rPr lang="es-ES" b="1" i="0" dirty="0" err="1">
                <a:solidFill>
                  <a:srgbClr val="374151"/>
                </a:solidFill>
                <a:effectLst/>
                <a:latin typeface="Söhne"/>
              </a:rPr>
              <a:t>HiveQL</a:t>
            </a:r>
            <a:r>
              <a:rPr lang="es-ES" b="1" i="0" dirty="0">
                <a:solidFill>
                  <a:srgbClr val="374151"/>
                </a:solidFill>
                <a:effectLst/>
                <a:latin typeface="Söhne"/>
              </a:rPr>
              <a:t>:</a:t>
            </a:r>
            <a:r>
              <a:rPr lang="es-ES" b="0" i="0" dirty="0">
                <a:solidFill>
                  <a:srgbClr val="374151"/>
                </a:solidFill>
                <a:effectLst/>
                <a:latin typeface="Söhne"/>
              </a:rPr>
              <a:t> </a:t>
            </a:r>
            <a:r>
              <a:rPr lang="es-ES" b="0" i="0" dirty="0" err="1">
                <a:solidFill>
                  <a:srgbClr val="374151"/>
                </a:solidFill>
                <a:effectLst/>
                <a:latin typeface="Söhne"/>
              </a:rPr>
              <a:t>Hive</a:t>
            </a:r>
            <a:r>
              <a:rPr lang="es-ES" b="0" i="0" dirty="0">
                <a:solidFill>
                  <a:srgbClr val="374151"/>
                </a:solidFill>
                <a:effectLst/>
                <a:latin typeface="Söhne"/>
              </a:rPr>
              <a:t> </a:t>
            </a:r>
            <a:r>
              <a:rPr lang="es-ES" b="0" i="0" dirty="0" err="1">
                <a:solidFill>
                  <a:srgbClr val="374151"/>
                </a:solidFill>
                <a:effectLst/>
                <a:latin typeface="Söhne"/>
              </a:rPr>
              <a:t>Query</a:t>
            </a:r>
            <a:r>
              <a:rPr lang="es-ES" b="0" i="0" dirty="0">
                <a:solidFill>
                  <a:srgbClr val="374151"/>
                </a:solidFill>
                <a:effectLst/>
                <a:latin typeface="Söhne"/>
              </a:rPr>
              <a:t> </a:t>
            </a:r>
            <a:r>
              <a:rPr lang="es-ES" b="0" i="0" dirty="0" err="1">
                <a:solidFill>
                  <a:srgbClr val="374151"/>
                </a:solidFill>
                <a:effectLst/>
                <a:latin typeface="Söhne"/>
              </a:rPr>
              <a:t>Language</a:t>
            </a:r>
            <a:r>
              <a:rPr lang="es-ES" b="0" i="0" dirty="0">
                <a:solidFill>
                  <a:srgbClr val="374151"/>
                </a:solidFill>
                <a:effectLst/>
                <a:latin typeface="Söhne"/>
              </a:rPr>
              <a:t> (</a:t>
            </a:r>
            <a:r>
              <a:rPr lang="es-ES" b="0" i="0" dirty="0" err="1">
                <a:solidFill>
                  <a:srgbClr val="374151"/>
                </a:solidFill>
                <a:effectLst/>
                <a:latin typeface="Söhne"/>
              </a:rPr>
              <a:t>HiveQL</a:t>
            </a:r>
            <a:r>
              <a:rPr lang="es-ES" b="0" i="0" dirty="0">
                <a:solidFill>
                  <a:srgbClr val="374151"/>
                </a:solidFill>
                <a:effectLst/>
                <a:latin typeface="Söhne"/>
              </a:rPr>
              <a:t>) es el lenguaje de consulta utilizado en </a:t>
            </a:r>
            <a:r>
              <a:rPr lang="es-ES" b="0" i="0" dirty="0" err="1">
                <a:solidFill>
                  <a:srgbClr val="374151"/>
                </a:solidFill>
                <a:effectLst/>
                <a:latin typeface="Söhne"/>
              </a:rPr>
              <a:t>Hive</a:t>
            </a:r>
            <a:r>
              <a:rPr lang="es-ES" b="0" i="0" dirty="0">
                <a:solidFill>
                  <a:srgbClr val="374151"/>
                </a:solidFill>
                <a:effectLst/>
                <a:latin typeface="Söhne"/>
              </a:rPr>
              <a:t>. Aunque se asemeja a SQL, </a:t>
            </a:r>
            <a:r>
              <a:rPr lang="es-ES" b="0" i="0" dirty="0" err="1">
                <a:solidFill>
                  <a:srgbClr val="374151"/>
                </a:solidFill>
                <a:effectLst/>
                <a:latin typeface="Söhne"/>
              </a:rPr>
              <a:t>HiveQL</a:t>
            </a:r>
            <a:r>
              <a:rPr lang="es-ES" b="0" i="0" dirty="0">
                <a:solidFill>
                  <a:srgbClr val="374151"/>
                </a:solidFill>
                <a:effectLst/>
                <a:latin typeface="Söhne"/>
              </a:rPr>
              <a:t> está optimizado para trabajar con estructuras de datos distribuidas y almacenadas en Hadoop.</a:t>
            </a:r>
          </a:p>
          <a:p>
            <a:pPr algn="l">
              <a:buFont typeface="+mj-lt"/>
              <a:buAutoNum type="arabicPeriod"/>
            </a:pPr>
            <a:r>
              <a:rPr lang="es-ES" b="1" i="0" dirty="0">
                <a:solidFill>
                  <a:srgbClr val="374151"/>
                </a:solidFill>
                <a:effectLst/>
                <a:latin typeface="Söhne"/>
              </a:rPr>
              <a:t>Optimización:</a:t>
            </a:r>
            <a:r>
              <a:rPr lang="es-ES" b="0" i="0" dirty="0">
                <a:solidFill>
                  <a:srgbClr val="374151"/>
                </a:solidFill>
                <a:effectLst/>
                <a:latin typeface="Söhne"/>
              </a:rPr>
              <a:t> </a:t>
            </a:r>
            <a:r>
              <a:rPr lang="es-ES" b="0" i="0" dirty="0" err="1">
                <a:solidFill>
                  <a:srgbClr val="374151"/>
                </a:solidFill>
                <a:effectLst/>
                <a:latin typeface="Söhne"/>
              </a:rPr>
              <a:t>Hive</a:t>
            </a:r>
            <a:r>
              <a:rPr lang="es-ES" b="0" i="0" dirty="0">
                <a:solidFill>
                  <a:srgbClr val="374151"/>
                </a:solidFill>
                <a:effectLst/>
                <a:latin typeface="Söhne"/>
              </a:rPr>
              <a:t> realiza optimizaciones automáticas en las consultas para mejorar el rendimiento. Sin embargo, históricamente, </a:t>
            </a:r>
            <a:r>
              <a:rPr lang="es-ES" b="0" i="0" dirty="0" err="1">
                <a:solidFill>
                  <a:srgbClr val="374151"/>
                </a:solidFill>
                <a:effectLst/>
                <a:latin typeface="Söhne"/>
              </a:rPr>
              <a:t>Hive</a:t>
            </a:r>
            <a:r>
              <a:rPr lang="es-ES" b="0" i="0" dirty="0">
                <a:solidFill>
                  <a:srgbClr val="374151"/>
                </a:solidFill>
                <a:effectLst/>
                <a:latin typeface="Söhne"/>
              </a:rPr>
              <a:t> solía depender en gran medida de MapReduce para el procesamiento, lo que a veces podía resultar en latencias altas para las consultas.</a:t>
            </a:r>
          </a:p>
          <a:p>
            <a:pPr algn="l">
              <a:buFont typeface="+mj-lt"/>
              <a:buAutoNum type="arabicPeriod"/>
            </a:pPr>
            <a:r>
              <a:rPr lang="es-ES" b="1" i="0" dirty="0">
                <a:solidFill>
                  <a:srgbClr val="374151"/>
                </a:solidFill>
                <a:effectLst/>
                <a:latin typeface="Söhne"/>
              </a:rPr>
              <a:t>Motor de ejecución:</a:t>
            </a:r>
            <a:r>
              <a:rPr lang="es-ES" b="0" i="0" dirty="0">
                <a:solidFill>
                  <a:srgbClr val="374151"/>
                </a:solidFill>
                <a:effectLst/>
                <a:latin typeface="Söhne"/>
              </a:rPr>
              <a:t> Con el tiempo, </a:t>
            </a:r>
            <a:r>
              <a:rPr lang="es-ES" b="0" i="0" dirty="0" err="1">
                <a:solidFill>
                  <a:srgbClr val="374151"/>
                </a:solidFill>
                <a:effectLst/>
                <a:latin typeface="Söhne"/>
              </a:rPr>
              <a:t>Hive</a:t>
            </a:r>
            <a:r>
              <a:rPr lang="es-ES" b="0" i="0" dirty="0">
                <a:solidFill>
                  <a:srgbClr val="374151"/>
                </a:solidFill>
                <a:effectLst/>
                <a:latin typeface="Söhne"/>
              </a:rPr>
              <a:t> ha evolucionado para admitir diferentes motores de ejecución además de MapReduce, como Tez y </a:t>
            </a:r>
            <a:r>
              <a:rPr lang="es-ES" b="0" i="0" dirty="0" err="1">
                <a:solidFill>
                  <a:srgbClr val="374151"/>
                </a:solidFill>
                <a:effectLst/>
                <a:latin typeface="Söhne"/>
              </a:rPr>
              <a:t>Spark</a:t>
            </a:r>
            <a:r>
              <a:rPr lang="es-ES" b="0" i="0" dirty="0">
                <a:solidFill>
                  <a:srgbClr val="374151"/>
                </a:solidFill>
                <a:effectLst/>
                <a:latin typeface="Söhne"/>
              </a:rPr>
              <a:t>. Estos motores permiten ejecutar consultas de manera más eficiente y en tiempo real.</a:t>
            </a:r>
          </a:p>
          <a:p>
            <a:pPr algn="l">
              <a:buFont typeface="+mj-lt"/>
              <a:buAutoNum type="arabicPeriod"/>
            </a:pPr>
            <a:r>
              <a:rPr lang="es-ES" b="1" i="0" dirty="0">
                <a:solidFill>
                  <a:srgbClr val="374151"/>
                </a:solidFill>
                <a:effectLst/>
                <a:latin typeface="Söhne"/>
              </a:rPr>
              <a:t>Integración con herramientas de BI:</a:t>
            </a:r>
            <a:r>
              <a:rPr lang="es-ES" b="0" i="0" dirty="0">
                <a:solidFill>
                  <a:srgbClr val="374151"/>
                </a:solidFill>
                <a:effectLst/>
                <a:latin typeface="Söhne"/>
              </a:rPr>
              <a:t> </a:t>
            </a:r>
            <a:r>
              <a:rPr lang="es-ES" b="0" i="0" dirty="0" err="1">
                <a:solidFill>
                  <a:srgbClr val="374151"/>
                </a:solidFill>
                <a:effectLst/>
                <a:latin typeface="Söhne"/>
              </a:rPr>
              <a:t>Hive</a:t>
            </a:r>
            <a:r>
              <a:rPr lang="es-ES" b="0" i="0" dirty="0">
                <a:solidFill>
                  <a:srgbClr val="374151"/>
                </a:solidFill>
                <a:effectLst/>
                <a:latin typeface="Söhne"/>
              </a:rPr>
              <a:t> es compatible con muchas herramientas de Business </a:t>
            </a:r>
            <a:r>
              <a:rPr lang="es-ES" b="0" i="0" dirty="0" err="1">
                <a:solidFill>
                  <a:srgbClr val="374151"/>
                </a:solidFill>
                <a:effectLst/>
                <a:latin typeface="Söhne"/>
              </a:rPr>
              <a:t>Intelligence</a:t>
            </a:r>
            <a:r>
              <a:rPr lang="es-ES" b="0" i="0" dirty="0">
                <a:solidFill>
                  <a:srgbClr val="374151"/>
                </a:solidFill>
                <a:effectLst/>
                <a:latin typeface="Söhne"/>
              </a:rPr>
              <a:t> (BI) y visualización, lo que facilita la creación de informes y análisis de datos.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solidFill>
                <a:schemeClr val="dk2"/>
              </a:solidFill>
              <a:latin typeface="Poppins"/>
              <a:cs typeface="Poppins"/>
              <a:sym typeface="Roboto"/>
            </a:endParaRPr>
          </a:p>
          <a:p>
            <a:pPr marL="0" lvl="0" indent="0" algn="l" rtl="0">
              <a:spcBef>
                <a:spcPts val="0"/>
              </a:spcBef>
              <a:spcAft>
                <a:spcPts val="0"/>
              </a:spcAft>
              <a:buSzPts val="1100"/>
              <a:buNone/>
            </a:pPr>
            <a:endParaRPr dirty="0"/>
          </a:p>
        </p:txBody>
      </p:sp>
      <p:sp>
        <p:nvSpPr>
          <p:cNvPr id="47" name="Google Shape;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516346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algn="l">
              <a:buFont typeface="+mj-lt"/>
              <a:buAutoNum type="arabicPeriod"/>
            </a:pPr>
            <a:r>
              <a:rPr lang="es-ES" b="1" i="0" dirty="0">
                <a:solidFill>
                  <a:srgbClr val="374151"/>
                </a:solidFill>
                <a:effectLst/>
                <a:latin typeface="Söhne"/>
              </a:rPr>
              <a:t>Modelo de datos no relacional:</a:t>
            </a:r>
            <a:r>
              <a:rPr lang="es-ES" b="0" i="0" dirty="0">
                <a:solidFill>
                  <a:srgbClr val="374151"/>
                </a:solidFill>
                <a:effectLst/>
                <a:latin typeface="Söhne"/>
              </a:rPr>
              <a:t> </a:t>
            </a:r>
            <a:r>
              <a:rPr lang="es-ES" b="0" i="0" dirty="0" err="1">
                <a:solidFill>
                  <a:srgbClr val="374151"/>
                </a:solidFill>
                <a:effectLst/>
                <a:latin typeface="Söhne"/>
              </a:rPr>
              <a:t>Cassandra</a:t>
            </a:r>
            <a:r>
              <a:rPr lang="es-ES" b="0" i="0" dirty="0">
                <a:solidFill>
                  <a:srgbClr val="374151"/>
                </a:solidFill>
                <a:effectLst/>
                <a:latin typeface="Söhne"/>
              </a:rPr>
              <a:t> utiliza un modelo de datos no relacional conocido como "</a:t>
            </a:r>
            <a:r>
              <a:rPr lang="es-ES" b="0" i="0" dirty="0" err="1">
                <a:solidFill>
                  <a:srgbClr val="374151"/>
                </a:solidFill>
                <a:effectLst/>
                <a:latin typeface="Söhne"/>
              </a:rPr>
              <a:t>column-family</a:t>
            </a:r>
            <a:r>
              <a:rPr lang="es-ES" b="0" i="0" dirty="0">
                <a:solidFill>
                  <a:srgbClr val="374151"/>
                </a:solidFill>
                <a:effectLst/>
                <a:latin typeface="Söhne"/>
              </a:rPr>
              <a:t>" o "</a:t>
            </a:r>
            <a:r>
              <a:rPr lang="es-ES" b="0" i="0" dirty="0" err="1">
                <a:solidFill>
                  <a:srgbClr val="374151"/>
                </a:solidFill>
                <a:effectLst/>
                <a:latin typeface="Söhne"/>
              </a:rPr>
              <a:t>wide-column</a:t>
            </a:r>
            <a:r>
              <a:rPr lang="es-ES" b="0" i="0" dirty="0">
                <a:solidFill>
                  <a:srgbClr val="374151"/>
                </a:solidFill>
                <a:effectLst/>
                <a:latin typeface="Söhne"/>
              </a:rPr>
              <a:t>". En lugar de las tablas y filas tradicionales de una base de datos relacional, </a:t>
            </a:r>
            <a:r>
              <a:rPr lang="es-ES" b="0" i="0" dirty="0" err="1">
                <a:solidFill>
                  <a:srgbClr val="374151"/>
                </a:solidFill>
                <a:effectLst/>
                <a:latin typeface="Söhne"/>
              </a:rPr>
              <a:t>Cassandra</a:t>
            </a:r>
            <a:r>
              <a:rPr lang="es-ES" b="0" i="0" dirty="0">
                <a:solidFill>
                  <a:srgbClr val="374151"/>
                </a:solidFill>
                <a:effectLst/>
                <a:latin typeface="Söhne"/>
              </a:rPr>
              <a:t> organiza los datos en columnas y filas distribuidas.</a:t>
            </a:r>
          </a:p>
          <a:p>
            <a:pPr algn="l">
              <a:buFont typeface="+mj-lt"/>
              <a:buAutoNum type="arabicPeriod"/>
            </a:pPr>
            <a:r>
              <a:rPr lang="es-ES" b="1" i="0" dirty="0">
                <a:solidFill>
                  <a:srgbClr val="374151"/>
                </a:solidFill>
                <a:effectLst/>
                <a:latin typeface="Söhne"/>
              </a:rPr>
              <a:t>Escalabilidad horizontal:</a:t>
            </a:r>
            <a:r>
              <a:rPr lang="es-ES" b="0" i="0" dirty="0">
                <a:solidFill>
                  <a:srgbClr val="374151"/>
                </a:solidFill>
                <a:effectLst/>
                <a:latin typeface="Söhne"/>
              </a:rPr>
              <a:t> </a:t>
            </a:r>
            <a:r>
              <a:rPr lang="es-ES" b="0" i="0" dirty="0" err="1">
                <a:solidFill>
                  <a:srgbClr val="374151"/>
                </a:solidFill>
                <a:effectLst/>
                <a:latin typeface="Söhne"/>
              </a:rPr>
              <a:t>Cassandra</a:t>
            </a:r>
            <a:r>
              <a:rPr lang="es-ES" b="0" i="0" dirty="0">
                <a:solidFill>
                  <a:srgbClr val="374151"/>
                </a:solidFill>
                <a:effectLst/>
                <a:latin typeface="Söhne"/>
              </a:rPr>
              <a:t> está diseñada para escalar de manera horizontal, lo que significa que puede agregar más nodos al clúster para manejar volúmenes crecientes de datos y tráfico sin degradar el rendimiento.</a:t>
            </a:r>
          </a:p>
          <a:p>
            <a:pPr algn="l">
              <a:buFont typeface="+mj-lt"/>
              <a:buAutoNum type="arabicPeriod"/>
            </a:pPr>
            <a:r>
              <a:rPr lang="es-ES" b="1" i="0" dirty="0">
                <a:solidFill>
                  <a:srgbClr val="374151"/>
                </a:solidFill>
                <a:effectLst/>
                <a:latin typeface="Söhne"/>
              </a:rPr>
              <a:t>Distribución y replicación:</a:t>
            </a:r>
            <a:r>
              <a:rPr lang="es-ES" b="0" i="0" dirty="0">
                <a:solidFill>
                  <a:srgbClr val="374151"/>
                </a:solidFill>
                <a:effectLst/>
                <a:latin typeface="Söhne"/>
              </a:rPr>
              <a:t> Los datos en </a:t>
            </a:r>
            <a:r>
              <a:rPr lang="es-ES" b="0" i="0" dirty="0" err="1">
                <a:solidFill>
                  <a:srgbClr val="374151"/>
                </a:solidFill>
                <a:effectLst/>
                <a:latin typeface="Söhne"/>
              </a:rPr>
              <a:t>Cassandra</a:t>
            </a:r>
            <a:r>
              <a:rPr lang="es-ES" b="0" i="0" dirty="0">
                <a:solidFill>
                  <a:srgbClr val="374151"/>
                </a:solidFill>
                <a:effectLst/>
                <a:latin typeface="Söhne"/>
              </a:rPr>
              <a:t> se distribuyen automáticamente en todo el clúster, lo que mejora la disponibilidad y el rendimiento. Además, la replicación de datos se configura para garantizar la tolerancia a fallos y la redundancia.</a:t>
            </a:r>
          </a:p>
          <a:p>
            <a:pPr algn="l">
              <a:buFont typeface="+mj-lt"/>
              <a:buAutoNum type="arabicPeriod"/>
            </a:pPr>
            <a:r>
              <a:rPr lang="es-ES" b="1" i="0" dirty="0">
                <a:solidFill>
                  <a:srgbClr val="374151"/>
                </a:solidFill>
                <a:effectLst/>
                <a:latin typeface="Söhne"/>
              </a:rPr>
              <a:t>Tolerancia a fallos:</a:t>
            </a:r>
            <a:r>
              <a:rPr lang="es-ES" b="0" i="0" dirty="0">
                <a:solidFill>
                  <a:srgbClr val="374151"/>
                </a:solidFill>
                <a:effectLst/>
                <a:latin typeface="Söhne"/>
              </a:rPr>
              <a:t> Debido a su arquitectura distribuida y a la replicación de datos, </a:t>
            </a:r>
            <a:r>
              <a:rPr lang="es-ES" b="0" i="0" dirty="0" err="1">
                <a:solidFill>
                  <a:srgbClr val="374151"/>
                </a:solidFill>
                <a:effectLst/>
                <a:latin typeface="Söhne"/>
              </a:rPr>
              <a:t>Cassandra</a:t>
            </a:r>
            <a:r>
              <a:rPr lang="es-ES" b="0" i="0" dirty="0">
                <a:solidFill>
                  <a:srgbClr val="374151"/>
                </a:solidFill>
                <a:effectLst/>
                <a:latin typeface="Söhne"/>
              </a:rPr>
              <a:t> es resistente a fallos individuales de nodos. Si un nodo falla, los datos todavía están disponibles y accesibles desde otros nodos.</a:t>
            </a:r>
          </a:p>
          <a:p>
            <a:pPr algn="l">
              <a:buFont typeface="+mj-lt"/>
              <a:buAutoNum type="arabicPeriod"/>
            </a:pPr>
            <a:r>
              <a:rPr lang="es-ES" b="1" i="0" dirty="0">
                <a:solidFill>
                  <a:srgbClr val="374151"/>
                </a:solidFill>
                <a:effectLst/>
                <a:latin typeface="Söhne"/>
              </a:rPr>
              <a:t>Alta disponibilidad:</a:t>
            </a:r>
            <a:r>
              <a:rPr lang="es-ES" b="0" i="0" dirty="0">
                <a:solidFill>
                  <a:srgbClr val="374151"/>
                </a:solidFill>
                <a:effectLst/>
                <a:latin typeface="Söhne"/>
              </a:rPr>
              <a:t> La arquitectura de </a:t>
            </a:r>
            <a:r>
              <a:rPr lang="es-ES" b="0" i="0" dirty="0" err="1">
                <a:solidFill>
                  <a:srgbClr val="374151"/>
                </a:solidFill>
                <a:effectLst/>
                <a:latin typeface="Söhne"/>
              </a:rPr>
              <a:t>Cassandra</a:t>
            </a:r>
            <a:r>
              <a:rPr lang="es-ES" b="0" i="0" dirty="0">
                <a:solidFill>
                  <a:srgbClr val="374151"/>
                </a:solidFill>
                <a:effectLst/>
                <a:latin typeface="Söhne"/>
              </a:rPr>
              <a:t> permite un alto grado de disponibilidad, ya que los datos están distribuidos y replicados en múltiples nodos.</a:t>
            </a:r>
          </a:p>
          <a:p>
            <a:pPr algn="l">
              <a:buFont typeface="+mj-lt"/>
              <a:buAutoNum type="arabicPeriod"/>
            </a:pPr>
            <a:r>
              <a:rPr lang="es-ES" b="1" i="0" dirty="0">
                <a:solidFill>
                  <a:srgbClr val="374151"/>
                </a:solidFill>
                <a:effectLst/>
                <a:latin typeface="Söhne"/>
              </a:rPr>
              <a:t>Rendimiento escalable:</a:t>
            </a:r>
            <a:r>
              <a:rPr lang="es-ES" b="0" i="0" dirty="0">
                <a:solidFill>
                  <a:srgbClr val="374151"/>
                </a:solidFill>
                <a:effectLst/>
                <a:latin typeface="Söhne"/>
              </a:rPr>
              <a:t> </a:t>
            </a:r>
            <a:r>
              <a:rPr lang="es-ES" b="0" i="0" dirty="0" err="1">
                <a:solidFill>
                  <a:srgbClr val="374151"/>
                </a:solidFill>
                <a:effectLst/>
                <a:latin typeface="Söhne"/>
              </a:rPr>
              <a:t>Cassandra</a:t>
            </a:r>
            <a:r>
              <a:rPr lang="es-ES" b="0" i="0" dirty="0">
                <a:solidFill>
                  <a:srgbClr val="374151"/>
                </a:solidFill>
                <a:effectLst/>
                <a:latin typeface="Söhne"/>
              </a:rPr>
              <a:t> está optimizada para lecturas y escrituras rápidas en grandes conjuntos de datos. Sus capacidades de distribución y particionamiento permiten distribuir la carga de trabajo y acelerar las consultas.</a:t>
            </a:r>
          </a:p>
          <a:p>
            <a:pPr algn="l">
              <a:buFont typeface="+mj-lt"/>
              <a:buAutoNum type="arabicPeriod"/>
            </a:pPr>
            <a:r>
              <a:rPr lang="es-ES" b="1" i="0" dirty="0">
                <a:solidFill>
                  <a:srgbClr val="374151"/>
                </a:solidFill>
                <a:effectLst/>
                <a:latin typeface="Söhne"/>
              </a:rPr>
              <a:t>Flexibilidad en el esquema:</a:t>
            </a:r>
            <a:r>
              <a:rPr lang="es-ES" b="0" i="0" dirty="0">
                <a:solidFill>
                  <a:srgbClr val="374151"/>
                </a:solidFill>
                <a:effectLst/>
                <a:latin typeface="Söhne"/>
              </a:rPr>
              <a:t> A diferencia de las bases de datos relacionales, </a:t>
            </a:r>
            <a:r>
              <a:rPr lang="es-ES" b="0" i="0" dirty="0" err="1">
                <a:solidFill>
                  <a:srgbClr val="374151"/>
                </a:solidFill>
                <a:effectLst/>
                <a:latin typeface="Söhne"/>
              </a:rPr>
              <a:t>Cassandra</a:t>
            </a:r>
            <a:r>
              <a:rPr lang="es-ES" b="0" i="0" dirty="0">
                <a:solidFill>
                  <a:srgbClr val="374151"/>
                </a:solidFill>
                <a:effectLst/>
                <a:latin typeface="Söhne"/>
              </a:rPr>
              <a:t> ofrece flexibilidad en el esquema. Puede agregar columnas a una tabla en cualquier momento sin afectar el rendimiento o la estructura existente.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solidFill>
                <a:schemeClr val="dk2"/>
              </a:solidFill>
              <a:latin typeface="Poppins"/>
              <a:cs typeface="Poppins"/>
              <a:sym typeface="Roboto"/>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solidFill>
                <a:schemeClr val="dk2"/>
              </a:solidFill>
              <a:latin typeface="Poppins"/>
              <a:cs typeface="Poppins"/>
              <a:sym typeface="Roboto"/>
            </a:endParaRPr>
          </a:p>
          <a:p>
            <a:pPr marL="0" lvl="0" indent="0" algn="l" rtl="0">
              <a:spcBef>
                <a:spcPts val="0"/>
              </a:spcBef>
              <a:spcAft>
                <a:spcPts val="0"/>
              </a:spcAft>
              <a:buSzPts val="1100"/>
              <a:buNone/>
            </a:pPr>
            <a:endParaRPr dirty="0"/>
          </a:p>
        </p:txBody>
      </p:sp>
      <p:sp>
        <p:nvSpPr>
          <p:cNvPr id="47" name="Google Shape;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422936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solidFill>
                <a:schemeClr val="dk2"/>
              </a:solidFill>
              <a:latin typeface="Poppins"/>
              <a:cs typeface="Poppins"/>
              <a:sym typeface="Roboto"/>
            </a:endParaRPr>
          </a:p>
          <a:p>
            <a:pPr algn="l">
              <a:buFont typeface="+mj-lt"/>
              <a:buAutoNum type="arabicPeriod"/>
            </a:pPr>
            <a:r>
              <a:rPr lang="es-ES" b="1" i="0" dirty="0">
                <a:solidFill>
                  <a:srgbClr val="374151"/>
                </a:solidFill>
                <a:effectLst/>
                <a:latin typeface="Söhne"/>
              </a:rPr>
              <a:t>Procesamiento en memoria:</a:t>
            </a:r>
            <a:r>
              <a:rPr lang="es-ES" b="0" i="0" dirty="0">
                <a:solidFill>
                  <a:srgbClr val="374151"/>
                </a:solidFill>
                <a:effectLst/>
                <a:latin typeface="Söhne"/>
              </a:rPr>
              <a:t> Una de las características más distintivas de </a:t>
            </a:r>
            <a:r>
              <a:rPr lang="es-ES" b="0" i="0" dirty="0" err="1">
                <a:solidFill>
                  <a:srgbClr val="374151"/>
                </a:solidFill>
                <a:effectLst/>
                <a:latin typeface="Söhne"/>
              </a:rPr>
              <a:t>Spark</a:t>
            </a:r>
            <a:r>
              <a:rPr lang="es-ES" b="0" i="0" dirty="0">
                <a:solidFill>
                  <a:srgbClr val="374151"/>
                </a:solidFill>
                <a:effectLst/>
                <a:latin typeface="Söhne"/>
              </a:rPr>
              <a:t> es su capacidad para realizar operaciones en memoria, lo que significa que puede mantener y acceder a los datos en memoria principal en lugar de acceder repetidamente a los datos almacenados en disco. Esto acelera significativamente el procesamiento y las operaciones analíticas.</a:t>
            </a:r>
          </a:p>
          <a:p>
            <a:pPr algn="l">
              <a:buFont typeface="+mj-lt"/>
              <a:buAutoNum type="arabicPeriod"/>
            </a:pPr>
            <a:r>
              <a:rPr lang="es-ES" b="1" i="0" dirty="0">
                <a:solidFill>
                  <a:srgbClr val="374151"/>
                </a:solidFill>
                <a:effectLst/>
                <a:latin typeface="Söhne"/>
              </a:rPr>
              <a:t>Modelo de programación unificado:</a:t>
            </a:r>
            <a:r>
              <a:rPr lang="es-ES" b="0" i="0" dirty="0">
                <a:solidFill>
                  <a:srgbClr val="374151"/>
                </a:solidFill>
                <a:effectLst/>
                <a:latin typeface="Söhne"/>
              </a:rPr>
              <a:t> </a:t>
            </a:r>
            <a:r>
              <a:rPr lang="es-ES" b="0" i="0" dirty="0" err="1">
                <a:solidFill>
                  <a:srgbClr val="374151"/>
                </a:solidFill>
                <a:effectLst/>
                <a:latin typeface="Söhne"/>
              </a:rPr>
              <a:t>Spark</a:t>
            </a:r>
            <a:r>
              <a:rPr lang="es-ES" b="0" i="0" dirty="0">
                <a:solidFill>
                  <a:srgbClr val="374151"/>
                </a:solidFill>
                <a:effectLst/>
                <a:latin typeface="Söhne"/>
              </a:rPr>
              <a:t> ofrece un modelo de programación unificado que permite a los desarrolladores escribir aplicaciones para procesamiento en lotes, procesamiento en tiempo real, análisis de datos y aprendizaje automático (machine </a:t>
            </a:r>
            <a:r>
              <a:rPr lang="es-ES" b="0" i="0" dirty="0" err="1">
                <a:solidFill>
                  <a:srgbClr val="374151"/>
                </a:solidFill>
                <a:effectLst/>
                <a:latin typeface="Söhne"/>
              </a:rPr>
              <a:t>learning</a:t>
            </a:r>
            <a:r>
              <a:rPr lang="es-ES" b="0" i="0" dirty="0">
                <a:solidFill>
                  <a:srgbClr val="374151"/>
                </a:solidFill>
                <a:effectLst/>
                <a:latin typeface="Söhne"/>
              </a:rPr>
              <a:t>) utilizando API coherentes en lenguajes como Scala, Java, Python y R.</a:t>
            </a:r>
          </a:p>
          <a:p>
            <a:pPr algn="l">
              <a:buFont typeface="+mj-lt"/>
              <a:buAutoNum type="arabicPeriod"/>
            </a:pPr>
            <a:r>
              <a:rPr lang="es-ES" b="1" i="0" dirty="0" err="1">
                <a:solidFill>
                  <a:srgbClr val="374151"/>
                </a:solidFill>
                <a:effectLst/>
                <a:latin typeface="Söhne"/>
              </a:rPr>
              <a:t>Resilient</a:t>
            </a:r>
            <a:r>
              <a:rPr lang="es-ES" b="1" i="0" dirty="0">
                <a:solidFill>
                  <a:srgbClr val="374151"/>
                </a:solidFill>
                <a:effectLst/>
                <a:latin typeface="Söhne"/>
              </a:rPr>
              <a:t> </a:t>
            </a:r>
            <a:r>
              <a:rPr lang="es-ES" b="1" i="0" dirty="0" err="1">
                <a:solidFill>
                  <a:srgbClr val="374151"/>
                </a:solidFill>
                <a:effectLst/>
                <a:latin typeface="Söhne"/>
              </a:rPr>
              <a:t>Distributed</a:t>
            </a:r>
            <a:r>
              <a:rPr lang="es-ES" b="1" i="0" dirty="0">
                <a:solidFill>
                  <a:srgbClr val="374151"/>
                </a:solidFill>
                <a:effectLst/>
                <a:latin typeface="Söhne"/>
              </a:rPr>
              <a:t> </a:t>
            </a:r>
            <a:r>
              <a:rPr lang="es-ES" b="1" i="0" dirty="0" err="1">
                <a:solidFill>
                  <a:srgbClr val="374151"/>
                </a:solidFill>
                <a:effectLst/>
                <a:latin typeface="Söhne"/>
              </a:rPr>
              <a:t>Dataset</a:t>
            </a:r>
            <a:r>
              <a:rPr lang="es-ES" b="1" i="0" dirty="0">
                <a:solidFill>
                  <a:srgbClr val="374151"/>
                </a:solidFill>
                <a:effectLst/>
                <a:latin typeface="Söhne"/>
              </a:rPr>
              <a:t> (RDD):</a:t>
            </a:r>
            <a:r>
              <a:rPr lang="es-ES" b="0" i="0" dirty="0">
                <a:solidFill>
                  <a:srgbClr val="374151"/>
                </a:solidFill>
                <a:effectLst/>
                <a:latin typeface="Söhne"/>
              </a:rPr>
              <a:t> </a:t>
            </a:r>
            <a:r>
              <a:rPr lang="es-ES" b="0" i="0" dirty="0" err="1">
                <a:solidFill>
                  <a:srgbClr val="374151"/>
                </a:solidFill>
                <a:effectLst/>
                <a:latin typeface="Söhne"/>
              </a:rPr>
              <a:t>Spark</a:t>
            </a:r>
            <a:r>
              <a:rPr lang="es-ES" b="0" i="0" dirty="0">
                <a:solidFill>
                  <a:srgbClr val="374151"/>
                </a:solidFill>
                <a:effectLst/>
                <a:latin typeface="Söhne"/>
              </a:rPr>
              <a:t> introduce el concepto de RDD, que es una abstracción de datos distribuidos que se puede operar en paralelo. Los </a:t>
            </a:r>
            <a:r>
              <a:rPr lang="es-ES" b="0" i="0" dirty="0" err="1">
                <a:solidFill>
                  <a:srgbClr val="374151"/>
                </a:solidFill>
                <a:effectLst/>
                <a:latin typeface="Söhne"/>
              </a:rPr>
              <a:t>RDDs</a:t>
            </a:r>
            <a:r>
              <a:rPr lang="es-ES" b="0" i="0" dirty="0">
                <a:solidFill>
                  <a:srgbClr val="374151"/>
                </a:solidFill>
                <a:effectLst/>
                <a:latin typeface="Söhne"/>
              </a:rPr>
              <a:t> son inmutables y permiten realizar transformaciones y acciones en los datos de manera eficiente y tolerante a fallos.</a:t>
            </a:r>
          </a:p>
          <a:p>
            <a:pPr algn="l">
              <a:buFont typeface="+mj-lt"/>
              <a:buAutoNum type="arabicPeriod"/>
            </a:pPr>
            <a:r>
              <a:rPr lang="es-ES" b="1" i="0" dirty="0">
                <a:solidFill>
                  <a:srgbClr val="374151"/>
                </a:solidFill>
                <a:effectLst/>
                <a:latin typeface="Söhne"/>
              </a:rPr>
              <a:t>Operaciones de transformación y acción:</a:t>
            </a:r>
            <a:r>
              <a:rPr lang="es-ES" b="0" i="0" dirty="0">
                <a:solidFill>
                  <a:srgbClr val="374151"/>
                </a:solidFill>
                <a:effectLst/>
                <a:latin typeface="Söhne"/>
              </a:rPr>
              <a:t> </a:t>
            </a:r>
            <a:r>
              <a:rPr lang="es-ES" b="0" i="0" dirty="0" err="1">
                <a:solidFill>
                  <a:srgbClr val="374151"/>
                </a:solidFill>
                <a:effectLst/>
                <a:latin typeface="Söhne"/>
              </a:rPr>
              <a:t>Spark</a:t>
            </a:r>
            <a:r>
              <a:rPr lang="es-ES" b="0" i="0" dirty="0">
                <a:solidFill>
                  <a:srgbClr val="374151"/>
                </a:solidFill>
                <a:effectLst/>
                <a:latin typeface="Söhne"/>
              </a:rPr>
              <a:t> ofrece operaciones de transformación, como </a:t>
            </a:r>
            <a:r>
              <a:rPr lang="es-ES" b="0" i="0" dirty="0" err="1">
                <a:solidFill>
                  <a:srgbClr val="374151"/>
                </a:solidFill>
                <a:effectLst/>
                <a:latin typeface="Söhne"/>
              </a:rPr>
              <a:t>map</a:t>
            </a:r>
            <a:r>
              <a:rPr lang="es-ES" b="0" i="0" dirty="0">
                <a:solidFill>
                  <a:srgbClr val="374151"/>
                </a:solidFill>
                <a:effectLst/>
                <a:latin typeface="Söhne"/>
              </a:rPr>
              <a:t>, </a:t>
            </a:r>
            <a:r>
              <a:rPr lang="es-ES" b="0" i="0" dirty="0" err="1">
                <a:solidFill>
                  <a:srgbClr val="374151"/>
                </a:solidFill>
                <a:effectLst/>
                <a:latin typeface="Söhne"/>
              </a:rPr>
              <a:t>filter</a:t>
            </a:r>
            <a:r>
              <a:rPr lang="es-ES" b="0" i="0" dirty="0">
                <a:solidFill>
                  <a:srgbClr val="374151"/>
                </a:solidFill>
                <a:effectLst/>
                <a:latin typeface="Söhne"/>
              </a:rPr>
              <a:t> y reduce, que permiten manipular y transformar los datos distribuidos. Además, ofrece operaciones de acción, como </a:t>
            </a:r>
            <a:r>
              <a:rPr lang="es-ES" b="0" i="0" dirty="0" err="1">
                <a:solidFill>
                  <a:srgbClr val="374151"/>
                </a:solidFill>
                <a:effectLst/>
                <a:latin typeface="Söhne"/>
              </a:rPr>
              <a:t>count</a:t>
            </a:r>
            <a:r>
              <a:rPr lang="es-ES" b="0" i="0" dirty="0">
                <a:solidFill>
                  <a:srgbClr val="374151"/>
                </a:solidFill>
                <a:effectLst/>
                <a:latin typeface="Söhne"/>
              </a:rPr>
              <a:t>, </a:t>
            </a:r>
            <a:r>
              <a:rPr lang="es-ES" b="0" i="0" dirty="0" err="1">
                <a:solidFill>
                  <a:srgbClr val="374151"/>
                </a:solidFill>
                <a:effectLst/>
                <a:latin typeface="Söhne"/>
              </a:rPr>
              <a:t>collect</a:t>
            </a:r>
            <a:r>
              <a:rPr lang="es-ES" b="0" i="0" dirty="0">
                <a:solidFill>
                  <a:srgbClr val="374151"/>
                </a:solidFill>
                <a:effectLst/>
                <a:latin typeface="Söhne"/>
              </a:rPr>
              <a:t> y </a:t>
            </a:r>
            <a:r>
              <a:rPr lang="es-ES" b="0" i="0" dirty="0" err="1">
                <a:solidFill>
                  <a:srgbClr val="374151"/>
                </a:solidFill>
                <a:effectLst/>
                <a:latin typeface="Söhne"/>
              </a:rPr>
              <a:t>save</a:t>
            </a:r>
            <a:r>
              <a:rPr lang="es-ES" b="0" i="0" dirty="0">
                <a:solidFill>
                  <a:srgbClr val="374151"/>
                </a:solidFill>
                <a:effectLst/>
                <a:latin typeface="Söhne"/>
              </a:rPr>
              <a:t>, para realizar cálculos y obtener resultados.</a:t>
            </a:r>
          </a:p>
          <a:p>
            <a:pPr algn="l">
              <a:buFont typeface="+mj-lt"/>
              <a:buAutoNum type="arabicPeriod"/>
            </a:pPr>
            <a:r>
              <a:rPr lang="es-ES" b="1" i="0" dirty="0">
                <a:solidFill>
                  <a:srgbClr val="374151"/>
                </a:solidFill>
                <a:effectLst/>
                <a:latin typeface="Söhne"/>
              </a:rPr>
              <a:t>Librerías integradas:</a:t>
            </a:r>
            <a:r>
              <a:rPr lang="es-ES" b="0" i="0" dirty="0">
                <a:solidFill>
                  <a:srgbClr val="374151"/>
                </a:solidFill>
                <a:effectLst/>
                <a:latin typeface="Söhne"/>
              </a:rPr>
              <a:t> </a:t>
            </a:r>
            <a:r>
              <a:rPr lang="es-ES" b="0" i="0" dirty="0" err="1">
                <a:solidFill>
                  <a:srgbClr val="374151"/>
                </a:solidFill>
                <a:effectLst/>
                <a:latin typeface="Söhne"/>
              </a:rPr>
              <a:t>Spark</a:t>
            </a:r>
            <a:r>
              <a:rPr lang="es-ES" b="0" i="0" dirty="0">
                <a:solidFill>
                  <a:srgbClr val="374151"/>
                </a:solidFill>
                <a:effectLst/>
                <a:latin typeface="Söhne"/>
              </a:rPr>
              <a:t> cuenta con una amplia variedad de bibliotecas integradas que abarcan desde análisis de datos y procesamiento gráfico hasta aprendizaje automático (machine </a:t>
            </a:r>
            <a:r>
              <a:rPr lang="es-ES" b="0" i="0" dirty="0" err="1">
                <a:solidFill>
                  <a:srgbClr val="374151"/>
                </a:solidFill>
                <a:effectLst/>
                <a:latin typeface="Söhne"/>
              </a:rPr>
              <a:t>learning</a:t>
            </a:r>
            <a:r>
              <a:rPr lang="es-ES" b="0" i="0" dirty="0">
                <a:solidFill>
                  <a:srgbClr val="374151"/>
                </a:solidFill>
                <a:effectLst/>
                <a:latin typeface="Söhne"/>
              </a:rPr>
              <a:t>) y procesamiento de gráficos.</a:t>
            </a:r>
          </a:p>
          <a:p>
            <a:pPr algn="l">
              <a:buFont typeface="+mj-lt"/>
              <a:buAutoNum type="arabicPeriod"/>
            </a:pPr>
            <a:r>
              <a:rPr lang="es-ES" b="1" i="0" dirty="0">
                <a:solidFill>
                  <a:srgbClr val="374151"/>
                </a:solidFill>
                <a:effectLst/>
                <a:latin typeface="Söhne"/>
              </a:rPr>
              <a:t>Procesamiento en lotes y en tiempo real:</a:t>
            </a:r>
            <a:r>
              <a:rPr lang="es-ES" b="0" i="0" dirty="0">
                <a:solidFill>
                  <a:srgbClr val="374151"/>
                </a:solidFill>
                <a:effectLst/>
                <a:latin typeface="Söhne"/>
              </a:rPr>
              <a:t> </a:t>
            </a:r>
            <a:r>
              <a:rPr lang="es-ES" b="0" i="0" dirty="0" err="1">
                <a:solidFill>
                  <a:srgbClr val="374151"/>
                </a:solidFill>
                <a:effectLst/>
                <a:latin typeface="Söhne"/>
              </a:rPr>
              <a:t>Spark</a:t>
            </a:r>
            <a:r>
              <a:rPr lang="es-ES" b="0" i="0" dirty="0">
                <a:solidFill>
                  <a:srgbClr val="374151"/>
                </a:solidFill>
                <a:effectLst/>
                <a:latin typeface="Söhne"/>
              </a:rPr>
              <a:t> es capaz de manejar tanto procesamiento en lotes (</a:t>
            </a:r>
            <a:r>
              <a:rPr lang="es-ES" b="0" i="0" dirty="0" err="1">
                <a:solidFill>
                  <a:srgbClr val="374151"/>
                </a:solidFill>
                <a:effectLst/>
                <a:latin typeface="Söhne"/>
              </a:rPr>
              <a:t>batch</a:t>
            </a:r>
            <a:r>
              <a:rPr lang="es-ES" b="0" i="0" dirty="0">
                <a:solidFill>
                  <a:srgbClr val="374151"/>
                </a:solidFill>
                <a:effectLst/>
                <a:latin typeface="Söhne"/>
              </a:rPr>
              <a:t> </a:t>
            </a:r>
            <a:r>
              <a:rPr lang="es-ES" b="0" i="0" dirty="0" err="1">
                <a:solidFill>
                  <a:srgbClr val="374151"/>
                </a:solidFill>
                <a:effectLst/>
                <a:latin typeface="Söhne"/>
              </a:rPr>
              <a:t>processing</a:t>
            </a:r>
            <a:r>
              <a:rPr lang="es-ES" b="0" i="0" dirty="0">
                <a:solidFill>
                  <a:srgbClr val="374151"/>
                </a:solidFill>
                <a:effectLst/>
                <a:latin typeface="Söhne"/>
              </a:rPr>
              <a:t>) como procesamiento en tiempo real (</a:t>
            </a:r>
            <a:r>
              <a:rPr lang="es-ES" b="0" i="0" dirty="0" err="1">
                <a:solidFill>
                  <a:srgbClr val="374151"/>
                </a:solidFill>
                <a:effectLst/>
                <a:latin typeface="Söhne"/>
              </a:rPr>
              <a:t>stream</a:t>
            </a:r>
            <a:r>
              <a:rPr lang="es-ES" b="0" i="0" dirty="0">
                <a:solidFill>
                  <a:srgbClr val="374151"/>
                </a:solidFill>
                <a:effectLst/>
                <a:latin typeface="Söhne"/>
              </a:rPr>
              <a:t> </a:t>
            </a:r>
            <a:r>
              <a:rPr lang="es-ES" b="0" i="0" dirty="0" err="1">
                <a:solidFill>
                  <a:srgbClr val="374151"/>
                </a:solidFill>
                <a:effectLst/>
                <a:latin typeface="Söhne"/>
              </a:rPr>
              <a:t>processing</a:t>
            </a:r>
            <a:r>
              <a:rPr lang="es-ES" b="0" i="0" dirty="0">
                <a:solidFill>
                  <a:srgbClr val="374151"/>
                </a:solidFill>
                <a:effectLst/>
                <a:latin typeface="Söhne"/>
              </a:rPr>
              <a:t>) a través de su módulo llamado </a:t>
            </a:r>
            <a:r>
              <a:rPr lang="es-ES" b="0" i="0" dirty="0" err="1">
                <a:solidFill>
                  <a:srgbClr val="374151"/>
                </a:solidFill>
                <a:effectLst/>
                <a:latin typeface="Söhne"/>
              </a:rPr>
              <a:t>Spark</a:t>
            </a:r>
            <a:r>
              <a:rPr lang="es-ES" b="0" i="0" dirty="0">
                <a:solidFill>
                  <a:srgbClr val="374151"/>
                </a:solidFill>
                <a:effectLst/>
                <a:latin typeface="Söhne"/>
              </a:rPr>
              <a:t> </a:t>
            </a:r>
            <a:r>
              <a:rPr lang="es-ES" b="0" i="0" dirty="0" err="1">
                <a:solidFill>
                  <a:srgbClr val="374151"/>
                </a:solidFill>
                <a:effectLst/>
                <a:latin typeface="Söhne"/>
              </a:rPr>
              <a:t>Streaming</a:t>
            </a:r>
            <a:r>
              <a:rPr lang="es-ES" b="0" i="0" dirty="0">
                <a:solidFill>
                  <a:srgbClr val="374151"/>
                </a:solidFill>
                <a:effectLst/>
                <a:latin typeface="Söhne"/>
              </a:rPr>
              <a:t>.</a:t>
            </a:r>
          </a:p>
          <a:p>
            <a:pPr algn="l">
              <a:buFont typeface="+mj-lt"/>
              <a:buAutoNum type="arabicPeriod"/>
            </a:pPr>
            <a:r>
              <a:rPr lang="es-ES" b="1" i="0" dirty="0">
                <a:solidFill>
                  <a:srgbClr val="374151"/>
                </a:solidFill>
                <a:effectLst/>
                <a:latin typeface="Söhne"/>
              </a:rPr>
              <a:t>Integración con otros sistemas:</a:t>
            </a:r>
            <a:r>
              <a:rPr lang="es-ES" b="0" i="0" dirty="0">
                <a:solidFill>
                  <a:srgbClr val="374151"/>
                </a:solidFill>
                <a:effectLst/>
                <a:latin typeface="Söhne"/>
              </a:rPr>
              <a:t> </a:t>
            </a:r>
            <a:r>
              <a:rPr lang="es-ES" b="0" i="0" dirty="0" err="1">
                <a:solidFill>
                  <a:srgbClr val="374151"/>
                </a:solidFill>
                <a:effectLst/>
                <a:latin typeface="Söhne"/>
              </a:rPr>
              <a:t>Spark</a:t>
            </a:r>
            <a:r>
              <a:rPr lang="es-ES" b="0" i="0" dirty="0">
                <a:solidFill>
                  <a:srgbClr val="374151"/>
                </a:solidFill>
                <a:effectLst/>
                <a:latin typeface="Söhne"/>
              </a:rPr>
              <a:t> puede integrarse con Hadoop y HDFS, lo que permite acceder a datos almacenados en Hadoop y realizar operaciones avanzadas de análisis.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solidFill>
                <a:schemeClr val="dk2"/>
              </a:solidFill>
              <a:latin typeface="Poppins"/>
              <a:cs typeface="Poppins"/>
              <a:sym typeface="Roboto"/>
            </a:endParaRPr>
          </a:p>
          <a:p>
            <a:pPr marL="0" lvl="0" indent="0" algn="l" rtl="0">
              <a:spcBef>
                <a:spcPts val="0"/>
              </a:spcBef>
              <a:spcAft>
                <a:spcPts val="0"/>
              </a:spcAft>
              <a:buSzPts val="1100"/>
              <a:buNone/>
            </a:pPr>
            <a:endParaRPr dirty="0"/>
          </a:p>
        </p:txBody>
      </p:sp>
      <p:sp>
        <p:nvSpPr>
          <p:cNvPr id="47" name="Google Shape;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516908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solidFill>
                <a:schemeClr val="dk2"/>
              </a:solidFill>
              <a:latin typeface="Poppins"/>
              <a:cs typeface="Poppins"/>
              <a:sym typeface="Roboto"/>
            </a:endParaRPr>
          </a:p>
          <a:p>
            <a:pPr algn="l"/>
            <a:r>
              <a:rPr lang="es-ES" b="0" i="0" dirty="0">
                <a:solidFill>
                  <a:srgbClr val="374151"/>
                </a:solidFill>
                <a:effectLst/>
                <a:latin typeface="Söhne"/>
              </a:rPr>
              <a:t>Los sistemas de mensajería en Big Data desempeñan varios roles clave:</a:t>
            </a:r>
          </a:p>
          <a:p>
            <a:pPr algn="l">
              <a:buFont typeface="+mj-lt"/>
              <a:buAutoNum type="arabicPeriod"/>
            </a:pPr>
            <a:r>
              <a:rPr lang="es-ES" b="1" i="0" dirty="0">
                <a:solidFill>
                  <a:srgbClr val="374151"/>
                </a:solidFill>
                <a:effectLst/>
                <a:latin typeface="Söhne"/>
              </a:rPr>
              <a:t>Comunicación entre componentes:</a:t>
            </a:r>
            <a:r>
              <a:rPr lang="es-ES" b="0" i="0" dirty="0">
                <a:solidFill>
                  <a:srgbClr val="374151"/>
                </a:solidFill>
                <a:effectLst/>
                <a:latin typeface="Söhne"/>
              </a:rPr>
              <a:t> En un entorno de Big Data, es común tener varios componentes y aplicaciones que deben comunicarse y colaborar para realizar tareas complejas, como el procesamiento de datos en tiempo real o la distribución de trabajos de procesamiento. Los sistemas de mensajería proporcionan un canal de comunicación eficiente entre estos componentes.</a:t>
            </a:r>
          </a:p>
          <a:p>
            <a:pPr algn="l">
              <a:buFont typeface="+mj-lt"/>
              <a:buAutoNum type="arabicPeriod"/>
            </a:pPr>
            <a:r>
              <a:rPr lang="es-ES" b="1" i="0" dirty="0">
                <a:solidFill>
                  <a:srgbClr val="374151"/>
                </a:solidFill>
                <a:effectLst/>
                <a:latin typeface="Söhne"/>
              </a:rPr>
              <a:t>Desacoplamiento:</a:t>
            </a:r>
            <a:r>
              <a:rPr lang="es-ES" b="0" i="0" dirty="0">
                <a:solidFill>
                  <a:srgbClr val="374151"/>
                </a:solidFill>
                <a:effectLst/>
                <a:latin typeface="Söhne"/>
              </a:rPr>
              <a:t> Los sistemas de mensajería permiten el desacoplamiento de componentes. Esto significa que los componentes pueden interactuar sin necesidad de conocer los detalles de implementación de los demás, lo que facilita la escalabilidad y la flexibilidad.</a:t>
            </a:r>
          </a:p>
          <a:p>
            <a:pPr algn="l">
              <a:buFont typeface="+mj-lt"/>
              <a:buAutoNum type="arabicPeriod"/>
            </a:pPr>
            <a:r>
              <a:rPr lang="es-ES" b="1" i="0" dirty="0">
                <a:solidFill>
                  <a:srgbClr val="374151"/>
                </a:solidFill>
                <a:effectLst/>
                <a:latin typeface="Söhne"/>
              </a:rPr>
              <a:t>Tolerancia a fallos:</a:t>
            </a:r>
            <a:r>
              <a:rPr lang="es-ES" b="0" i="0" dirty="0">
                <a:solidFill>
                  <a:srgbClr val="374151"/>
                </a:solidFill>
                <a:effectLst/>
                <a:latin typeface="Söhne"/>
              </a:rPr>
              <a:t> Al utilizar sistemas de mensajería, los componentes pueden continuar funcionando incluso si algunos componentes fallan temporalmente. Los mensajes que se envían a través del sistema de mensajería se pueden almacenar y entregar más tarde, asegurando que los datos no se pierdan en caso de interrupciones.</a:t>
            </a:r>
          </a:p>
          <a:p>
            <a:pPr algn="l">
              <a:buFont typeface="+mj-lt"/>
              <a:buAutoNum type="arabicPeriod"/>
            </a:pPr>
            <a:r>
              <a:rPr lang="es-ES" b="1" i="0" dirty="0">
                <a:solidFill>
                  <a:srgbClr val="374151"/>
                </a:solidFill>
                <a:effectLst/>
                <a:latin typeface="Söhne"/>
              </a:rPr>
              <a:t>Procesamiento asíncrono:</a:t>
            </a:r>
            <a:r>
              <a:rPr lang="es-ES" b="0" i="0" dirty="0">
                <a:solidFill>
                  <a:srgbClr val="374151"/>
                </a:solidFill>
                <a:effectLst/>
                <a:latin typeface="Söhne"/>
              </a:rPr>
              <a:t> Los sistemas de mensajería permiten el procesamiento asíncrono, lo que significa que los componentes pueden enviar y recibir mensajes en momentos diferentes sin bloquear la ejecución. Esto es útil para gestionar tareas pesadas y permitir un mayor paralelismo.</a:t>
            </a:r>
          </a:p>
          <a:p>
            <a:pPr algn="l">
              <a:buFont typeface="+mj-lt"/>
              <a:buAutoNum type="arabicPeriod"/>
            </a:pPr>
            <a:r>
              <a:rPr lang="es-ES" b="1" i="0" dirty="0">
                <a:solidFill>
                  <a:srgbClr val="374151"/>
                </a:solidFill>
                <a:effectLst/>
                <a:latin typeface="Söhne"/>
              </a:rPr>
              <a:t>Escalabilidad:</a:t>
            </a:r>
            <a:r>
              <a:rPr lang="es-ES" b="0" i="0" dirty="0">
                <a:solidFill>
                  <a:srgbClr val="374151"/>
                </a:solidFill>
                <a:effectLst/>
                <a:latin typeface="Söhne"/>
              </a:rPr>
              <a:t> Los sistemas de mensajería están diseñados para manejar grandes volúmenes de mensajes y distribuirlos eficientemente entre los diferentes componentes y nodos del sistema. Esto ayuda a garantizar que el sistema sea escalable a medida que aumenta la carga de trabajo y el volumen de datos.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solidFill>
                <a:schemeClr val="dk2"/>
              </a:solidFill>
              <a:latin typeface="Poppins"/>
              <a:cs typeface="Poppins"/>
              <a:sym typeface="Roboto"/>
            </a:endParaRPr>
          </a:p>
          <a:p>
            <a:pPr marL="0" lvl="0" indent="0" algn="l" rtl="0">
              <a:spcBef>
                <a:spcPts val="0"/>
              </a:spcBef>
              <a:spcAft>
                <a:spcPts val="0"/>
              </a:spcAft>
              <a:buSzPts val="1100"/>
              <a:buNone/>
            </a:pPr>
            <a:endParaRPr dirty="0"/>
          </a:p>
        </p:txBody>
      </p:sp>
      <p:sp>
        <p:nvSpPr>
          <p:cNvPr id="47" name="Google Shape;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494264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solidFill>
                <a:schemeClr val="dk2"/>
              </a:solidFill>
              <a:latin typeface="Poppins"/>
              <a:cs typeface="Poppins"/>
              <a:sym typeface="Roboto"/>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solidFill>
                <a:schemeClr val="dk2"/>
              </a:solidFill>
              <a:latin typeface="Poppins"/>
              <a:cs typeface="Poppins"/>
              <a:sym typeface="Roboto"/>
            </a:endParaRPr>
          </a:p>
          <a:p>
            <a:pPr marL="0" lvl="0" indent="0" algn="l" rtl="0">
              <a:spcBef>
                <a:spcPts val="0"/>
              </a:spcBef>
              <a:spcAft>
                <a:spcPts val="0"/>
              </a:spcAft>
              <a:buSzPts val="1100"/>
              <a:buNone/>
            </a:pPr>
            <a:endParaRPr dirty="0"/>
          </a:p>
        </p:txBody>
      </p:sp>
      <p:sp>
        <p:nvSpPr>
          <p:cNvPr id="47" name="Google Shape;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016396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solidFill>
                <a:schemeClr val="dk2"/>
              </a:solidFill>
              <a:latin typeface="Poppins"/>
              <a:cs typeface="Poppins"/>
              <a:sym typeface="Roboto"/>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ES" sz="1100" dirty="0">
              <a:solidFill>
                <a:schemeClr val="dk2"/>
              </a:solidFill>
              <a:latin typeface="Poppins"/>
              <a:cs typeface="Poppins"/>
              <a:sym typeface="Roboto"/>
            </a:endParaRPr>
          </a:p>
          <a:p>
            <a:pPr marL="0" lvl="0" indent="0" algn="l" rtl="0">
              <a:spcBef>
                <a:spcPts val="0"/>
              </a:spcBef>
              <a:spcAft>
                <a:spcPts val="0"/>
              </a:spcAft>
              <a:buSzPts val="1100"/>
              <a:buNone/>
            </a:pPr>
            <a:endParaRPr dirty="0"/>
          </a:p>
        </p:txBody>
      </p:sp>
      <p:sp>
        <p:nvSpPr>
          <p:cNvPr id="47" name="Google Shape;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564855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SzPts val="1100"/>
              <a:buNone/>
            </a:pPr>
            <a:endParaRPr/>
          </a:p>
        </p:txBody>
      </p:sp>
      <p:sp>
        <p:nvSpPr>
          <p:cNvPr id="47" name="Google Shape;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692262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SzPts val="1100"/>
              <a:buNone/>
            </a:pPr>
            <a:endParaRPr/>
          </a:p>
        </p:txBody>
      </p:sp>
      <p:sp>
        <p:nvSpPr>
          <p:cNvPr id="47" name="Google Shape;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723628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8e91b49eda_0_6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8e91b49eda_0_6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901934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8e91b49eda_0_6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8e91b49eda_0_6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988834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8e91b49eda_0_6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8e91b49eda_0_6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915611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8e91b49eda_0_6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8e91b49eda_0_6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8159964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SzPts val="1100"/>
              <a:buNone/>
            </a:pPr>
            <a:endParaRPr/>
          </a:p>
        </p:txBody>
      </p:sp>
      <p:sp>
        <p:nvSpPr>
          <p:cNvPr id="47" name="Google Shape;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73835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SzPts val="1100"/>
              <a:buNone/>
            </a:pPr>
            <a:endParaRPr/>
          </a:p>
        </p:txBody>
      </p:sp>
      <p:sp>
        <p:nvSpPr>
          <p:cNvPr id="47" name="Google Shape;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8957633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SzPts val="1100"/>
              <a:buNone/>
            </a:pPr>
            <a:endParaRPr/>
          </a:p>
        </p:txBody>
      </p:sp>
      <p:sp>
        <p:nvSpPr>
          <p:cNvPr id="47" name="Google Shape;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525145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8ce1f7c011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8ce1f7c011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522420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3048397" y="2244726"/>
            <a:ext cx="18290381" cy="4775200"/>
          </a:xfrm>
        </p:spPr>
        <p:txBody>
          <a:bodyPr anchor="b"/>
          <a:lstStyle>
            <a:lvl1pPr algn="ctr">
              <a:defRPr sz="12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3048397" y="7204076"/>
            <a:ext cx="18290381" cy="3311524"/>
          </a:xfrm>
        </p:spPr>
        <p:txBody>
          <a:bodyPr/>
          <a:lstStyle>
            <a:lvl1pPr marL="0" indent="0" algn="ctr">
              <a:buNone/>
              <a:defRPr sz="4800"/>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01E25EE4-D6A6-437A-9391-E3EE8A2D826E}" type="datetimeFigureOut">
              <a:rPr lang="es-MX" smtClean="0"/>
              <a:t>19/08/2025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D50F448D-55D1-40F3-901A-A06ED0942412}" type="slidenum">
              <a:rPr lang="es-MX" smtClean="0"/>
              <a:t>‹Nº›</a:t>
            </a:fld>
            <a:endParaRPr lang="es-MX"/>
          </a:p>
        </p:txBody>
      </p:sp>
    </p:spTree>
    <p:extLst>
      <p:ext uri="{BB962C8B-B14F-4D97-AF65-F5344CB8AC3E}">
        <p14:creationId xmlns:p14="http://schemas.microsoft.com/office/powerpoint/2010/main" val="14352444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1E25EE4-D6A6-437A-9391-E3EE8A2D826E}" type="datetimeFigureOut">
              <a:rPr lang="es-MX" smtClean="0"/>
              <a:t>19/08/2025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D50F448D-55D1-40F3-901A-A06ED0942412}" type="slidenum">
              <a:rPr lang="es-MX" smtClean="0"/>
              <a:t>‹Nº›</a:t>
            </a:fld>
            <a:endParaRPr lang="es-MX"/>
          </a:p>
        </p:txBody>
      </p:sp>
    </p:spTree>
    <p:extLst>
      <p:ext uri="{BB962C8B-B14F-4D97-AF65-F5344CB8AC3E}">
        <p14:creationId xmlns:p14="http://schemas.microsoft.com/office/powerpoint/2010/main" val="267396190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663917" y="3419477"/>
            <a:ext cx="21033938" cy="5705474"/>
          </a:xfrm>
        </p:spPr>
        <p:txBody>
          <a:bodyPr anchor="b"/>
          <a:lstStyle>
            <a:lvl1pPr>
              <a:defRPr sz="12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663917" y="9178927"/>
            <a:ext cx="21033938" cy="3000374"/>
          </a:xfrm>
        </p:spPr>
        <p:txBody>
          <a:bodyPr/>
          <a:lstStyle>
            <a:lvl1pPr marL="0" indent="0">
              <a:buNone/>
              <a:defRPr sz="4800">
                <a:solidFill>
                  <a:schemeClr val="tx1">
                    <a:tint val="75000"/>
                  </a:schemeClr>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01E25EE4-D6A6-437A-9391-E3EE8A2D826E}" type="datetimeFigureOut">
              <a:rPr lang="es-MX" smtClean="0"/>
              <a:t>19/08/2025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D50F448D-55D1-40F3-901A-A06ED0942412}" type="slidenum">
              <a:rPr lang="es-MX" smtClean="0"/>
              <a:t>‹Nº›</a:t>
            </a:fld>
            <a:endParaRPr lang="es-MX"/>
          </a:p>
        </p:txBody>
      </p:sp>
    </p:spTree>
    <p:extLst>
      <p:ext uri="{BB962C8B-B14F-4D97-AF65-F5344CB8AC3E}">
        <p14:creationId xmlns:p14="http://schemas.microsoft.com/office/powerpoint/2010/main" val="371832289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676618" y="3651250"/>
            <a:ext cx="10364549" cy="870267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12346008" y="3651250"/>
            <a:ext cx="10364549" cy="870267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01E25EE4-D6A6-437A-9391-E3EE8A2D826E}" type="datetimeFigureOut">
              <a:rPr lang="es-MX" smtClean="0"/>
              <a:t>19/08/2025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D50F448D-55D1-40F3-901A-A06ED0942412}" type="slidenum">
              <a:rPr lang="es-MX" smtClean="0"/>
              <a:t>‹Nº›</a:t>
            </a:fld>
            <a:endParaRPr lang="es-MX"/>
          </a:p>
        </p:txBody>
      </p:sp>
    </p:spTree>
    <p:extLst>
      <p:ext uri="{BB962C8B-B14F-4D97-AF65-F5344CB8AC3E}">
        <p14:creationId xmlns:p14="http://schemas.microsoft.com/office/powerpoint/2010/main" val="392927425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679795" y="730251"/>
            <a:ext cx="21033938" cy="2651126"/>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679796" y="3362326"/>
            <a:ext cx="10316917"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s-ES"/>
              <a:t>Haga clic para modificar los estilos de texto del patrón</a:t>
            </a:r>
          </a:p>
        </p:txBody>
      </p:sp>
      <p:sp>
        <p:nvSpPr>
          <p:cNvPr id="4" name="Content Placeholder 3"/>
          <p:cNvSpPr>
            <a:spLocks noGrp="1"/>
          </p:cNvSpPr>
          <p:nvPr>
            <p:ph sz="half" idx="2"/>
          </p:nvPr>
        </p:nvSpPr>
        <p:spPr>
          <a:xfrm>
            <a:off x="1679796" y="5010150"/>
            <a:ext cx="10316917" cy="736917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12346007" y="3362326"/>
            <a:ext cx="10367726"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s-ES"/>
              <a:t>Haga clic para modificar los estilos de texto del patrón</a:t>
            </a:r>
          </a:p>
        </p:txBody>
      </p:sp>
      <p:sp>
        <p:nvSpPr>
          <p:cNvPr id="6" name="Content Placeholder 5"/>
          <p:cNvSpPr>
            <a:spLocks noGrp="1"/>
          </p:cNvSpPr>
          <p:nvPr>
            <p:ph sz="quarter" idx="4"/>
          </p:nvPr>
        </p:nvSpPr>
        <p:spPr>
          <a:xfrm>
            <a:off x="12346007" y="5010150"/>
            <a:ext cx="10367726" cy="736917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01E25EE4-D6A6-437A-9391-E3EE8A2D826E}" type="datetimeFigureOut">
              <a:rPr lang="es-MX" smtClean="0"/>
              <a:t>19/08/2025</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D50F448D-55D1-40F3-901A-A06ED0942412}" type="slidenum">
              <a:rPr lang="es-MX" smtClean="0"/>
              <a:t>‹Nº›</a:t>
            </a:fld>
            <a:endParaRPr lang="es-MX"/>
          </a:p>
        </p:txBody>
      </p:sp>
    </p:spTree>
    <p:extLst>
      <p:ext uri="{BB962C8B-B14F-4D97-AF65-F5344CB8AC3E}">
        <p14:creationId xmlns:p14="http://schemas.microsoft.com/office/powerpoint/2010/main" val="364233370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01E25EE4-D6A6-437A-9391-E3EE8A2D826E}" type="datetimeFigureOut">
              <a:rPr lang="es-MX" smtClean="0"/>
              <a:t>19/08/2025</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D50F448D-55D1-40F3-901A-A06ED0942412}" type="slidenum">
              <a:rPr lang="es-MX" smtClean="0"/>
              <a:t>‹Nº›</a:t>
            </a:fld>
            <a:endParaRPr lang="es-MX"/>
          </a:p>
        </p:txBody>
      </p:sp>
    </p:spTree>
    <p:extLst>
      <p:ext uri="{BB962C8B-B14F-4D97-AF65-F5344CB8AC3E}">
        <p14:creationId xmlns:p14="http://schemas.microsoft.com/office/powerpoint/2010/main" val="215521238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E25EE4-D6A6-437A-9391-E3EE8A2D826E}" type="datetimeFigureOut">
              <a:rPr lang="es-MX" smtClean="0"/>
              <a:t>19/08/2025</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D50F448D-55D1-40F3-901A-A06ED0942412}" type="slidenum">
              <a:rPr lang="es-MX" smtClean="0"/>
              <a:t>‹Nº›</a:t>
            </a:fld>
            <a:endParaRPr lang="es-MX"/>
          </a:p>
        </p:txBody>
      </p:sp>
    </p:spTree>
    <p:extLst>
      <p:ext uri="{BB962C8B-B14F-4D97-AF65-F5344CB8AC3E}">
        <p14:creationId xmlns:p14="http://schemas.microsoft.com/office/powerpoint/2010/main" val="396418770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679796" y="914400"/>
            <a:ext cx="7865498" cy="3200400"/>
          </a:xfrm>
        </p:spPr>
        <p:txBody>
          <a:bodyPr anchor="b"/>
          <a:lstStyle>
            <a:lvl1pPr>
              <a:defRPr sz="64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10367726" y="1974851"/>
            <a:ext cx="12346007" cy="9747250"/>
          </a:xfr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679796" y="4114800"/>
            <a:ext cx="7865498"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01E25EE4-D6A6-437A-9391-E3EE8A2D826E}" type="datetimeFigureOut">
              <a:rPr lang="es-MX" smtClean="0"/>
              <a:t>19/08/2025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D50F448D-55D1-40F3-901A-A06ED0942412}" type="slidenum">
              <a:rPr lang="es-MX" smtClean="0"/>
              <a:t>‹Nº›</a:t>
            </a:fld>
            <a:endParaRPr lang="es-MX"/>
          </a:p>
        </p:txBody>
      </p:sp>
    </p:spTree>
    <p:extLst>
      <p:ext uri="{BB962C8B-B14F-4D97-AF65-F5344CB8AC3E}">
        <p14:creationId xmlns:p14="http://schemas.microsoft.com/office/powerpoint/2010/main" val="2848343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679796" y="914400"/>
            <a:ext cx="7865498" cy="3200400"/>
          </a:xfrm>
        </p:spPr>
        <p:txBody>
          <a:bodyPr anchor="b"/>
          <a:lstStyle>
            <a:lvl1pPr>
              <a:defRPr sz="64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0367726" y="1974851"/>
            <a:ext cx="12346007" cy="9747250"/>
          </a:xfrm>
        </p:spPr>
        <p:txBody>
          <a:bodyPr anchor="t"/>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679796" y="4114800"/>
            <a:ext cx="7865498"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01E25EE4-D6A6-437A-9391-E3EE8A2D826E}" type="datetimeFigureOut">
              <a:rPr lang="es-MX" smtClean="0"/>
              <a:t>19/08/2025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D50F448D-55D1-40F3-901A-A06ED0942412}" type="slidenum">
              <a:rPr lang="es-MX" smtClean="0"/>
              <a:t>‹Nº›</a:t>
            </a:fld>
            <a:endParaRPr lang="es-MX"/>
          </a:p>
        </p:txBody>
      </p:sp>
    </p:spTree>
    <p:extLst>
      <p:ext uri="{BB962C8B-B14F-4D97-AF65-F5344CB8AC3E}">
        <p14:creationId xmlns:p14="http://schemas.microsoft.com/office/powerpoint/2010/main" val="87921727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1E25EE4-D6A6-437A-9391-E3EE8A2D826E}" type="datetimeFigureOut">
              <a:rPr lang="es-MX" smtClean="0"/>
              <a:t>19/08/2025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D50F448D-55D1-40F3-901A-A06ED0942412}" type="slidenum">
              <a:rPr lang="es-MX" smtClean="0"/>
              <a:t>‹Nº›</a:t>
            </a:fld>
            <a:endParaRPr lang="es-MX"/>
          </a:p>
        </p:txBody>
      </p:sp>
    </p:spTree>
    <p:extLst>
      <p:ext uri="{BB962C8B-B14F-4D97-AF65-F5344CB8AC3E}">
        <p14:creationId xmlns:p14="http://schemas.microsoft.com/office/powerpoint/2010/main" val="331648627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52072" y="730250"/>
            <a:ext cx="5258485" cy="11623676"/>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676618" y="730250"/>
            <a:ext cx="15470614" cy="11623676"/>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1E25EE4-D6A6-437A-9391-E3EE8A2D826E}" type="datetimeFigureOut">
              <a:rPr lang="es-MX" smtClean="0"/>
              <a:t>19/08/2025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D50F448D-55D1-40F3-901A-A06ED0942412}" type="slidenum">
              <a:rPr lang="es-MX" smtClean="0"/>
              <a:t>‹Nº›</a:t>
            </a:fld>
            <a:endParaRPr lang="es-MX"/>
          </a:p>
        </p:txBody>
      </p:sp>
    </p:spTree>
    <p:extLst>
      <p:ext uri="{BB962C8B-B14F-4D97-AF65-F5344CB8AC3E}">
        <p14:creationId xmlns:p14="http://schemas.microsoft.com/office/powerpoint/2010/main" val="4241576219"/>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76619" y="730251"/>
            <a:ext cx="21033938" cy="2651126"/>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676619" y="3651250"/>
            <a:ext cx="21033938" cy="8702676"/>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676618" y="12712701"/>
            <a:ext cx="5487114" cy="730250"/>
          </a:xfrm>
          <a:prstGeom prst="rect">
            <a:avLst/>
          </a:prstGeom>
        </p:spPr>
        <p:txBody>
          <a:bodyPr vert="horz" lIns="91440" tIns="45720" rIns="91440" bIns="45720" rtlCol="0" anchor="ctr"/>
          <a:lstStyle>
            <a:lvl1pPr algn="l">
              <a:defRPr sz="2400">
                <a:solidFill>
                  <a:schemeClr val="tx1">
                    <a:tint val="75000"/>
                  </a:schemeClr>
                </a:solidFill>
              </a:defRPr>
            </a:lvl1pPr>
          </a:lstStyle>
          <a:p>
            <a:fld id="{01E25EE4-D6A6-437A-9391-E3EE8A2D826E}" type="datetimeFigureOut">
              <a:rPr lang="es-MX" smtClean="0"/>
              <a:t>19/08/2025</a:t>
            </a:fld>
            <a:endParaRPr lang="es-MX"/>
          </a:p>
        </p:txBody>
      </p:sp>
      <p:sp>
        <p:nvSpPr>
          <p:cNvPr id="5" name="Footer Placeholder 4"/>
          <p:cNvSpPr>
            <a:spLocks noGrp="1"/>
          </p:cNvSpPr>
          <p:nvPr>
            <p:ph type="ftr" sz="quarter" idx="3"/>
          </p:nvPr>
        </p:nvSpPr>
        <p:spPr>
          <a:xfrm>
            <a:off x="8078252" y="12712701"/>
            <a:ext cx="8230672" cy="730250"/>
          </a:xfrm>
          <a:prstGeom prst="rect">
            <a:avLst/>
          </a:prstGeom>
        </p:spPr>
        <p:txBody>
          <a:bodyPr vert="horz" lIns="91440" tIns="45720" rIns="91440" bIns="45720" rtlCol="0" anchor="ctr"/>
          <a:lstStyle>
            <a:lvl1pPr algn="ctr">
              <a:defRPr sz="2400">
                <a:solidFill>
                  <a:schemeClr val="tx1">
                    <a:tint val="75000"/>
                  </a:schemeClr>
                </a:solidFill>
              </a:defRPr>
            </a:lvl1pPr>
          </a:lstStyle>
          <a:p>
            <a:endParaRPr lang="es-MX"/>
          </a:p>
        </p:txBody>
      </p:sp>
      <p:sp>
        <p:nvSpPr>
          <p:cNvPr id="6" name="Slide Number Placeholder 5"/>
          <p:cNvSpPr>
            <a:spLocks noGrp="1"/>
          </p:cNvSpPr>
          <p:nvPr>
            <p:ph type="sldNum" sz="quarter" idx="4"/>
          </p:nvPr>
        </p:nvSpPr>
        <p:spPr>
          <a:xfrm>
            <a:off x="17223443" y="12712701"/>
            <a:ext cx="5487114" cy="730250"/>
          </a:xfrm>
          <a:prstGeom prst="rect">
            <a:avLst/>
          </a:prstGeom>
        </p:spPr>
        <p:txBody>
          <a:bodyPr vert="horz" lIns="91440" tIns="45720" rIns="91440" bIns="45720" rtlCol="0" anchor="ctr"/>
          <a:lstStyle>
            <a:lvl1pPr algn="r">
              <a:defRPr sz="2400">
                <a:solidFill>
                  <a:schemeClr val="tx1">
                    <a:tint val="75000"/>
                  </a:schemeClr>
                </a:solidFill>
              </a:defRPr>
            </a:lvl1pPr>
          </a:lstStyle>
          <a:p>
            <a:fld id="{D50F448D-55D1-40F3-901A-A06ED0942412}" type="slidenum">
              <a:rPr lang="es-MX" smtClean="0"/>
              <a:t>‹Nº›</a:t>
            </a:fld>
            <a:endParaRPr lang="es-MX"/>
          </a:p>
        </p:txBody>
      </p:sp>
    </p:spTree>
    <p:extLst>
      <p:ext uri="{BB962C8B-B14F-4D97-AF65-F5344CB8AC3E}">
        <p14:creationId xmlns:p14="http://schemas.microsoft.com/office/powerpoint/2010/main" val="3861419983"/>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hf sldNum="0" hdr="0" ftr="0" dt="0"/>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7.xml"/><Relationship Id="rId7" Type="http://schemas.openxmlformats.org/officeDocument/2006/relationships/image" Target="../media/image3.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2.jpeg"/><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3.jpeg"/><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5.jpeg"/><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image" Target="../media/image1.png"/><Relationship Id="rId7"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3.png"/><Relationship Id="rId10" Type="http://schemas.openxmlformats.org/officeDocument/2006/relationships/image" Target="../media/image23.png"/><Relationship Id="rId4" Type="http://schemas.openxmlformats.org/officeDocument/2006/relationships/image" Target="../media/image2.png"/><Relationship Id="rId9"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24.jpeg"/><Relationship Id="rId5" Type="http://schemas.openxmlformats.org/officeDocument/2006/relationships/image" Target="../media/image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25.jpeg"/><Relationship Id="rId5" Type="http://schemas.openxmlformats.org/officeDocument/2006/relationships/image" Target="../media/image3.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26.jpeg"/><Relationship Id="rId5" Type="http://schemas.openxmlformats.org/officeDocument/2006/relationships/image" Target="../media/image3.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3.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3.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3.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3.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pn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7.xml"/><Relationship Id="rId1" Type="http://schemas.openxmlformats.org/officeDocument/2006/relationships/themeOverride" Target="../theme/themeOverride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7"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hemeOverride" Target="../theme/themeOverride2.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38.jpe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7.xml"/><Relationship Id="rId1" Type="http://schemas.openxmlformats.org/officeDocument/2006/relationships/themeOverride" Target="../theme/themeOverride3.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7.xml"/><Relationship Id="rId1" Type="http://schemas.openxmlformats.org/officeDocument/2006/relationships/themeOverride" Target="../theme/themeOverride4.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3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8.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3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9.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7.xml"/><Relationship Id="rId1" Type="http://schemas.openxmlformats.org/officeDocument/2006/relationships/themeOverride" Target="../theme/themeOverride5.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cxnSp>
        <p:nvCxnSpPr>
          <p:cNvPr id="27" name="Google Shape;27;p8"/>
          <p:cNvCxnSpPr/>
          <p:nvPr/>
        </p:nvCxnSpPr>
        <p:spPr>
          <a:xfrm>
            <a:off x="1498741" y="-1748367"/>
            <a:ext cx="0" cy="0"/>
          </a:xfrm>
          <a:prstGeom prst="straightConnector1">
            <a:avLst/>
          </a:prstGeom>
          <a:noFill/>
          <a:ln>
            <a:noFill/>
          </a:ln>
        </p:spPr>
      </p:cxnSp>
      <p:cxnSp>
        <p:nvCxnSpPr>
          <p:cNvPr id="28" name="Google Shape;28;p8"/>
          <p:cNvCxnSpPr/>
          <p:nvPr/>
        </p:nvCxnSpPr>
        <p:spPr>
          <a:xfrm>
            <a:off x="1498741" y="-1748367"/>
            <a:ext cx="0" cy="0"/>
          </a:xfrm>
          <a:prstGeom prst="straightConnector1">
            <a:avLst/>
          </a:prstGeom>
          <a:noFill/>
          <a:ln>
            <a:noFill/>
          </a:ln>
        </p:spPr>
      </p:cxnSp>
      <p:pic>
        <p:nvPicPr>
          <p:cNvPr id="2" name="Imagen 1">
            <a:extLst>
              <a:ext uri="{FF2B5EF4-FFF2-40B4-BE49-F238E27FC236}">
                <a16:creationId xmlns:a16="http://schemas.microsoft.com/office/drawing/2014/main" id="{D201D745-DD58-DAF6-A4B3-C5ED3F748EB9}"/>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634E50C9-B149-AD25-66EC-4B01EEB171CA}"/>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33E463BD-5D17-F074-AA81-294C3A0B0E63}"/>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7E33B722-B730-9D67-CD29-0A93D9472B26}"/>
              </a:ext>
            </a:extLst>
          </p:cNvPr>
          <p:cNvPicPr>
            <a:picLocks noChangeAspect="1"/>
          </p:cNvPicPr>
          <p:nvPr/>
        </p:nvPicPr>
        <p:blipFill>
          <a:blip r:embed="rId5"/>
          <a:stretch>
            <a:fillRect/>
          </a:stretch>
        </p:blipFill>
        <p:spPr>
          <a:xfrm>
            <a:off x="23204799" y="12494218"/>
            <a:ext cx="607560" cy="903930"/>
          </a:xfrm>
          <a:prstGeom prst="rect">
            <a:avLst/>
          </a:prstGeom>
        </p:spPr>
      </p:pic>
      <p:sp>
        <p:nvSpPr>
          <p:cNvPr id="6" name="Título 1">
            <a:extLst>
              <a:ext uri="{FF2B5EF4-FFF2-40B4-BE49-F238E27FC236}">
                <a16:creationId xmlns:a16="http://schemas.microsoft.com/office/drawing/2014/main" id="{789D3C35-B739-EB77-1151-771A8312FE54}"/>
              </a:ext>
            </a:extLst>
          </p:cNvPr>
          <p:cNvSpPr txBox="1">
            <a:spLocks/>
          </p:cNvSpPr>
          <p:nvPr/>
        </p:nvSpPr>
        <p:spPr>
          <a:xfrm>
            <a:off x="5259387" y="3903663"/>
            <a:ext cx="13868400" cy="23876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pPr algn="ctr"/>
            <a:r>
              <a:rPr lang="es-MX" dirty="0"/>
              <a:t>Maestría en Ciencia de Datos (MCD)</a:t>
            </a:r>
            <a:endParaRPr lang="en-US" dirty="0"/>
          </a:p>
        </p:txBody>
      </p:sp>
      <p:sp>
        <p:nvSpPr>
          <p:cNvPr id="7" name="Subtítulo 2">
            <a:extLst>
              <a:ext uri="{FF2B5EF4-FFF2-40B4-BE49-F238E27FC236}">
                <a16:creationId xmlns:a16="http://schemas.microsoft.com/office/drawing/2014/main" id="{723C9D5A-7F3D-A9B3-8892-BCC49AC8A02A}"/>
              </a:ext>
            </a:extLst>
          </p:cNvPr>
          <p:cNvSpPr txBox="1">
            <a:spLocks/>
          </p:cNvSpPr>
          <p:nvPr/>
        </p:nvSpPr>
        <p:spPr>
          <a:xfrm>
            <a:off x="6019800" y="7907338"/>
            <a:ext cx="12534900" cy="1655762"/>
          </a:xfrm>
          <a:prstGeom prst="rect">
            <a:avLst/>
          </a:prstGeom>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buNone/>
            </a:pPr>
            <a:r>
              <a:rPr lang="es-MX" i="1" dirty="0"/>
              <a:t>Procesamiento de Grandes Bases de Datos (Big Data)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2CB5BD3A-3D52-606F-45DA-076D1B95B777}"/>
            </a:ext>
          </a:extLst>
        </p:cNvPr>
        <p:cNvGrpSpPr/>
        <p:nvPr/>
      </p:nvGrpSpPr>
      <p:grpSpPr>
        <a:xfrm>
          <a:off x="0" y="0"/>
          <a:ext cx="0" cy="0"/>
          <a:chOff x="0" y="0"/>
          <a:chExt cx="0" cy="0"/>
        </a:xfrm>
      </p:grpSpPr>
      <p:cxnSp>
        <p:nvCxnSpPr>
          <p:cNvPr id="27" name="Google Shape;27;p8">
            <a:extLst>
              <a:ext uri="{FF2B5EF4-FFF2-40B4-BE49-F238E27FC236}">
                <a16:creationId xmlns:a16="http://schemas.microsoft.com/office/drawing/2014/main" id="{E5CAC111-3DCA-CB44-11F7-3C9253BF64EF}"/>
              </a:ext>
            </a:extLst>
          </p:cNvPr>
          <p:cNvCxnSpPr/>
          <p:nvPr/>
        </p:nvCxnSpPr>
        <p:spPr>
          <a:xfrm>
            <a:off x="1498741" y="-1748367"/>
            <a:ext cx="0" cy="0"/>
          </a:xfrm>
          <a:prstGeom prst="straightConnector1">
            <a:avLst/>
          </a:prstGeom>
          <a:noFill/>
          <a:ln>
            <a:noFill/>
          </a:ln>
        </p:spPr>
      </p:cxnSp>
      <p:cxnSp>
        <p:nvCxnSpPr>
          <p:cNvPr id="28" name="Google Shape;28;p8">
            <a:extLst>
              <a:ext uri="{FF2B5EF4-FFF2-40B4-BE49-F238E27FC236}">
                <a16:creationId xmlns:a16="http://schemas.microsoft.com/office/drawing/2014/main" id="{929D7226-A3BB-AE4A-719E-288EA98B561F}"/>
              </a:ext>
            </a:extLst>
          </p:cNvPr>
          <p:cNvCxnSpPr/>
          <p:nvPr/>
        </p:nvCxnSpPr>
        <p:spPr>
          <a:xfrm>
            <a:off x="1498741" y="-1748367"/>
            <a:ext cx="0" cy="0"/>
          </a:xfrm>
          <a:prstGeom prst="straightConnector1">
            <a:avLst/>
          </a:prstGeom>
          <a:noFill/>
          <a:ln>
            <a:noFill/>
          </a:ln>
        </p:spPr>
      </p:cxnSp>
      <p:pic>
        <p:nvPicPr>
          <p:cNvPr id="2" name="Imagen 1">
            <a:extLst>
              <a:ext uri="{FF2B5EF4-FFF2-40B4-BE49-F238E27FC236}">
                <a16:creationId xmlns:a16="http://schemas.microsoft.com/office/drawing/2014/main" id="{907CBD96-2D1C-7718-2973-CFFED74454FC}"/>
              </a:ext>
            </a:extLst>
          </p:cNvPr>
          <p:cNvPicPr>
            <a:picLocks noChangeAspect="1"/>
          </p:cNvPicPr>
          <p:nvPr/>
        </p:nvPicPr>
        <p:blipFill>
          <a:blip r:embed="rId5"/>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6F0B0494-3DDD-98A7-7F9E-2EE7C442AAFE}"/>
              </a:ext>
            </a:extLst>
          </p:cNvPr>
          <p:cNvPicPr>
            <a:picLocks noChangeAspect="1"/>
          </p:cNvPicPr>
          <p:nvPr/>
        </p:nvPicPr>
        <p:blipFill>
          <a:blip r:embed="rId6"/>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FA18732C-7693-E5D2-EE76-02163BBA878E}"/>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508FDD66-948B-1FBA-A60E-244FDC799DE6}"/>
              </a:ext>
            </a:extLst>
          </p:cNvPr>
          <p:cNvPicPr>
            <a:picLocks noChangeAspect="1"/>
          </p:cNvPicPr>
          <p:nvPr/>
        </p:nvPicPr>
        <p:blipFill>
          <a:blip r:embed="rId7"/>
          <a:stretch>
            <a:fillRect/>
          </a:stretch>
        </p:blipFill>
        <p:spPr>
          <a:xfrm>
            <a:off x="23204799" y="12494218"/>
            <a:ext cx="607560" cy="903930"/>
          </a:xfrm>
          <a:prstGeom prst="rect">
            <a:avLst/>
          </a:prstGeom>
        </p:spPr>
      </p:pic>
      <p:sp>
        <p:nvSpPr>
          <p:cNvPr id="6" name="Título 1">
            <a:extLst>
              <a:ext uri="{FF2B5EF4-FFF2-40B4-BE49-F238E27FC236}">
                <a16:creationId xmlns:a16="http://schemas.microsoft.com/office/drawing/2014/main" id="{B7F19FF1-12BB-942F-CBB1-7257C97CA16B}"/>
              </a:ext>
            </a:extLst>
          </p:cNvPr>
          <p:cNvSpPr txBox="1">
            <a:spLocks/>
          </p:cNvSpPr>
          <p:nvPr/>
        </p:nvSpPr>
        <p:spPr>
          <a:xfrm>
            <a:off x="5344169" y="389715"/>
            <a:ext cx="13868400" cy="23876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pPr algn="ctr"/>
            <a:r>
              <a:rPr lang="en-US" dirty="0"/>
              <a:t>Bienestar</a:t>
            </a:r>
          </a:p>
        </p:txBody>
      </p:sp>
      <p:sp>
        <p:nvSpPr>
          <p:cNvPr id="7" name="Subtítulo 2">
            <a:extLst>
              <a:ext uri="{FF2B5EF4-FFF2-40B4-BE49-F238E27FC236}">
                <a16:creationId xmlns:a16="http://schemas.microsoft.com/office/drawing/2014/main" id="{0A78CAB9-9CFE-6B21-0D2E-E77A4C702E56}"/>
              </a:ext>
            </a:extLst>
          </p:cNvPr>
          <p:cNvSpPr txBox="1">
            <a:spLocks/>
          </p:cNvSpPr>
          <p:nvPr/>
        </p:nvSpPr>
        <p:spPr>
          <a:xfrm>
            <a:off x="6019800" y="7907338"/>
            <a:ext cx="12534900" cy="1655762"/>
          </a:xfrm>
          <a:prstGeom prst="rect">
            <a:avLst/>
          </a:prstGeom>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buNone/>
            </a:pPr>
            <a:endParaRPr lang="es-MX" i="1" dirty="0"/>
          </a:p>
        </p:txBody>
      </p:sp>
      <p:pic>
        <p:nvPicPr>
          <p:cNvPr id="8" name="3 Atención plena al cuerpo escanear corporal">
            <a:hlinkClick r:id="" action="ppaction://media"/>
            <a:extLst>
              <a:ext uri="{FF2B5EF4-FFF2-40B4-BE49-F238E27FC236}">
                <a16:creationId xmlns:a16="http://schemas.microsoft.com/office/drawing/2014/main" id="{A410C585-99D1-5390-110F-25CCDE4B25FC}"/>
              </a:ext>
            </a:extLst>
          </p:cNvPr>
          <p:cNvPicPr>
            <a:picLocks noChangeAspect="1"/>
          </p:cNvPicPr>
          <p:nvPr>
            <a:videoFile r:link="rId2"/>
            <p:extLst>
              <p:ext uri="{DAA4B4D4-6D71-4841-9C94-3DE7FCFB9230}">
                <p14:media xmlns:p14="http://schemas.microsoft.com/office/powerpoint/2010/main" r:embed="rId1"/>
              </p:ext>
            </p:extLst>
          </p:nvPr>
        </p:nvPicPr>
        <p:blipFill>
          <a:blip r:embed="rId8"/>
          <a:stretch>
            <a:fillRect/>
          </a:stretch>
        </p:blipFill>
        <p:spPr>
          <a:xfrm>
            <a:off x="3639289" y="2010258"/>
            <a:ext cx="18949480" cy="10483960"/>
          </a:xfrm>
          <a:prstGeom prst="rect">
            <a:avLst/>
          </a:prstGeom>
        </p:spPr>
      </p:pic>
    </p:spTree>
    <p:extLst>
      <p:ext uri="{BB962C8B-B14F-4D97-AF65-F5344CB8AC3E}">
        <p14:creationId xmlns:p14="http://schemas.microsoft.com/office/powerpoint/2010/main" val="2253518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24289"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50" name="Google Shape;50;p10"/>
          <p:cNvSpPr txBox="1"/>
          <p:nvPr/>
        </p:nvSpPr>
        <p:spPr>
          <a:xfrm>
            <a:off x="8915629" y="3219076"/>
            <a:ext cx="13831658" cy="2585322"/>
          </a:xfrm>
          <a:prstGeom prst="rect">
            <a:avLst/>
          </a:prstGeom>
          <a:noFill/>
          <a:ln>
            <a:noFill/>
          </a:ln>
        </p:spPr>
        <p:txBody>
          <a:bodyPr spcFirstLastPara="1" wrap="square" lIns="91425" tIns="45700" rIns="91425" bIns="45700" anchor="t" anchorCtr="0">
            <a:noAutofit/>
          </a:bodyPr>
          <a:lstStyle/>
          <a:p>
            <a:pPr marL="171450" indent="-171450" algn="just">
              <a:lnSpc>
                <a:spcPct val="150000"/>
              </a:lnSpc>
              <a:buClr>
                <a:schemeClr val="bg2"/>
              </a:buClr>
              <a:buFont typeface="Arial" panose="020B0604020202020204" pitchFamily="34" charset="0"/>
              <a:buChar char="•"/>
            </a:pPr>
            <a:r>
              <a:rPr lang="es-MX" sz="3600" b="1" dirty="0">
                <a:solidFill>
                  <a:schemeClr val="dk2"/>
                </a:solidFill>
                <a:latin typeface="Arial" panose="020B0604020202020204" pitchFamily="34" charset="0"/>
                <a:cs typeface="Arial" panose="020B0604020202020204" pitchFamily="34" charset="0"/>
              </a:rPr>
              <a:t>  Definición</a:t>
            </a:r>
          </a:p>
          <a:p>
            <a:pPr marL="171450" indent="-171450" algn="just">
              <a:lnSpc>
                <a:spcPct val="150000"/>
              </a:lnSpc>
              <a:buClr>
                <a:schemeClr val="bg2"/>
              </a:buClr>
              <a:buFont typeface="Arial" panose="020B0604020202020204" pitchFamily="34" charset="0"/>
              <a:buChar char="•"/>
            </a:pPr>
            <a:r>
              <a:rPr lang="es-MX" sz="3600" b="1" dirty="0">
                <a:solidFill>
                  <a:schemeClr val="dk2"/>
                </a:solidFill>
                <a:latin typeface="Arial" panose="020B0604020202020204" pitchFamily="34" charset="0"/>
                <a:cs typeface="Arial" panose="020B0604020202020204" pitchFamily="34" charset="0"/>
              </a:rPr>
              <a:t> Tipos de datos</a:t>
            </a:r>
          </a:p>
          <a:p>
            <a:pPr marL="171450" indent="-171450" algn="just">
              <a:lnSpc>
                <a:spcPct val="150000"/>
              </a:lnSpc>
              <a:buClr>
                <a:schemeClr val="bg2"/>
              </a:buClr>
              <a:buFont typeface="Arial" panose="020B0604020202020204" pitchFamily="34" charset="0"/>
              <a:buChar char="•"/>
            </a:pPr>
            <a:r>
              <a:rPr lang="es-MX" sz="3600" b="1" dirty="0">
                <a:solidFill>
                  <a:schemeClr val="dk2"/>
                </a:solidFill>
                <a:latin typeface="Arial" panose="020B0604020202020204" pitchFamily="34" charset="0"/>
                <a:cs typeface="Arial" panose="020B0604020202020204" pitchFamily="34" charset="0"/>
              </a:rPr>
              <a:t> </a:t>
            </a:r>
            <a:r>
              <a:rPr lang="es-MX" sz="3600" b="1" dirty="0" err="1">
                <a:solidFill>
                  <a:schemeClr val="dk2"/>
                </a:solidFill>
                <a:latin typeface="Arial" panose="020B0604020202020204" pitchFamily="34" charset="0"/>
                <a:cs typeface="Arial" panose="020B0604020202020204" pitchFamily="34" charset="0"/>
              </a:rPr>
              <a:t>Carácteristicas</a:t>
            </a:r>
            <a:endParaRPr lang="es-MX" sz="3600" b="1" dirty="0">
              <a:solidFill>
                <a:schemeClr val="dk2"/>
              </a:solidFill>
              <a:latin typeface="Arial" panose="020B0604020202020204" pitchFamily="34" charset="0"/>
              <a:cs typeface="Arial" panose="020B0604020202020204" pitchFamily="34" charset="0"/>
            </a:endParaRPr>
          </a:p>
          <a:p>
            <a:pPr marL="171450" indent="-171450" algn="just">
              <a:lnSpc>
                <a:spcPct val="150000"/>
              </a:lnSpc>
              <a:buClr>
                <a:schemeClr val="bg2"/>
              </a:buClr>
              <a:buFont typeface="Arial" panose="020B0604020202020204" pitchFamily="34" charset="0"/>
              <a:buChar char="•"/>
            </a:pPr>
            <a:r>
              <a:rPr lang="es-MX" sz="3600" b="1" dirty="0">
                <a:solidFill>
                  <a:schemeClr val="dk2"/>
                </a:solidFill>
                <a:latin typeface="Arial" panose="020B0604020202020204" pitchFamily="34" charset="0"/>
                <a:cs typeface="Arial" panose="020B0604020202020204" pitchFamily="34" charset="0"/>
              </a:rPr>
              <a:t> Las </a:t>
            </a:r>
            <a:r>
              <a:rPr lang="es-MX" sz="3600" b="1" dirty="0" err="1">
                <a:solidFill>
                  <a:schemeClr val="dk2"/>
                </a:solidFill>
                <a:latin typeface="Arial" panose="020B0604020202020204" pitchFamily="34" charset="0"/>
                <a:cs typeface="Arial" panose="020B0604020202020204" pitchFamily="34" charset="0"/>
              </a:rPr>
              <a:t>V’s</a:t>
            </a:r>
            <a:r>
              <a:rPr lang="es-MX" sz="3600" b="1" dirty="0">
                <a:solidFill>
                  <a:schemeClr val="dk2"/>
                </a:solidFill>
                <a:latin typeface="Arial" panose="020B0604020202020204" pitchFamily="34" charset="0"/>
                <a:cs typeface="Arial" panose="020B0604020202020204" pitchFamily="34" charset="0"/>
              </a:rPr>
              <a:t> de Big Data</a:t>
            </a:r>
          </a:p>
          <a:p>
            <a:pPr marL="171450" indent="-171450" algn="just">
              <a:lnSpc>
                <a:spcPct val="150000"/>
              </a:lnSpc>
              <a:buClr>
                <a:schemeClr val="bg2"/>
              </a:buClr>
              <a:buFont typeface="Arial" panose="020B0604020202020204" pitchFamily="34" charset="0"/>
              <a:buChar char="•"/>
            </a:pPr>
            <a:r>
              <a:rPr lang="es-MX" sz="3600" b="1" dirty="0">
                <a:solidFill>
                  <a:schemeClr val="dk2"/>
                </a:solidFill>
                <a:latin typeface="Arial" panose="020B0604020202020204" pitchFamily="34" charset="0"/>
                <a:cs typeface="Arial" panose="020B0604020202020204" pitchFamily="34" charset="0"/>
              </a:rPr>
              <a:t> Aprovechamiento</a:t>
            </a:r>
          </a:p>
          <a:p>
            <a:pPr marL="171450" indent="-171450" algn="just">
              <a:lnSpc>
                <a:spcPct val="150000"/>
              </a:lnSpc>
              <a:buClr>
                <a:schemeClr val="bg2"/>
              </a:buClr>
              <a:buFont typeface="Arial" panose="020B0604020202020204" pitchFamily="34" charset="0"/>
              <a:buChar char="•"/>
            </a:pPr>
            <a:r>
              <a:rPr lang="es-MX" sz="3600" b="1" dirty="0">
                <a:solidFill>
                  <a:schemeClr val="dk2"/>
                </a:solidFill>
                <a:latin typeface="Arial" panose="020B0604020202020204" pitchFamily="34" charset="0"/>
                <a:cs typeface="Arial" panose="020B0604020202020204" pitchFamily="34" charset="0"/>
              </a:rPr>
              <a:t> Generación de Big Data</a:t>
            </a:r>
          </a:p>
          <a:p>
            <a:pPr marL="171450" indent="-171450" algn="just">
              <a:lnSpc>
                <a:spcPct val="150000"/>
              </a:lnSpc>
              <a:buClr>
                <a:schemeClr val="bg2"/>
              </a:buClr>
              <a:buFont typeface="Arial" panose="020B0604020202020204" pitchFamily="34" charset="0"/>
              <a:buChar char="•"/>
            </a:pPr>
            <a:r>
              <a:rPr lang="es-MX" sz="3600" b="1" dirty="0">
                <a:solidFill>
                  <a:schemeClr val="dk2"/>
                </a:solidFill>
                <a:latin typeface="Arial" panose="020B0604020202020204" pitchFamily="34" charset="0"/>
                <a:cs typeface="Arial" panose="020B0604020202020204" pitchFamily="34" charset="0"/>
              </a:rPr>
              <a:t> Modelo de Generación</a:t>
            </a:r>
          </a:p>
          <a:p>
            <a:pPr marL="171450" indent="-171450" algn="just">
              <a:lnSpc>
                <a:spcPct val="150000"/>
              </a:lnSpc>
              <a:buClr>
                <a:schemeClr val="bg2"/>
              </a:buClr>
              <a:buFont typeface="Arial" panose="020B0604020202020204" pitchFamily="34" charset="0"/>
              <a:buChar char="•"/>
            </a:pPr>
            <a:r>
              <a:rPr lang="es-MX" sz="3600" b="1" dirty="0">
                <a:solidFill>
                  <a:schemeClr val="dk2"/>
                </a:solidFill>
                <a:latin typeface="Arial" panose="020B0604020202020204" pitchFamily="34" charset="0"/>
                <a:cs typeface="Arial" panose="020B0604020202020204" pitchFamily="34" charset="0"/>
              </a:rPr>
              <a:t> Manejo de Big Data</a:t>
            </a:r>
          </a:p>
          <a:p>
            <a:pPr marL="171450" indent="-171450" algn="just">
              <a:lnSpc>
                <a:spcPct val="150000"/>
              </a:lnSpc>
              <a:buClr>
                <a:schemeClr val="bg2"/>
              </a:buClr>
              <a:buFont typeface="Arial" panose="020B0604020202020204" pitchFamily="34" charset="0"/>
              <a:buChar char="•"/>
            </a:pPr>
            <a:r>
              <a:rPr lang="es-MX" sz="3600" b="1" dirty="0">
                <a:solidFill>
                  <a:schemeClr val="dk2"/>
                </a:solidFill>
                <a:latin typeface="Arial" panose="020B0604020202020204" pitchFamily="34" charset="0"/>
                <a:cs typeface="Arial" panose="020B0604020202020204" pitchFamily="34" charset="0"/>
              </a:rPr>
              <a:t> Valor de análisis</a:t>
            </a:r>
          </a:p>
          <a:p>
            <a:pPr marL="171450" indent="-171450" algn="just">
              <a:lnSpc>
                <a:spcPct val="150000"/>
              </a:lnSpc>
              <a:buClr>
                <a:schemeClr val="bg2"/>
              </a:buClr>
              <a:buFont typeface="Arial" panose="020B0604020202020204" pitchFamily="34" charset="0"/>
              <a:buChar char="•"/>
            </a:pPr>
            <a:r>
              <a:rPr lang="es-MX" sz="3600" b="1" dirty="0">
                <a:solidFill>
                  <a:schemeClr val="dk2"/>
                </a:solidFill>
                <a:latin typeface="Poppins"/>
                <a:cs typeface="Poppins"/>
              </a:rPr>
              <a:t> </a:t>
            </a:r>
            <a:endParaRPr b="1" dirty="0">
              <a:latin typeface="Poppins"/>
              <a:ea typeface="Poppins"/>
              <a:cs typeface="Poppins"/>
              <a:sym typeface="Poppins"/>
            </a:endParaRPr>
          </a:p>
        </p:txBody>
      </p:sp>
      <p:sp>
        <p:nvSpPr>
          <p:cNvPr id="54" name="Google Shape;54;p10"/>
          <p:cNvSpPr txBox="1"/>
          <p:nvPr/>
        </p:nvSpPr>
        <p:spPr>
          <a:xfrm>
            <a:off x="8915629" y="1130396"/>
            <a:ext cx="6773008" cy="120032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2"/>
              </a:buClr>
              <a:buSzPts val="1800"/>
              <a:buFont typeface="Montserrat"/>
              <a:buNone/>
            </a:pPr>
            <a:r>
              <a:rPr lang="en-US" sz="7200" b="1" i="1" dirty="0">
                <a:solidFill>
                  <a:schemeClr val="dk2"/>
                </a:solidFill>
                <a:latin typeface="Montserrat"/>
                <a:sym typeface="Montserrat"/>
              </a:rPr>
              <a:t>Unidad I</a:t>
            </a:r>
            <a:endParaRPr b="1" i="1" dirty="0"/>
          </a:p>
        </p:txBody>
      </p:sp>
      <p:pic>
        <p:nvPicPr>
          <p:cNvPr id="2" name="Imagen 1">
            <a:extLst>
              <a:ext uri="{FF2B5EF4-FFF2-40B4-BE49-F238E27FC236}">
                <a16:creationId xmlns:a16="http://schemas.microsoft.com/office/drawing/2014/main" id="{26F8041D-5122-2DEF-8203-7F2F1463F4BD}"/>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30803D8B-C397-224A-28BD-9E3F48936260}"/>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35BD2C07-C8A0-AF77-DC2C-09D98C0311F8}"/>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CC5D14C4-A940-A186-FCCD-BA093D6FE6C7}"/>
              </a:ext>
            </a:extLst>
          </p:cNvPr>
          <p:cNvPicPr>
            <a:picLocks noChangeAspect="1"/>
          </p:cNvPicPr>
          <p:nvPr/>
        </p:nvPicPr>
        <p:blipFill>
          <a:blip r:embed="rId5"/>
          <a:stretch>
            <a:fillRect/>
          </a:stretch>
        </p:blipFill>
        <p:spPr>
          <a:xfrm>
            <a:off x="23204799" y="12494218"/>
            <a:ext cx="607560" cy="903930"/>
          </a:xfrm>
          <a:prstGeom prst="rect">
            <a:avLst/>
          </a:prstGeom>
        </p:spPr>
      </p:pic>
    </p:spTree>
    <p:extLst>
      <p:ext uri="{BB962C8B-B14F-4D97-AF65-F5344CB8AC3E}">
        <p14:creationId xmlns:p14="http://schemas.microsoft.com/office/powerpoint/2010/main" val="90296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80" name="Google Shape;80;p12"/>
          <p:cNvSpPr txBox="1"/>
          <p:nvPr/>
        </p:nvSpPr>
        <p:spPr>
          <a:xfrm>
            <a:off x="1736170" y="1925803"/>
            <a:ext cx="20441699"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indent="0" algn="ctr">
              <a:buSzPts val="3600"/>
              <a:buNone/>
              <a:defRPr sz="3600">
                <a:solidFill>
                  <a:schemeClr val="lt1"/>
                </a:solidFill>
                <a:highlight>
                  <a:srgbClr val="FFFF00"/>
                </a:highlight>
                <a:latin typeface="Montserrat"/>
                <a:ea typeface="Montserrat"/>
                <a:cs typeface="Montserrat"/>
              </a:defRPr>
            </a:lvl1pPr>
          </a:lstStyle>
          <a:p>
            <a:r>
              <a:rPr lang="en-US" dirty="0" err="1">
                <a:solidFill>
                  <a:schemeClr val="tx1"/>
                </a:solidFill>
                <a:sym typeface="Montserrat"/>
              </a:rPr>
              <a:t>Fundamentos</a:t>
            </a:r>
            <a:r>
              <a:rPr lang="en-US" dirty="0">
                <a:solidFill>
                  <a:schemeClr val="tx1"/>
                </a:solidFill>
                <a:sym typeface="Montserrat"/>
              </a:rPr>
              <a:t> </a:t>
            </a:r>
            <a:r>
              <a:rPr lang="en-US" dirty="0" err="1">
                <a:solidFill>
                  <a:schemeClr val="tx1"/>
                </a:solidFill>
                <a:sym typeface="Montserrat"/>
              </a:rPr>
              <a:t>Generales</a:t>
            </a:r>
            <a:endParaRPr dirty="0">
              <a:solidFill>
                <a:schemeClr val="tx1"/>
              </a:solidFill>
            </a:endParaRPr>
          </a:p>
        </p:txBody>
      </p:sp>
      <p:sp>
        <p:nvSpPr>
          <p:cNvPr id="14" name="CuadroTexto 13">
            <a:extLst>
              <a:ext uri="{FF2B5EF4-FFF2-40B4-BE49-F238E27FC236}">
                <a16:creationId xmlns:a16="http://schemas.microsoft.com/office/drawing/2014/main" id="{B3631A70-BA4F-4D3D-9F34-D4E86643CD66}"/>
              </a:ext>
            </a:extLst>
          </p:cNvPr>
          <p:cNvSpPr txBox="1"/>
          <p:nvPr/>
        </p:nvSpPr>
        <p:spPr>
          <a:xfrm>
            <a:off x="1445601" y="10745960"/>
            <a:ext cx="21022839" cy="2506840"/>
          </a:xfrm>
          <a:prstGeom prst="rect">
            <a:avLst/>
          </a:prstGeom>
          <a:noFill/>
        </p:spPr>
        <p:txBody>
          <a:bodyPr wrap="square">
            <a:spAutoFit/>
          </a:bodyPr>
          <a:lstStyle/>
          <a:p>
            <a:pPr algn="just">
              <a:lnSpc>
                <a:spcPct val="150000"/>
              </a:lnSpc>
            </a:pPr>
            <a:r>
              <a:rPr lang="es-ES" sz="3600" b="1" dirty="0">
                <a:solidFill>
                  <a:schemeClr val="dk2"/>
                </a:solidFill>
                <a:latin typeface="Arial" panose="020B0604020202020204" pitchFamily="34" charset="0"/>
                <a:cs typeface="Arial" panose="020B0604020202020204" pitchFamily="34" charset="0"/>
              </a:rPr>
              <a:t>Big Data:  </a:t>
            </a:r>
            <a:r>
              <a:rPr lang="es-ES" sz="3600" dirty="0">
                <a:solidFill>
                  <a:schemeClr val="dk2"/>
                </a:solidFill>
                <a:latin typeface="Arial" panose="020B0604020202020204" pitchFamily="34" charset="0"/>
                <a:cs typeface="Arial" panose="020B0604020202020204" pitchFamily="34" charset="0"/>
              </a:rPr>
              <a:t>se refiere a un término utilizado para describir conjuntos de datos extremadamente grandes y complejos que son difíciles de procesar y analizar utilizando métodos tradicionales o herramientas </a:t>
            </a:r>
            <a:r>
              <a:rPr lang="es-ES" sz="3600" dirty="0" err="1">
                <a:solidFill>
                  <a:schemeClr val="dk2"/>
                </a:solidFill>
                <a:latin typeface="Arial" panose="020B0604020202020204" pitchFamily="34" charset="0"/>
                <a:cs typeface="Arial" panose="020B0604020202020204" pitchFamily="34" charset="0"/>
              </a:rPr>
              <a:t>convencionale</a:t>
            </a:r>
            <a:r>
              <a:rPr lang="es-MX" sz="3600" dirty="0">
                <a:solidFill>
                  <a:schemeClr val="dk2"/>
                </a:solidFill>
                <a:latin typeface="Arial" panose="020B0604020202020204" pitchFamily="34" charset="0"/>
                <a:cs typeface="Arial" panose="020B0604020202020204" pitchFamily="34" charset="0"/>
              </a:rPr>
              <a:t>”.</a:t>
            </a:r>
          </a:p>
        </p:txBody>
      </p:sp>
      <p:pic>
        <p:nvPicPr>
          <p:cNvPr id="2" name="Imagen 1">
            <a:extLst>
              <a:ext uri="{FF2B5EF4-FFF2-40B4-BE49-F238E27FC236}">
                <a16:creationId xmlns:a16="http://schemas.microsoft.com/office/drawing/2014/main" id="{4E9B96D8-2A4F-A18E-697C-7BC987BB278B}"/>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60E22C91-7CAB-DFB4-CFC2-ED1D190F06A9}"/>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30579C0F-BEA2-C75F-57EE-8BC3534B8591}"/>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4CD22870-F9EE-65B8-8F09-F487DE0E2E68}"/>
              </a:ext>
            </a:extLst>
          </p:cNvPr>
          <p:cNvPicPr>
            <a:picLocks noChangeAspect="1"/>
          </p:cNvPicPr>
          <p:nvPr/>
        </p:nvPicPr>
        <p:blipFill>
          <a:blip r:embed="rId5"/>
          <a:stretch>
            <a:fillRect/>
          </a:stretch>
        </p:blipFill>
        <p:spPr>
          <a:xfrm>
            <a:off x="23204799" y="12494218"/>
            <a:ext cx="607560" cy="903930"/>
          </a:xfrm>
          <a:prstGeom prst="rect">
            <a:avLst/>
          </a:prstGeom>
        </p:spPr>
      </p:pic>
      <p:pic>
        <p:nvPicPr>
          <p:cNvPr id="7" name="Imagen 6">
            <a:extLst>
              <a:ext uri="{FF2B5EF4-FFF2-40B4-BE49-F238E27FC236}">
                <a16:creationId xmlns:a16="http://schemas.microsoft.com/office/drawing/2014/main" id="{CED9B337-A564-635F-599F-39E6AA1A11B3}"/>
              </a:ext>
            </a:extLst>
          </p:cNvPr>
          <p:cNvPicPr>
            <a:picLocks noChangeAspect="1"/>
          </p:cNvPicPr>
          <p:nvPr/>
        </p:nvPicPr>
        <p:blipFill>
          <a:blip r:embed="rId6"/>
          <a:stretch>
            <a:fillRect/>
          </a:stretch>
        </p:blipFill>
        <p:spPr>
          <a:xfrm>
            <a:off x="6838416" y="3783475"/>
            <a:ext cx="10237205" cy="6838133"/>
          </a:xfrm>
          <a:prstGeom prst="rect">
            <a:avLst/>
          </a:prstGeom>
        </p:spPr>
      </p:pic>
    </p:spTree>
    <p:extLst>
      <p:ext uri="{BB962C8B-B14F-4D97-AF65-F5344CB8AC3E}">
        <p14:creationId xmlns:p14="http://schemas.microsoft.com/office/powerpoint/2010/main" val="27777947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80" name="Google Shape;80;p12"/>
          <p:cNvSpPr txBox="1"/>
          <p:nvPr/>
        </p:nvSpPr>
        <p:spPr>
          <a:xfrm>
            <a:off x="1972737" y="2279723"/>
            <a:ext cx="20441699"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dirty="0">
                <a:sym typeface="Montserrat"/>
              </a:rPr>
              <a:t>Las 3 V del Big Data</a:t>
            </a:r>
            <a:endParaRPr dirty="0"/>
          </a:p>
        </p:txBody>
      </p:sp>
      <p:sp>
        <p:nvSpPr>
          <p:cNvPr id="14" name="CuadroTexto 13">
            <a:extLst>
              <a:ext uri="{FF2B5EF4-FFF2-40B4-BE49-F238E27FC236}">
                <a16:creationId xmlns:a16="http://schemas.microsoft.com/office/drawing/2014/main" id="{B3631A70-BA4F-4D3D-9F34-D4E86643CD66}"/>
              </a:ext>
            </a:extLst>
          </p:cNvPr>
          <p:cNvSpPr txBox="1"/>
          <p:nvPr/>
        </p:nvSpPr>
        <p:spPr>
          <a:xfrm>
            <a:off x="13571621" y="4955838"/>
            <a:ext cx="9865894" cy="6661824"/>
          </a:xfrm>
          <a:prstGeom prst="rect">
            <a:avLst/>
          </a:prstGeom>
          <a:noFill/>
        </p:spPr>
        <p:txBody>
          <a:bodyPr wrap="square">
            <a:spAutoFit/>
          </a:bodyPr>
          <a:lstStyle/>
          <a:p>
            <a:pPr marL="571500" indent="-571500" algn="just">
              <a:lnSpc>
                <a:spcPct val="150000"/>
              </a:lnSpc>
              <a:buFont typeface="Arial" panose="020B0604020202020204" pitchFamily="34" charset="0"/>
              <a:buChar char="•"/>
            </a:pPr>
            <a:r>
              <a:rPr lang="es-MX" sz="3600" b="1" dirty="0">
                <a:solidFill>
                  <a:schemeClr val="dk2"/>
                </a:solidFill>
                <a:latin typeface="Poppins"/>
                <a:cs typeface="Poppins"/>
              </a:rPr>
              <a:t>Volumen: </a:t>
            </a:r>
            <a:r>
              <a:rPr lang="es-MX" sz="3600" dirty="0">
                <a:solidFill>
                  <a:schemeClr val="dk2"/>
                </a:solidFill>
                <a:latin typeface="Poppins"/>
                <a:cs typeface="Poppins"/>
              </a:rPr>
              <a:t>Referido a la masividad de los datos generados.</a:t>
            </a:r>
          </a:p>
          <a:p>
            <a:pPr marL="571500" indent="-571500" algn="just">
              <a:lnSpc>
                <a:spcPct val="150000"/>
              </a:lnSpc>
              <a:buFont typeface="Arial" panose="020B0604020202020204" pitchFamily="34" charset="0"/>
              <a:buChar char="•"/>
            </a:pPr>
            <a:endParaRPr lang="es-MX" sz="3600" b="1" dirty="0">
              <a:solidFill>
                <a:schemeClr val="dk2"/>
              </a:solidFill>
              <a:latin typeface="Poppins"/>
              <a:cs typeface="Poppins"/>
            </a:endParaRPr>
          </a:p>
          <a:p>
            <a:pPr marL="571500" indent="-571500" algn="just">
              <a:lnSpc>
                <a:spcPct val="150000"/>
              </a:lnSpc>
              <a:buFont typeface="Arial" panose="020B0604020202020204" pitchFamily="34" charset="0"/>
              <a:buChar char="•"/>
            </a:pPr>
            <a:r>
              <a:rPr lang="es-MX" sz="3600" b="1" dirty="0">
                <a:solidFill>
                  <a:schemeClr val="dk2"/>
                </a:solidFill>
                <a:latin typeface="Poppins"/>
                <a:cs typeface="Poppins"/>
              </a:rPr>
              <a:t>Variedad: </a:t>
            </a:r>
            <a:r>
              <a:rPr lang="es-MX" sz="3600" dirty="0">
                <a:solidFill>
                  <a:schemeClr val="dk2"/>
                </a:solidFill>
                <a:latin typeface="Poppins"/>
                <a:cs typeface="Poppins"/>
              </a:rPr>
              <a:t>Diversidad en las estructuras de los datos a integrar. </a:t>
            </a:r>
          </a:p>
          <a:p>
            <a:pPr marL="571500" indent="-571500" algn="just">
              <a:lnSpc>
                <a:spcPct val="150000"/>
              </a:lnSpc>
              <a:buFont typeface="Arial" panose="020B0604020202020204" pitchFamily="34" charset="0"/>
              <a:buChar char="•"/>
            </a:pPr>
            <a:endParaRPr lang="es-MX" sz="3600" b="1" dirty="0">
              <a:solidFill>
                <a:schemeClr val="dk2"/>
              </a:solidFill>
              <a:latin typeface="Poppins"/>
              <a:cs typeface="Poppins"/>
            </a:endParaRPr>
          </a:p>
          <a:p>
            <a:pPr marL="571500" indent="-571500" algn="just">
              <a:lnSpc>
                <a:spcPct val="150000"/>
              </a:lnSpc>
              <a:buFont typeface="Arial" panose="020B0604020202020204" pitchFamily="34" charset="0"/>
              <a:buChar char="•"/>
            </a:pPr>
            <a:r>
              <a:rPr lang="es-MX" sz="3600" b="1" dirty="0">
                <a:solidFill>
                  <a:schemeClr val="dk2"/>
                </a:solidFill>
                <a:latin typeface="Poppins"/>
                <a:cs typeface="Poppins"/>
              </a:rPr>
              <a:t>Velocidad: </a:t>
            </a:r>
            <a:r>
              <a:rPr lang="es-MX" sz="3600" dirty="0">
                <a:solidFill>
                  <a:schemeClr val="dk2"/>
                </a:solidFill>
                <a:latin typeface="Poppins"/>
                <a:cs typeface="Poppins"/>
              </a:rPr>
              <a:t>Asociado con el tiempo de procesamiento de los datos.</a:t>
            </a:r>
          </a:p>
        </p:txBody>
      </p:sp>
      <p:pic>
        <p:nvPicPr>
          <p:cNvPr id="2" name="Imagen 1">
            <a:extLst>
              <a:ext uri="{FF2B5EF4-FFF2-40B4-BE49-F238E27FC236}">
                <a16:creationId xmlns:a16="http://schemas.microsoft.com/office/drawing/2014/main" id="{3BF1E749-A790-3658-748D-390D382E7F48}"/>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74923608-C48D-1443-D197-5EA1E9958DAB}"/>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C8205CEF-1C76-9E48-EA9D-1972B3B87FAD}"/>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2DD8E929-4DD8-8A20-4CD6-05AE552EF17A}"/>
              </a:ext>
            </a:extLst>
          </p:cNvPr>
          <p:cNvPicPr>
            <a:picLocks noChangeAspect="1"/>
          </p:cNvPicPr>
          <p:nvPr/>
        </p:nvPicPr>
        <p:blipFill>
          <a:blip r:embed="rId5"/>
          <a:stretch>
            <a:fillRect/>
          </a:stretch>
        </p:blipFill>
        <p:spPr>
          <a:xfrm>
            <a:off x="23204799" y="12494218"/>
            <a:ext cx="607560" cy="903930"/>
          </a:xfrm>
          <a:prstGeom prst="rect">
            <a:avLst/>
          </a:prstGeom>
        </p:spPr>
      </p:pic>
      <p:pic>
        <p:nvPicPr>
          <p:cNvPr id="1028" name="Picture 4" descr="IBM y Big Data | SG Buzz">
            <a:extLst>
              <a:ext uri="{FF2B5EF4-FFF2-40B4-BE49-F238E27FC236}">
                <a16:creationId xmlns:a16="http://schemas.microsoft.com/office/drawing/2014/main" id="{4185DB9B-1CE2-FC97-87D7-DE8034F882D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95330" y="4491315"/>
            <a:ext cx="9199617" cy="7700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90559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6"/>
          <p:cNvSpPr txBox="1"/>
          <p:nvPr/>
        </p:nvSpPr>
        <p:spPr>
          <a:xfrm>
            <a:off x="1396363" y="3588974"/>
            <a:ext cx="6286400" cy="1106077"/>
          </a:xfrm>
          <a:prstGeom prst="rect">
            <a:avLst/>
          </a:prstGeom>
          <a:noFill/>
          <a:ln>
            <a:noFill/>
          </a:ln>
        </p:spPr>
        <p:txBody>
          <a:bodyPr spcFirstLastPara="1" wrap="square" lIns="243800" tIns="243800" rIns="243800" bIns="243800" anchor="t" anchorCtr="0">
            <a:noAutofit/>
          </a:bodyPr>
          <a:lstStyle/>
          <a:p>
            <a:r>
              <a:rPr lang="es" sz="4000" b="1" u="sng" dirty="0">
                <a:solidFill>
                  <a:schemeClr val="dk2"/>
                </a:solidFill>
                <a:latin typeface="Roboto"/>
                <a:ea typeface="Roboto"/>
                <a:cs typeface="Roboto"/>
                <a:sym typeface="Roboto"/>
              </a:rPr>
              <a:t>Volumen</a:t>
            </a:r>
            <a:r>
              <a:rPr lang="es" sz="4000" b="1" dirty="0">
                <a:solidFill>
                  <a:schemeClr val="dk2"/>
                </a:solidFill>
                <a:latin typeface="Roboto"/>
                <a:ea typeface="Roboto"/>
                <a:cs typeface="Roboto"/>
                <a:sym typeface="Roboto"/>
              </a:rPr>
              <a:t>:</a:t>
            </a:r>
            <a:endParaRPr sz="4000" b="1" dirty="0">
              <a:solidFill>
                <a:schemeClr val="dk2"/>
              </a:solidFill>
              <a:latin typeface="Roboto"/>
              <a:ea typeface="Roboto"/>
              <a:cs typeface="Roboto"/>
              <a:sym typeface="Roboto"/>
            </a:endParaRPr>
          </a:p>
        </p:txBody>
      </p:sp>
      <p:sp>
        <p:nvSpPr>
          <p:cNvPr id="88" name="Google Shape;88;p16"/>
          <p:cNvSpPr txBox="1"/>
          <p:nvPr/>
        </p:nvSpPr>
        <p:spPr>
          <a:xfrm>
            <a:off x="1396363" y="4647853"/>
            <a:ext cx="21326680" cy="3796800"/>
          </a:xfrm>
          <a:prstGeom prst="rect">
            <a:avLst/>
          </a:prstGeom>
          <a:noFill/>
          <a:ln>
            <a:noFill/>
          </a:ln>
        </p:spPr>
        <p:txBody>
          <a:bodyPr spcFirstLastPara="1" wrap="square" lIns="243800" tIns="243800" rIns="243800" bIns="243800" anchor="t" anchorCtr="0">
            <a:noAutofit/>
          </a:bodyPr>
          <a:lstStyle/>
          <a:p>
            <a:pPr algn="just">
              <a:lnSpc>
                <a:spcPct val="150000"/>
              </a:lnSpc>
            </a:pPr>
            <a:r>
              <a:rPr lang="es" sz="3600" dirty="0">
                <a:solidFill>
                  <a:schemeClr val="dk2"/>
                </a:solidFill>
                <a:latin typeface="Poppins"/>
                <a:cs typeface="Poppins"/>
                <a:sym typeface="Roboto"/>
              </a:rPr>
              <a:t>“En el año 2000, se almacenaron en el mundo 800.000 petabytes. Se espera que en el año 2020, se alcancen los 35 zettabytes (ZB). Sólo Twitter genera más de 9 terabytes (TB) de datos cada día, Facebook 10 TB y algunas empresas ya generan terabytes de datos cada hora de cada día del año”. </a:t>
            </a:r>
            <a:endParaRPr sz="3600" dirty="0">
              <a:solidFill>
                <a:schemeClr val="dk2"/>
              </a:solidFill>
              <a:latin typeface="Poppins"/>
              <a:cs typeface="Poppins"/>
              <a:sym typeface="Roboto"/>
            </a:endParaRPr>
          </a:p>
        </p:txBody>
      </p:sp>
      <p:sp>
        <p:nvSpPr>
          <p:cNvPr id="5" name="Google Shape;80;p12">
            <a:extLst>
              <a:ext uri="{FF2B5EF4-FFF2-40B4-BE49-F238E27FC236}">
                <a16:creationId xmlns:a16="http://schemas.microsoft.com/office/drawing/2014/main" id="{22B70F6D-5600-4ED1-B8F5-A8302C36C657}"/>
              </a:ext>
            </a:extLst>
          </p:cNvPr>
          <p:cNvSpPr txBox="1"/>
          <p:nvPr/>
        </p:nvSpPr>
        <p:spPr>
          <a:xfrm>
            <a:off x="1674886" y="1942932"/>
            <a:ext cx="20441699"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dirty="0">
                <a:sym typeface="Montserrat"/>
              </a:rPr>
              <a:t>Las 3 V del Big Data</a:t>
            </a:r>
            <a:endParaRPr dirty="0"/>
          </a:p>
        </p:txBody>
      </p:sp>
      <p:pic>
        <p:nvPicPr>
          <p:cNvPr id="2" name="Imagen 1">
            <a:extLst>
              <a:ext uri="{FF2B5EF4-FFF2-40B4-BE49-F238E27FC236}">
                <a16:creationId xmlns:a16="http://schemas.microsoft.com/office/drawing/2014/main" id="{20B159A6-BF34-3227-868B-E3A15E3EA821}"/>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EB202FD9-828F-25E3-649F-CD514B82A74C}"/>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BA6F6635-2E52-A193-D0F3-29B2FE70B9D8}"/>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5B48900F-30E4-48B3-1CFA-77B60C3C7CFE}"/>
              </a:ext>
            </a:extLst>
          </p:cNvPr>
          <p:cNvPicPr>
            <a:picLocks noChangeAspect="1"/>
          </p:cNvPicPr>
          <p:nvPr/>
        </p:nvPicPr>
        <p:blipFill>
          <a:blip r:embed="rId5"/>
          <a:stretch>
            <a:fillRect/>
          </a:stretch>
        </p:blipFill>
        <p:spPr>
          <a:xfrm>
            <a:off x="23204799" y="12494218"/>
            <a:ext cx="607560" cy="903930"/>
          </a:xfrm>
          <a:prstGeom prst="rect">
            <a:avLst/>
          </a:prstGeom>
        </p:spPr>
      </p:pic>
      <p:pic>
        <p:nvPicPr>
          <p:cNvPr id="4098" name="Picture 2" descr="El Big Data describe el gran volumen... - Ruano Informática | Facebook">
            <a:extLst>
              <a:ext uri="{FF2B5EF4-FFF2-40B4-BE49-F238E27FC236}">
                <a16:creationId xmlns:a16="http://schemas.microsoft.com/office/drawing/2014/main" id="{6B5F951C-B89A-7BA5-14C1-165D7070E8E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097956" y="7613780"/>
            <a:ext cx="6936968" cy="58327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9344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7"/>
          <p:cNvSpPr txBox="1"/>
          <p:nvPr/>
        </p:nvSpPr>
        <p:spPr>
          <a:xfrm>
            <a:off x="1323474" y="3855680"/>
            <a:ext cx="3575095" cy="1143200"/>
          </a:xfrm>
          <a:prstGeom prst="rect">
            <a:avLst/>
          </a:prstGeom>
          <a:noFill/>
          <a:ln>
            <a:noFill/>
          </a:ln>
        </p:spPr>
        <p:txBody>
          <a:bodyPr spcFirstLastPara="1" wrap="square" lIns="243800" tIns="243800" rIns="243800" bIns="243800" anchor="t" anchorCtr="0">
            <a:noAutofit/>
          </a:bodyPr>
          <a:lstStyle/>
          <a:p>
            <a:r>
              <a:rPr lang="es" sz="3600" b="1" u="sng" dirty="0">
                <a:solidFill>
                  <a:schemeClr val="dk2"/>
                </a:solidFill>
                <a:latin typeface="Poppins"/>
                <a:cs typeface="Poppins"/>
                <a:sym typeface="Roboto"/>
              </a:rPr>
              <a:t>Variedad:</a:t>
            </a:r>
            <a:endParaRPr sz="3600" b="1" u="sng" dirty="0">
              <a:solidFill>
                <a:schemeClr val="dk2"/>
              </a:solidFill>
              <a:latin typeface="Poppins"/>
              <a:cs typeface="Poppins"/>
              <a:sym typeface="Roboto"/>
            </a:endParaRPr>
          </a:p>
        </p:txBody>
      </p:sp>
      <p:sp>
        <p:nvSpPr>
          <p:cNvPr id="96" name="Google Shape;96;p17"/>
          <p:cNvSpPr txBox="1"/>
          <p:nvPr/>
        </p:nvSpPr>
        <p:spPr>
          <a:xfrm>
            <a:off x="969335" y="5521757"/>
            <a:ext cx="10926400" cy="6368000"/>
          </a:xfrm>
          <a:prstGeom prst="rect">
            <a:avLst/>
          </a:prstGeom>
          <a:noFill/>
          <a:ln>
            <a:noFill/>
          </a:ln>
        </p:spPr>
        <p:txBody>
          <a:bodyPr spcFirstLastPara="1" wrap="square" lIns="243800" tIns="243800" rIns="243800" bIns="243800" anchor="t" anchorCtr="0">
            <a:noAutofit/>
          </a:bodyPr>
          <a:lstStyle/>
          <a:p>
            <a:pPr algn="just">
              <a:lnSpc>
                <a:spcPct val="150000"/>
              </a:lnSpc>
            </a:pPr>
            <a:r>
              <a:rPr lang="es" sz="3600" u="sng" dirty="0">
                <a:solidFill>
                  <a:schemeClr val="dk2"/>
                </a:solidFill>
                <a:latin typeface="Poppins"/>
                <a:cs typeface="Poppins"/>
                <a:sym typeface="Roboto"/>
              </a:rPr>
              <a:t>Datos Estructurados:</a:t>
            </a:r>
            <a:endParaRPr sz="3600" u="sng" dirty="0">
              <a:solidFill>
                <a:schemeClr val="dk2"/>
              </a:solidFill>
              <a:latin typeface="Poppins"/>
              <a:cs typeface="Poppins"/>
              <a:sym typeface="Roboto"/>
            </a:endParaRPr>
          </a:p>
          <a:p>
            <a:pPr algn="just">
              <a:lnSpc>
                <a:spcPct val="150000"/>
              </a:lnSpc>
            </a:pPr>
            <a:r>
              <a:rPr lang="es" sz="3600" dirty="0">
                <a:solidFill>
                  <a:schemeClr val="dk2"/>
                </a:solidFill>
                <a:latin typeface="Poppins"/>
                <a:cs typeface="Poppins"/>
                <a:sym typeface="Roboto"/>
              </a:rPr>
              <a:t>La gran mayoría de las fuentes de datos tradicionales son originadas por datos del tipo estructurados, datos con formato o esquema fijo, que poseen campos fijos y bien definidos. </a:t>
            </a:r>
            <a:endParaRPr sz="3600" dirty="0">
              <a:solidFill>
                <a:schemeClr val="dk2"/>
              </a:solidFill>
              <a:latin typeface="Poppins"/>
              <a:cs typeface="Poppins"/>
              <a:sym typeface="Roboto"/>
            </a:endParaRPr>
          </a:p>
          <a:p>
            <a:pPr algn="just">
              <a:lnSpc>
                <a:spcPct val="150000"/>
              </a:lnSpc>
            </a:pPr>
            <a:endParaRPr sz="4000" dirty="0">
              <a:solidFill>
                <a:schemeClr val="dk2"/>
              </a:solidFill>
              <a:latin typeface="Roboto"/>
              <a:ea typeface="Roboto"/>
              <a:cs typeface="Roboto"/>
              <a:sym typeface="Roboto"/>
            </a:endParaRPr>
          </a:p>
        </p:txBody>
      </p:sp>
      <p:sp>
        <p:nvSpPr>
          <p:cNvPr id="5" name="Google Shape;80;p12">
            <a:extLst>
              <a:ext uri="{FF2B5EF4-FFF2-40B4-BE49-F238E27FC236}">
                <a16:creationId xmlns:a16="http://schemas.microsoft.com/office/drawing/2014/main" id="{0C9979C2-6153-43F5-8EC4-3EE8D90AE3FD}"/>
              </a:ext>
            </a:extLst>
          </p:cNvPr>
          <p:cNvSpPr txBox="1"/>
          <p:nvPr/>
        </p:nvSpPr>
        <p:spPr>
          <a:xfrm>
            <a:off x="1323474" y="2118030"/>
            <a:ext cx="22272705"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dirty="0">
                <a:sym typeface="Montserrat"/>
              </a:rPr>
              <a:t>Las 3 V del Big Data</a:t>
            </a:r>
            <a:endParaRPr dirty="0"/>
          </a:p>
        </p:txBody>
      </p:sp>
      <p:pic>
        <p:nvPicPr>
          <p:cNvPr id="2" name="Imagen 1">
            <a:extLst>
              <a:ext uri="{FF2B5EF4-FFF2-40B4-BE49-F238E27FC236}">
                <a16:creationId xmlns:a16="http://schemas.microsoft.com/office/drawing/2014/main" id="{5EF950B6-D59C-F027-AAB4-73EB0FDFD667}"/>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7996A280-09DC-1103-9138-16C4A556E5A2}"/>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FBE095D9-0B0E-0C96-5BBA-7AE12B3C3011}"/>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D002D481-F539-FEE7-AFF1-33C5FEE7BB10}"/>
              </a:ext>
            </a:extLst>
          </p:cNvPr>
          <p:cNvPicPr>
            <a:picLocks noChangeAspect="1"/>
          </p:cNvPicPr>
          <p:nvPr/>
        </p:nvPicPr>
        <p:blipFill>
          <a:blip r:embed="rId5"/>
          <a:stretch>
            <a:fillRect/>
          </a:stretch>
        </p:blipFill>
        <p:spPr>
          <a:xfrm>
            <a:off x="23204799" y="12494218"/>
            <a:ext cx="607560" cy="903930"/>
          </a:xfrm>
          <a:prstGeom prst="rect">
            <a:avLst/>
          </a:prstGeom>
        </p:spPr>
      </p:pic>
      <p:pic>
        <p:nvPicPr>
          <p:cNvPr id="10" name="Imagen 9">
            <a:extLst>
              <a:ext uri="{FF2B5EF4-FFF2-40B4-BE49-F238E27FC236}">
                <a16:creationId xmlns:a16="http://schemas.microsoft.com/office/drawing/2014/main" id="{DDB02562-B044-0FDA-9316-9835A41568B9}"/>
              </a:ext>
            </a:extLst>
          </p:cNvPr>
          <p:cNvPicPr>
            <a:picLocks noChangeAspect="1"/>
          </p:cNvPicPr>
          <p:nvPr/>
        </p:nvPicPr>
        <p:blipFill>
          <a:blip r:embed="rId6"/>
          <a:stretch>
            <a:fillRect/>
          </a:stretch>
        </p:blipFill>
        <p:spPr>
          <a:xfrm>
            <a:off x="14246127" y="9532678"/>
            <a:ext cx="7810500" cy="2600325"/>
          </a:xfrm>
          <a:prstGeom prst="rect">
            <a:avLst/>
          </a:prstGeom>
        </p:spPr>
      </p:pic>
      <p:pic>
        <p:nvPicPr>
          <p:cNvPr id="11" name="Imagen 10">
            <a:extLst>
              <a:ext uri="{FF2B5EF4-FFF2-40B4-BE49-F238E27FC236}">
                <a16:creationId xmlns:a16="http://schemas.microsoft.com/office/drawing/2014/main" id="{8FB99BC4-D6C3-E465-C797-F846DD3E3C18}"/>
              </a:ext>
            </a:extLst>
          </p:cNvPr>
          <p:cNvPicPr>
            <a:picLocks noChangeAspect="1"/>
          </p:cNvPicPr>
          <p:nvPr/>
        </p:nvPicPr>
        <p:blipFill>
          <a:blip r:embed="rId7"/>
          <a:stretch>
            <a:fillRect/>
          </a:stretch>
        </p:blipFill>
        <p:spPr>
          <a:xfrm>
            <a:off x="13083225" y="4637729"/>
            <a:ext cx="9775280" cy="3032035"/>
          </a:xfrm>
          <a:prstGeom prst="rect">
            <a:avLst/>
          </a:prstGeom>
        </p:spPr>
      </p:pic>
    </p:spTree>
    <p:extLst>
      <p:ext uri="{BB962C8B-B14F-4D97-AF65-F5344CB8AC3E}">
        <p14:creationId xmlns:p14="http://schemas.microsoft.com/office/powerpoint/2010/main" val="7175116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9"/>
          <p:cNvSpPr txBox="1"/>
          <p:nvPr/>
        </p:nvSpPr>
        <p:spPr>
          <a:xfrm>
            <a:off x="1104653" y="3055848"/>
            <a:ext cx="3996735" cy="1143200"/>
          </a:xfrm>
          <a:prstGeom prst="rect">
            <a:avLst/>
          </a:prstGeom>
          <a:noFill/>
          <a:ln>
            <a:noFill/>
          </a:ln>
        </p:spPr>
        <p:txBody>
          <a:bodyPr spcFirstLastPara="1" wrap="square" lIns="243800" tIns="243800" rIns="243800" bIns="243800" anchor="t" anchorCtr="0">
            <a:noAutofit/>
          </a:bodyPr>
          <a:lstStyle/>
          <a:p>
            <a:r>
              <a:rPr lang="es" sz="3600" b="1" dirty="0">
                <a:solidFill>
                  <a:schemeClr val="dk2"/>
                </a:solidFill>
                <a:latin typeface="Poppins"/>
                <a:cs typeface="Poppins"/>
                <a:sym typeface="Roboto"/>
              </a:rPr>
              <a:t>Variedad:</a:t>
            </a:r>
            <a:endParaRPr sz="3600" b="1" dirty="0">
              <a:solidFill>
                <a:schemeClr val="dk2"/>
              </a:solidFill>
              <a:latin typeface="Poppins"/>
              <a:cs typeface="Poppins"/>
              <a:sym typeface="Roboto"/>
            </a:endParaRPr>
          </a:p>
        </p:txBody>
      </p:sp>
      <p:sp>
        <p:nvSpPr>
          <p:cNvPr id="110" name="Google Shape;110;p19"/>
          <p:cNvSpPr txBox="1"/>
          <p:nvPr/>
        </p:nvSpPr>
        <p:spPr>
          <a:xfrm>
            <a:off x="1367720" y="4180911"/>
            <a:ext cx="8943847" cy="7752567"/>
          </a:xfrm>
          <a:prstGeom prst="rect">
            <a:avLst/>
          </a:prstGeom>
          <a:noFill/>
          <a:ln>
            <a:noFill/>
          </a:ln>
        </p:spPr>
        <p:txBody>
          <a:bodyPr spcFirstLastPara="1" wrap="square" lIns="243800" tIns="243800" rIns="243800" bIns="243800" anchor="t" anchorCtr="0">
            <a:noAutofit/>
          </a:bodyPr>
          <a:lstStyle/>
          <a:p>
            <a:pPr algn="just">
              <a:lnSpc>
                <a:spcPct val="150000"/>
              </a:lnSpc>
            </a:pPr>
            <a:r>
              <a:rPr lang="es" sz="3600" u="sng" dirty="0">
                <a:solidFill>
                  <a:schemeClr val="dk2"/>
                </a:solidFill>
                <a:latin typeface="Poppins"/>
                <a:cs typeface="Poppins"/>
                <a:sym typeface="Roboto"/>
              </a:rPr>
              <a:t>Datos no Estructurados:</a:t>
            </a:r>
            <a:endParaRPr sz="3600" u="sng" dirty="0">
              <a:solidFill>
                <a:schemeClr val="dk2"/>
              </a:solidFill>
              <a:latin typeface="Poppins"/>
              <a:cs typeface="Poppins"/>
              <a:sym typeface="Roboto"/>
            </a:endParaRPr>
          </a:p>
          <a:p>
            <a:pPr algn="just">
              <a:lnSpc>
                <a:spcPct val="150000"/>
              </a:lnSpc>
            </a:pPr>
            <a:r>
              <a:rPr lang="es" sz="3600" dirty="0">
                <a:solidFill>
                  <a:schemeClr val="dk2"/>
                </a:solidFill>
                <a:latin typeface="Poppins"/>
                <a:cs typeface="Poppins"/>
                <a:sym typeface="Roboto"/>
              </a:rPr>
              <a:t>Son las estructuras de datos más difíciles de manejar, podemos encontrar entre los datos no estructurados más conocidos:</a:t>
            </a:r>
            <a:endParaRPr sz="3600" dirty="0">
              <a:solidFill>
                <a:schemeClr val="dk2"/>
              </a:solidFill>
              <a:latin typeface="Poppins"/>
              <a:cs typeface="Poppins"/>
              <a:sym typeface="Roboto"/>
            </a:endParaRPr>
          </a:p>
          <a:p>
            <a:pPr marL="1219215" indent="-863611" algn="just">
              <a:lnSpc>
                <a:spcPct val="150000"/>
              </a:lnSpc>
              <a:buClr>
                <a:schemeClr val="dk2"/>
              </a:buClr>
              <a:buSzPts val="1500"/>
              <a:buFont typeface="Roboto"/>
              <a:buChar char="●"/>
            </a:pPr>
            <a:r>
              <a:rPr lang="es" sz="3600" dirty="0">
                <a:solidFill>
                  <a:schemeClr val="dk2"/>
                </a:solidFill>
                <a:latin typeface="Poppins"/>
                <a:cs typeface="Poppins"/>
                <a:sym typeface="Roboto"/>
              </a:rPr>
              <a:t>Documentos PDF o Word.</a:t>
            </a:r>
            <a:endParaRPr sz="3600" dirty="0">
              <a:solidFill>
                <a:schemeClr val="dk2"/>
              </a:solidFill>
              <a:latin typeface="Poppins"/>
              <a:cs typeface="Poppins"/>
              <a:sym typeface="Roboto"/>
            </a:endParaRPr>
          </a:p>
          <a:p>
            <a:pPr marL="1219215" indent="-863611" algn="just">
              <a:lnSpc>
                <a:spcPct val="150000"/>
              </a:lnSpc>
              <a:buClr>
                <a:schemeClr val="dk2"/>
              </a:buClr>
              <a:buSzPts val="1500"/>
              <a:buFont typeface="Roboto"/>
              <a:buChar char="●"/>
            </a:pPr>
            <a:r>
              <a:rPr lang="es" sz="3600" dirty="0">
                <a:solidFill>
                  <a:schemeClr val="dk2"/>
                </a:solidFill>
                <a:latin typeface="Poppins"/>
                <a:cs typeface="Poppins"/>
                <a:sym typeface="Roboto"/>
              </a:rPr>
              <a:t>Audios y videos.</a:t>
            </a:r>
            <a:endParaRPr sz="3600" dirty="0">
              <a:solidFill>
                <a:schemeClr val="dk2"/>
              </a:solidFill>
              <a:latin typeface="Poppins"/>
              <a:cs typeface="Poppins"/>
              <a:sym typeface="Roboto"/>
            </a:endParaRPr>
          </a:p>
          <a:p>
            <a:pPr marL="1219215" indent="-863611" algn="just">
              <a:lnSpc>
                <a:spcPct val="150000"/>
              </a:lnSpc>
              <a:buClr>
                <a:schemeClr val="dk2"/>
              </a:buClr>
              <a:buSzPts val="1500"/>
              <a:buFont typeface="Roboto"/>
              <a:buChar char="●"/>
            </a:pPr>
            <a:r>
              <a:rPr lang="es" sz="3600" dirty="0">
                <a:solidFill>
                  <a:schemeClr val="dk2"/>
                </a:solidFill>
                <a:latin typeface="Poppins"/>
                <a:cs typeface="Poppins"/>
                <a:sym typeface="Roboto"/>
              </a:rPr>
              <a:t>Correos electrónicos.</a:t>
            </a:r>
            <a:endParaRPr sz="3600" dirty="0">
              <a:solidFill>
                <a:schemeClr val="dk2"/>
              </a:solidFill>
              <a:latin typeface="Poppins"/>
              <a:cs typeface="Poppins"/>
              <a:sym typeface="Roboto"/>
            </a:endParaRPr>
          </a:p>
          <a:p>
            <a:pPr marL="1219215" indent="-863611" algn="just">
              <a:lnSpc>
                <a:spcPct val="150000"/>
              </a:lnSpc>
              <a:buClr>
                <a:schemeClr val="dk2"/>
              </a:buClr>
              <a:buSzPts val="1500"/>
              <a:buFont typeface="Roboto"/>
              <a:buChar char="●"/>
            </a:pPr>
            <a:r>
              <a:rPr lang="es" sz="3600" dirty="0">
                <a:solidFill>
                  <a:schemeClr val="dk2"/>
                </a:solidFill>
                <a:latin typeface="Poppins"/>
                <a:cs typeface="Poppins"/>
                <a:sym typeface="Roboto"/>
              </a:rPr>
              <a:t>Ficheros multimedia de imagen.</a:t>
            </a:r>
            <a:endParaRPr sz="3600" dirty="0">
              <a:solidFill>
                <a:schemeClr val="dk2"/>
              </a:solidFill>
              <a:latin typeface="Poppins"/>
              <a:cs typeface="Poppins"/>
              <a:sym typeface="Roboto"/>
            </a:endParaRPr>
          </a:p>
          <a:p>
            <a:pPr marL="1219215" indent="-863611" algn="just">
              <a:lnSpc>
                <a:spcPct val="150000"/>
              </a:lnSpc>
              <a:buClr>
                <a:schemeClr val="dk2"/>
              </a:buClr>
              <a:buSzPts val="1500"/>
              <a:buFont typeface="Roboto"/>
              <a:buChar char="●"/>
            </a:pPr>
            <a:r>
              <a:rPr lang="es" sz="3600" dirty="0">
                <a:solidFill>
                  <a:schemeClr val="dk2"/>
                </a:solidFill>
                <a:latin typeface="Poppins"/>
                <a:cs typeface="Poppins"/>
                <a:sym typeface="Roboto"/>
              </a:rPr>
              <a:t>Artículos y textos, entre otros</a:t>
            </a:r>
            <a:r>
              <a:rPr lang="es" sz="3733" dirty="0">
                <a:solidFill>
                  <a:schemeClr val="dk2"/>
                </a:solidFill>
                <a:latin typeface="Roboto"/>
                <a:ea typeface="Roboto"/>
                <a:cs typeface="Roboto"/>
                <a:sym typeface="Roboto"/>
              </a:rPr>
              <a:t>.</a:t>
            </a:r>
            <a:endParaRPr sz="3733" dirty="0">
              <a:solidFill>
                <a:schemeClr val="dk2"/>
              </a:solidFill>
              <a:latin typeface="Roboto"/>
              <a:ea typeface="Roboto"/>
              <a:cs typeface="Roboto"/>
              <a:sym typeface="Roboto"/>
            </a:endParaRPr>
          </a:p>
          <a:p>
            <a:pPr algn="just">
              <a:lnSpc>
                <a:spcPct val="150000"/>
              </a:lnSpc>
            </a:pPr>
            <a:endParaRPr sz="4000" dirty="0">
              <a:solidFill>
                <a:schemeClr val="dk2"/>
              </a:solidFill>
              <a:latin typeface="Roboto"/>
              <a:ea typeface="Roboto"/>
              <a:cs typeface="Roboto"/>
              <a:sym typeface="Roboto"/>
            </a:endParaRPr>
          </a:p>
          <a:p>
            <a:pPr algn="just">
              <a:lnSpc>
                <a:spcPct val="150000"/>
              </a:lnSpc>
            </a:pPr>
            <a:r>
              <a:rPr lang="es" sz="4000" dirty="0">
                <a:solidFill>
                  <a:schemeClr val="dk2"/>
                </a:solidFill>
                <a:latin typeface="Roboto"/>
                <a:ea typeface="Roboto"/>
                <a:cs typeface="Roboto"/>
                <a:sym typeface="Roboto"/>
              </a:rPr>
              <a:t> </a:t>
            </a:r>
            <a:endParaRPr sz="4000" dirty="0">
              <a:solidFill>
                <a:schemeClr val="dk2"/>
              </a:solidFill>
              <a:latin typeface="Roboto"/>
              <a:ea typeface="Roboto"/>
              <a:cs typeface="Roboto"/>
              <a:sym typeface="Roboto"/>
            </a:endParaRPr>
          </a:p>
          <a:p>
            <a:pPr algn="just">
              <a:lnSpc>
                <a:spcPct val="150000"/>
              </a:lnSpc>
            </a:pPr>
            <a:endParaRPr sz="4000" dirty="0">
              <a:solidFill>
                <a:schemeClr val="dk2"/>
              </a:solidFill>
              <a:latin typeface="Roboto"/>
              <a:ea typeface="Roboto"/>
              <a:cs typeface="Roboto"/>
              <a:sym typeface="Roboto"/>
            </a:endParaRPr>
          </a:p>
        </p:txBody>
      </p:sp>
      <p:sp>
        <p:nvSpPr>
          <p:cNvPr id="5" name="Google Shape;80;p12">
            <a:extLst>
              <a:ext uri="{FF2B5EF4-FFF2-40B4-BE49-F238E27FC236}">
                <a16:creationId xmlns:a16="http://schemas.microsoft.com/office/drawing/2014/main" id="{3B97141F-BDED-4D8B-A520-E6D3E059649C}"/>
              </a:ext>
            </a:extLst>
          </p:cNvPr>
          <p:cNvSpPr txBox="1"/>
          <p:nvPr/>
        </p:nvSpPr>
        <p:spPr>
          <a:xfrm>
            <a:off x="1057234" y="1817930"/>
            <a:ext cx="22272705"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dirty="0">
                <a:sym typeface="Montserrat"/>
              </a:rPr>
              <a:t>Las 3 V del Big Data</a:t>
            </a:r>
            <a:endParaRPr dirty="0"/>
          </a:p>
        </p:txBody>
      </p:sp>
      <p:pic>
        <p:nvPicPr>
          <p:cNvPr id="2" name="Imagen 1">
            <a:extLst>
              <a:ext uri="{FF2B5EF4-FFF2-40B4-BE49-F238E27FC236}">
                <a16:creationId xmlns:a16="http://schemas.microsoft.com/office/drawing/2014/main" id="{BE67ED16-0557-3E43-13B7-7528CAD3AB2F}"/>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9A705F28-C7CE-CEBA-2DDA-815AD5358AEE}"/>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BB0918DC-FC26-0AA6-3A97-B0A133974293}"/>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C11EC156-E3C9-D1BB-5FB6-A22F05007D75}"/>
              </a:ext>
            </a:extLst>
          </p:cNvPr>
          <p:cNvPicPr>
            <a:picLocks noChangeAspect="1"/>
          </p:cNvPicPr>
          <p:nvPr/>
        </p:nvPicPr>
        <p:blipFill>
          <a:blip r:embed="rId5"/>
          <a:stretch>
            <a:fillRect/>
          </a:stretch>
        </p:blipFill>
        <p:spPr>
          <a:xfrm>
            <a:off x="23204799" y="12494218"/>
            <a:ext cx="607560" cy="903930"/>
          </a:xfrm>
          <a:prstGeom prst="rect">
            <a:avLst/>
          </a:prstGeom>
        </p:spPr>
      </p:pic>
      <p:pic>
        <p:nvPicPr>
          <p:cNvPr id="7" name="Picture 2" descr="▶️Big Data: Todo lo que necesitas saber">
            <a:extLst>
              <a:ext uri="{FF2B5EF4-FFF2-40B4-BE49-F238E27FC236}">
                <a16:creationId xmlns:a16="http://schemas.microsoft.com/office/drawing/2014/main" id="{4ED4FB23-17BD-B289-6874-D65826E51F8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238073" y="4881081"/>
            <a:ext cx="12574286" cy="77525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6143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p:nvPr/>
        </p:nvSpPr>
        <p:spPr>
          <a:xfrm>
            <a:off x="1139859" y="3192874"/>
            <a:ext cx="3274841" cy="1143200"/>
          </a:xfrm>
          <a:prstGeom prst="rect">
            <a:avLst/>
          </a:prstGeom>
          <a:noFill/>
          <a:ln>
            <a:noFill/>
          </a:ln>
        </p:spPr>
        <p:txBody>
          <a:bodyPr spcFirstLastPara="1" wrap="square" lIns="243800" tIns="243800" rIns="243800" bIns="243800" anchor="t" anchorCtr="0">
            <a:noAutofit/>
          </a:bodyPr>
          <a:lstStyle/>
          <a:p>
            <a:r>
              <a:rPr lang="es" sz="3600" b="1" dirty="0">
                <a:solidFill>
                  <a:schemeClr val="dk2"/>
                </a:solidFill>
                <a:latin typeface="Poppins"/>
                <a:cs typeface="Poppins"/>
                <a:sym typeface="Roboto"/>
              </a:rPr>
              <a:t>Variedad:</a:t>
            </a:r>
            <a:endParaRPr sz="3600" b="1" dirty="0">
              <a:solidFill>
                <a:schemeClr val="dk2"/>
              </a:solidFill>
              <a:latin typeface="Poppins"/>
              <a:cs typeface="Poppins"/>
              <a:sym typeface="Roboto"/>
            </a:endParaRPr>
          </a:p>
        </p:txBody>
      </p:sp>
      <p:sp>
        <p:nvSpPr>
          <p:cNvPr id="103" name="Google Shape;103;p18"/>
          <p:cNvSpPr txBox="1"/>
          <p:nvPr/>
        </p:nvSpPr>
        <p:spPr>
          <a:xfrm>
            <a:off x="1062920" y="4000499"/>
            <a:ext cx="10214680" cy="8362167"/>
          </a:xfrm>
          <a:prstGeom prst="rect">
            <a:avLst/>
          </a:prstGeom>
          <a:noFill/>
          <a:ln>
            <a:noFill/>
          </a:ln>
        </p:spPr>
        <p:txBody>
          <a:bodyPr spcFirstLastPara="1" wrap="square" lIns="243800" tIns="243800" rIns="243800" bIns="243800" anchor="t" anchorCtr="0">
            <a:noAutofit/>
          </a:bodyPr>
          <a:lstStyle/>
          <a:p>
            <a:pPr algn="just">
              <a:lnSpc>
                <a:spcPct val="150000"/>
              </a:lnSpc>
            </a:pPr>
            <a:r>
              <a:rPr lang="es" sz="3600" u="sng" dirty="0">
                <a:solidFill>
                  <a:schemeClr val="dk2"/>
                </a:solidFill>
                <a:latin typeface="Poppins"/>
                <a:cs typeface="Poppins"/>
                <a:sym typeface="Roboto"/>
              </a:rPr>
              <a:t>Datos Semi - Estructurados:</a:t>
            </a:r>
            <a:endParaRPr sz="3600" u="sng" dirty="0">
              <a:solidFill>
                <a:schemeClr val="dk2"/>
              </a:solidFill>
              <a:latin typeface="Poppins"/>
              <a:cs typeface="Poppins"/>
              <a:sym typeface="Roboto"/>
            </a:endParaRPr>
          </a:p>
          <a:p>
            <a:pPr algn="just">
              <a:lnSpc>
                <a:spcPct val="150000"/>
              </a:lnSpc>
            </a:pPr>
            <a:r>
              <a:rPr lang="es" sz="3600" dirty="0">
                <a:solidFill>
                  <a:schemeClr val="dk2"/>
                </a:solidFill>
                <a:latin typeface="Poppins"/>
                <a:cs typeface="Poppins"/>
                <a:sym typeface="Roboto"/>
              </a:rPr>
              <a:t>Son un híbrido entre los datos estructurados y los datos no estructurados, podríamos decir entonces de manera sencilla, que no presentan una estructura perfectamente definida como los datos estructurados, pero sí presentan una organización definida en sus metadatos donde describen los objetos y sus relaciones. </a:t>
            </a:r>
            <a:endParaRPr sz="3600" dirty="0">
              <a:solidFill>
                <a:schemeClr val="dk2"/>
              </a:solidFill>
              <a:latin typeface="Poppins"/>
              <a:cs typeface="Poppins"/>
              <a:sym typeface="Roboto"/>
            </a:endParaRPr>
          </a:p>
          <a:p>
            <a:pPr algn="just">
              <a:lnSpc>
                <a:spcPct val="150000"/>
              </a:lnSpc>
            </a:pPr>
            <a:r>
              <a:rPr lang="es" sz="4000" dirty="0">
                <a:solidFill>
                  <a:schemeClr val="dk2"/>
                </a:solidFill>
                <a:latin typeface="Roboto"/>
                <a:ea typeface="Roboto"/>
                <a:cs typeface="Roboto"/>
                <a:sym typeface="Roboto"/>
              </a:rPr>
              <a:t> </a:t>
            </a:r>
            <a:endParaRPr sz="4000" dirty="0">
              <a:solidFill>
                <a:schemeClr val="dk2"/>
              </a:solidFill>
              <a:latin typeface="Roboto"/>
              <a:ea typeface="Roboto"/>
              <a:cs typeface="Roboto"/>
              <a:sym typeface="Roboto"/>
            </a:endParaRPr>
          </a:p>
          <a:p>
            <a:pPr algn="just">
              <a:lnSpc>
                <a:spcPct val="150000"/>
              </a:lnSpc>
            </a:pPr>
            <a:endParaRPr sz="4000" dirty="0">
              <a:solidFill>
                <a:schemeClr val="dk2"/>
              </a:solidFill>
              <a:latin typeface="Roboto"/>
              <a:ea typeface="Roboto"/>
              <a:cs typeface="Roboto"/>
              <a:sym typeface="Roboto"/>
            </a:endParaRPr>
          </a:p>
        </p:txBody>
      </p:sp>
      <p:sp>
        <p:nvSpPr>
          <p:cNvPr id="5" name="Google Shape;80;p12">
            <a:extLst>
              <a:ext uri="{FF2B5EF4-FFF2-40B4-BE49-F238E27FC236}">
                <a16:creationId xmlns:a16="http://schemas.microsoft.com/office/drawing/2014/main" id="{1CA1CF8E-2B16-40DD-8044-CE63E8CE13DB}"/>
              </a:ext>
            </a:extLst>
          </p:cNvPr>
          <p:cNvSpPr txBox="1"/>
          <p:nvPr/>
        </p:nvSpPr>
        <p:spPr>
          <a:xfrm>
            <a:off x="1139859" y="1860985"/>
            <a:ext cx="22272705"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dirty="0">
                <a:sym typeface="Montserrat"/>
              </a:rPr>
              <a:t>Las 3 V del Big Data</a:t>
            </a:r>
            <a:endParaRPr dirty="0"/>
          </a:p>
        </p:txBody>
      </p:sp>
      <p:pic>
        <p:nvPicPr>
          <p:cNvPr id="2" name="Imagen 1">
            <a:extLst>
              <a:ext uri="{FF2B5EF4-FFF2-40B4-BE49-F238E27FC236}">
                <a16:creationId xmlns:a16="http://schemas.microsoft.com/office/drawing/2014/main" id="{B97944F7-0CCC-532C-F78F-E600547E847C}"/>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1BD6257F-DB1D-FB8A-3060-83D75B407A2B}"/>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7818FB6A-6D2A-D2C9-90BA-840C9DB21C3A}"/>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2E645F61-D04A-310A-7FEA-F35196DECA07}"/>
              </a:ext>
            </a:extLst>
          </p:cNvPr>
          <p:cNvPicPr>
            <a:picLocks noChangeAspect="1"/>
          </p:cNvPicPr>
          <p:nvPr/>
        </p:nvPicPr>
        <p:blipFill>
          <a:blip r:embed="rId5"/>
          <a:stretch>
            <a:fillRect/>
          </a:stretch>
        </p:blipFill>
        <p:spPr>
          <a:xfrm>
            <a:off x="23204799" y="12494218"/>
            <a:ext cx="607560" cy="903930"/>
          </a:xfrm>
          <a:prstGeom prst="rect">
            <a:avLst/>
          </a:prstGeom>
        </p:spPr>
      </p:pic>
      <p:pic>
        <p:nvPicPr>
          <p:cNvPr id="8" name="Imagen 7">
            <a:extLst>
              <a:ext uri="{FF2B5EF4-FFF2-40B4-BE49-F238E27FC236}">
                <a16:creationId xmlns:a16="http://schemas.microsoft.com/office/drawing/2014/main" id="{BAB0619E-BFC0-CFF5-67EA-60452B6FA7F8}"/>
              </a:ext>
            </a:extLst>
          </p:cNvPr>
          <p:cNvPicPr>
            <a:picLocks noChangeAspect="1"/>
          </p:cNvPicPr>
          <p:nvPr/>
        </p:nvPicPr>
        <p:blipFill>
          <a:blip r:embed="rId6"/>
          <a:stretch>
            <a:fillRect/>
          </a:stretch>
        </p:blipFill>
        <p:spPr>
          <a:xfrm>
            <a:off x="12863155" y="4121963"/>
            <a:ext cx="10461100" cy="7733052"/>
          </a:xfrm>
          <a:prstGeom prst="rect">
            <a:avLst/>
          </a:prstGeom>
        </p:spPr>
      </p:pic>
    </p:spTree>
    <p:extLst>
      <p:ext uri="{BB962C8B-B14F-4D97-AF65-F5344CB8AC3E}">
        <p14:creationId xmlns:p14="http://schemas.microsoft.com/office/powerpoint/2010/main" val="24580595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9" name="Google Shape;89;p16"/>
          <p:cNvSpPr txBox="1"/>
          <p:nvPr/>
        </p:nvSpPr>
        <p:spPr>
          <a:xfrm>
            <a:off x="1057234" y="5350524"/>
            <a:ext cx="22272705" cy="3061600"/>
          </a:xfrm>
          <a:prstGeom prst="rect">
            <a:avLst/>
          </a:prstGeom>
          <a:noFill/>
          <a:ln>
            <a:noFill/>
          </a:ln>
        </p:spPr>
        <p:txBody>
          <a:bodyPr spcFirstLastPara="1" wrap="square" lIns="243800" tIns="243800" rIns="243800" bIns="243800" anchor="t" anchorCtr="0">
            <a:noAutofit/>
          </a:bodyPr>
          <a:lstStyle/>
          <a:p>
            <a:pPr algn="just">
              <a:lnSpc>
                <a:spcPct val="150000"/>
              </a:lnSpc>
            </a:pPr>
            <a:r>
              <a:rPr lang="es" sz="3600" dirty="0">
                <a:solidFill>
                  <a:schemeClr val="dk2"/>
                </a:solidFill>
                <a:latin typeface="Poppins"/>
                <a:cs typeface="Poppins"/>
                <a:sym typeface="Roboto"/>
              </a:rPr>
              <a:t>“</a:t>
            </a:r>
            <a:r>
              <a:rPr lang="es-ES" sz="3600" dirty="0">
                <a:solidFill>
                  <a:srgbClr val="374151"/>
                </a:solidFill>
                <a:latin typeface="Söhne"/>
                <a:cs typeface="Poppins"/>
                <a:sym typeface="Roboto"/>
              </a:rPr>
              <a:t>S</a:t>
            </a:r>
            <a:r>
              <a:rPr lang="es-ES" sz="3600" b="0" i="0" dirty="0">
                <a:solidFill>
                  <a:srgbClr val="374151"/>
                </a:solidFill>
                <a:effectLst/>
                <a:latin typeface="Söhne"/>
              </a:rPr>
              <a:t>e refiere a la capacidad de procesar y analizar grandes volúmenes de datos de manera rápida y eficiente.</a:t>
            </a:r>
            <a:r>
              <a:rPr lang="es" sz="3600" dirty="0">
                <a:solidFill>
                  <a:schemeClr val="dk2"/>
                </a:solidFill>
                <a:latin typeface="Poppins"/>
                <a:cs typeface="Poppins"/>
                <a:sym typeface="Roboto"/>
              </a:rPr>
              <a:t>”. </a:t>
            </a:r>
            <a:endParaRPr sz="3600" dirty="0">
              <a:solidFill>
                <a:schemeClr val="dk2"/>
              </a:solidFill>
              <a:latin typeface="Poppins"/>
              <a:cs typeface="Poppins"/>
              <a:sym typeface="Roboto"/>
            </a:endParaRPr>
          </a:p>
        </p:txBody>
      </p:sp>
      <p:sp>
        <p:nvSpPr>
          <p:cNvPr id="90" name="Google Shape;90;p16"/>
          <p:cNvSpPr txBox="1"/>
          <p:nvPr/>
        </p:nvSpPr>
        <p:spPr>
          <a:xfrm>
            <a:off x="1260434" y="3757189"/>
            <a:ext cx="6286400" cy="1673600"/>
          </a:xfrm>
          <a:prstGeom prst="rect">
            <a:avLst/>
          </a:prstGeom>
          <a:noFill/>
          <a:ln>
            <a:noFill/>
          </a:ln>
        </p:spPr>
        <p:txBody>
          <a:bodyPr spcFirstLastPara="1" wrap="square" lIns="243800" tIns="243800" rIns="243800" bIns="243800" anchor="t" anchorCtr="0">
            <a:noAutofit/>
          </a:bodyPr>
          <a:lstStyle/>
          <a:p>
            <a:r>
              <a:rPr lang="es" sz="3600" u="sng" dirty="0">
                <a:solidFill>
                  <a:schemeClr val="dk2"/>
                </a:solidFill>
                <a:latin typeface="Poppins"/>
                <a:cs typeface="Poppins"/>
                <a:sym typeface="Roboto"/>
              </a:rPr>
              <a:t>Velocidad:</a:t>
            </a:r>
            <a:endParaRPr sz="3600" u="sng" dirty="0">
              <a:solidFill>
                <a:schemeClr val="dk2"/>
              </a:solidFill>
              <a:latin typeface="Poppins"/>
              <a:cs typeface="Poppins"/>
              <a:sym typeface="Roboto"/>
            </a:endParaRPr>
          </a:p>
        </p:txBody>
      </p:sp>
      <p:sp>
        <p:nvSpPr>
          <p:cNvPr id="5" name="Google Shape;80;p12">
            <a:extLst>
              <a:ext uri="{FF2B5EF4-FFF2-40B4-BE49-F238E27FC236}">
                <a16:creationId xmlns:a16="http://schemas.microsoft.com/office/drawing/2014/main" id="{5011CF44-3803-47E8-BA87-14CEBB3C013E}"/>
              </a:ext>
            </a:extLst>
          </p:cNvPr>
          <p:cNvSpPr txBox="1"/>
          <p:nvPr/>
        </p:nvSpPr>
        <p:spPr>
          <a:xfrm>
            <a:off x="1260434" y="2290537"/>
            <a:ext cx="22272705"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dirty="0">
                <a:sym typeface="Montserrat"/>
              </a:rPr>
              <a:t>Las 3 V del Big Data</a:t>
            </a:r>
            <a:endParaRPr dirty="0"/>
          </a:p>
        </p:txBody>
      </p:sp>
      <p:pic>
        <p:nvPicPr>
          <p:cNvPr id="2" name="Imagen 1">
            <a:extLst>
              <a:ext uri="{FF2B5EF4-FFF2-40B4-BE49-F238E27FC236}">
                <a16:creationId xmlns:a16="http://schemas.microsoft.com/office/drawing/2014/main" id="{67B3AE73-E7A2-61B3-8A26-53FCE44CACEB}"/>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951BDFDB-8F55-1163-F4A8-00D2EBC0F750}"/>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36268F87-4178-D470-D3D0-8B1653871FED}"/>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FE630F3A-CC6F-D0B0-EF75-3FB342ACC86C}"/>
              </a:ext>
            </a:extLst>
          </p:cNvPr>
          <p:cNvPicPr>
            <a:picLocks noChangeAspect="1"/>
          </p:cNvPicPr>
          <p:nvPr/>
        </p:nvPicPr>
        <p:blipFill>
          <a:blip r:embed="rId5"/>
          <a:stretch>
            <a:fillRect/>
          </a:stretch>
        </p:blipFill>
        <p:spPr>
          <a:xfrm>
            <a:off x="23204799" y="12494218"/>
            <a:ext cx="607560" cy="903930"/>
          </a:xfrm>
          <a:prstGeom prst="rect">
            <a:avLst/>
          </a:prstGeom>
        </p:spPr>
      </p:pic>
      <p:pic>
        <p:nvPicPr>
          <p:cNvPr id="7170" name="Picture 2">
            <a:extLst>
              <a:ext uri="{FF2B5EF4-FFF2-40B4-BE49-F238E27FC236}">
                <a16:creationId xmlns:a16="http://schemas.microsoft.com/office/drawing/2014/main" id="{E96A78B6-1D42-48F1-BF4F-6D2DAC0D71D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364962" y="8913268"/>
            <a:ext cx="8065830" cy="4032915"/>
          </a:xfrm>
          <a:prstGeom prst="rect">
            <a:avLst/>
          </a:prstGeom>
          <a:noFill/>
          <a:extLst>
            <a:ext uri="{909E8E84-426E-40DD-AFC4-6F175D3DCCD1}">
              <a14:hiddenFill xmlns:a14="http://schemas.microsoft.com/office/drawing/2010/main">
                <a:solidFill>
                  <a:srgbClr val="FFFFFF"/>
                </a:solidFill>
              </a14:hiddenFill>
            </a:ext>
          </a:extLst>
        </p:spPr>
      </p:pic>
      <p:sp>
        <p:nvSpPr>
          <p:cNvPr id="8" name="CuadroTexto 7">
            <a:extLst>
              <a:ext uri="{FF2B5EF4-FFF2-40B4-BE49-F238E27FC236}">
                <a16:creationId xmlns:a16="http://schemas.microsoft.com/office/drawing/2014/main" id="{847BB7B4-63D8-041E-5E9D-F1795065F58C}"/>
              </a:ext>
            </a:extLst>
          </p:cNvPr>
          <p:cNvSpPr txBox="1"/>
          <p:nvPr/>
        </p:nvSpPr>
        <p:spPr>
          <a:xfrm>
            <a:off x="1956383" y="8621401"/>
            <a:ext cx="12195110" cy="2308324"/>
          </a:xfrm>
          <a:prstGeom prst="rect">
            <a:avLst/>
          </a:prstGeom>
          <a:noFill/>
        </p:spPr>
        <p:txBody>
          <a:bodyPr wrap="square">
            <a:spAutoFit/>
          </a:bodyPr>
          <a:lstStyle/>
          <a:p>
            <a:r>
              <a:rPr lang="es-ES" sz="3600" b="0" i="0" dirty="0">
                <a:solidFill>
                  <a:srgbClr val="374151"/>
                </a:solidFill>
                <a:effectLst/>
                <a:latin typeface="Söhne"/>
              </a:rPr>
              <a:t>Velocidad de </a:t>
            </a:r>
            <a:r>
              <a:rPr lang="es-ES" sz="3600" dirty="0">
                <a:solidFill>
                  <a:srgbClr val="374151"/>
                </a:solidFill>
                <a:latin typeface="Söhne"/>
              </a:rPr>
              <a:t>adquisición</a:t>
            </a:r>
            <a:r>
              <a:rPr lang="es-ES" sz="3600" b="0" i="0" dirty="0">
                <a:solidFill>
                  <a:srgbClr val="374151"/>
                </a:solidFill>
                <a:effectLst/>
                <a:latin typeface="Söhne"/>
              </a:rPr>
              <a:t> de datos</a:t>
            </a:r>
            <a:endParaRPr lang="es-ES" sz="3600" dirty="0">
              <a:solidFill>
                <a:srgbClr val="374151"/>
              </a:solidFill>
              <a:latin typeface="Söhne"/>
            </a:endParaRPr>
          </a:p>
          <a:p>
            <a:endParaRPr lang="es-ES" sz="3600" dirty="0">
              <a:solidFill>
                <a:srgbClr val="374151"/>
              </a:solidFill>
              <a:latin typeface="Söhne"/>
            </a:endParaRPr>
          </a:p>
          <a:p>
            <a:endParaRPr lang="es-ES" sz="3600" dirty="0">
              <a:solidFill>
                <a:srgbClr val="374151"/>
              </a:solidFill>
              <a:latin typeface="Söhne"/>
            </a:endParaRPr>
          </a:p>
          <a:p>
            <a:r>
              <a:rPr lang="es-ES" sz="3600" b="0" i="0" dirty="0">
                <a:solidFill>
                  <a:srgbClr val="374151"/>
                </a:solidFill>
                <a:effectLst/>
                <a:latin typeface="Söhne"/>
              </a:rPr>
              <a:t>Velocidad de procesamiento y análisis</a:t>
            </a:r>
            <a:endParaRPr lang="es-MX" sz="3600" dirty="0"/>
          </a:p>
        </p:txBody>
      </p:sp>
    </p:spTree>
    <p:extLst>
      <p:ext uri="{BB962C8B-B14F-4D97-AF65-F5344CB8AC3E}">
        <p14:creationId xmlns:p14="http://schemas.microsoft.com/office/powerpoint/2010/main" val="41575653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7" name="6 CuadroTexto"/>
          <p:cNvSpPr txBox="1"/>
          <p:nvPr/>
        </p:nvSpPr>
        <p:spPr>
          <a:xfrm>
            <a:off x="2865477" y="4107961"/>
            <a:ext cx="13108532" cy="2421112"/>
          </a:xfrm>
          <a:prstGeom prst="rect">
            <a:avLst/>
          </a:prstGeom>
          <a:noFill/>
        </p:spPr>
        <p:txBody>
          <a:bodyPr wrap="square" lIns="182880" tIns="91440" rIns="182880" bIns="91440" rtlCol="0">
            <a:spAutoFit/>
          </a:bodyPr>
          <a:lstStyle/>
          <a:p>
            <a:pPr>
              <a:lnSpc>
                <a:spcPct val="150000"/>
              </a:lnSpc>
            </a:pPr>
            <a:r>
              <a:rPr lang="es-ES" sz="3600" dirty="0">
                <a:solidFill>
                  <a:schemeClr val="dk2"/>
                </a:solidFill>
                <a:latin typeface="Poppins"/>
                <a:cs typeface="Poppins"/>
              </a:rPr>
              <a:t>Se agregan a las anteriores V´s, las siguientes características:</a:t>
            </a:r>
          </a:p>
          <a:p>
            <a:endParaRPr lang="es-ES" sz="3733" dirty="0"/>
          </a:p>
        </p:txBody>
      </p:sp>
      <p:sp>
        <p:nvSpPr>
          <p:cNvPr id="8" name="Google Shape;80;p12">
            <a:extLst>
              <a:ext uri="{FF2B5EF4-FFF2-40B4-BE49-F238E27FC236}">
                <a16:creationId xmlns:a16="http://schemas.microsoft.com/office/drawing/2014/main" id="{DB693DA0-AB27-48B7-A3C2-D4FF8FAC09DA}"/>
              </a:ext>
            </a:extLst>
          </p:cNvPr>
          <p:cNvSpPr txBox="1"/>
          <p:nvPr/>
        </p:nvSpPr>
        <p:spPr>
          <a:xfrm>
            <a:off x="1235874" y="2205551"/>
            <a:ext cx="22272705"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dirty="0">
                <a:sym typeface="Montserrat"/>
              </a:rPr>
              <a:t>Las 7 V del Big Data</a:t>
            </a:r>
            <a:endParaRPr dirty="0"/>
          </a:p>
        </p:txBody>
      </p:sp>
      <p:pic>
        <p:nvPicPr>
          <p:cNvPr id="2" name="Imagen 1">
            <a:extLst>
              <a:ext uri="{FF2B5EF4-FFF2-40B4-BE49-F238E27FC236}">
                <a16:creationId xmlns:a16="http://schemas.microsoft.com/office/drawing/2014/main" id="{26F977E9-8CD8-5993-00F7-372E726A249B}"/>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916DE16A-FBE9-1277-7A09-0038D21C6076}"/>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008C7808-CEAD-A396-D2DB-ED635DF62D70}"/>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5AF671FB-2AB2-B6B1-FF6C-1093BCE34F13}"/>
              </a:ext>
            </a:extLst>
          </p:cNvPr>
          <p:cNvPicPr>
            <a:picLocks noChangeAspect="1"/>
          </p:cNvPicPr>
          <p:nvPr/>
        </p:nvPicPr>
        <p:blipFill>
          <a:blip r:embed="rId5"/>
          <a:stretch>
            <a:fillRect/>
          </a:stretch>
        </p:blipFill>
        <p:spPr>
          <a:xfrm>
            <a:off x="23204799" y="12494218"/>
            <a:ext cx="607560" cy="903930"/>
          </a:xfrm>
          <a:prstGeom prst="rect">
            <a:avLst/>
          </a:prstGeom>
        </p:spPr>
      </p:pic>
      <p:pic>
        <p:nvPicPr>
          <p:cNvPr id="3074" name="Picture 2" descr="Big Data, Introducción a Conceptos y Terminología">
            <a:extLst>
              <a:ext uri="{FF2B5EF4-FFF2-40B4-BE49-F238E27FC236}">
                <a16:creationId xmlns:a16="http://schemas.microsoft.com/office/drawing/2014/main" id="{4B17A9EB-9DEB-2A0F-FC58-832BDAEE65F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4498" y="6529073"/>
            <a:ext cx="17495469" cy="5224076"/>
          </a:xfrm>
          <a:prstGeom prst="rect">
            <a:avLst/>
          </a:prstGeom>
          <a:noFill/>
          <a:extLst>
            <a:ext uri="{909E8E84-426E-40DD-AFC4-6F175D3DCCD1}">
              <a14:hiddenFill xmlns:a14="http://schemas.microsoft.com/office/drawing/2010/main">
                <a:solidFill>
                  <a:srgbClr val="FFFFFF"/>
                </a:solidFill>
              </a14:hiddenFill>
            </a:ext>
          </a:extLst>
        </p:spPr>
      </p:pic>
      <p:sp>
        <p:nvSpPr>
          <p:cNvPr id="10" name="CuadroTexto 9">
            <a:extLst>
              <a:ext uri="{FF2B5EF4-FFF2-40B4-BE49-F238E27FC236}">
                <a16:creationId xmlns:a16="http://schemas.microsoft.com/office/drawing/2014/main" id="{94D14491-5007-3325-371F-1EEC0D4E94DB}"/>
              </a:ext>
            </a:extLst>
          </p:cNvPr>
          <p:cNvSpPr txBox="1"/>
          <p:nvPr/>
        </p:nvSpPr>
        <p:spPr>
          <a:xfrm>
            <a:off x="19368364" y="7472192"/>
            <a:ext cx="4367794" cy="3337837"/>
          </a:xfrm>
          <a:prstGeom prst="rect">
            <a:avLst/>
          </a:prstGeom>
          <a:noFill/>
        </p:spPr>
        <p:txBody>
          <a:bodyPr wrap="square">
            <a:spAutoFit/>
          </a:bodyPr>
          <a:lstStyle/>
          <a:p>
            <a:pPr marL="571508" indent="-571508">
              <a:lnSpc>
                <a:spcPct val="150000"/>
              </a:lnSpc>
              <a:buFont typeface="Arial" panose="020B0604020202020204" pitchFamily="34" charset="0"/>
              <a:buChar char="•"/>
            </a:pPr>
            <a:r>
              <a:rPr lang="es-ES" sz="3600" dirty="0">
                <a:solidFill>
                  <a:schemeClr val="dk2"/>
                </a:solidFill>
                <a:latin typeface="Poppins"/>
                <a:cs typeface="Poppins"/>
              </a:rPr>
              <a:t>Veracidad.</a:t>
            </a:r>
          </a:p>
          <a:p>
            <a:pPr marL="571508" indent="-571508">
              <a:lnSpc>
                <a:spcPct val="150000"/>
              </a:lnSpc>
              <a:buFont typeface="Arial" panose="020B0604020202020204" pitchFamily="34" charset="0"/>
              <a:buChar char="•"/>
            </a:pPr>
            <a:r>
              <a:rPr lang="es-ES" sz="3600" dirty="0">
                <a:solidFill>
                  <a:schemeClr val="dk2"/>
                </a:solidFill>
                <a:latin typeface="Poppins"/>
                <a:cs typeface="Poppins"/>
              </a:rPr>
              <a:t>Viabilidad.</a:t>
            </a:r>
          </a:p>
          <a:p>
            <a:pPr marL="571508" indent="-571508">
              <a:lnSpc>
                <a:spcPct val="150000"/>
              </a:lnSpc>
              <a:buFont typeface="Arial" panose="020B0604020202020204" pitchFamily="34" charset="0"/>
              <a:buChar char="•"/>
            </a:pPr>
            <a:r>
              <a:rPr lang="es-ES" sz="3600" dirty="0">
                <a:solidFill>
                  <a:schemeClr val="dk2"/>
                </a:solidFill>
                <a:latin typeface="Poppins"/>
                <a:cs typeface="Poppins"/>
              </a:rPr>
              <a:t>Visualización.</a:t>
            </a:r>
          </a:p>
          <a:p>
            <a:pPr marL="571508" indent="-571508">
              <a:lnSpc>
                <a:spcPct val="150000"/>
              </a:lnSpc>
              <a:buFont typeface="Arial" panose="020B0604020202020204" pitchFamily="34" charset="0"/>
              <a:buChar char="•"/>
            </a:pPr>
            <a:r>
              <a:rPr lang="es-ES" sz="3600" dirty="0">
                <a:solidFill>
                  <a:schemeClr val="dk2"/>
                </a:solidFill>
                <a:latin typeface="Poppins"/>
                <a:cs typeface="Poppins"/>
              </a:rPr>
              <a:t>Valor.</a:t>
            </a:r>
          </a:p>
        </p:txBody>
      </p:sp>
    </p:spTree>
    <p:extLst>
      <p:ext uri="{BB962C8B-B14F-4D97-AF65-F5344CB8AC3E}">
        <p14:creationId xmlns:p14="http://schemas.microsoft.com/office/powerpoint/2010/main" val="14244251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54" name="Google Shape;54;p10"/>
          <p:cNvSpPr txBox="1"/>
          <p:nvPr/>
        </p:nvSpPr>
        <p:spPr>
          <a:xfrm>
            <a:off x="6153379" y="1602635"/>
            <a:ext cx="14714392" cy="120032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2"/>
              </a:buClr>
              <a:buSzPts val="1800"/>
              <a:buFont typeface="Montserrat"/>
              <a:buNone/>
            </a:pPr>
            <a:r>
              <a:rPr lang="en-US" sz="7200" b="1" i="1" dirty="0" err="1">
                <a:solidFill>
                  <a:schemeClr val="dk2"/>
                </a:solidFill>
                <a:latin typeface="Montserrat"/>
                <a:ea typeface="Montserrat"/>
                <a:cs typeface="Montserrat"/>
                <a:sym typeface="Montserrat"/>
              </a:rPr>
              <a:t>Fases</a:t>
            </a:r>
            <a:r>
              <a:rPr lang="en-US" sz="7200" b="1" i="1" dirty="0">
                <a:solidFill>
                  <a:schemeClr val="dk2"/>
                </a:solidFill>
                <a:latin typeface="Montserrat"/>
                <a:ea typeface="Montserrat"/>
                <a:cs typeface="Montserrat"/>
                <a:sym typeface="Montserrat"/>
              </a:rPr>
              <a:t> de un Proyecto de Big Data</a:t>
            </a:r>
            <a:endParaRPr b="1" i="1" dirty="0"/>
          </a:p>
        </p:txBody>
      </p:sp>
      <p:sp>
        <p:nvSpPr>
          <p:cNvPr id="6" name="Google Shape;72;p14">
            <a:extLst>
              <a:ext uri="{FF2B5EF4-FFF2-40B4-BE49-F238E27FC236}">
                <a16:creationId xmlns:a16="http://schemas.microsoft.com/office/drawing/2014/main" id="{83F7F8AE-31ED-43A5-8946-39501E48183D}"/>
              </a:ext>
            </a:extLst>
          </p:cNvPr>
          <p:cNvSpPr txBox="1">
            <a:spLocks/>
          </p:cNvSpPr>
          <p:nvPr/>
        </p:nvSpPr>
        <p:spPr>
          <a:xfrm>
            <a:off x="6269267" y="10433863"/>
            <a:ext cx="14714391" cy="3848000"/>
          </a:xfrm>
          <a:prstGeom prst="rect">
            <a:avLst/>
          </a:prstGeom>
        </p:spPr>
        <p:txBody>
          <a:bodyPr spcFirstLastPara="1" wrap="square" lIns="243800" tIns="243800" rIns="243800" bIns="2438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lnSpc>
                <a:spcPct val="150000"/>
              </a:lnSpc>
              <a:buClr>
                <a:schemeClr val="bg2"/>
              </a:buClr>
            </a:pPr>
            <a:r>
              <a:rPr lang="es-MX" sz="3733" i="1" dirty="0"/>
              <a:t>“</a:t>
            </a:r>
            <a:r>
              <a:rPr lang="es-MX" sz="3600" dirty="0">
                <a:solidFill>
                  <a:schemeClr val="dk2"/>
                </a:solidFill>
                <a:latin typeface="Poppins"/>
                <a:cs typeface="Poppins"/>
              </a:rPr>
              <a:t>La implementación de una solución de Big Data, consiste en la ejecución del ciclo de vida estándar asociado a todo proyecto de Big Data”.</a:t>
            </a:r>
          </a:p>
          <a:p>
            <a:pPr marL="171450" indent="-171450" algn="just">
              <a:lnSpc>
                <a:spcPct val="150000"/>
              </a:lnSpc>
              <a:buClr>
                <a:schemeClr val="bg2"/>
              </a:buClr>
              <a:buFont typeface="Arial" panose="020B0604020202020204" pitchFamily="34" charset="0"/>
              <a:buChar char="•"/>
            </a:pPr>
            <a:endParaRPr lang="es-MX" sz="3600" b="1" dirty="0">
              <a:solidFill>
                <a:schemeClr val="dk2"/>
              </a:solidFill>
              <a:latin typeface="Poppins"/>
              <a:cs typeface="Poppins"/>
            </a:endParaRPr>
          </a:p>
          <a:p>
            <a:pPr>
              <a:spcBef>
                <a:spcPts val="4267"/>
              </a:spcBef>
              <a:spcAft>
                <a:spcPts val="4267"/>
              </a:spcAft>
            </a:pPr>
            <a:endParaRPr lang="es-MX" dirty="0"/>
          </a:p>
        </p:txBody>
      </p:sp>
      <p:pic>
        <p:nvPicPr>
          <p:cNvPr id="7" name="Google Shape;74;p14">
            <a:extLst>
              <a:ext uri="{FF2B5EF4-FFF2-40B4-BE49-F238E27FC236}">
                <a16:creationId xmlns:a16="http://schemas.microsoft.com/office/drawing/2014/main" id="{931A3401-5A1A-4131-8275-EFBA336600E2}"/>
              </a:ext>
            </a:extLst>
          </p:cNvPr>
          <p:cNvPicPr preferRelativeResize="0"/>
          <p:nvPr/>
        </p:nvPicPr>
        <p:blipFill>
          <a:blip r:embed="rId3">
            <a:alphaModFix/>
          </a:blip>
          <a:stretch>
            <a:fillRect/>
          </a:stretch>
        </p:blipFill>
        <p:spPr>
          <a:xfrm>
            <a:off x="10370189" y="3565068"/>
            <a:ext cx="6512545" cy="6585863"/>
          </a:xfrm>
          <a:prstGeom prst="rect">
            <a:avLst/>
          </a:prstGeom>
          <a:noFill/>
          <a:ln>
            <a:noFill/>
          </a:ln>
        </p:spPr>
      </p:pic>
      <p:pic>
        <p:nvPicPr>
          <p:cNvPr id="2" name="Imagen 1">
            <a:extLst>
              <a:ext uri="{FF2B5EF4-FFF2-40B4-BE49-F238E27FC236}">
                <a16:creationId xmlns:a16="http://schemas.microsoft.com/office/drawing/2014/main" id="{F4A9FEA5-0D74-8544-8616-A18DD99579EC}"/>
              </a:ext>
            </a:extLst>
          </p:cNvPr>
          <p:cNvPicPr>
            <a:picLocks noChangeAspect="1"/>
          </p:cNvPicPr>
          <p:nvPr/>
        </p:nvPicPr>
        <p:blipFill>
          <a:blip r:embed="rId4"/>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024749E2-2CFD-AF25-9D74-15E3894FD87A}"/>
              </a:ext>
            </a:extLst>
          </p:cNvPr>
          <p:cNvPicPr>
            <a:picLocks noChangeAspect="1"/>
          </p:cNvPicPr>
          <p:nvPr/>
        </p:nvPicPr>
        <p:blipFill>
          <a:blip r:embed="rId5"/>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FC10C6B0-5F94-942F-8D2E-89FB5893E26D}"/>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1D26D985-B655-4F20-B129-3D6BD3E5E69F}"/>
              </a:ext>
            </a:extLst>
          </p:cNvPr>
          <p:cNvPicPr>
            <a:picLocks noChangeAspect="1"/>
          </p:cNvPicPr>
          <p:nvPr/>
        </p:nvPicPr>
        <p:blipFill>
          <a:blip r:embed="rId6"/>
          <a:stretch>
            <a:fillRect/>
          </a:stretch>
        </p:blipFill>
        <p:spPr>
          <a:xfrm>
            <a:off x="23204799" y="12494218"/>
            <a:ext cx="607560" cy="903930"/>
          </a:xfrm>
          <a:prstGeom prst="rect">
            <a:avLst/>
          </a:prstGeom>
        </p:spPr>
      </p:pic>
    </p:spTree>
    <p:extLst>
      <p:ext uri="{BB962C8B-B14F-4D97-AF65-F5344CB8AC3E}">
        <p14:creationId xmlns:p14="http://schemas.microsoft.com/office/powerpoint/2010/main" val="36007835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4" name="Google Shape;80;p12">
            <a:extLst>
              <a:ext uri="{FF2B5EF4-FFF2-40B4-BE49-F238E27FC236}">
                <a16:creationId xmlns:a16="http://schemas.microsoft.com/office/drawing/2014/main" id="{949AE882-3201-4C73-96A3-3B7820DAFF91}"/>
              </a:ext>
            </a:extLst>
          </p:cNvPr>
          <p:cNvSpPr txBox="1"/>
          <p:nvPr/>
        </p:nvSpPr>
        <p:spPr>
          <a:xfrm>
            <a:off x="677855" y="1830984"/>
            <a:ext cx="23005771"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dirty="0" err="1">
                <a:sym typeface="Montserrat"/>
              </a:rPr>
              <a:t>Fases</a:t>
            </a:r>
            <a:r>
              <a:rPr lang="en-US" dirty="0">
                <a:sym typeface="Montserrat"/>
              </a:rPr>
              <a:t> de un Proyecto de Big Data</a:t>
            </a:r>
            <a:endParaRPr dirty="0"/>
          </a:p>
        </p:txBody>
      </p:sp>
      <p:pic>
        <p:nvPicPr>
          <p:cNvPr id="2" name="Imagen 1">
            <a:extLst>
              <a:ext uri="{FF2B5EF4-FFF2-40B4-BE49-F238E27FC236}">
                <a16:creationId xmlns:a16="http://schemas.microsoft.com/office/drawing/2014/main" id="{88A95AE1-5573-0DA9-E462-9330D5E67FCE}"/>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B8272304-69C5-6344-5CD4-14ADF8BB84EF}"/>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5" name="Rectángulo 4">
            <a:extLst>
              <a:ext uri="{FF2B5EF4-FFF2-40B4-BE49-F238E27FC236}">
                <a16:creationId xmlns:a16="http://schemas.microsoft.com/office/drawing/2014/main" id="{C002B0EA-0D67-BE3F-D5F3-DE1597177E54}"/>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76F833C5-FF07-8A83-6CB2-AD476199B08B}"/>
              </a:ext>
            </a:extLst>
          </p:cNvPr>
          <p:cNvPicPr>
            <a:picLocks noChangeAspect="1"/>
          </p:cNvPicPr>
          <p:nvPr/>
        </p:nvPicPr>
        <p:blipFill>
          <a:blip r:embed="rId5"/>
          <a:stretch>
            <a:fillRect/>
          </a:stretch>
        </p:blipFill>
        <p:spPr>
          <a:xfrm>
            <a:off x="23204799" y="12494218"/>
            <a:ext cx="607560" cy="903930"/>
          </a:xfrm>
          <a:prstGeom prst="rect">
            <a:avLst/>
          </a:prstGeom>
        </p:spPr>
      </p:pic>
      <p:pic>
        <p:nvPicPr>
          <p:cNvPr id="8194" name="Picture 2" descr="Observatorio BI &amp; Analytics: Fase de Análisis de Big Data">
            <a:extLst>
              <a:ext uri="{FF2B5EF4-FFF2-40B4-BE49-F238E27FC236}">
                <a16:creationId xmlns:a16="http://schemas.microsoft.com/office/drawing/2014/main" id="{40A921C2-0600-E967-4B59-C01E7593123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39452" y="3593837"/>
            <a:ext cx="18146689" cy="89881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99809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4" name="Google Shape;80;p12">
            <a:extLst>
              <a:ext uri="{FF2B5EF4-FFF2-40B4-BE49-F238E27FC236}">
                <a16:creationId xmlns:a16="http://schemas.microsoft.com/office/drawing/2014/main" id="{949AE882-3201-4C73-96A3-3B7820DAFF91}"/>
              </a:ext>
            </a:extLst>
          </p:cNvPr>
          <p:cNvSpPr txBox="1"/>
          <p:nvPr/>
        </p:nvSpPr>
        <p:spPr>
          <a:xfrm>
            <a:off x="677855" y="1830984"/>
            <a:ext cx="23005771"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dirty="0" err="1">
                <a:sym typeface="Montserrat"/>
              </a:rPr>
              <a:t>Modelos</a:t>
            </a:r>
            <a:r>
              <a:rPr lang="en-US" dirty="0">
                <a:sym typeface="Montserrat"/>
              </a:rPr>
              <a:t> de </a:t>
            </a:r>
            <a:r>
              <a:rPr lang="en-US" dirty="0" err="1">
                <a:sym typeface="Montserrat"/>
              </a:rPr>
              <a:t>Generación</a:t>
            </a:r>
            <a:r>
              <a:rPr lang="en-US" dirty="0">
                <a:sym typeface="Montserrat"/>
              </a:rPr>
              <a:t> de Big Data</a:t>
            </a:r>
            <a:endParaRPr dirty="0"/>
          </a:p>
        </p:txBody>
      </p:sp>
      <p:pic>
        <p:nvPicPr>
          <p:cNvPr id="2" name="Imagen 1">
            <a:extLst>
              <a:ext uri="{FF2B5EF4-FFF2-40B4-BE49-F238E27FC236}">
                <a16:creationId xmlns:a16="http://schemas.microsoft.com/office/drawing/2014/main" id="{88A95AE1-5573-0DA9-E462-9330D5E67FCE}"/>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B8272304-69C5-6344-5CD4-14ADF8BB84EF}"/>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5" name="Rectángulo 4">
            <a:extLst>
              <a:ext uri="{FF2B5EF4-FFF2-40B4-BE49-F238E27FC236}">
                <a16:creationId xmlns:a16="http://schemas.microsoft.com/office/drawing/2014/main" id="{C002B0EA-0D67-BE3F-D5F3-DE1597177E54}"/>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76F833C5-FF07-8A83-6CB2-AD476199B08B}"/>
              </a:ext>
            </a:extLst>
          </p:cNvPr>
          <p:cNvPicPr>
            <a:picLocks noChangeAspect="1"/>
          </p:cNvPicPr>
          <p:nvPr/>
        </p:nvPicPr>
        <p:blipFill>
          <a:blip r:embed="rId5"/>
          <a:stretch>
            <a:fillRect/>
          </a:stretch>
        </p:blipFill>
        <p:spPr>
          <a:xfrm>
            <a:off x="23204799" y="12494218"/>
            <a:ext cx="607560" cy="903930"/>
          </a:xfrm>
          <a:prstGeom prst="rect">
            <a:avLst/>
          </a:prstGeom>
        </p:spPr>
      </p:pic>
      <p:pic>
        <p:nvPicPr>
          <p:cNvPr id="8" name="Imagen 7">
            <a:extLst>
              <a:ext uri="{FF2B5EF4-FFF2-40B4-BE49-F238E27FC236}">
                <a16:creationId xmlns:a16="http://schemas.microsoft.com/office/drawing/2014/main" id="{7F0811E3-F675-44AC-E383-91E90ED45B6D}"/>
              </a:ext>
            </a:extLst>
          </p:cNvPr>
          <p:cNvPicPr>
            <a:picLocks noChangeAspect="1"/>
          </p:cNvPicPr>
          <p:nvPr/>
        </p:nvPicPr>
        <p:blipFill>
          <a:blip r:embed="rId6"/>
          <a:stretch>
            <a:fillRect/>
          </a:stretch>
        </p:blipFill>
        <p:spPr>
          <a:xfrm>
            <a:off x="4341666" y="4561094"/>
            <a:ext cx="15108138" cy="7542676"/>
          </a:xfrm>
          <a:prstGeom prst="rect">
            <a:avLst/>
          </a:prstGeom>
        </p:spPr>
      </p:pic>
      <p:sp>
        <p:nvSpPr>
          <p:cNvPr id="10" name="CuadroTexto 9">
            <a:extLst>
              <a:ext uri="{FF2B5EF4-FFF2-40B4-BE49-F238E27FC236}">
                <a16:creationId xmlns:a16="http://schemas.microsoft.com/office/drawing/2014/main" id="{D6DD58DF-75A7-FFDA-7727-711507EFC37B}"/>
              </a:ext>
            </a:extLst>
          </p:cNvPr>
          <p:cNvSpPr txBox="1"/>
          <p:nvPr/>
        </p:nvSpPr>
        <p:spPr>
          <a:xfrm>
            <a:off x="3639289" y="3606628"/>
            <a:ext cx="4325616" cy="646331"/>
          </a:xfrm>
          <a:prstGeom prst="rect">
            <a:avLst/>
          </a:prstGeom>
          <a:noFill/>
        </p:spPr>
        <p:txBody>
          <a:bodyPr wrap="square">
            <a:spAutoFit/>
          </a:bodyPr>
          <a:lstStyle/>
          <a:p>
            <a:r>
              <a:rPr lang="es-ES" sz="3600" b="0" i="0" dirty="0">
                <a:solidFill>
                  <a:srgbClr val="374151"/>
                </a:solidFill>
                <a:effectLst/>
                <a:latin typeface="Söhne"/>
              </a:rPr>
              <a:t>Modelos Sintéticos</a:t>
            </a:r>
            <a:endParaRPr lang="es-MX" sz="3600" dirty="0"/>
          </a:p>
        </p:txBody>
      </p:sp>
    </p:spTree>
    <p:extLst>
      <p:ext uri="{BB962C8B-B14F-4D97-AF65-F5344CB8AC3E}">
        <p14:creationId xmlns:p14="http://schemas.microsoft.com/office/powerpoint/2010/main" val="15542561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4" name="Google Shape;80;p12">
            <a:extLst>
              <a:ext uri="{FF2B5EF4-FFF2-40B4-BE49-F238E27FC236}">
                <a16:creationId xmlns:a16="http://schemas.microsoft.com/office/drawing/2014/main" id="{949AE882-3201-4C73-96A3-3B7820DAFF91}"/>
              </a:ext>
            </a:extLst>
          </p:cNvPr>
          <p:cNvSpPr txBox="1"/>
          <p:nvPr/>
        </p:nvSpPr>
        <p:spPr>
          <a:xfrm>
            <a:off x="677855" y="1830984"/>
            <a:ext cx="23005771"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dirty="0" err="1">
                <a:sym typeface="Montserrat"/>
              </a:rPr>
              <a:t>Modelos</a:t>
            </a:r>
            <a:r>
              <a:rPr lang="en-US" dirty="0">
                <a:sym typeface="Montserrat"/>
              </a:rPr>
              <a:t> de </a:t>
            </a:r>
            <a:r>
              <a:rPr lang="en-US" dirty="0" err="1">
                <a:sym typeface="Montserrat"/>
              </a:rPr>
              <a:t>Generación</a:t>
            </a:r>
            <a:r>
              <a:rPr lang="en-US" dirty="0">
                <a:sym typeface="Montserrat"/>
              </a:rPr>
              <a:t> de Big Data</a:t>
            </a:r>
            <a:endParaRPr dirty="0"/>
          </a:p>
        </p:txBody>
      </p:sp>
      <p:pic>
        <p:nvPicPr>
          <p:cNvPr id="2" name="Imagen 1">
            <a:extLst>
              <a:ext uri="{FF2B5EF4-FFF2-40B4-BE49-F238E27FC236}">
                <a16:creationId xmlns:a16="http://schemas.microsoft.com/office/drawing/2014/main" id="{88A95AE1-5573-0DA9-E462-9330D5E67FCE}"/>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B8272304-69C5-6344-5CD4-14ADF8BB84EF}"/>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5" name="Rectángulo 4">
            <a:extLst>
              <a:ext uri="{FF2B5EF4-FFF2-40B4-BE49-F238E27FC236}">
                <a16:creationId xmlns:a16="http://schemas.microsoft.com/office/drawing/2014/main" id="{C002B0EA-0D67-BE3F-D5F3-DE1597177E54}"/>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76F833C5-FF07-8A83-6CB2-AD476199B08B}"/>
              </a:ext>
            </a:extLst>
          </p:cNvPr>
          <p:cNvPicPr>
            <a:picLocks noChangeAspect="1"/>
          </p:cNvPicPr>
          <p:nvPr/>
        </p:nvPicPr>
        <p:blipFill>
          <a:blip r:embed="rId5"/>
          <a:stretch>
            <a:fillRect/>
          </a:stretch>
        </p:blipFill>
        <p:spPr>
          <a:xfrm>
            <a:off x="23204799" y="12494218"/>
            <a:ext cx="607560" cy="903930"/>
          </a:xfrm>
          <a:prstGeom prst="rect">
            <a:avLst/>
          </a:prstGeom>
        </p:spPr>
      </p:pic>
      <p:sp>
        <p:nvSpPr>
          <p:cNvPr id="10" name="CuadroTexto 9">
            <a:extLst>
              <a:ext uri="{FF2B5EF4-FFF2-40B4-BE49-F238E27FC236}">
                <a16:creationId xmlns:a16="http://schemas.microsoft.com/office/drawing/2014/main" id="{D6DD58DF-75A7-FFDA-7727-711507EFC37B}"/>
              </a:ext>
            </a:extLst>
          </p:cNvPr>
          <p:cNvSpPr txBox="1"/>
          <p:nvPr/>
        </p:nvSpPr>
        <p:spPr>
          <a:xfrm>
            <a:off x="3639289" y="3606628"/>
            <a:ext cx="4325616" cy="707886"/>
          </a:xfrm>
          <a:prstGeom prst="rect">
            <a:avLst/>
          </a:prstGeom>
          <a:noFill/>
        </p:spPr>
        <p:txBody>
          <a:bodyPr wrap="square">
            <a:spAutoFit/>
          </a:bodyPr>
          <a:lstStyle/>
          <a:p>
            <a:r>
              <a:rPr lang="es-ES" sz="4000" b="1" i="0" dirty="0">
                <a:solidFill>
                  <a:srgbClr val="374151"/>
                </a:solidFill>
                <a:effectLst/>
                <a:latin typeface="Söhne"/>
              </a:rPr>
              <a:t>Modelos Sintéticos</a:t>
            </a:r>
            <a:endParaRPr lang="es-MX" sz="4000" b="1" dirty="0"/>
          </a:p>
        </p:txBody>
      </p:sp>
      <p:sp>
        <p:nvSpPr>
          <p:cNvPr id="9" name="CuadroTexto 8">
            <a:extLst>
              <a:ext uri="{FF2B5EF4-FFF2-40B4-BE49-F238E27FC236}">
                <a16:creationId xmlns:a16="http://schemas.microsoft.com/office/drawing/2014/main" id="{241358EE-8C13-66A5-8F77-C2D0167F2C49}"/>
              </a:ext>
            </a:extLst>
          </p:cNvPr>
          <p:cNvSpPr txBox="1"/>
          <p:nvPr/>
        </p:nvSpPr>
        <p:spPr>
          <a:xfrm>
            <a:off x="3095995" y="5246417"/>
            <a:ext cx="12098016" cy="3416320"/>
          </a:xfrm>
          <a:prstGeom prst="rect">
            <a:avLst/>
          </a:prstGeom>
          <a:noFill/>
        </p:spPr>
        <p:txBody>
          <a:bodyPr wrap="square">
            <a:spAutoFit/>
          </a:bodyPr>
          <a:lstStyle/>
          <a:p>
            <a:pPr algn="l"/>
            <a:r>
              <a:rPr lang="es-ES" sz="3600" b="1" i="0" dirty="0">
                <a:solidFill>
                  <a:srgbClr val="525252"/>
                </a:solidFill>
                <a:effectLst/>
                <a:latin typeface="NVIDIA-APAC"/>
              </a:rPr>
              <a:t>Datos Aumentados y Anonimizados Frente a Datos Sintéticos</a:t>
            </a:r>
          </a:p>
          <a:p>
            <a:pPr algn="l"/>
            <a:endParaRPr lang="es-ES" sz="3600" b="1" dirty="0">
              <a:solidFill>
                <a:srgbClr val="525252"/>
              </a:solidFill>
              <a:latin typeface="NVIDIA-APAC"/>
            </a:endParaRPr>
          </a:p>
          <a:p>
            <a:pPr algn="l"/>
            <a:r>
              <a:rPr lang="es-ES" sz="3600" b="1" i="0" dirty="0">
                <a:solidFill>
                  <a:srgbClr val="525252"/>
                </a:solidFill>
                <a:effectLst/>
                <a:latin typeface="NVIDIA-APAC"/>
              </a:rPr>
              <a:t>¿Por Qué Son Tan Importantes los Datos Sintéticos?</a:t>
            </a:r>
          </a:p>
          <a:p>
            <a:pPr algn="l"/>
            <a:endParaRPr lang="es-ES" sz="3600" b="1" dirty="0">
              <a:solidFill>
                <a:srgbClr val="525252"/>
              </a:solidFill>
              <a:latin typeface="NVIDIA-APAC"/>
            </a:endParaRPr>
          </a:p>
          <a:p>
            <a:r>
              <a:rPr lang="es-ES" sz="3600" b="1" i="0" dirty="0">
                <a:solidFill>
                  <a:srgbClr val="525252"/>
                </a:solidFill>
                <a:effectLst/>
                <a:latin typeface="NVIDIA-APAC"/>
              </a:rPr>
              <a:t>¿Cuál es el Historial de los Datos Sintéticos?</a:t>
            </a:r>
            <a:endParaRPr lang="es-ES" sz="3600" b="0" i="0" dirty="0">
              <a:solidFill>
                <a:srgbClr val="525252"/>
              </a:solidFill>
              <a:effectLst/>
              <a:latin typeface="NVIDIA-APAC"/>
            </a:endParaRPr>
          </a:p>
          <a:p>
            <a:pPr algn="l"/>
            <a:endParaRPr lang="es-ES" sz="3600" b="1" i="0" dirty="0">
              <a:solidFill>
                <a:srgbClr val="525252"/>
              </a:solidFill>
              <a:effectLst/>
              <a:latin typeface="NVIDIA-APAC"/>
            </a:endParaRPr>
          </a:p>
        </p:txBody>
      </p:sp>
      <p:pic>
        <p:nvPicPr>
          <p:cNvPr id="9218" name="Picture 2">
            <a:extLst>
              <a:ext uri="{FF2B5EF4-FFF2-40B4-BE49-F238E27FC236}">
                <a16:creationId xmlns:a16="http://schemas.microsoft.com/office/drawing/2014/main" id="{459D63FE-2549-5CAA-9515-B5697E2D25A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95995" y="9401487"/>
            <a:ext cx="6953250" cy="2733675"/>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a:extLst>
              <a:ext uri="{FF2B5EF4-FFF2-40B4-BE49-F238E27FC236}">
                <a16:creationId xmlns:a16="http://schemas.microsoft.com/office/drawing/2014/main" id="{BC9BDA7B-EBCD-8B0F-F7F7-616DFF9698B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451050" y="5242643"/>
            <a:ext cx="6953249" cy="68401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59111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4" name="Google Shape;80;p12">
            <a:extLst>
              <a:ext uri="{FF2B5EF4-FFF2-40B4-BE49-F238E27FC236}">
                <a16:creationId xmlns:a16="http://schemas.microsoft.com/office/drawing/2014/main" id="{949AE882-3201-4C73-96A3-3B7820DAFF91}"/>
              </a:ext>
            </a:extLst>
          </p:cNvPr>
          <p:cNvSpPr txBox="1"/>
          <p:nvPr/>
        </p:nvSpPr>
        <p:spPr>
          <a:xfrm>
            <a:off x="677855" y="1830984"/>
            <a:ext cx="23005771"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dirty="0" err="1">
                <a:sym typeface="Montserrat"/>
              </a:rPr>
              <a:t>Modelos</a:t>
            </a:r>
            <a:r>
              <a:rPr lang="en-US" dirty="0">
                <a:sym typeface="Montserrat"/>
              </a:rPr>
              <a:t> de </a:t>
            </a:r>
            <a:r>
              <a:rPr lang="en-US" dirty="0" err="1">
                <a:sym typeface="Montserrat"/>
              </a:rPr>
              <a:t>Generación</a:t>
            </a:r>
            <a:r>
              <a:rPr lang="en-US" dirty="0">
                <a:sym typeface="Montserrat"/>
              </a:rPr>
              <a:t> de Big Data</a:t>
            </a:r>
            <a:endParaRPr dirty="0"/>
          </a:p>
        </p:txBody>
      </p:sp>
      <p:pic>
        <p:nvPicPr>
          <p:cNvPr id="2" name="Imagen 1">
            <a:extLst>
              <a:ext uri="{FF2B5EF4-FFF2-40B4-BE49-F238E27FC236}">
                <a16:creationId xmlns:a16="http://schemas.microsoft.com/office/drawing/2014/main" id="{88A95AE1-5573-0DA9-E462-9330D5E67FCE}"/>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B8272304-69C5-6344-5CD4-14ADF8BB84EF}"/>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5" name="Rectángulo 4">
            <a:extLst>
              <a:ext uri="{FF2B5EF4-FFF2-40B4-BE49-F238E27FC236}">
                <a16:creationId xmlns:a16="http://schemas.microsoft.com/office/drawing/2014/main" id="{C002B0EA-0D67-BE3F-D5F3-DE1597177E54}"/>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76F833C5-FF07-8A83-6CB2-AD476199B08B}"/>
              </a:ext>
            </a:extLst>
          </p:cNvPr>
          <p:cNvPicPr>
            <a:picLocks noChangeAspect="1"/>
          </p:cNvPicPr>
          <p:nvPr/>
        </p:nvPicPr>
        <p:blipFill>
          <a:blip r:embed="rId5"/>
          <a:stretch>
            <a:fillRect/>
          </a:stretch>
        </p:blipFill>
        <p:spPr>
          <a:xfrm>
            <a:off x="23204799" y="12494218"/>
            <a:ext cx="607560" cy="903930"/>
          </a:xfrm>
          <a:prstGeom prst="rect">
            <a:avLst/>
          </a:prstGeom>
        </p:spPr>
      </p:pic>
      <p:sp>
        <p:nvSpPr>
          <p:cNvPr id="10" name="CuadroTexto 9">
            <a:extLst>
              <a:ext uri="{FF2B5EF4-FFF2-40B4-BE49-F238E27FC236}">
                <a16:creationId xmlns:a16="http://schemas.microsoft.com/office/drawing/2014/main" id="{D6DD58DF-75A7-FFDA-7727-711507EFC37B}"/>
              </a:ext>
            </a:extLst>
          </p:cNvPr>
          <p:cNvSpPr txBox="1"/>
          <p:nvPr/>
        </p:nvSpPr>
        <p:spPr>
          <a:xfrm>
            <a:off x="3639289" y="3606628"/>
            <a:ext cx="4325616" cy="707886"/>
          </a:xfrm>
          <a:prstGeom prst="rect">
            <a:avLst/>
          </a:prstGeom>
          <a:noFill/>
        </p:spPr>
        <p:txBody>
          <a:bodyPr wrap="square">
            <a:spAutoFit/>
          </a:bodyPr>
          <a:lstStyle/>
          <a:p>
            <a:r>
              <a:rPr lang="es-ES" sz="4000" b="1" i="0" dirty="0">
                <a:solidFill>
                  <a:srgbClr val="374151"/>
                </a:solidFill>
                <a:effectLst/>
                <a:latin typeface="Söhne"/>
              </a:rPr>
              <a:t>Modelos Sintéticos</a:t>
            </a:r>
            <a:endParaRPr lang="es-MX" sz="4000" b="1" dirty="0"/>
          </a:p>
        </p:txBody>
      </p:sp>
      <p:sp>
        <p:nvSpPr>
          <p:cNvPr id="12" name="CuadroTexto 11">
            <a:extLst>
              <a:ext uri="{FF2B5EF4-FFF2-40B4-BE49-F238E27FC236}">
                <a16:creationId xmlns:a16="http://schemas.microsoft.com/office/drawing/2014/main" id="{0EA2C5C8-E230-DF49-AC5F-C6B8FE83AE94}"/>
              </a:ext>
            </a:extLst>
          </p:cNvPr>
          <p:cNvSpPr txBox="1"/>
          <p:nvPr/>
        </p:nvSpPr>
        <p:spPr>
          <a:xfrm>
            <a:off x="2170332" y="5698707"/>
            <a:ext cx="20046510" cy="6186309"/>
          </a:xfrm>
          <a:prstGeom prst="rect">
            <a:avLst/>
          </a:prstGeom>
          <a:noFill/>
        </p:spPr>
        <p:txBody>
          <a:bodyPr wrap="square">
            <a:spAutoFit/>
          </a:bodyPr>
          <a:lstStyle/>
          <a:p>
            <a:pPr marL="457200" indent="-457200" algn="l">
              <a:buFont typeface="Arial" panose="020B0604020202020204" pitchFamily="34" charset="0"/>
              <a:buChar char="•"/>
            </a:pPr>
            <a:r>
              <a:rPr lang="es-ES" sz="3600" b="1" i="0" dirty="0">
                <a:solidFill>
                  <a:srgbClr val="374151"/>
                </a:solidFill>
                <a:effectLst/>
                <a:latin typeface="Söhne"/>
              </a:rPr>
              <a:t>Modelo de Distribución Normal</a:t>
            </a:r>
            <a:endParaRPr lang="es-ES" sz="3600" b="1" dirty="0">
              <a:solidFill>
                <a:srgbClr val="374151"/>
              </a:solidFill>
              <a:latin typeface="Söhne"/>
            </a:endParaRPr>
          </a:p>
          <a:p>
            <a:pPr marL="457200" indent="-457200" algn="l">
              <a:buFont typeface="Arial" panose="020B0604020202020204" pitchFamily="34" charset="0"/>
              <a:buChar char="•"/>
            </a:pPr>
            <a:endParaRPr lang="es-ES" sz="3600" b="1" i="0" dirty="0">
              <a:solidFill>
                <a:srgbClr val="374151"/>
              </a:solidFill>
              <a:effectLst/>
              <a:latin typeface="Söhne"/>
            </a:endParaRPr>
          </a:p>
          <a:p>
            <a:pPr marL="457200" indent="-457200" algn="l">
              <a:buFont typeface="Arial" panose="020B0604020202020204" pitchFamily="34" charset="0"/>
              <a:buChar char="•"/>
            </a:pPr>
            <a:r>
              <a:rPr lang="es-ES" sz="3600" b="1" i="0" dirty="0">
                <a:solidFill>
                  <a:srgbClr val="374151"/>
                </a:solidFill>
                <a:effectLst/>
                <a:latin typeface="Söhne"/>
              </a:rPr>
              <a:t>Modelo de Distribución Uniforme</a:t>
            </a:r>
          </a:p>
          <a:p>
            <a:pPr algn="l"/>
            <a:endParaRPr lang="es-ES" sz="3600" b="1" i="0" dirty="0">
              <a:solidFill>
                <a:srgbClr val="374151"/>
              </a:solidFill>
              <a:effectLst/>
              <a:latin typeface="Söhne"/>
            </a:endParaRPr>
          </a:p>
          <a:p>
            <a:pPr marL="457200" indent="-457200" algn="l">
              <a:buFont typeface="Arial" panose="020B0604020202020204" pitchFamily="34" charset="0"/>
              <a:buChar char="•"/>
            </a:pPr>
            <a:r>
              <a:rPr lang="es-ES" sz="3600" b="1" i="0" dirty="0">
                <a:solidFill>
                  <a:srgbClr val="374151"/>
                </a:solidFill>
                <a:effectLst/>
                <a:latin typeface="Söhne"/>
              </a:rPr>
              <a:t>Cadena de </a:t>
            </a:r>
            <a:r>
              <a:rPr lang="es-ES" sz="3600" b="1" i="0" dirty="0" err="1">
                <a:solidFill>
                  <a:srgbClr val="374151"/>
                </a:solidFill>
                <a:effectLst/>
                <a:latin typeface="Söhne"/>
              </a:rPr>
              <a:t>Markov</a:t>
            </a:r>
            <a:endParaRPr lang="es-ES" sz="3600" b="1" i="0" dirty="0">
              <a:solidFill>
                <a:srgbClr val="374151"/>
              </a:solidFill>
              <a:effectLst/>
              <a:latin typeface="Söhne"/>
            </a:endParaRPr>
          </a:p>
          <a:p>
            <a:pPr algn="l"/>
            <a:endParaRPr lang="es-ES" sz="3600" b="1" i="0" dirty="0">
              <a:solidFill>
                <a:srgbClr val="374151"/>
              </a:solidFill>
              <a:effectLst/>
              <a:latin typeface="Söhne"/>
            </a:endParaRPr>
          </a:p>
          <a:p>
            <a:pPr marL="457200" indent="-457200" algn="l">
              <a:buFont typeface="Arial" panose="020B0604020202020204" pitchFamily="34" charset="0"/>
              <a:buChar char="•"/>
            </a:pPr>
            <a:r>
              <a:rPr lang="es-ES" sz="3600" b="1" i="0" dirty="0">
                <a:solidFill>
                  <a:srgbClr val="374151"/>
                </a:solidFill>
                <a:effectLst/>
                <a:latin typeface="Söhne"/>
              </a:rPr>
              <a:t>Redes Sociales Sintéticas</a:t>
            </a:r>
            <a:endParaRPr lang="es-ES" sz="3600" b="1" dirty="0">
              <a:solidFill>
                <a:srgbClr val="374151"/>
              </a:solidFill>
              <a:latin typeface="Söhne"/>
            </a:endParaRPr>
          </a:p>
          <a:p>
            <a:pPr marL="457200" indent="-457200" algn="l">
              <a:buFont typeface="Arial" panose="020B0604020202020204" pitchFamily="34" charset="0"/>
              <a:buChar char="•"/>
            </a:pPr>
            <a:endParaRPr lang="es-ES" sz="3600" b="1" i="0" dirty="0">
              <a:solidFill>
                <a:srgbClr val="374151"/>
              </a:solidFill>
              <a:effectLst/>
              <a:latin typeface="Söhne"/>
            </a:endParaRPr>
          </a:p>
          <a:p>
            <a:pPr marL="457200" indent="-457200" algn="l">
              <a:buFont typeface="Arial" panose="020B0604020202020204" pitchFamily="34" charset="0"/>
              <a:buChar char="•"/>
            </a:pPr>
            <a:r>
              <a:rPr lang="es-ES" sz="3600" b="1" i="0" dirty="0">
                <a:solidFill>
                  <a:srgbClr val="374151"/>
                </a:solidFill>
                <a:effectLst/>
                <a:latin typeface="Söhne"/>
              </a:rPr>
              <a:t>Árboles de Decisión</a:t>
            </a:r>
            <a:endParaRPr lang="es-ES" sz="3600" b="1" dirty="0">
              <a:solidFill>
                <a:srgbClr val="374151"/>
              </a:solidFill>
              <a:latin typeface="Söhne"/>
            </a:endParaRPr>
          </a:p>
          <a:p>
            <a:pPr marL="457200" indent="-457200" algn="l">
              <a:buFont typeface="Arial" panose="020B0604020202020204" pitchFamily="34" charset="0"/>
              <a:buChar char="•"/>
            </a:pPr>
            <a:endParaRPr lang="es-ES" sz="3600" b="1" i="0" dirty="0">
              <a:solidFill>
                <a:srgbClr val="374151"/>
              </a:solidFill>
              <a:effectLst/>
              <a:latin typeface="Söhne"/>
            </a:endParaRPr>
          </a:p>
          <a:p>
            <a:pPr marL="457200" indent="-457200" algn="l">
              <a:buFont typeface="Arial" panose="020B0604020202020204" pitchFamily="34" charset="0"/>
              <a:buChar char="•"/>
            </a:pPr>
            <a:r>
              <a:rPr lang="es-ES" sz="3600" b="1" i="0" dirty="0">
                <a:solidFill>
                  <a:srgbClr val="374151"/>
                </a:solidFill>
                <a:effectLst/>
                <a:latin typeface="Söhne"/>
              </a:rPr>
              <a:t>Generadores de Texto</a:t>
            </a:r>
          </a:p>
        </p:txBody>
      </p:sp>
      <p:pic>
        <p:nvPicPr>
          <p:cNvPr id="11266" name="Picture 2" descr="Distribución normal - Wikipedia, la enciclopedia libre">
            <a:extLst>
              <a:ext uri="{FF2B5EF4-FFF2-40B4-BE49-F238E27FC236}">
                <a16:creationId xmlns:a16="http://schemas.microsoft.com/office/drawing/2014/main" id="{38F85AD0-D86D-657D-BE77-8A7B8C010EA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38924" y="3960571"/>
            <a:ext cx="3713623" cy="1862669"/>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Distribución uniforme continua: características, ejemplos, aplicaciones">
            <a:extLst>
              <a:ext uri="{FF2B5EF4-FFF2-40B4-BE49-F238E27FC236}">
                <a16:creationId xmlns:a16="http://schemas.microsoft.com/office/drawing/2014/main" id="{07238A57-3FCC-E610-FBF7-4F63D3C0A3D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533542" y="4918019"/>
            <a:ext cx="3230646" cy="1896488"/>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descr="FAEDIS">
            <a:extLst>
              <a:ext uri="{FF2B5EF4-FFF2-40B4-BE49-F238E27FC236}">
                <a16:creationId xmlns:a16="http://schemas.microsoft.com/office/drawing/2014/main" id="{8587239E-F334-2ED3-B858-E626E92D01D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252579" y="6814507"/>
            <a:ext cx="2879777" cy="1874963"/>
          </a:xfrm>
          <a:prstGeom prst="rect">
            <a:avLst/>
          </a:prstGeom>
          <a:noFill/>
          <a:extLst>
            <a:ext uri="{909E8E84-426E-40DD-AFC4-6F175D3DCCD1}">
              <a14:hiddenFill xmlns:a14="http://schemas.microsoft.com/office/drawing/2010/main">
                <a:solidFill>
                  <a:srgbClr val="FFFFFF"/>
                </a:solidFill>
              </a14:hiddenFill>
            </a:ext>
          </a:extLst>
        </p:spPr>
      </p:pic>
      <p:pic>
        <p:nvPicPr>
          <p:cNvPr id="11272" name="Picture 8" descr="Árbol de decisiones: Definición, pasos hacer uno y ejemplos">
            <a:extLst>
              <a:ext uri="{FF2B5EF4-FFF2-40B4-BE49-F238E27FC236}">
                <a16:creationId xmlns:a16="http://schemas.microsoft.com/office/drawing/2014/main" id="{22053AFA-76C5-C168-47D5-FB55D11B8E4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230538" y="9901523"/>
            <a:ext cx="2533650" cy="1809750"/>
          </a:xfrm>
          <a:prstGeom prst="rect">
            <a:avLst/>
          </a:prstGeom>
          <a:noFill/>
          <a:extLst>
            <a:ext uri="{909E8E84-426E-40DD-AFC4-6F175D3DCCD1}">
              <a14:hiddenFill xmlns:a14="http://schemas.microsoft.com/office/drawing/2010/main">
                <a:solidFill>
                  <a:srgbClr val="FFFFFF"/>
                </a:solidFill>
              </a14:hiddenFill>
            </a:ext>
          </a:extLst>
        </p:spPr>
      </p:pic>
      <p:pic>
        <p:nvPicPr>
          <p:cNvPr id="11274" name="Picture 10" descr="Las 10 mejores herramientas de resumen de texto de IA (2023) - BforBloggers">
            <a:extLst>
              <a:ext uri="{FF2B5EF4-FFF2-40B4-BE49-F238E27FC236}">
                <a16:creationId xmlns:a16="http://schemas.microsoft.com/office/drawing/2014/main" id="{1BB9F9D3-15F0-8DB2-CA5E-2E4C053EE9F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777884" y="11254565"/>
            <a:ext cx="3545380" cy="1809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57036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4" name="Google Shape;80;p12">
            <a:extLst>
              <a:ext uri="{FF2B5EF4-FFF2-40B4-BE49-F238E27FC236}">
                <a16:creationId xmlns:a16="http://schemas.microsoft.com/office/drawing/2014/main" id="{949AE882-3201-4C73-96A3-3B7820DAFF91}"/>
              </a:ext>
            </a:extLst>
          </p:cNvPr>
          <p:cNvSpPr txBox="1"/>
          <p:nvPr/>
        </p:nvSpPr>
        <p:spPr>
          <a:xfrm>
            <a:off x="677855" y="1830984"/>
            <a:ext cx="23005771"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dirty="0" err="1">
                <a:sym typeface="Montserrat"/>
              </a:rPr>
              <a:t>Modelos</a:t>
            </a:r>
            <a:r>
              <a:rPr lang="en-US" dirty="0">
                <a:sym typeface="Montserrat"/>
              </a:rPr>
              <a:t> de </a:t>
            </a:r>
            <a:r>
              <a:rPr lang="en-US" dirty="0" err="1">
                <a:sym typeface="Montserrat"/>
              </a:rPr>
              <a:t>Generación</a:t>
            </a:r>
            <a:r>
              <a:rPr lang="en-US" dirty="0">
                <a:sym typeface="Montserrat"/>
              </a:rPr>
              <a:t> de Big Data</a:t>
            </a:r>
            <a:endParaRPr dirty="0"/>
          </a:p>
        </p:txBody>
      </p:sp>
      <p:pic>
        <p:nvPicPr>
          <p:cNvPr id="2" name="Imagen 1">
            <a:extLst>
              <a:ext uri="{FF2B5EF4-FFF2-40B4-BE49-F238E27FC236}">
                <a16:creationId xmlns:a16="http://schemas.microsoft.com/office/drawing/2014/main" id="{88A95AE1-5573-0DA9-E462-9330D5E67FCE}"/>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B8272304-69C5-6344-5CD4-14ADF8BB84EF}"/>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5" name="Rectángulo 4">
            <a:extLst>
              <a:ext uri="{FF2B5EF4-FFF2-40B4-BE49-F238E27FC236}">
                <a16:creationId xmlns:a16="http://schemas.microsoft.com/office/drawing/2014/main" id="{C002B0EA-0D67-BE3F-D5F3-DE1597177E54}"/>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76F833C5-FF07-8A83-6CB2-AD476199B08B}"/>
              </a:ext>
            </a:extLst>
          </p:cNvPr>
          <p:cNvPicPr>
            <a:picLocks noChangeAspect="1"/>
          </p:cNvPicPr>
          <p:nvPr/>
        </p:nvPicPr>
        <p:blipFill>
          <a:blip r:embed="rId5"/>
          <a:stretch>
            <a:fillRect/>
          </a:stretch>
        </p:blipFill>
        <p:spPr>
          <a:xfrm>
            <a:off x="23204799" y="12494218"/>
            <a:ext cx="607560" cy="903930"/>
          </a:xfrm>
          <a:prstGeom prst="rect">
            <a:avLst/>
          </a:prstGeom>
        </p:spPr>
      </p:pic>
      <p:sp>
        <p:nvSpPr>
          <p:cNvPr id="10" name="CuadroTexto 9">
            <a:extLst>
              <a:ext uri="{FF2B5EF4-FFF2-40B4-BE49-F238E27FC236}">
                <a16:creationId xmlns:a16="http://schemas.microsoft.com/office/drawing/2014/main" id="{D6DD58DF-75A7-FFDA-7727-711507EFC37B}"/>
              </a:ext>
            </a:extLst>
          </p:cNvPr>
          <p:cNvSpPr txBox="1"/>
          <p:nvPr/>
        </p:nvSpPr>
        <p:spPr>
          <a:xfrm>
            <a:off x="3639289" y="3606628"/>
            <a:ext cx="6106290" cy="707886"/>
          </a:xfrm>
          <a:prstGeom prst="rect">
            <a:avLst/>
          </a:prstGeom>
          <a:noFill/>
        </p:spPr>
        <p:txBody>
          <a:bodyPr wrap="square">
            <a:spAutoFit/>
          </a:bodyPr>
          <a:lstStyle/>
          <a:p>
            <a:r>
              <a:rPr lang="es-ES" sz="4000" b="1" i="0" dirty="0">
                <a:solidFill>
                  <a:srgbClr val="374151"/>
                </a:solidFill>
                <a:effectLst/>
                <a:latin typeface="Söhne"/>
              </a:rPr>
              <a:t>Modelos </a:t>
            </a:r>
            <a:r>
              <a:rPr lang="es-ES" sz="4000" b="1" dirty="0">
                <a:solidFill>
                  <a:srgbClr val="374151"/>
                </a:solidFill>
                <a:latin typeface="Söhne"/>
              </a:rPr>
              <a:t>de extracción</a:t>
            </a:r>
            <a:endParaRPr lang="es-MX" sz="4000" b="1" dirty="0"/>
          </a:p>
        </p:txBody>
      </p:sp>
      <p:pic>
        <p:nvPicPr>
          <p:cNvPr id="1026" name="Picture 2" descr="O que é Big Data e Como as Empresas Usam? - Mobilit">
            <a:extLst>
              <a:ext uri="{FF2B5EF4-FFF2-40B4-BE49-F238E27FC236}">
                <a16:creationId xmlns:a16="http://schemas.microsoft.com/office/drawing/2014/main" id="{10E563E6-34D9-CB44-080A-7759D33FF50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914121" y="5011340"/>
            <a:ext cx="9594458" cy="6361950"/>
          </a:xfrm>
          <a:prstGeom prst="rect">
            <a:avLst/>
          </a:prstGeom>
          <a:noFill/>
          <a:extLst>
            <a:ext uri="{909E8E84-426E-40DD-AFC4-6F175D3DCCD1}">
              <a14:hiddenFill xmlns:a14="http://schemas.microsoft.com/office/drawing/2010/main">
                <a:solidFill>
                  <a:srgbClr val="FFFFFF"/>
                </a:solidFill>
              </a14:hiddenFill>
            </a:ext>
          </a:extLst>
        </p:spPr>
      </p:pic>
      <p:sp>
        <p:nvSpPr>
          <p:cNvPr id="8" name="CuadroTexto 7">
            <a:extLst>
              <a:ext uri="{FF2B5EF4-FFF2-40B4-BE49-F238E27FC236}">
                <a16:creationId xmlns:a16="http://schemas.microsoft.com/office/drawing/2014/main" id="{F54ED5FB-2786-959F-A353-4074AD853650}"/>
              </a:ext>
            </a:extLst>
          </p:cNvPr>
          <p:cNvSpPr txBox="1"/>
          <p:nvPr/>
        </p:nvSpPr>
        <p:spPr>
          <a:xfrm>
            <a:off x="1182376" y="5011339"/>
            <a:ext cx="10777013" cy="5170646"/>
          </a:xfrm>
          <a:prstGeom prst="rect">
            <a:avLst/>
          </a:prstGeom>
          <a:noFill/>
        </p:spPr>
        <p:txBody>
          <a:bodyPr wrap="square">
            <a:spAutoFit/>
          </a:bodyPr>
          <a:lstStyle/>
          <a:p>
            <a:pPr marL="457200" lvl="8" indent="-457200" algn="just">
              <a:buFont typeface="Arial" panose="020B0604020202020204" pitchFamily="34" charset="0"/>
              <a:buChar char="•"/>
            </a:pPr>
            <a:r>
              <a:rPr lang="es-ES" sz="3000" b="1" dirty="0">
                <a:solidFill>
                  <a:schemeClr val="dk2"/>
                </a:solidFill>
                <a:latin typeface="Poppins"/>
                <a:cs typeface="Poppins"/>
              </a:rPr>
              <a:t>Extracción de bases de datos </a:t>
            </a:r>
          </a:p>
          <a:p>
            <a:pPr marL="457200" lvl="8" indent="-457200" algn="just">
              <a:buFont typeface="Arial" panose="020B0604020202020204" pitchFamily="34" charset="0"/>
              <a:buChar char="•"/>
            </a:pPr>
            <a:endParaRPr lang="es-ES" sz="3000" b="1" dirty="0">
              <a:solidFill>
                <a:schemeClr val="dk2"/>
              </a:solidFill>
              <a:latin typeface="Poppins"/>
              <a:cs typeface="Poppins"/>
            </a:endParaRPr>
          </a:p>
          <a:p>
            <a:pPr marL="457200" indent="-457200" algn="just">
              <a:buFont typeface="Arial" panose="020B0604020202020204" pitchFamily="34" charset="0"/>
              <a:buChar char="•"/>
            </a:pPr>
            <a:r>
              <a:rPr lang="es-ES" sz="3000" b="1" dirty="0">
                <a:solidFill>
                  <a:schemeClr val="dk2"/>
                </a:solidFill>
                <a:latin typeface="Poppins"/>
                <a:cs typeface="Poppins"/>
              </a:rPr>
              <a:t>Web </a:t>
            </a:r>
            <a:r>
              <a:rPr lang="es-ES" sz="3000" b="1" dirty="0" err="1">
                <a:solidFill>
                  <a:schemeClr val="dk2"/>
                </a:solidFill>
                <a:latin typeface="Poppins"/>
                <a:cs typeface="Poppins"/>
              </a:rPr>
              <a:t>Scraping</a:t>
            </a:r>
            <a:endParaRPr lang="es-ES" sz="3000" b="1" dirty="0">
              <a:solidFill>
                <a:schemeClr val="dk2"/>
              </a:solidFill>
              <a:latin typeface="Poppins"/>
              <a:cs typeface="Poppins"/>
            </a:endParaRPr>
          </a:p>
          <a:p>
            <a:pPr marL="457200" indent="-457200" algn="just">
              <a:buFont typeface="Arial" panose="020B0604020202020204" pitchFamily="34" charset="0"/>
              <a:buChar char="•"/>
            </a:pPr>
            <a:endParaRPr lang="es-ES" sz="3000" b="1" dirty="0">
              <a:solidFill>
                <a:schemeClr val="dk2"/>
              </a:solidFill>
              <a:latin typeface="Poppins"/>
              <a:cs typeface="Poppins"/>
            </a:endParaRPr>
          </a:p>
          <a:p>
            <a:pPr marL="457200" indent="-457200" algn="just">
              <a:buFont typeface="Arial" panose="020B0604020202020204" pitchFamily="34" charset="0"/>
              <a:buChar char="•"/>
            </a:pPr>
            <a:r>
              <a:rPr lang="es-ES" sz="3000" b="1" dirty="0">
                <a:solidFill>
                  <a:schemeClr val="dk2"/>
                </a:solidFill>
                <a:latin typeface="Poppins"/>
                <a:cs typeface="Poppins"/>
              </a:rPr>
              <a:t>API (Interfaz de Programación de Aplicaciones</a:t>
            </a:r>
          </a:p>
          <a:p>
            <a:pPr marL="457200" indent="-457200" algn="just">
              <a:buFont typeface="Arial" panose="020B0604020202020204" pitchFamily="34" charset="0"/>
              <a:buChar char="•"/>
            </a:pPr>
            <a:endParaRPr lang="es-ES" sz="3000" b="1" dirty="0">
              <a:solidFill>
                <a:schemeClr val="dk2"/>
              </a:solidFill>
              <a:latin typeface="Poppins"/>
              <a:cs typeface="Poppins"/>
            </a:endParaRPr>
          </a:p>
          <a:p>
            <a:pPr marL="457200" indent="-457200" algn="just">
              <a:buFont typeface="Arial" panose="020B0604020202020204" pitchFamily="34" charset="0"/>
              <a:buChar char="•"/>
            </a:pPr>
            <a:r>
              <a:rPr lang="es-ES" sz="3000" b="1" dirty="0">
                <a:solidFill>
                  <a:schemeClr val="dk2"/>
                </a:solidFill>
                <a:latin typeface="Poppins"/>
                <a:cs typeface="Poppins"/>
              </a:rPr>
              <a:t>Log </a:t>
            </a:r>
            <a:r>
              <a:rPr lang="es-ES" sz="3000" b="1" dirty="0" err="1">
                <a:solidFill>
                  <a:schemeClr val="dk2"/>
                </a:solidFill>
                <a:latin typeface="Poppins"/>
                <a:cs typeface="Poppins"/>
              </a:rPr>
              <a:t>Parsing</a:t>
            </a:r>
            <a:endParaRPr lang="es-ES" sz="3000" b="1" dirty="0">
              <a:solidFill>
                <a:schemeClr val="dk2"/>
              </a:solidFill>
              <a:latin typeface="Poppins"/>
              <a:cs typeface="Poppins"/>
            </a:endParaRPr>
          </a:p>
          <a:p>
            <a:pPr marL="457200" indent="-457200" algn="just">
              <a:buFont typeface="Arial" panose="020B0604020202020204" pitchFamily="34" charset="0"/>
              <a:buChar char="•"/>
            </a:pPr>
            <a:endParaRPr lang="es-ES" sz="3000" b="1" dirty="0">
              <a:solidFill>
                <a:schemeClr val="dk2"/>
              </a:solidFill>
              <a:latin typeface="Poppins"/>
              <a:cs typeface="Poppins"/>
            </a:endParaRPr>
          </a:p>
          <a:p>
            <a:pPr marL="457200" indent="-457200" algn="just">
              <a:buFont typeface="Arial" panose="020B0604020202020204" pitchFamily="34" charset="0"/>
              <a:buChar char="•"/>
            </a:pPr>
            <a:r>
              <a:rPr lang="es-ES" sz="3000" b="1" dirty="0">
                <a:solidFill>
                  <a:schemeClr val="dk2"/>
                </a:solidFill>
                <a:latin typeface="Poppins"/>
                <a:cs typeface="Poppins"/>
              </a:rPr>
              <a:t>Extracción de datos de redes sociales</a:t>
            </a:r>
          </a:p>
          <a:p>
            <a:pPr marL="457200" indent="-457200" algn="just">
              <a:buFont typeface="Arial" panose="020B0604020202020204" pitchFamily="34" charset="0"/>
              <a:buChar char="•"/>
            </a:pPr>
            <a:endParaRPr lang="es-ES" sz="3000" b="1" dirty="0">
              <a:solidFill>
                <a:schemeClr val="dk2"/>
              </a:solidFill>
              <a:latin typeface="Poppins"/>
              <a:cs typeface="Poppins"/>
            </a:endParaRPr>
          </a:p>
          <a:p>
            <a:pPr marL="457200" indent="-457200" algn="just">
              <a:buFont typeface="Arial" panose="020B0604020202020204" pitchFamily="34" charset="0"/>
              <a:buChar char="•"/>
            </a:pPr>
            <a:r>
              <a:rPr lang="es-ES" sz="3000" b="1" dirty="0">
                <a:solidFill>
                  <a:schemeClr val="dk2"/>
                </a:solidFill>
                <a:latin typeface="Poppins"/>
                <a:cs typeface="Poppins"/>
              </a:rPr>
              <a:t>Extracción de datos de sensores y dispositivos </a:t>
            </a:r>
            <a:r>
              <a:rPr lang="es-ES" sz="3000" b="1" dirty="0" err="1">
                <a:solidFill>
                  <a:schemeClr val="dk2"/>
                </a:solidFill>
                <a:latin typeface="Poppins"/>
                <a:cs typeface="Poppins"/>
              </a:rPr>
              <a:t>IoT</a:t>
            </a:r>
            <a:endParaRPr lang="es-ES" sz="3000" b="1" dirty="0">
              <a:solidFill>
                <a:schemeClr val="dk2"/>
              </a:solidFill>
              <a:latin typeface="Poppins"/>
              <a:cs typeface="Poppins"/>
            </a:endParaRPr>
          </a:p>
        </p:txBody>
      </p:sp>
    </p:spTree>
    <p:extLst>
      <p:ext uri="{BB962C8B-B14F-4D97-AF65-F5344CB8AC3E}">
        <p14:creationId xmlns:p14="http://schemas.microsoft.com/office/powerpoint/2010/main" val="17429030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4" name="Google Shape;80;p12">
            <a:extLst>
              <a:ext uri="{FF2B5EF4-FFF2-40B4-BE49-F238E27FC236}">
                <a16:creationId xmlns:a16="http://schemas.microsoft.com/office/drawing/2014/main" id="{949AE882-3201-4C73-96A3-3B7820DAFF91}"/>
              </a:ext>
            </a:extLst>
          </p:cNvPr>
          <p:cNvSpPr txBox="1"/>
          <p:nvPr/>
        </p:nvSpPr>
        <p:spPr>
          <a:xfrm>
            <a:off x="677855" y="1830984"/>
            <a:ext cx="23005771"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dirty="0" err="1">
                <a:sym typeface="Montserrat"/>
              </a:rPr>
              <a:t>Modelos</a:t>
            </a:r>
            <a:r>
              <a:rPr lang="en-US" dirty="0">
                <a:sym typeface="Montserrat"/>
              </a:rPr>
              <a:t> de </a:t>
            </a:r>
            <a:r>
              <a:rPr lang="en-US" dirty="0" err="1">
                <a:sym typeface="Montserrat"/>
              </a:rPr>
              <a:t>Generación</a:t>
            </a:r>
            <a:r>
              <a:rPr lang="en-US" dirty="0">
                <a:sym typeface="Montserrat"/>
              </a:rPr>
              <a:t> de Big Data</a:t>
            </a:r>
            <a:endParaRPr dirty="0"/>
          </a:p>
        </p:txBody>
      </p:sp>
      <p:pic>
        <p:nvPicPr>
          <p:cNvPr id="2" name="Imagen 1">
            <a:extLst>
              <a:ext uri="{FF2B5EF4-FFF2-40B4-BE49-F238E27FC236}">
                <a16:creationId xmlns:a16="http://schemas.microsoft.com/office/drawing/2014/main" id="{88A95AE1-5573-0DA9-E462-9330D5E67FCE}"/>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B8272304-69C5-6344-5CD4-14ADF8BB84EF}"/>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5" name="Rectángulo 4">
            <a:extLst>
              <a:ext uri="{FF2B5EF4-FFF2-40B4-BE49-F238E27FC236}">
                <a16:creationId xmlns:a16="http://schemas.microsoft.com/office/drawing/2014/main" id="{C002B0EA-0D67-BE3F-D5F3-DE1597177E54}"/>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76F833C5-FF07-8A83-6CB2-AD476199B08B}"/>
              </a:ext>
            </a:extLst>
          </p:cNvPr>
          <p:cNvPicPr>
            <a:picLocks noChangeAspect="1"/>
          </p:cNvPicPr>
          <p:nvPr/>
        </p:nvPicPr>
        <p:blipFill>
          <a:blip r:embed="rId5"/>
          <a:stretch>
            <a:fillRect/>
          </a:stretch>
        </p:blipFill>
        <p:spPr>
          <a:xfrm>
            <a:off x="23204799" y="12494218"/>
            <a:ext cx="607560" cy="903930"/>
          </a:xfrm>
          <a:prstGeom prst="rect">
            <a:avLst/>
          </a:prstGeom>
        </p:spPr>
      </p:pic>
      <p:sp>
        <p:nvSpPr>
          <p:cNvPr id="10" name="CuadroTexto 9">
            <a:extLst>
              <a:ext uri="{FF2B5EF4-FFF2-40B4-BE49-F238E27FC236}">
                <a16:creationId xmlns:a16="http://schemas.microsoft.com/office/drawing/2014/main" id="{D6DD58DF-75A7-FFDA-7727-711507EFC37B}"/>
              </a:ext>
            </a:extLst>
          </p:cNvPr>
          <p:cNvSpPr txBox="1"/>
          <p:nvPr/>
        </p:nvSpPr>
        <p:spPr>
          <a:xfrm>
            <a:off x="3639289" y="3606628"/>
            <a:ext cx="6106290" cy="707886"/>
          </a:xfrm>
          <a:prstGeom prst="rect">
            <a:avLst/>
          </a:prstGeom>
          <a:noFill/>
        </p:spPr>
        <p:txBody>
          <a:bodyPr wrap="square">
            <a:spAutoFit/>
          </a:bodyPr>
          <a:lstStyle/>
          <a:p>
            <a:r>
              <a:rPr lang="es-ES" sz="4000" b="1" i="0" dirty="0">
                <a:solidFill>
                  <a:srgbClr val="374151"/>
                </a:solidFill>
                <a:effectLst/>
                <a:latin typeface="Söhne"/>
              </a:rPr>
              <a:t>Modelos </a:t>
            </a:r>
            <a:r>
              <a:rPr lang="es-ES" sz="4000" b="1" dirty="0">
                <a:solidFill>
                  <a:srgbClr val="374151"/>
                </a:solidFill>
                <a:latin typeface="Söhne"/>
              </a:rPr>
              <a:t>de ampliación</a:t>
            </a:r>
            <a:endParaRPr lang="es-MX" sz="4000" b="1" dirty="0"/>
          </a:p>
        </p:txBody>
      </p:sp>
      <p:sp>
        <p:nvSpPr>
          <p:cNvPr id="8" name="CuadroTexto 7">
            <a:extLst>
              <a:ext uri="{FF2B5EF4-FFF2-40B4-BE49-F238E27FC236}">
                <a16:creationId xmlns:a16="http://schemas.microsoft.com/office/drawing/2014/main" id="{F54ED5FB-2786-959F-A353-4074AD853650}"/>
              </a:ext>
            </a:extLst>
          </p:cNvPr>
          <p:cNvSpPr txBox="1"/>
          <p:nvPr/>
        </p:nvSpPr>
        <p:spPr>
          <a:xfrm>
            <a:off x="1416574" y="5829747"/>
            <a:ext cx="10777013" cy="5170646"/>
          </a:xfrm>
          <a:prstGeom prst="rect">
            <a:avLst/>
          </a:prstGeom>
          <a:noFill/>
        </p:spPr>
        <p:txBody>
          <a:bodyPr wrap="square">
            <a:spAutoFit/>
          </a:bodyPr>
          <a:lstStyle/>
          <a:p>
            <a:pPr marL="457200" lvl="8" indent="-457200" algn="just">
              <a:buFont typeface="Arial" panose="020B0604020202020204" pitchFamily="34" charset="0"/>
              <a:buChar char="•"/>
            </a:pPr>
            <a:r>
              <a:rPr lang="es-ES" sz="3000" b="1" dirty="0">
                <a:solidFill>
                  <a:schemeClr val="dk2"/>
                </a:solidFill>
                <a:latin typeface="Poppins"/>
                <a:cs typeface="Poppins"/>
              </a:rPr>
              <a:t>Duplicación </a:t>
            </a:r>
          </a:p>
          <a:p>
            <a:pPr marL="457200" lvl="8" indent="-457200" algn="just">
              <a:buFont typeface="Arial" panose="020B0604020202020204" pitchFamily="34" charset="0"/>
              <a:buChar char="•"/>
            </a:pPr>
            <a:endParaRPr lang="es-ES" sz="3000" b="1" dirty="0">
              <a:solidFill>
                <a:schemeClr val="dk2"/>
              </a:solidFill>
              <a:latin typeface="Poppins"/>
              <a:cs typeface="Poppins"/>
            </a:endParaRPr>
          </a:p>
          <a:p>
            <a:pPr marL="457200" indent="-457200" algn="just">
              <a:buFont typeface="Arial" panose="020B0604020202020204" pitchFamily="34" charset="0"/>
              <a:buChar char="•"/>
            </a:pPr>
            <a:r>
              <a:rPr lang="es-ES" sz="3000" b="1" dirty="0">
                <a:solidFill>
                  <a:schemeClr val="dk2"/>
                </a:solidFill>
                <a:latin typeface="Poppins"/>
                <a:cs typeface="Poppins"/>
              </a:rPr>
              <a:t>Multiplicación</a:t>
            </a:r>
          </a:p>
          <a:p>
            <a:pPr marL="457200" indent="-457200" algn="just">
              <a:buFont typeface="Arial" panose="020B0604020202020204" pitchFamily="34" charset="0"/>
              <a:buChar char="•"/>
            </a:pPr>
            <a:endParaRPr lang="es-ES" sz="3000" b="1" dirty="0">
              <a:solidFill>
                <a:schemeClr val="dk2"/>
              </a:solidFill>
              <a:latin typeface="Poppins"/>
              <a:cs typeface="Poppins"/>
            </a:endParaRPr>
          </a:p>
          <a:p>
            <a:pPr marL="457200" indent="-457200" algn="just">
              <a:buFont typeface="Arial" panose="020B0604020202020204" pitchFamily="34" charset="0"/>
              <a:buChar char="•"/>
            </a:pPr>
            <a:r>
              <a:rPr lang="es-ES" sz="3000" b="1" dirty="0">
                <a:solidFill>
                  <a:schemeClr val="dk2"/>
                </a:solidFill>
                <a:latin typeface="Poppins"/>
                <a:cs typeface="Poppins"/>
              </a:rPr>
              <a:t>Escalamiento</a:t>
            </a:r>
          </a:p>
          <a:p>
            <a:pPr marL="457200" indent="-457200" algn="just">
              <a:buFont typeface="Arial" panose="020B0604020202020204" pitchFamily="34" charset="0"/>
              <a:buChar char="•"/>
            </a:pPr>
            <a:endParaRPr lang="es-ES" sz="3000" b="1" dirty="0">
              <a:solidFill>
                <a:schemeClr val="dk2"/>
              </a:solidFill>
              <a:latin typeface="Poppins"/>
              <a:cs typeface="Poppins"/>
            </a:endParaRPr>
          </a:p>
          <a:p>
            <a:pPr marL="457200" indent="-457200" algn="just">
              <a:buFont typeface="Arial" panose="020B0604020202020204" pitchFamily="34" charset="0"/>
              <a:buChar char="•"/>
            </a:pPr>
            <a:r>
              <a:rPr lang="es-ES" sz="3000" b="1" dirty="0">
                <a:solidFill>
                  <a:schemeClr val="dk2"/>
                </a:solidFill>
                <a:latin typeface="Poppins"/>
                <a:cs typeface="Poppins"/>
              </a:rPr>
              <a:t>Generación de datos sintéticos</a:t>
            </a:r>
          </a:p>
          <a:p>
            <a:pPr marL="457200" indent="-457200" algn="just">
              <a:buFont typeface="Arial" panose="020B0604020202020204" pitchFamily="34" charset="0"/>
              <a:buChar char="•"/>
            </a:pPr>
            <a:endParaRPr lang="es-ES" sz="3000" b="1" dirty="0">
              <a:solidFill>
                <a:schemeClr val="dk2"/>
              </a:solidFill>
              <a:latin typeface="Poppins"/>
              <a:cs typeface="Poppins"/>
            </a:endParaRPr>
          </a:p>
          <a:p>
            <a:pPr marL="457200" indent="-457200" algn="just">
              <a:buFont typeface="Arial" panose="020B0604020202020204" pitchFamily="34" charset="0"/>
              <a:buChar char="•"/>
            </a:pPr>
            <a:r>
              <a:rPr lang="es-ES" sz="3000" b="1" dirty="0">
                <a:solidFill>
                  <a:schemeClr val="dk2"/>
                </a:solidFill>
                <a:latin typeface="Poppins"/>
                <a:cs typeface="Poppins"/>
              </a:rPr>
              <a:t>Datos enriquecidos</a:t>
            </a:r>
          </a:p>
          <a:p>
            <a:pPr marL="457200" indent="-457200" algn="just">
              <a:buFont typeface="Arial" panose="020B0604020202020204" pitchFamily="34" charset="0"/>
              <a:buChar char="•"/>
            </a:pPr>
            <a:endParaRPr lang="es-ES" sz="3000" b="1" dirty="0">
              <a:solidFill>
                <a:schemeClr val="dk2"/>
              </a:solidFill>
              <a:latin typeface="Poppins"/>
              <a:cs typeface="Poppins"/>
            </a:endParaRPr>
          </a:p>
          <a:p>
            <a:pPr algn="just"/>
            <a:endParaRPr lang="es-ES" sz="3000" b="1" dirty="0">
              <a:solidFill>
                <a:schemeClr val="dk2"/>
              </a:solidFill>
              <a:latin typeface="Poppins"/>
              <a:cs typeface="Poppins"/>
            </a:endParaRPr>
          </a:p>
        </p:txBody>
      </p:sp>
      <p:pic>
        <p:nvPicPr>
          <p:cNvPr id="2050" name="Picture 2" descr="Big Data, una herramienta fundamental e imprescindible para las empresas -  Diario Jurídico Big Data, una herramienta fundamental e imprescindible para  las empresas">
            <a:extLst>
              <a:ext uri="{FF2B5EF4-FFF2-40B4-BE49-F238E27FC236}">
                <a16:creationId xmlns:a16="http://schemas.microsoft.com/office/drawing/2014/main" id="{E0791F8A-3216-4D65-C244-35BBAAFB503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396871" y="5011339"/>
            <a:ext cx="7771854" cy="4352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72671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4" name="Google Shape;80;p12">
            <a:extLst>
              <a:ext uri="{FF2B5EF4-FFF2-40B4-BE49-F238E27FC236}">
                <a16:creationId xmlns:a16="http://schemas.microsoft.com/office/drawing/2014/main" id="{949AE882-3201-4C73-96A3-3B7820DAFF91}"/>
              </a:ext>
            </a:extLst>
          </p:cNvPr>
          <p:cNvSpPr txBox="1"/>
          <p:nvPr/>
        </p:nvSpPr>
        <p:spPr>
          <a:xfrm>
            <a:off x="677855" y="1830984"/>
            <a:ext cx="23005771"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dirty="0" err="1">
                <a:sym typeface="Montserrat"/>
              </a:rPr>
              <a:t>Modelos</a:t>
            </a:r>
            <a:r>
              <a:rPr lang="en-US" dirty="0">
                <a:sym typeface="Montserrat"/>
              </a:rPr>
              <a:t> de </a:t>
            </a:r>
            <a:r>
              <a:rPr lang="en-US" dirty="0" err="1">
                <a:sym typeface="Montserrat"/>
              </a:rPr>
              <a:t>Generación</a:t>
            </a:r>
            <a:r>
              <a:rPr lang="en-US" dirty="0">
                <a:sym typeface="Montserrat"/>
              </a:rPr>
              <a:t> de Big Data</a:t>
            </a:r>
            <a:endParaRPr dirty="0"/>
          </a:p>
        </p:txBody>
      </p:sp>
      <p:pic>
        <p:nvPicPr>
          <p:cNvPr id="2" name="Imagen 1">
            <a:extLst>
              <a:ext uri="{FF2B5EF4-FFF2-40B4-BE49-F238E27FC236}">
                <a16:creationId xmlns:a16="http://schemas.microsoft.com/office/drawing/2014/main" id="{88A95AE1-5573-0DA9-E462-9330D5E67FCE}"/>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B8272304-69C5-6344-5CD4-14ADF8BB84EF}"/>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5" name="Rectángulo 4">
            <a:extLst>
              <a:ext uri="{FF2B5EF4-FFF2-40B4-BE49-F238E27FC236}">
                <a16:creationId xmlns:a16="http://schemas.microsoft.com/office/drawing/2014/main" id="{C002B0EA-0D67-BE3F-D5F3-DE1597177E54}"/>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76F833C5-FF07-8A83-6CB2-AD476199B08B}"/>
              </a:ext>
            </a:extLst>
          </p:cNvPr>
          <p:cNvPicPr>
            <a:picLocks noChangeAspect="1"/>
          </p:cNvPicPr>
          <p:nvPr/>
        </p:nvPicPr>
        <p:blipFill>
          <a:blip r:embed="rId5"/>
          <a:stretch>
            <a:fillRect/>
          </a:stretch>
        </p:blipFill>
        <p:spPr>
          <a:xfrm>
            <a:off x="23204799" y="12494218"/>
            <a:ext cx="607560" cy="903930"/>
          </a:xfrm>
          <a:prstGeom prst="rect">
            <a:avLst/>
          </a:prstGeom>
        </p:spPr>
      </p:pic>
      <p:sp>
        <p:nvSpPr>
          <p:cNvPr id="10" name="CuadroTexto 9">
            <a:extLst>
              <a:ext uri="{FF2B5EF4-FFF2-40B4-BE49-F238E27FC236}">
                <a16:creationId xmlns:a16="http://schemas.microsoft.com/office/drawing/2014/main" id="{D6DD58DF-75A7-FFDA-7727-711507EFC37B}"/>
              </a:ext>
            </a:extLst>
          </p:cNvPr>
          <p:cNvSpPr txBox="1"/>
          <p:nvPr/>
        </p:nvSpPr>
        <p:spPr>
          <a:xfrm>
            <a:off x="3639289" y="3606628"/>
            <a:ext cx="6106290" cy="707886"/>
          </a:xfrm>
          <a:prstGeom prst="rect">
            <a:avLst/>
          </a:prstGeom>
          <a:noFill/>
        </p:spPr>
        <p:txBody>
          <a:bodyPr wrap="square">
            <a:spAutoFit/>
          </a:bodyPr>
          <a:lstStyle/>
          <a:p>
            <a:r>
              <a:rPr lang="es-ES" sz="4000" b="1" i="0" dirty="0">
                <a:solidFill>
                  <a:srgbClr val="374151"/>
                </a:solidFill>
                <a:effectLst/>
                <a:latin typeface="Söhne"/>
              </a:rPr>
              <a:t>Modelos </a:t>
            </a:r>
            <a:r>
              <a:rPr lang="es-ES" sz="4000" b="1" dirty="0">
                <a:solidFill>
                  <a:srgbClr val="374151"/>
                </a:solidFill>
                <a:latin typeface="Söhne"/>
              </a:rPr>
              <a:t>de combinación</a:t>
            </a:r>
            <a:endParaRPr lang="es-MX" sz="4000" b="1" dirty="0"/>
          </a:p>
        </p:txBody>
      </p:sp>
      <p:sp>
        <p:nvSpPr>
          <p:cNvPr id="8" name="CuadroTexto 7">
            <a:extLst>
              <a:ext uri="{FF2B5EF4-FFF2-40B4-BE49-F238E27FC236}">
                <a16:creationId xmlns:a16="http://schemas.microsoft.com/office/drawing/2014/main" id="{F54ED5FB-2786-959F-A353-4074AD853650}"/>
              </a:ext>
            </a:extLst>
          </p:cNvPr>
          <p:cNvSpPr txBox="1"/>
          <p:nvPr/>
        </p:nvSpPr>
        <p:spPr>
          <a:xfrm>
            <a:off x="1416574" y="5829747"/>
            <a:ext cx="10777013" cy="6093976"/>
          </a:xfrm>
          <a:prstGeom prst="rect">
            <a:avLst/>
          </a:prstGeom>
          <a:noFill/>
        </p:spPr>
        <p:txBody>
          <a:bodyPr wrap="square">
            <a:spAutoFit/>
          </a:bodyPr>
          <a:lstStyle/>
          <a:p>
            <a:pPr marL="457200" lvl="8" indent="-457200" algn="just">
              <a:buFont typeface="Arial" panose="020B0604020202020204" pitchFamily="34" charset="0"/>
              <a:buChar char="•"/>
            </a:pPr>
            <a:r>
              <a:rPr lang="es-ES" sz="3000" b="1" dirty="0">
                <a:solidFill>
                  <a:schemeClr val="dk2"/>
                </a:solidFill>
                <a:latin typeface="Poppins"/>
                <a:cs typeface="Poppins"/>
              </a:rPr>
              <a:t>Integración de base de datos</a:t>
            </a:r>
          </a:p>
          <a:p>
            <a:pPr marL="457200" lvl="8" indent="-457200" algn="just">
              <a:buFont typeface="Arial" panose="020B0604020202020204" pitchFamily="34" charset="0"/>
              <a:buChar char="•"/>
            </a:pPr>
            <a:endParaRPr lang="es-ES" sz="3000" b="1" dirty="0">
              <a:solidFill>
                <a:schemeClr val="dk2"/>
              </a:solidFill>
              <a:latin typeface="Poppins"/>
              <a:cs typeface="Poppins"/>
            </a:endParaRPr>
          </a:p>
          <a:p>
            <a:pPr marL="457200" indent="-457200" algn="just">
              <a:buFont typeface="Arial" panose="020B0604020202020204" pitchFamily="34" charset="0"/>
              <a:buChar char="•"/>
            </a:pPr>
            <a:r>
              <a:rPr lang="es-ES" sz="3000" b="1" dirty="0">
                <a:solidFill>
                  <a:schemeClr val="dk2"/>
                </a:solidFill>
                <a:latin typeface="Poppins"/>
                <a:cs typeface="Poppins"/>
              </a:rPr>
              <a:t>Fusión de datos no estructurados y estructurados </a:t>
            </a:r>
          </a:p>
          <a:p>
            <a:pPr marL="457200" indent="-457200" algn="just">
              <a:buFont typeface="Arial" panose="020B0604020202020204" pitchFamily="34" charset="0"/>
              <a:buChar char="•"/>
            </a:pPr>
            <a:endParaRPr lang="es-ES" sz="3000" b="1" dirty="0">
              <a:solidFill>
                <a:schemeClr val="dk2"/>
              </a:solidFill>
              <a:latin typeface="Poppins"/>
              <a:cs typeface="Poppins"/>
            </a:endParaRPr>
          </a:p>
          <a:p>
            <a:pPr marL="457200" indent="-457200" algn="just">
              <a:buFont typeface="Arial" panose="020B0604020202020204" pitchFamily="34" charset="0"/>
              <a:buChar char="•"/>
            </a:pPr>
            <a:r>
              <a:rPr lang="es-ES" sz="3000" b="1" dirty="0">
                <a:solidFill>
                  <a:schemeClr val="dk2"/>
                </a:solidFill>
                <a:latin typeface="Poppins"/>
                <a:cs typeface="Poppins"/>
              </a:rPr>
              <a:t>Ensamblado de datos en tipo real</a:t>
            </a:r>
          </a:p>
          <a:p>
            <a:pPr marL="457200" indent="-457200" algn="just">
              <a:buFont typeface="Arial" panose="020B0604020202020204" pitchFamily="34" charset="0"/>
              <a:buChar char="•"/>
            </a:pPr>
            <a:endParaRPr lang="es-ES" sz="3000" b="1" dirty="0">
              <a:solidFill>
                <a:schemeClr val="dk2"/>
              </a:solidFill>
              <a:latin typeface="Poppins"/>
              <a:cs typeface="Poppins"/>
            </a:endParaRPr>
          </a:p>
          <a:p>
            <a:pPr marL="457200" indent="-457200" algn="just">
              <a:buFont typeface="Arial" panose="020B0604020202020204" pitchFamily="34" charset="0"/>
              <a:buChar char="•"/>
            </a:pPr>
            <a:r>
              <a:rPr lang="es-ES" sz="3000" b="1" dirty="0">
                <a:solidFill>
                  <a:schemeClr val="dk2"/>
                </a:solidFill>
                <a:latin typeface="Poppins"/>
                <a:cs typeface="Poppins"/>
              </a:rPr>
              <a:t>Integración de datos  de fuentes externas</a:t>
            </a:r>
          </a:p>
          <a:p>
            <a:pPr marL="457200" indent="-457200" algn="just">
              <a:buFont typeface="Arial" panose="020B0604020202020204" pitchFamily="34" charset="0"/>
              <a:buChar char="•"/>
            </a:pPr>
            <a:endParaRPr lang="es-ES" sz="3000" b="1" dirty="0">
              <a:solidFill>
                <a:schemeClr val="dk2"/>
              </a:solidFill>
              <a:latin typeface="Poppins"/>
              <a:cs typeface="Poppins"/>
            </a:endParaRPr>
          </a:p>
          <a:p>
            <a:pPr marL="457200" indent="-457200" algn="just">
              <a:buFont typeface="Arial" panose="020B0604020202020204" pitchFamily="34" charset="0"/>
              <a:buChar char="•"/>
            </a:pPr>
            <a:r>
              <a:rPr lang="es-ES" sz="3000" b="1" dirty="0">
                <a:solidFill>
                  <a:schemeClr val="dk2"/>
                </a:solidFill>
                <a:latin typeface="Poppins"/>
                <a:cs typeface="Poppins"/>
              </a:rPr>
              <a:t>Unificación de identidades</a:t>
            </a:r>
          </a:p>
          <a:p>
            <a:pPr marL="457200" indent="-457200" algn="just">
              <a:buFont typeface="Arial" panose="020B0604020202020204" pitchFamily="34" charset="0"/>
              <a:buChar char="•"/>
            </a:pPr>
            <a:endParaRPr lang="es-ES" sz="3000" b="1" dirty="0">
              <a:solidFill>
                <a:schemeClr val="dk2"/>
              </a:solidFill>
              <a:latin typeface="Poppins"/>
              <a:cs typeface="Poppins"/>
            </a:endParaRPr>
          </a:p>
          <a:p>
            <a:pPr marL="457200" indent="-457200" algn="just">
              <a:buFont typeface="Arial" panose="020B0604020202020204" pitchFamily="34" charset="0"/>
              <a:buChar char="•"/>
            </a:pPr>
            <a:r>
              <a:rPr lang="es-ES" sz="3000" b="1" dirty="0">
                <a:solidFill>
                  <a:schemeClr val="dk2"/>
                </a:solidFill>
                <a:latin typeface="Poppins"/>
                <a:cs typeface="Poppins"/>
              </a:rPr>
              <a:t>Combinación de datos históricos y tiempo real</a:t>
            </a:r>
          </a:p>
          <a:p>
            <a:pPr marL="457200" indent="-457200" algn="just">
              <a:buFont typeface="Arial" panose="020B0604020202020204" pitchFamily="34" charset="0"/>
              <a:buChar char="•"/>
            </a:pPr>
            <a:endParaRPr lang="es-ES" sz="3000" b="1" dirty="0">
              <a:solidFill>
                <a:schemeClr val="dk2"/>
              </a:solidFill>
              <a:latin typeface="Poppins"/>
              <a:cs typeface="Poppins"/>
            </a:endParaRPr>
          </a:p>
          <a:p>
            <a:pPr algn="just"/>
            <a:endParaRPr lang="es-ES" sz="3000" b="1" dirty="0">
              <a:solidFill>
                <a:schemeClr val="dk2"/>
              </a:solidFill>
              <a:latin typeface="Poppins"/>
              <a:cs typeface="Poppins"/>
            </a:endParaRPr>
          </a:p>
        </p:txBody>
      </p:sp>
      <p:pic>
        <p:nvPicPr>
          <p:cNvPr id="3074" name="Picture 2" descr="Los grandes datos del Big Data - CIO MX % %">
            <a:extLst>
              <a:ext uri="{FF2B5EF4-FFF2-40B4-BE49-F238E27FC236}">
                <a16:creationId xmlns:a16="http://schemas.microsoft.com/office/drawing/2014/main" id="{06344E62-69A8-F030-0EA0-D8EF037D380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959227" y="5359918"/>
            <a:ext cx="7597107" cy="54469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02785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4" name="Google Shape;80;p12">
            <a:extLst>
              <a:ext uri="{FF2B5EF4-FFF2-40B4-BE49-F238E27FC236}">
                <a16:creationId xmlns:a16="http://schemas.microsoft.com/office/drawing/2014/main" id="{949AE882-3201-4C73-96A3-3B7820DAFF91}"/>
              </a:ext>
            </a:extLst>
          </p:cNvPr>
          <p:cNvSpPr txBox="1"/>
          <p:nvPr/>
        </p:nvSpPr>
        <p:spPr>
          <a:xfrm>
            <a:off x="677855" y="1830984"/>
            <a:ext cx="23005771"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dirty="0" err="1">
                <a:sym typeface="Montserrat"/>
              </a:rPr>
              <a:t>Modelos</a:t>
            </a:r>
            <a:r>
              <a:rPr lang="en-US" dirty="0">
                <a:sym typeface="Montserrat"/>
              </a:rPr>
              <a:t> de </a:t>
            </a:r>
            <a:r>
              <a:rPr lang="en-US" dirty="0" err="1">
                <a:sym typeface="Montserrat"/>
              </a:rPr>
              <a:t>Generación</a:t>
            </a:r>
            <a:r>
              <a:rPr lang="en-US" dirty="0">
                <a:sym typeface="Montserrat"/>
              </a:rPr>
              <a:t> de Big Data</a:t>
            </a:r>
            <a:endParaRPr dirty="0"/>
          </a:p>
        </p:txBody>
      </p:sp>
      <p:pic>
        <p:nvPicPr>
          <p:cNvPr id="2" name="Imagen 1">
            <a:extLst>
              <a:ext uri="{FF2B5EF4-FFF2-40B4-BE49-F238E27FC236}">
                <a16:creationId xmlns:a16="http://schemas.microsoft.com/office/drawing/2014/main" id="{88A95AE1-5573-0DA9-E462-9330D5E67FCE}"/>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B8272304-69C5-6344-5CD4-14ADF8BB84EF}"/>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5" name="Rectángulo 4">
            <a:extLst>
              <a:ext uri="{FF2B5EF4-FFF2-40B4-BE49-F238E27FC236}">
                <a16:creationId xmlns:a16="http://schemas.microsoft.com/office/drawing/2014/main" id="{C002B0EA-0D67-BE3F-D5F3-DE1597177E54}"/>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76F833C5-FF07-8A83-6CB2-AD476199B08B}"/>
              </a:ext>
            </a:extLst>
          </p:cNvPr>
          <p:cNvPicPr>
            <a:picLocks noChangeAspect="1"/>
          </p:cNvPicPr>
          <p:nvPr/>
        </p:nvPicPr>
        <p:blipFill>
          <a:blip r:embed="rId5"/>
          <a:stretch>
            <a:fillRect/>
          </a:stretch>
        </p:blipFill>
        <p:spPr>
          <a:xfrm>
            <a:off x="23204799" y="12494218"/>
            <a:ext cx="607560" cy="903930"/>
          </a:xfrm>
          <a:prstGeom prst="rect">
            <a:avLst/>
          </a:prstGeom>
        </p:spPr>
      </p:pic>
      <p:sp>
        <p:nvSpPr>
          <p:cNvPr id="10" name="CuadroTexto 9">
            <a:extLst>
              <a:ext uri="{FF2B5EF4-FFF2-40B4-BE49-F238E27FC236}">
                <a16:creationId xmlns:a16="http://schemas.microsoft.com/office/drawing/2014/main" id="{D6DD58DF-75A7-FFDA-7727-711507EFC37B}"/>
              </a:ext>
            </a:extLst>
          </p:cNvPr>
          <p:cNvSpPr txBox="1"/>
          <p:nvPr/>
        </p:nvSpPr>
        <p:spPr>
          <a:xfrm>
            <a:off x="4770257" y="4076572"/>
            <a:ext cx="6106290" cy="707886"/>
          </a:xfrm>
          <a:prstGeom prst="rect">
            <a:avLst/>
          </a:prstGeom>
          <a:noFill/>
        </p:spPr>
        <p:txBody>
          <a:bodyPr wrap="square">
            <a:spAutoFit/>
          </a:bodyPr>
          <a:lstStyle/>
          <a:p>
            <a:r>
              <a:rPr lang="es-ES" sz="4000" b="1" i="0" dirty="0">
                <a:solidFill>
                  <a:srgbClr val="374151"/>
                </a:solidFill>
                <a:effectLst/>
                <a:latin typeface="Söhne"/>
              </a:rPr>
              <a:t>Modelos </a:t>
            </a:r>
            <a:r>
              <a:rPr lang="es-ES" sz="4000" b="1" dirty="0">
                <a:solidFill>
                  <a:srgbClr val="374151"/>
                </a:solidFill>
                <a:latin typeface="Söhne"/>
              </a:rPr>
              <a:t>de inyección</a:t>
            </a:r>
            <a:endParaRPr lang="es-MX" sz="4000" b="1" dirty="0"/>
          </a:p>
        </p:txBody>
      </p:sp>
      <p:sp>
        <p:nvSpPr>
          <p:cNvPr id="8" name="CuadroTexto 7">
            <a:extLst>
              <a:ext uri="{FF2B5EF4-FFF2-40B4-BE49-F238E27FC236}">
                <a16:creationId xmlns:a16="http://schemas.microsoft.com/office/drawing/2014/main" id="{F54ED5FB-2786-959F-A353-4074AD853650}"/>
              </a:ext>
            </a:extLst>
          </p:cNvPr>
          <p:cNvSpPr txBox="1"/>
          <p:nvPr/>
        </p:nvSpPr>
        <p:spPr>
          <a:xfrm>
            <a:off x="1416574" y="6173093"/>
            <a:ext cx="10777013" cy="5170646"/>
          </a:xfrm>
          <a:prstGeom prst="rect">
            <a:avLst/>
          </a:prstGeom>
          <a:noFill/>
        </p:spPr>
        <p:txBody>
          <a:bodyPr wrap="square">
            <a:spAutoFit/>
          </a:bodyPr>
          <a:lstStyle/>
          <a:p>
            <a:pPr marL="457200" lvl="8" indent="-457200" algn="just">
              <a:buFont typeface="Arial" panose="020B0604020202020204" pitchFamily="34" charset="0"/>
              <a:buChar char="•"/>
            </a:pPr>
            <a:r>
              <a:rPr lang="es-ES" sz="3000" b="1" dirty="0">
                <a:solidFill>
                  <a:schemeClr val="dk2"/>
                </a:solidFill>
                <a:latin typeface="Poppins"/>
                <a:cs typeface="Poppins"/>
              </a:rPr>
              <a:t>Carga masiva de fuentes externas</a:t>
            </a:r>
          </a:p>
          <a:p>
            <a:pPr marL="457200" lvl="8" indent="-457200" algn="just">
              <a:buFont typeface="Arial" panose="020B0604020202020204" pitchFamily="34" charset="0"/>
              <a:buChar char="•"/>
            </a:pPr>
            <a:endParaRPr lang="es-ES" sz="3000" b="1" dirty="0">
              <a:solidFill>
                <a:schemeClr val="dk2"/>
              </a:solidFill>
              <a:latin typeface="Poppins"/>
              <a:cs typeface="Poppins"/>
            </a:endParaRPr>
          </a:p>
          <a:p>
            <a:pPr marL="457200" indent="-457200" algn="just">
              <a:buFont typeface="Arial" panose="020B0604020202020204" pitchFamily="34" charset="0"/>
              <a:buChar char="•"/>
            </a:pPr>
            <a:r>
              <a:rPr lang="es-ES" sz="3000" b="1" dirty="0">
                <a:solidFill>
                  <a:schemeClr val="dk2"/>
                </a:solidFill>
                <a:latin typeface="Poppins"/>
                <a:cs typeface="Poppins"/>
              </a:rPr>
              <a:t>Generación programática de datos </a:t>
            </a:r>
          </a:p>
          <a:p>
            <a:pPr marL="457200" indent="-457200" algn="just">
              <a:buFont typeface="Arial" panose="020B0604020202020204" pitchFamily="34" charset="0"/>
              <a:buChar char="•"/>
            </a:pPr>
            <a:endParaRPr lang="es-ES" sz="3000" b="1" dirty="0">
              <a:solidFill>
                <a:schemeClr val="dk2"/>
              </a:solidFill>
              <a:latin typeface="Poppins"/>
              <a:cs typeface="Poppins"/>
            </a:endParaRPr>
          </a:p>
          <a:p>
            <a:pPr marL="457200" indent="-457200" algn="just">
              <a:buFont typeface="Arial" panose="020B0604020202020204" pitchFamily="34" charset="0"/>
              <a:buChar char="•"/>
            </a:pPr>
            <a:r>
              <a:rPr lang="es-ES" sz="3000" b="1" dirty="0">
                <a:solidFill>
                  <a:schemeClr val="dk2"/>
                </a:solidFill>
                <a:latin typeface="Poppins"/>
                <a:cs typeface="Poppins"/>
              </a:rPr>
              <a:t>Generación de datos aleatorios</a:t>
            </a:r>
          </a:p>
          <a:p>
            <a:pPr marL="457200" indent="-457200" algn="just">
              <a:buFont typeface="Arial" panose="020B0604020202020204" pitchFamily="34" charset="0"/>
              <a:buChar char="•"/>
            </a:pPr>
            <a:endParaRPr lang="es-ES" sz="3000" b="1" dirty="0">
              <a:solidFill>
                <a:schemeClr val="dk2"/>
              </a:solidFill>
              <a:latin typeface="Poppins"/>
              <a:cs typeface="Poppins"/>
            </a:endParaRPr>
          </a:p>
          <a:p>
            <a:pPr marL="457200" indent="-457200" algn="just">
              <a:buFont typeface="Arial" panose="020B0604020202020204" pitchFamily="34" charset="0"/>
              <a:buChar char="•"/>
            </a:pPr>
            <a:r>
              <a:rPr lang="es-ES" sz="3000" b="1" dirty="0">
                <a:solidFill>
                  <a:schemeClr val="dk2"/>
                </a:solidFill>
                <a:latin typeface="Poppins"/>
                <a:cs typeface="Poppins"/>
              </a:rPr>
              <a:t>Replicación de datos existentes</a:t>
            </a:r>
          </a:p>
          <a:p>
            <a:pPr marL="457200" indent="-457200" algn="just">
              <a:buFont typeface="Arial" panose="020B0604020202020204" pitchFamily="34" charset="0"/>
              <a:buChar char="•"/>
            </a:pPr>
            <a:endParaRPr lang="es-ES" sz="3000" b="1" dirty="0">
              <a:solidFill>
                <a:schemeClr val="dk2"/>
              </a:solidFill>
              <a:latin typeface="Poppins"/>
              <a:cs typeface="Poppins"/>
            </a:endParaRPr>
          </a:p>
          <a:p>
            <a:pPr marL="457200" indent="-457200" algn="just">
              <a:buFont typeface="Arial" panose="020B0604020202020204" pitchFamily="34" charset="0"/>
              <a:buChar char="•"/>
            </a:pPr>
            <a:r>
              <a:rPr lang="es-ES" sz="3000" b="1" dirty="0">
                <a:solidFill>
                  <a:schemeClr val="dk2"/>
                </a:solidFill>
                <a:latin typeface="Poppins"/>
                <a:cs typeface="Poppins"/>
              </a:rPr>
              <a:t>Generación de datos de pruebas específicas</a:t>
            </a:r>
          </a:p>
          <a:p>
            <a:pPr algn="just"/>
            <a:endParaRPr lang="es-ES" sz="3000" b="1" dirty="0">
              <a:solidFill>
                <a:schemeClr val="dk2"/>
              </a:solidFill>
              <a:latin typeface="Poppins"/>
              <a:cs typeface="Poppins"/>
            </a:endParaRPr>
          </a:p>
          <a:p>
            <a:pPr algn="just"/>
            <a:endParaRPr lang="es-ES" sz="3000" b="1" dirty="0">
              <a:solidFill>
                <a:schemeClr val="dk2"/>
              </a:solidFill>
              <a:latin typeface="Poppins"/>
              <a:cs typeface="Poppins"/>
            </a:endParaRPr>
          </a:p>
        </p:txBody>
      </p:sp>
      <p:pic>
        <p:nvPicPr>
          <p:cNvPr id="4098" name="Picture 2" descr="Consideraciones procesos ETL en entornos Big Data: Caso Hadoop | Dataprix">
            <a:extLst>
              <a:ext uri="{FF2B5EF4-FFF2-40B4-BE49-F238E27FC236}">
                <a16:creationId xmlns:a16="http://schemas.microsoft.com/office/drawing/2014/main" id="{EFC3487E-B8AC-6F45-93CE-71E6D73A4D6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14191" y="6070379"/>
            <a:ext cx="9656410" cy="44211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02392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54" name="Google Shape;54;p10"/>
          <p:cNvSpPr txBox="1"/>
          <p:nvPr/>
        </p:nvSpPr>
        <p:spPr>
          <a:xfrm>
            <a:off x="3133963" y="2694500"/>
            <a:ext cx="14714392" cy="1200329"/>
          </a:xfrm>
          <a:prstGeom prst="rect">
            <a:avLst/>
          </a:prstGeom>
          <a:noFill/>
          <a:ln>
            <a:noFill/>
          </a:ln>
        </p:spPr>
        <p:txBody>
          <a:bodyPr spcFirstLastPara="1" wrap="square" lIns="91425" tIns="45700" rIns="91425" bIns="45700" anchor="t" anchorCtr="0">
            <a:noAutofit/>
          </a:bodyPr>
          <a:lstStyle/>
          <a:p>
            <a:pPr algn="l"/>
            <a:r>
              <a:rPr lang="es-ES" sz="4400" b="1" dirty="0">
                <a:solidFill>
                  <a:srgbClr val="374151"/>
                </a:solidFill>
                <a:latin typeface="Söhne"/>
              </a:rPr>
              <a:t>Tarea</a:t>
            </a:r>
          </a:p>
          <a:p>
            <a:pPr algn="l"/>
            <a:endParaRPr lang="es-ES" sz="4400" b="1" dirty="0">
              <a:solidFill>
                <a:srgbClr val="374151"/>
              </a:solidFill>
              <a:latin typeface="Söhne"/>
            </a:endParaRPr>
          </a:p>
          <a:p>
            <a:pPr algn="l"/>
            <a:endParaRPr lang="es-ES" sz="4400" b="1" dirty="0">
              <a:solidFill>
                <a:srgbClr val="374151"/>
              </a:solidFill>
              <a:latin typeface="Söhne"/>
            </a:endParaRPr>
          </a:p>
          <a:p>
            <a:pPr algn="l"/>
            <a:r>
              <a:rPr lang="es-ES" sz="4400" b="1" dirty="0">
                <a:solidFill>
                  <a:srgbClr val="374151"/>
                </a:solidFill>
                <a:latin typeface="Söhne"/>
              </a:rPr>
              <a:t>Realizar un mapa mental de cada modelo de generación o extracción de datos</a:t>
            </a:r>
          </a:p>
          <a:p>
            <a:pPr algn="l"/>
            <a:endParaRPr lang="es-ES" sz="4400" b="1" dirty="0">
              <a:solidFill>
                <a:srgbClr val="374151"/>
              </a:solidFill>
              <a:latin typeface="Söhne"/>
            </a:endParaRPr>
          </a:p>
          <a:p>
            <a:pPr algn="l"/>
            <a:r>
              <a:rPr lang="es-ES" sz="4400" b="1" dirty="0">
                <a:solidFill>
                  <a:srgbClr val="374151"/>
                </a:solidFill>
                <a:latin typeface="Söhne"/>
              </a:rPr>
              <a:t>   a) Modelos sintéticos</a:t>
            </a:r>
          </a:p>
          <a:p>
            <a:pPr algn="l"/>
            <a:r>
              <a:rPr lang="es-ES" sz="4400" b="1" dirty="0">
                <a:solidFill>
                  <a:srgbClr val="374151"/>
                </a:solidFill>
                <a:latin typeface="Söhne"/>
              </a:rPr>
              <a:t>   b) Modelo de extracción de datos</a:t>
            </a:r>
          </a:p>
          <a:p>
            <a:pPr algn="l"/>
            <a:r>
              <a:rPr lang="es-ES" sz="4400" b="1" dirty="0">
                <a:solidFill>
                  <a:srgbClr val="374151"/>
                </a:solidFill>
                <a:latin typeface="Söhne"/>
              </a:rPr>
              <a:t>   c) Modelos de ampliación</a:t>
            </a:r>
          </a:p>
          <a:p>
            <a:pPr algn="l"/>
            <a:r>
              <a:rPr lang="es-ES" sz="4400" b="1" dirty="0">
                <a:solidFill>
                  <a:srgbClr val="374151"/>
                </a:solidFill>
                <a:latin typeface="Söhne"/>
              </a:rPr>
              <a:t>   d) Modelos de combinación</a:t>
            </a:r>
          </a:p>
          <a:p>
            <a:pPr algn="l"/>
            <a:r>
              <a:rPr lang="es-ES" sz="4400" b="1" dirty="0">
                <a:solidFill>
                  <a:srgbClr val="374151"/>
                </a:solidFill>
                <a:latin typeface="Söhne"/>
              </a:rPr>
              <a:t>   e) Modelos de Inyección</a:t>
            </a:r>
          </a:p>
          <a:p>
            <a:pPr algn="l"/>
            <a:endParaRPr lang="es-ES" sz="4400" b="1" dirty="0">
              <a:solidFill>
                <a:srgbClr val="374151"/>
              </a:solidFill>
              <a:latin typeface="Söhne"/>
            </a:endParaRPr>
          </a:p>
          <a:p>
            <a:pPr algn="l"/>
            <a:endParaRPr lang="es-ES" sz="4400" b="1" dirty="0">
              <a:solidFill>
                <a:srgbClr val="374151"/>
              </a:solidFill>
              <a:latin typeface="Söhne"/>
            </a:endParaRPr>
          </a:p>
        </p:txBody>
      </p:sp>
      <p:pic>
        <p:nvPicPr>
          <p:cNvPr id="2" name="Imagen 1">
            <a:extLst>
              <a:ext uri="{FF2B5EF4-FFF2-40B4-BE49-F238E27FC236}">
                <a16:creationId xmlns:a16="http://schemas.microsoft.com/office/drawing/2014/main" id="{2C1C6617-6153-BA88-DB57-8E0C89865862}"/>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66D5C994-4D5A-23DF-8421-4F892DE66B46}"/>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9FB9CEBE-742A-C50F-220C-C9912664A66C}"/>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324A513D-F97A-43ED-5339-086E251C516D}"/>
              </a:ext>
            </a:extLst>
          </p:cNvPr>
          <p:cNvPicPr>
            <a:picLocks noChangeAspect="1"/>
          </p:cNvPicPr>
          <p:nvPr/>
        </p:nvPicPr>
        <p:blipFill>
          <a:blip r:embed="rId5"/>
          <a:stretch>
            <a:fillRect/>
          </a:stretch>
        </p:blipFill>
        <p:spPr>
          <a:xfrm>
            <a:off x="23204799" y="12494218"/>
            <a:ext cx="607560" cy="903930"/>
          </a:xfrm>
          <a:prstGeom prst="rect">
            <a:avLst/>
          </a:prstGeom>
        </p:spPr>
      </p:pic>
    </p:spTree>
    <p:extLst>
      <p:ext uri="{BB962C8B-B14F-4D97-AF65-F5344CB8AC3E}">
        <p14:creationId xmlns:p14="http://schemas.microsoft.com/office/powerpoint/2010/main" val="3902754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54" name="Google Shape;54;p10"/>
          <p:cNvSpPr txBox="1"/>
          <p:nvPr/>
        </p:nvSpPr>
        <p:spPr>
          <a:xfrm>
            <a:off x="10190976" y="745385"/>
            <a:ext cx="14714392" cy="120032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2"/>
              </a:buClr>
              <a:buSzPts val="1800"/>
              <a:buFont typeface="Montserrat"/>
              <a:buNone/>
            </a:pPr>
            <a:r>
              <a:rPr lang="es-AR" sz="7200" dirty="0"/>
              <a:t>Ecosistemas y </a:t>
            </a:r>
            <a:r>
              <a:rPr lang="es-AR" sz="7200" dirty="0" err="1"/>
              <a:t>Frameworks</a:t>
            </a:r>
            <a:endParaRPr b="1" i="1" dirty="0"/>
          </a:p>
        </p:txBody>
      </p:sp>
      <p:pic>
        <p:nvPicPr>
          <p:cNvPr id="2" name="Imagen 1">
            <a:extLst>
              <a:ext uri="{FF2B5EF4-FFF2-40B4-BE49-F238E27FC236}">
                <a16:creationId xmlns:a16="http://schemas.microsoft.com/office/drawing/2014/main" id="{2C1C6617-6153-BA88-DB57-8E0C89865862}"/>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66D5C994-4D5A-23DF-8421-4F892DE66B46}"/>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9FB9CEBE-742A-C50F-220C-C9912664A66C}"/>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324A513D-F97A-43ED-5339-086E251C516D}"/>
              </a:ext>
            </a:extLst>
          </p:cNvPr>
          <p:cNvPicPr>
            <a:picLocks noChangeAspect="1"/>
          </p:cNvPicPr>
          <p:nvPr/>
        </p:nvPicPr>
        <p:blipFill>
          <a:blip r:embed="rId5"/>
          <a:stretch>
            <a:fillRect/>
          </a:stretch>
        </p:blipFill>
        <p:spPr>
          <a:xfrm>
            <a:off x="23204799" y="12494218"/>
            <a:ext cx="607560" cy="903930"/>
          </a:xfrm>
          <a:prstGeom prst="rect">
            <a:avLst/>
          </a:prstGeom>
        </p:spPr>
      </p:pic>
      <p:pic>
        <p:nvPicPr>
          <p:cNvPr id="5124" name="Picture 4">
            <a:extLst>
              <a:ext uri="{FF2B5EF4-FFF2-40B4-BE49-F238E27FC236}">
                <a16:creationId xmlns:a16="http://schemas.microsoft.com/office/drawing/2014/main" id="{FCDA6CD2-E5AF-A8D4-C8D9-726A485A549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54294" y="2537791"/>
            <a:ext cx="18678586" cy="99564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01614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54" name="Google Shape;54;p10"/>
          <p:cNvSpPr txBox="1"/>
          <p:nvPr/>
        </p:nvSpPr>
        <p:spPr>
          <a:xfrm>
            <a:off x="10190976" y="745385"/>
            <a:ext cx="14714392" cy="120032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2"/>
              </a:buClr>
              <a:buSzPts val="1800"/>
              <a:buFont typeface="Montserrat"/>
              <a:buNone/>
            </a:pPr>
            <a:r>
              <a:rPr lang="es-AR" sz="7200" dirty="0"/>
              <a:t>Ecosistemas y </a:t>
            </a:r>
            <a:r>
              <a:rPr lang="es-AR" sz="7200" dirty="0" err="1"/>
              <a:t>Frameworks</a:t>
            </a:r>
            <a:endParaRPr b="1" i="1" dirty="0"/>
          </a:p>
        </p:txBody>
      </p:sp>
      <p:pic>
        <p:nvPicPr>
          <p:cNvPr id="2" name="Imagen 1">
            <a:extLst>
              <a:ext uri="{FF2B5EF4-FFF2-40B4-BE49-F238E27FC236}">
                <a16:creationId xmlns:a16="http://schemas.microsoft.com/office/drawing/2014/main" id="{2C1C6617-6153-BA88-DB57-8E0C89865862}"/>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66D5C994-4D5A-23DF-8421-4F892DE66B46}"/>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9FB9CEBE-742A-C50F-220C-C9912664A66C}"/>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324A513D-F97A-43ED-5339-086E251C516D}"/>
              </a:ext>
            </a:extLst>
          </p:cNvPr>
          <p:cNvPicPr>
            <a:picLocks noChangeAspect="1"/>
          </p:cNvPicPr>
          <p:nvPr/>
        </p:nvPicPr>
        <p:blipFill>
          <a:blip r:embed="rId5"/>
          <a:stretch>
            <a:fillRect/>
          </a:stretch>
        </p:blipFill>
        <p:spPr>
          <a:xfrm>
            <a:off x="23204799" y="12494218"/>
            <a:ext cx="607560" cy="903930"/>
          </a:xfrm>
          <a:prstGeom prst="rect">
            <a:avLst/>
          </a:prstGeom>
        </p:spPr>
      </p:pic>
      <p:pic>
        <p:nvPicPr>
          <p:cNvPr id="7" name="Imagen 6">
            <a:extLst>
              <a:ext uri="{FF2B5EF4-FFF2-40B4-BE49-F238E27FC236}">
                <a16:creationId xmlns:a16="http://schemas.microsoft.com/office/drawing/2014/main" id="{B840383B-D107-3DE3-6B90-856F5573E464}"/>
              </a:ext>
            </a:extLst>
          </p:cNvPr>
          <p:cNvPicPr>
            <a:picLocks noChangeAspect="1"/>
          </p:cNvPicPr>
          <p:nvPr/>
        </p:nvPicPr>
        <p:blipFill>
          <a:blip r:embed="rId6"/>
          <a:stretch>
            <a:fillRect/>
          </a:stretch>
        </p:blipFill>
        <p:spPr>
          <a:xfrm>
            <a:off x="1694972" y="2137977"/>
            <a:ext cx="4321877" cy="1976822"/>
          </a:xfrm>
          <a:prstGeom prst="rect">
            <a:avLst/>
          </a:prstGeom>
        </p:spPr>
      </p:pic>
      <p:sp>
        <p:nvSpPr>
          <p:cNvPr id="9" name="CuadroTexto 8">
            <a:extLst>
              <a:ext uri="{FF2B5EF4-FFF2-40B4-BE49-F238E27FC236}">
                <a16:creationId xmlns:a16="http://schemas.microsoft.com/office/drawing/2014/main" id="{20028E74-A737-85E6-C0FB-70DA410CF230}"/>
              </a:ext>
            </a:extLst>
          </p:cNvPr>
          <p:cNvSpPr txBox="1"/>
          <p:nvPr/>
        </p:nvSpPr>
        <p:spPr>
          <a:xfrm>
            <a:off x="2112980" y="4661595"/>
            <a:ext cx="20667187" cy="8648521"/>
          </a:xfrm>
          <a:prstGeom prst="rect">
            <a:avLst/>
          </a:prstGeom>
          <a:noFill/>
        </p:spPr>
        <p:txBody>
          <a:bodyPr wrap="square">
            <a:spAutoFit/>
          </a:bodyPr>
          <a:lstStyle/>
          <a:p>
            <a:pPr algn="just"/>
            <a:r>
              <a:rPr lang="es-ES" sz="4000" b="0" i="0" dirty="0">
                <a:solidFill>
                  <a:srgbClr val="374151"/>
                </a:solidFill>
                <a:effectLst/>
                <a:latin typeface="Söhne"/>
              </a:rPr>
              <a:t>Hadoop es un </a:t>
            </a:r>
            <a:r>
              <a:rPr lang="es-ES" sz="4000" b="0" i="0" dirty="0" err="1">
                <a:solidFill>
                  <a:srgbClr val="374151"/>
                </a:solidFill>
                <a:effectLst/>
                <a:latin typeface="Söhne"/>
              </a:rPr>
              <a:t>framework</a:t>
            </a:r>
            <a:r>
              <a:rPr lang="es-ES" sz="4000" b="0" i="0" dirty="0">
                <a:solidFill>
                  <a:srgbClr val="374151"/>
                </a:solidFill>
                <a:effectLst/>
                <a:latin typeface="Söhne"/>
              </a:rPr>
              <a:t> de código abierto diseñado para el almacenamiento y procesamiento distribuido de grandes volúmenes de datos en clústeres de servidores. Fue desarrollado por Apache Software </a:t>
            </a:r>
            <a:r>
              <a:rPr lang="es-ES" sz="4000" b="0" i="0" dirty="0" err="1">
                <a:solidFill>
                  <a:srgbClr val="374151"/>
                </a:solidFill>
                <a:effectLst/>
                <a:latin typeface="Söhne"/>
              </a:rPr>
              <a:t>Foundation</a:t>
            </a:r>
            <a:r>
              <a:rPr lang="es-ES" sz="4000" b="0" i="0" dirty="0">
                <a:solidFill>
                  <a:srgbClr val="374151"/>
                </a:solidFill>
                <a:effectLst/>
                <a:latin typeface="Söhne"/>
              </a:rPr>
              <a:t> y se basa en el trabajo del proyecto Google File </a:t>
            </a:r>
            <a:r>
              <a:rPr lang="es-ES" sz="4000" b="0" i="0" dirty="0" err="1">
                <a:solidFill>
                  <a:srgbClr val="374151"/>
                </a:solidFill>
                <a:effectLst/>
                <a:latin typeface="Söhne"/>
              </a:rPr>
              <a:t>System</a:t>
            </a:r>
            <a:r>
              <a:rPr lang="es-ES" sz="4000" b="0" i="0" dirty="0">
                <a:solidFill>
                  <a:srgbClr val="374151"/>
                </a:solidFill>
                <a:effectLst/>
                <a:latin typeface="Söhne"/>
              </a:rPr>
              <a:t> (GFS) y el modelo de programación MapReduce de Google.</a:t>
            </a:r>
          </a:p>
          <a:p>
            <a:pPr algn="l"/>
            <a:endParaRPr lang="es-ES" sz="3600" dirty="0">
              <a:solidFill>
                <a:srgbClr val="374151"/>
              </a:solidFill>
              <a:latin typeface="Söhne"/>
            </a:endParaRPr>
          </a:p>
          <a:p>
            <a:pPr algn="l"/>
            <a:r>
              <a:rPr lang="es-ES" sz="3600" b="0" i="0" dirty="0">
                <a:solidFill>
                  <a:srgbClr val="374151"/>
                </a:solidFill>
                <a:effectLst/>
                <a:latin typeface="Söhne"/>
              </a:rPr>
              <a:t>El objetivo principal de Hadoop es permitir el procesamiento de datos a gran escala de manera eficiente y confiable, incluso en hardware convencional y asequible. El </a:t>
            </a:r>
            <a:r>
              <a:rPr lang="es-ES" sz="3600" b="0" i="0" dirty="0" err="1">
                <a:solidFill>
                  <a:srgbClr val="374151"/>
                </a:solidFill>
                <a:effectLst/>
                <a:latin typeface="Söhne"/>
              </a:rPr>
              <a:t>framework</a:t>
            </a:r>
            <a:r>
              <a:rPr lang="es-ES" sz="3600" b="0" i="0" dirty="0">
                <a:solidFill>
                  <a:srgbClr val="374151"/>
                </a:solidFill>
                <a:effectLst/>
                <a:latin typeface="Söhne"/>
              </a:rPr>
              <a:t> está diseñado para manejar datos de diversos formatos, como datos estructurados, </a:t>
            </a:r>
            <a:r>
              <a:rPr lang="es-ES" sz="3600" b="0" i="0" dirty="0" err="1">
                <a:solidFill>
                  <a:srgbClr val="374151"/>
                </a:solidFill>
                <a:effectLst/>
                <a:latin typeface="Söhne"/>
              </a:rPr>
              <a:t>semi-estructurados</a:t>
            </a:r>
            <a:r>
              <a:rPr lang="es-ES" sz="3600" b="0" i="0" dirty="0">
                <a:solidFill>
                  <a:srgbClr val="374151"/>
                </a:solidFill>
                <a:effectLst/>
                <a:latin typeface="Söhne"/>
              </a:rPr>
              <a:t> y no estructurados.</a:t>
            </a:r>
          </a:p>
          <a:p>
            <a:pPr algn="l"/>
            <a:endParaRPr lang="es-ES" sz="3600" b="0" i="0" dirty="0">
              <a:solidFill>
                <a:srgbClr val="374151"/>
              </a:solidFill>
              <a:effectLst/>
              <a:latin typeface="Söhne"/>
            </a:endParaRPr>
          </a:p>
          <a:p>
            <a:pPr algn="l"/>
            <a:r>
              <a:rPr lang="es-ES" sz="3600" b="0" i="0" dirty="0">
                <a:solidFill>
                  <a:srgbClr val="374151"/>
                </a:solidFill>
                <a:effectLst/>
                <a:latin typeface="Söhne"/>
              </a:rPr>
              <a:t>Los componentes principales de Hadoop son:</a:t>
            </a:r>
          </a:p>
          <a:p>
            <a:pPr algn="l"/>
            <a:endParaRPr lang="es-ES" sz="3600" b="0" i="0" dirty="0">
              <a:solidFill>
                <a:srgbClr val="374151"/>
              </a:solidFill>
              <a:effectLst/>
              <a:latin typeface="Söhne"/>
            </a:endParaRPr>
          </a:p>
          <a:p>
            <a:pPr algn="l">
              <a:buFont typeface="+mj-lt"/>
              <a:buAutoNum type="arabicPeriod"/>
            </a:pPr>
            <a:r>
              <a:rPr lang="es-ES" sz="3600" b="0" i="0" dirty="0">
                <a:solidFill>
                  <a:srgbClr val="374151"/>
                </a:solidFill>
                <a:effectLst/>
                <a:latin typeface="Söhne"/>
              </a:rPr>
              <a:t>Hadoop </a:t>
            </a:r>
            <a:r>
              <a:rPr lang="es-ES" sz="3600" b="0" i="0" dirty="0" err="1">
                <a:solidFill>
                  <a:srgbClr val="374151"/>
                </a:solidFill>
                <a:effectLst/>
                <a:latin typeface="Söhne"/>
              </a:rPr>
              <a:t>Distributed</a:t>
            </a:r>
            <a:r>
              <a:rPr lang="es-ES" sz="3600" b="0" i="0" dirty="0">
                <a:solidFill>
                  <a:srgbClr val="374151"/>
                </a:solidFill>
                <a:effectLst/>
                <a:latin typeface="Söhne"/>
              </a:rPr>
              <a:t> File </a:t>
            </a:r>
            <a:r>
              <a:rPr lang="es-ES" sz="3600" b="0" i="0" dirty="0" err="1">
                <a:solidFill>
                  <a:srgbClr val="374151"/>
                </a:solidFill>
                <a:effectLst/>
                <a:latin typeface="Söhne"/>
              </a:rPr>
              <a:t>System</a:t>
            </a:r>
            <a:r>
              <a:rPr lang="es-ES" sz="3600" b="0" i="0" dirty="0">
                <a:solidFill>
                  <a:srgbClr val="374151"/>
                </a:solidFill>
                <a:effectLst/>
                <a:latin typeface="Söhne"/>
              </a:rPr>
              <a:t> (HDF):</a:t>
            </a:r>
          </a:p>
          <a:p>
            <a:pPr algn="l">
              <a:buFont typeface="+mj-lt"/>
              <a:buAutoNum type="arabicPeriod"/>
            </a:pPr>
            <a:r>
              <a:rPr lang="es-ES" sz="3600" dirty="0" err="1">
                <a:solidFill>
                  <a:srgbClr val="374151"/>
                </a:solidFill>
                <a:latin typeface="Söhne"/>
              </a:rPr>
              <a:t>MapRedce</a:t>
            </a:r>
            <a:endParaRPr lang="es-ES" sz="3600" b="0" i="0" dirty="0">
              <a:solidFill>
                <a:srgbClr val="374151"/>
              </a:solidFill>
              <a:effectLst/>
              <a:latin typeface="Söhne"/>
            </a:endParaRPr>
          </a:p>
          <a:p>
            <a:pPr algn="l">
              <a:buFont typeface="+mj-lt"/>
              <a:buAutoNum type="arabicPeriod"/>
            </a:pPr>
            <a:r>
              <a:rPr lang="es-ES" sz="3600" b="0" i="0" dirty="0">
                <a:solidFill>
                  <a:srgbClr val="374151"/>
                </a:solidFill>
                <a:effectLst/>
                <a:latin typeface="Söhne"/>
              </a:rPr>
              <a:t>YARN (</a:t>
            </a:r>
            <a:r>
              <a:rPr lang="es-ES" sz="3600" b="0" i="0" dirty="0" err="1">
                <a:solidFill>
                  <a:srgbClr val="374151"/>
                </a:solidFill>
                <a:effectLst/>
                <a:latin typeface="Söhne"/>
              </a:rPr>
              <a:t>Yet</a:t>
            </a:r>
            <a:r>
              <a:rPr lang="es-ES" sz="3600" b="0" i="0" dirty="0">
                <a:solidFill>
                  <a:srgbClr val="374151"/>
                </a:solidFill>
                <a:effectLst/>
                <a:latin typeface="Söhne"/>
              </a:rPr>
              <a:t> </a:t>
            </a:r>
            <a:r>
              <a:rPr lang="es-ES" sz="3600" b="0" i="0" dirty="0" err="1">
                <a:solidFill>
                  <a:srgbClr val="374151"/>
                </a:solidFill>
                <a:effectLst/>
                <a:latin typeface="Söhne"/>
              </a:rPr>
              <a:t>Another</a:t>
            </a:r>
            <a:r>
              <a:rPr lang="es-ES" sz="3600" b="0" i="0" dirty="0">
                <a:solidFill>
                  <a:srgbClr val="374151"/>
                </a:solidFill>
                <a:effectLst/>
                <a:latin typeface="Söhne"/>
              </a:rPr>
              <a:t> </a:t>
            </a:r>
            <a:r>
              <a:rPr lang="es-ES" sz="3600" b="0" i="0" dirty="0" err="1">
                <a:solidFill>
                  <a:srgbClr val="374151"/>
                </a:solidFill>
                <a:effectLst/>
                <a:latin typeface="Söhne"/>
              </a:rPr>
              <a:t>Resource</a:t>
            </a:r>
            <a:r>
              <a:rPr lang="es-ES" sz="3600" b="0" i="0" dirty="0">
                <a:solidFill>
                  <a:srgbClr val="374151"/>
                </a:solidFill>
                <a:effectLst/>
                <a:latin typeface="Söhne"/>
              </a:rPr>
              <a:t> </a:t>
            </a:r>
            <a:r>
              <a:rPr lang="es-ES" sz="3600" b="0" i="0" dirty="0" err="1">
                <a:solidFill>
                  <a:srgbClr val="374151"/>
                </a:solidFill>
                <a:effectLst/>
                <a:latin typeface="Söhne"/>
              </a:rPr>
              <a:t>Negotiator</a:t>
            </a:r>
            <a:endParaRPr lang="es-ES" sz="3600" b="0" i="0" dirty="0">
              <a:solidFill>
                <a:srgbClr val="374151"/>
              </a:solidFill>
              <a:effectLst/>
              <a:latin typeface="Söhne"/>
            </a:endParaRPr>
          </a:p>
          <a:p>
            <a:pPr algn="l">
              <a:buFont typeface="+mj-lt"/>
              <a:buAutoNum type="arabicPeriod"/>
            </a:pPr>
            <a:r>
              <a:rPr lang="es-ES" sz="3600" b="0" i="0" dirty="0" err="1">
                <a:solidFill>
                  <a:srgbClr val="374151"/>
                </a:solidFill>
                <a:effectLst/>
                <a:latin typeface="Söhne"/>
              </a:rPr>
              <a:t>Common</a:t>
            </a:r>
            <a:r>
              <a:rPr lang="es-ES" sz="3600" b="0" i="0" dirty="0">
                <a:solidFill>
                  <a:srgbClr val="374151"/>
                </a:solidFill>
                <a:effectLst/>
                <a:latin typeface="Söhne"/>
              </a:rPr>
              <a:t> </a:t>
            </a:r>
            <a:r>
              <a:rPr lang="es-ES" sz="3600" b="0" i="0" dirty="0" err="1">
                <a:solidFill>
                  <a:srgbClr val="374151"/>
                </a:solidFill>
                <a:effectLst/>
                <a:latin typeface="Söhne"/>
              </a:rPr>
              <a:t>Utilities</a:t>
            </a:r>
            <a:endParaRPr lang="es-ES" sz="3600" b="0" i="0" dirty="0">
              <a:solidFill>
                <a:srgbClr val="374151"/>
              </a:solidFill>
              <a:effectLst/>
              <a:latin typeface="Söhne"/>
            </a:endParaRPr>
          </a:p>
        </p:txBody>
      </p:sp>
    </p:spTree>
    <p:extLst>
      <p:ext uri="{BB962C8B-B14F-4D97-AF65-F5344CB8AC3E}">
        <p14:creationId xmlns:p14="http://schemas.microsoft.com/office/powerpoint/2010/main" val="33835109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54" name="Google Shape;54;p10"/>
          <p:cNvSpPr txBox="1"/>
          <p:nvPr/>
        </p:nvSpPr>
        <p:spPr>
          <a:xfrm>
            <a:off x="10190976" y="745385"/>
            <a:ext cx="14714392" cy="120032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2"/>
              </a:buClr>
              <a:buSzPts val="1800"/>
              <a:buFont typeface="Montserrat"/>
              <a:buNone/>
            </a:pPr>
            <a:r>
              <a:rPr lang="es-AR" sz="7200" dirty="0"/>
              <a:t>Ecosistemas y </a:t>
            </a:r>
            <a:r>
              <a:rPr lang="es-AR" sz="7200" dirty="0" err="1"/>
              <a:t>Frameworks</a:t>
            </a:r>
            <a:endParaRPr b="1" i="1" dirty="0"/>
          </a:p>
        </p:txBody>
      </p:sp>
      <p:pic>
        <p:nvPicPr>
          <p:cNvPr id="2" name="Imagen 1">
            <a:extLst>
              <a:ext uri="{FF2B5EF4-FFF2-40B4-BE49-F238E27FC236}">
                <a16:creationId xmlns:a16="http://schemas.microsoft.com/office/drawing/2014/main" id="{2C1C6617-6153-BA88-DB57-8E0C89865862}"/>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66D5C994-4D5A-23DF-8421-4F892DE66B46}"/>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9FB9CEBE-742A-C50F-220C-C9912664A66C}"/>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324A513D-F97A-43ED-5339-086E251C516D}"/>
              </a:ext>
            </a:extLst>
          </p:cNvPr>
          <p:cNvPicPr>
            <a:picLocks noChangeAspect="1"/>
          </p:cNvPicPr>
          <p:nvPr/>
        </p:nvPicPr>
        <p:blipFill>
          <a:blip r:embed="rId5"/>
          <a:stretch>
            <a:fillRect/>
          </a:stretch>
        </p:blipFill>
        <p:spPr>
          <a:xfrm>
            <a:off x="23204799" y="12494218"/>
            <a:ext cx="607560" cy="903930"/>
          </a:xfrm>
          <a:prstGeom prst="rect">
            <a:avLst/>
          </a:prstGeom>
        </p:spPr>
      </p:pic>
      <p:pic>
        <p:nvPicPr>
          <p:cNvPr id="9" name="Imagen 8">
            <a:extLst>
              <a:ext uri="{FF2B5EF4-FFF2-40B4-BE49-F238E27FC236}">
                <a16:creationId xmlns:a16="http://schemas.microsoft.com/office/drawing/2014/main" id="{639805E4-BFB7-4108-F8E5-640B461308C0}"/>
              </a:ext>
            </a:extLst>
          </p:cNvPr>
          <p:cNvPicPr>
            <a:picLocks noChangeAspect="1"/>
          </p:cNvPicPr>
          <p:nvPr/>
        </p:nvPicPr>
        <p:blipFill>
          <a:blip r:embed="rId6"/>
          <a:stretch>
            <a:fillRect/>
          </a:stretch>
        </p:blipFill>
        <p:spPr>
          <a:xfrm>
            <a:off x="2112980" y="1602478"/>
            <a:ext cx="4145045" cy="1867938"/>
          </a:xfrm>
          <a:prstGeom prst="rect">
            <a:avLst/>
          </a:prstGeom>
        </p:spPr>
      </p:pic>
      <p:sp>
        <p:nvSpPr>
          <p:cNvPr id="7" name="CuadroTexto 6">
            <a:extLst>
              <a:ext uri="{FF2B5EF4-FFF2-40B4-BE49-F238E27FC236}">
                <a16:creationId xmlns:a16="http://schemas.microsoft.com/office/drawing/2014/main" id="{F8C25CC4-CDB1-50F8-E402-F6ACC103C3D6}"/>
              </a:ext>
            </a:extLst>
          </p:cNvPr>
          <p:cNvSpPr txBox="1"/>
          <p:nvPr/>
        </p:nvSpPr>
        <p:spPr>
          <a:xfrm>
            <a:off x="2552299" y="3672874"/>
            <a:ext cx="20091133" cy="3785652"/>
          </a:xfrm>
          <a:prstGeom prst="rect">
            <a:avLst/>
          </a:prstGeom>
          <a:noFill/>
        </p:spPr>
        <p:txBody>
          <a:bodyPr wrap="square">
            <a:spAutoFit/>
          </a:bodyPr>
          <a:lstStyle/>
          <a:p>
            <a:pPr algn="just"/>
            <a:r>
              <a:rPr lang="es-ES" sz="4000" dirty="0"/>
              <a:t>El análisis de datos en Big Data se refiere al proceso de examinar, limpiar, transformar y modelar grandes conjuntos de datos con el objetivo de descubrir información valiosa, patrones, tendencias y conocimientos significativos. En el contexto de Big Data, los conjuntos de datos son extremadamente grandes y complejos, lo que hace que el análisis tradicional de datos no sea suficiente debido a la dificultad para manejar, procesar y comprender estos volúmenes masivos de información con herramientas convencionales.</a:t>
            </a:r>
            <a:endParaRPr lang="es-MX" sz="4000" dirty="0"/>
          </a:p>
        </p:txBody>
      </p:sp>
      <p:sp>
        <p:nvSpPr>
          <p:cNvPr id="10" name="CuadroTexto 9">
            <a:extLst>
              <a:ext uri="{FF2B5EF4-FFF2-40B4-BE49-F238E27FC236}">
                <a16:creationId xmlns:a16="http://schemas.microsoft.com/office/drawing/2014/main" id="{B2AA1FA2-0D17-C321-86CC-9034DC3B9A36}"/>
              </a:ext>
            </a:extLst>
          </p:cNvPr>
          <p:cNvSpPr txBox="1"/>
          <p:nvPr/>
        </p:nvSpPr>
        <p:spPr>
          <a:xfrm>
            <a:off x="3163033" y="8093013"/>
            <a:ext cx="12452684" cy="4401205"/>
          </a:xfrm>
          <a:prstGeom prst="rect">
            <a:avLst/>
          </a:prstGeom>
          <a:noFill/>
        </p:spPr>
        <p:txBody>
          <a:bodyPr wrap="square">
            <a:spAutoFit/>
          </a:bodyPr>
          <a:lstStyle/>
          <a:p>
            <a:pPr algn="l">
              <a:buFont typeface="+mj-lt"/>
              <a:buAutoNum type="arabicPeriod"/>
            </a:pPr>
            <a:r>
              <a:rPr lang="es-ES" sz="4000" b="1" i="0" dirty="0">
                <a:solidFill>
                  <a:srgbClr val="374151"/>
                </a:solidFill>
                <a:effectLst/>
                <a:latin typeface="Söhne"/>
              </a:rPr>
              <a:t>Adquisición de datos</a:t>
            </a:r>
            <a:endParaRPr lang="es-ES" sz="4000" b="0" i="0" dirty="0">
              <a:solidFill>
                <a:srgbClr val="374151"/>
              </a:solidFill>
              <a:effectLst/>
              <a:latin typeface="Söhne"/>
            </a:endParaRPr>
          </a:p>
          <a:p>
            <a:pPr algn="l">
              <a:buFont typeface="+mj-lt"/>
              <a:buAutoNum type="arabicPeriod"/>
            </a:pPr>
            <a:r>
              <a:rPr lang="es-ES" sz="4000" b="1" i="0" dirty="0">
                <a:solidFill>
                  <a:srgbClr val="374151"/>
                </a:solidFill>
                <a:effectLst/>
                <a:latin typeface="Söhne"/>
              </a:rPr>
              <a:t>Almacenamiento</a:t>
            </a:r>
            <a:r>
              <a:rPr lang="es-ES" sz="4000" b="0" i="0" dirty="0">
                <a:solidFill>
                  <a:srgbClr val="374151"/>
                </a:solidFill>
                <a:effectLst/>
                <a:latin typeface="Söhne"/>
              </a:rPr>
              <a:t>.</a:t>
            </a:r>
          </a:p>
          <a:p>
            <a:pPr algn="l">
              <a:buFont typeface="+mj-lt"/>
              <a:buAutoNum type="arabicPeriod"/>
            </a:pPr>
            <a:r>
              <a:rPr lang="es-ES" sz="4000" b="1" i="0" dirty="0">
                <a:solidFill>
                  <a:srgbClr val="374151"/>
                </a:solidFill>
                <a:effectLst/>
                <a:latin typeface="Söhne"/>
              </a:rPr>
              <a:t>Procesamiento</a:t>
            </a:r>
            <a:r>
              <a:rPr lang="es-ES" sz="4000" b="0" i="0" dirty="0">
                <a:solidFill>
                  <a:srgbClr val="374151"/>
                </a:solidFill>
                <a:effectLst/>
                <a:latin typeface="Söhne"/>
              </a:rPr>
              <a:t>.</a:t>
            </a:r>
          </a:p>
          <a:p>
            <a:pPr algn="l">
              <a:buFont typeface="+mj-lt"/>
              <a:buAutoNum type="arabicPeriod"/>
            </a:pPr>
            <a:r>
              <a:rPr lang="es-ES" sz="4000" b="1" i="0" dirty="0">
                <a:solidFill>
                  <a:srgbClr val="374151"/>
                </a:solidFill>
                <a:effectLst/>
                <a:latin typeface="Söhne"/>
              </a:rPr>
              <a:t>Análisis:</a:t>
            </a:r>
            <a:r>
              <a:rPr lang="es-ES" sz="4000" b="0" i="0" dirty="0">
                <a:solidFill>
                  <a:srgbClr val="374151"/>
                </a:solidFill>
                <a:effectLst/>
                <a:latin typeface="Söhne"/>
              </a:rPr>
              <a:t> </a:t>
            </a:r>
          </a:p>
          <a:p>
            <a:pPr algn="l">
              <a:buFont typeface="+mj-lt"/>
              <a:buAutoNum type="arabicPeriod"/>
            </a:pPr>
            <a:r>
              <a:rPr lang="es-ES" sz="4000" b="1" i="0" dirty="0">
                <a:solidFill>
                  <a:srgbClr val="374151"/>
                </a:solidFill>
                <a:effectLst/>
                <a:latin typeface="Söhne"/>
              </a:rPr>
              <a:t>Interpretación</a:t>
            </a:r>
          </a:p>
          <a:p>
            <a:pPr algn="l">
              <a:buFont typeface="+mj-lt"/>
              <a:buAutoNum type="arabicPeriod"/>
            </a:pPr>
            <a:r>
              <a:rPr lang="es-ES" sz="4000" b="1" i="0" dirty="0">
                <a:solidFill>
                  <a:srgbClr val="374151"/>
                </a:solidFill>
                <a:effectLst/>
                <a:latin typeface="Söhne"/>
              </a:rPr>
              <a:t>Visualización:</a:t>
            </a:r>
            <a:r>
              <a:rPr lang="es-ES" sz="4000" b="0" i="0" dirty="0">
                <a:solidFill>
                  <a:srgbClr val="374151"/>
                </a:solidFill>
                <a:effectLst/>
                <a:latin typeface="Söhne"/>
              </a:rPr>
              <a:t> </a:t>
            </a:r>
          </a:p>
          <a:p>
            <a:pPr algn="l">
              <a:buFont typeface="+mj-lt"/>
              <a:buAutoNum type="arabicPeriod"/>
            </a:pPr>
            <a:r>
              <a:rPr lang="es-ES" sz="4000" b="1" i="0" dirty="0">
                <a:solidFill>
                  <a:srgbClr val="374151"/>
                </a:solidFill>
                <a:effectLst/>
                <a:latin typeface="Söhne"/>
              </a:rPr>
              <a:t>Toma de decisiones</a:t>
            </a:r>
            <a:endParaRPr lang="es-ES" sz="4000" b="0" i="0" dirty="0">
              <a:solidFill>
                <a:srgbClr val="374151"/>
              </a:solidFill>
              <a:effectLst/>
              <a:latin typeface="Söhne"/>
            </a:endParaRPr>
          </a:p>
        </p:txBody>
      </p:sp>
    </p:spTree>
    <p:extLst>
      <p:ext uri="{BB962C8B-B14F-4D97-AF65-F5344CB8AC3E}">
        <p14:creationId xmlns:p14="http://schemas.microsoft.com/office/powerpoint/2010/main" val="5048389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54" name="Google Shape;54;p10"/>
          <p:cNvSpPr txBox="1"/>
          <p:nvPr/>
        </p:nvSpPr>
        <p:spPr>
          <a:xfrm>
            <a:off x="10190976" y="745385"/>
            <a:ext cx="14714392" cy="120032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2"/>
              </a:buClr>
              <a:buSzPts val="1800"/>
              <a:buFont typeface="Montserrat"/>
              <a:buNone/>
            </a:pPr>
            <a:r>
              <a:rPr lang="es-AR" sz="7200" dirty="0"/>
              <a:t>Ecosistemas y </a:t>
            </a:r>
            <a:r>
              <a:rPr lang="es-AR" sz="7200" dirty="0" err="1"/>
              <a:t>Frameworks</a:t>
            </a:r>
            <a:endParaRPr b="1" i="1" dirty="0"/>
          </a:p>
        </p:txBody>
      </p:sp>
      <p:pic>
        <p:nvPicPr>
          <p:cNvPr id="2" name="Imagen 1">
            <a:extLst>
              <a:ext uri="{FF2B5EF4-FFF2-40B4-BE49-F238E27FC236}">
                <a16:creationId xmlns:a16="http://schemas.microsoft.com/office/drawing/2014/main" id="{2C1C6617-6153-BA88-DB57-8E0C89865862}"/>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66D5C994-4D5A-23DF-8421-4F892DE66B46}"/>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9FB9CEBE-742A-C50F-220C-C9912664A66C}"/>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324A513D-F97A-43ED-5339-086E251C516D}"/>
              </a:ext>
            </a:extLst>
          </p:cNvPr>
          <p:cNvPicPr>
            <a:picLocks noChangeAspect="1"/>
          </p:cNvPicPr>
          <p:nvPr/>
        </p:nvPicPr>
        <p:blipFill>
          <a:blip r:embed="rId5"/>
          <a:stretch>
            <a:fillRect/>
          </a:stretch>
        </p:blipFill>
        <p:spPr>
          <a:xfrm>
            <a:off x="23204799" y="12494218"/>
            <a:ext cx="607560" cy="903930"/>
          </a:xfrm>
          <a:prstGeom prst="rect">
            <a:avLst/>
          </a:prstGeom>
        </p:spPr>
      </p:pic>
      <p:pic>
        <p:nvPicPr>
          <p:cNvPr id="7" name="Imagen 6">
            <a:extLst>
              <a:ext uri="{FF2B5EF4-FFF2-40B4-BE49-F238E27FC236}">
                <a16:creationId xmlns:a16="http://schemas.microsoft.com/office/drawing/2014/main" id="{3505F9CA-200D-76BF-13DD-D79E4C883641}"/>
              </a:ext>
            </a:extLst>
          </p:cNvPr>
          <p:cNvPicPr>
            <a:picLocks noChangeAspect="1"/>
          </p:cNvPicPr>
          <p:nvPr/>
        </p:nvPicPr>
        <p:blipFill>
          <a:blip r:embed="rId6"/>
          <a:stretch>
            <a:fillRect/>
          </a:stretch>
        </p:blipFill>
        <p:spPr>
          <a:xfrm>
            <a:off x="1539359" y="2553180"/>
            <a:ext cx="3802662" cy="2065870"/>
          </a:xfrm>
          <a:prstGeom prst="rect">
            <a:avLst/>
          </a:prstGeom>
        </p:spPr>
      </p:pic>
      <p:sp>
        <p:nvSpPr>
          <p:cNvPr id="10" name="CuadroTexto 9">
            <a:extLst>
              <a:ext uri="{FF2B5EF4-FFF2-40B4-BE49-F238E27FC236}">
                <a16:creationId xmlns:a16="http://schemas.microsoft.com/office/drawing/2014/main" id="{9F7F376F-BA9D-678C-EC5B-9F374EB31730}"/>
              </a:ext>
            </a:extLst>
          </p:cNvPr>
          <p:cNvSpPr txBox="1"/>
          <p:nvPr/>
        </p:nvSpPr>
        <p:spPr>
          <a:xfrm>
            <a:off x="1709901" y="4915633"/>
            <a:ext cx="20371669" cy="7478970"/>
          </a:xfrm>
          <a:prstGeom prst="rect">
            <a:avLst/>
          </a:prstGeom>
          <a:noFill/>
        </p:spPr>
        <p:txBody>
          <a:bodyPr wrap="square">
            <a:spAutoFit/>
          </a:bodyPr>
          <a:lstStyle/>
          <a:p>
            <a:pPr algn="just"/>
            <a:r>
              <a:rPr lang="es-ES" sz="4000" dirty="0"/>
              <a:t>Apache </a:t>
            </a:r>
            <a:r>
              <a:rPr lang="es-ES" sz="4000" dirty="0" err="1"/>
              <a:t>Hive</a:t>
            </a:r>
            <a:r>
              <a:rPr lang="es-ES" sz="4000" dirty="0"/>
              <a:t> es una herramienta de procesamiento de datos en el ámbito del Big Data. Se trata de un proyecto de código abierto desarrollado dentro del ecosistema de Apache Hadoop. </a:t>
            </a:r>
            <a:r>
              <a:rPr lang="es-ES" sz="4000" dirty="0" err="1"/>
              <a:t>Hive</a:t>
            </a:r>
            <a:r>
              <a:rPr lang="es-ES" sz="4000" dirty="0"/>
              <a:t> permite realizar consultas y análisis de datos en conjuntos masivos de información almacenados en sistemas de archivos distribuidos, como Hadoop </a:t>
            </a:r>
            <a:r>
              <a:rPr lang="es-ES" sz="4000" dirty="0" err="1"/>
              <a:t>Distributed</a:t>
            </a:r>
            <a:r>
              <a:rPr lang="es-ES" sz="4000" dirty="0"/>
              <a:t> File </a:t>
            </a:r>
            <a:r>
              <a:rPr lang="es-ES" sz="4000" dirty="0" err="1"/>
              <a:t>System</a:t>
            </a:r>
            <a:r>
              <a:rPr lang="es-ES" sz="4000" dirty="0"/>
              <a:t> (HDFS), utilizando un lenguaje similar a SQL (</a:t>
            </a:r>
            <a:r>
              <a:rPr lang="es-ES" sz="4000" dirty="0" err="1"/>
              <a:t>Structured</a:t>
            </a:r>
            <a:r>
              <a:rPr lang="es-ES" sz="4000" dirty="0"/>
              <a:t> </a:t>
            </a:r>
            <a:r>
              <a:rPr lang="es-ES" sz="4000" dirty="0" err="1"/>
              <a:t>Query</a:t>
            </a:r>
            <a:r>
              <a:rPr lang="es-ES" sz="4000" dirty="0"/>
              <a:t> </a:t>
            </a:r>
            <a:r>
              <a:rPr lang="es-ES" sz="4000" dirty="0" err="1"/>
              <a:t>Language</a:t>
            </a:r>
            <a:r>
              <a:rPr lang="es-ES" sz="4000" dirty="0"/>
              <a:t>).</a:t>
            </a:r>
          </a:p>
          <a:p>
            <a:pPr algn="just"/>
            <a:endParaRPr lang="es-ES" sz="4000" dirty="0"/>
          </a:p>
          <a:p>
            <a:pPr algn="just"/>
            <a:r>
              <a:rPr lang="es-ES" sz="4000" dirty="0"/>
              <a:t>La principal característica de </a:t>
            </a:r>
            <a:r>
              <a:rPr lang="es-ES" sz="4000" dirty="0" err="1"/>
              <a:t>Hive</a:t>
            </a:r>
            <a:r>
              <a:rPr lang="es-ES" sz="4000" dirty="0"/>
              <a:t> es su enfoque en permitir a los usuarios consultar y analizar datos utilizando una sintaxis familiar y sencilla similar a SQL, lo que facilita la adopción por parte de aquellos que ya están familiarizados con las bases de datos relacionales y el lenguaje SQL tradicional. </a:t>
            </a:r>
            <a:r>
              <a:rPr lang="es-ES" sz="4000" dirty="0" err="1"/>
              <a:t>Hive</a:t>
            </a:r>
            <a:r>
              <a:rPr lang="es-ES" sz="4000" dirty="0"/>
              <a:t> traduce las consultas escritas en lenguaje </a:t>
            </a:r>
            <a:r>
              <a:rPr lang="es-ES" sz="4000" dirty="0" err="1"/>
              <a:t>HiveQL</a:t>
            </a:r>
            <a:r>
              <a:rPr lang="es-ES" sz="4000" dirty="0"/>
              <a:t> (una variante de SQL) en tareas MapReduce (o en versiones más modernas, en tareas de procesamiento distribuido más eficientes), que luego se ejecutan en el clúster Hadoop.</a:t>
            </a:r>
          </a:p>
        </p:txBody>
      </p:sp>
    </p:spTree>
    <p:extLst>
      <p:ext uri="{BB962C8B-B14F-4D97-AF65-F5344CB8AC3E}">
        <p14:creationId xmlns:p14="http://schemas.microsoft.com/office/powerpoint/2010/main" val="34180845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54" name="Google Shape;54;p10"/>
          <p:cNvSpPr txBox="1"/>
          <p:nvPr/>
        </p:nvSpPr>
        <p:spPr>
          <a:xfrm>
            <a:off x="10190976" y="745385"/>
            <a:ext cx="14714392" cy="120032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2"/>
              </a:buClr>
              <a:buSzPts val="1800"/>
              <a:buFont typeface="Montserrat"/>
              <a:buNone/>
            </a:pPr>
            <a:r>
              <a:rPr lang="es-AR" sz="7200" dirty="0"/>
              <a:t>Ecosistemas y </a:t>
            </a:r>
            <a:r>
              <a:rPr lang="es-AR" sz="7200" dirty="0" err="1"/>
              <a:t>Frameworks</a:t>
            </a:r>
            <a:endParaRPr b="1" i="1" dirty="0"/>
          </a:p>
        </p:txBody>
      </p:sp>
      <p:pic>
        <p:nvPicPr>
          <p:cNvPr id="2" name="Imagen 1">
            <a:extLst>
              <a:ext uri="{FF2B5EF4-FFF2-40B4-BE49-F238E27FC236}">
                <a16:creationId xmlns:a16="http://schemas.microsoft.com/office/drawing/2014/main" id="{2C1C6617-6153-BA88-DB57-8E0C89865862}"/>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66D5C994-4D5A-23DF-8421-4F892DE66B46}"/>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9FB9CEBE-742A-C50F-220C-C9912664A66C}"/>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324A513D-F97A-43ED-5339-086E251C516D}"/>
              </a:ext>
            </a:extLst>
          </p:cNvPr>
          <p:cNvPicPr>
            <a:picLocks noChangeAspect="1"/>
          </p:cNvPicPr>
          <p:nvPr/>
        </p:nvPicPr>
        <p:blipFill>
          <a:blip r:embed="rId5"/>
          <a:stretch>
            <a:fillRect/>
          </a:stretch>
        </p:blipFill>
        <p:spPr>
          <a:xfrm>
            <a:off x="23204799" y="12494218"/>
            <a:ext cx="607560" cy="903930"/>
          </a:xfrm>
          <a:prstGeom prst="rect">
            <a:avLst/>
          </a:prstGeom>
        </p:spPr>
      </p:pic>
      <p:pic>
        <p:nvPicPr>
          <p:cNvPr id="7" name="Imagen 6">
            <a:extLst>
              <a:ext uri="{FF2B5EF4-FFF2-40B4-BE49-F238E27FC236}">
                <a16:creationId xmlns:a16="http://schemas.microsoft.com/office/drawing/2014/main" id="{1AB70855-34DA-C0C2-A9A3-5428B6776462}"/>
              </a:ext>
            </a:extLst>
          </p:cNvPr>
          <p:cNvPicPr>
            <a:picLocks noChangeAspect="1"/>
          </p:cNvPicPr>
          <p:nvPr/>
        </p:nvPicPr>
        <p:blipFill>
          <a:blip r:embed="rId6"/>
          <a:stretch>
            <a:fillRect/>
          </a:stretch>
        </p:blipFill>
        <p:spPr>
          <a:xfrm>
            <a:off x="2112980" y="1945714"/>
            <a:ext cx="4244516" cy="1902024"/>
          </a:xfrm>
          <a:prstGeom prst="rect">
            <a:avLst/>
          </a:prstGeom>
        </p:spPr>
      </p:pic>
      <p:sp>
        <p:nvSpPr>
          <p:cNvPr id="8" name="CuadroTexto 7">
            <a:extLst>
              <a:ext uri="{FF2B5EF4-FFF2-40B4-BE49-F238E27FC236}">
                <a16:creationId xmlns:a16="http://schemas.microsoft.com/office/drawing/2014/main" id="{1B541798-BBE7-F302-9A3C-AEB8BB8E9052}"/>
              </a:ext>
            </a:extLst>
          </p:cNvPr>
          <p:cNvSpPr txBox="1"/>
          <p:nvPr/>
        </p:nvSpPr>
        <p:spPr>
          <a:xfrm>
            <a:off x="2112981" y="4403810"/>
            <a:ext cx="21699378" cy="3785652"/>
          </a:xfrm>
          <a:prstGeom prst="rect">
            <a:avLst/>
          </a:prstGeom>
          <a:noFill/>
        </p:spPr>
        <p:txBody>
          <a:bodyPr wrap="square">
            <a:spAutoFit/>
          </a:bodyPr>
          <a:lstStyle/>
          <a:p>
            <a:pPr algn="just"/>
            <a:r>
              <a:rPr lang="es-ES" sz="4000" dirty="0" err="1"/>
              <a:t>Cassandra</a:t>
            </a:r>
            <a:r>
              <a:rPr lang="es-ES" sz="4000" dirty="0"/>
              <a:t> es una base de datos distribuida y escalable diseñada para manejar grandes volúmenes de datos en un entorno de Big Data. Fue desarrollada originalmente por Facebook y luego se convirtió en un proyecto de código abierto en la Fundación Apache, formando parte del ecosistema de herramientas de Big Data.</a:t>
            </a:r>
          </a:p>
          <a:p>
            <a:pPr algn="just"/>
            <a:r>
              <a:rPr lang="es-ES" sz="4000" dirty="0" err="1"/>
              <a:t>Cassandra</a:t>
            </a:r>
            <a:r>
              <a:rPr lang="es-ES" sz="4000" dirty="0"/>
              <a:t> se destaca por varias características clave que lo hacen adecuado para el almacenamiento y procesamiento de datos a gran escala</a:t>
            </a:r>
          </a:p>
        </p:txBody>
      </p:sp>
      <p:sp>
        <p:nvSpPr>
          <p:cNvPr id="10" name="CuadroTexto 9">
            <a:extLst>
              <a:ext uri="{FF2B5EF4-FFF2-40B4-BE49-F238E27FC236}">
                <a16:creationId xmlns:a16="http://schemas.microsoft.com/office/drawing/2014/main" id="{A72AE49F-6AE3-B1D0-4029-8A775AB34352}"/>
              </a:ext>
            </a:extLst>
          </p:cNvPr>
          <p:cNvSpPr txBox="1"/>
          <p:nvPr/>
        </p:nvSpPr>
        <p:spPr>
          <a:xfrm>
            <a:off x="3362826" y="8745534"/>
            <a:ext cx="12452684" cy="4401205"/>
          </a:xfrm>
          <a:prstGeom prst="rect">
            <a:avLst/>
          </a:prstGeom>
          <a:noFill/>
        </p:spPr>
        <p:txBody>
          <a:bodyPr wrap="square">
            <a:spAutoFit/>
          </a:bodyPr>
          <a:lstStyle/>
          <a:p>
            <a:pPr marL="571500" indent="-571500">
              <a:buFont typeface="Arial" panose="020B0604020202020204" pitchFamily="34" charset="0"/>
              <a:buChar char="•"/>
            </a:pPr>
            <a:r>
              <a:rPr lang="es-ES" sz="4000" dirty="0"/>
              <a:t>Modelo de datos no relacional</a:t>
            </a:r>
          </a:p>
          <a:p>
            <a:pPr marL="571500" indent="-571500">
              <a:buFont typeface="Arial" panose="020B0604020202020204" pitchFamily="34" charset="0"/>
              <a:buChar char="•"/>
            </a:pPr>
            <a:r>
              <a:rPr lang="es-ES" sz="4000" dirty="0"/>
              <a:t>Escalabilidad horizontal</a:t>
            </a:r>
          </a:p>
          <a:p>
            <a:pPr marL="571500" indent="-571500">
              <a:buFont typeface="Arial" panose="020B0604020202020204" pitchFamily="34" charset="0"/>
              <a:buChar char="•"/>
            </a:pPr>
            <a:r>
              <a:rPr lang="es-ES" sz="4000" dirty="0"/>
              <a:t>Distribución y replicación</a:t>
            </a:r>
          </a:p>
          <a:p>
            <a:pPr marL="571500" indent="-571500">
              <a:buFont typeface="Arial" panose="020B0604020202020204" pitchFamily="34" charset="0"/>
              <a:buChar char="•"/>
            </a:pPr>
            <a:r>
              <a:rPr lang="es-ES" sz="4000" dirty="0"/>
              <a:t>Tolerancia a fallos</a:t>
            </a:r>
          </a:p>
          <a:p>
            <a:pPr marL="571500" indent="-571500">
              <a:buFont typeface="Arial" panose="020B0604020202020204" pitchFamily="34" charset="0"/>
              <a:buChar char="•"/>
            </a:pPr>
            <a:r>
              <a:rPr lang="es-ES" sz="4000" dirty="0"/>
              <a:t>Alta disponibilidad</a:t>
            </a:r>
          </a:p>
          <a:p>
            <a:pPr marL="571500" indent="-571500">
              <a:buFont typeface="Arial" panose="020B0604020202020204" pitchFamily="34" charset="0"/>
              <a:buChar char="•"/>
            </a:pPr>
            <a:r>
              <a:rPr lang="es-ES" sz="4000" dirty="0"/>
              <a:t>Rendimiento escalable</a:t>
            </a:r>
          </a:p>
          <a:p>
            <a:pPr marL="571500" indent="-571500">
              <a:buFont typeface="Arial" panose="020B0604020202020204" pitchFamily="34" charset="0"/>
              <a:buChar char="•"/>
            </a:pPr>
            <a:r>
              <a:rPr lang="es-ES" sz="4000" dirty="0"/>
              <a:t>Flexibilidad</a:t>
            </a:r>
            <a:endParaRPr lang="es-MX" sz="4000" dirty="0"/>
          </a:p>
        </p:txBody>
      </p:sp>
    </p:spTree>
    <p:extLst>
      <p:ext uri="{BB962C8B-B14F-4D97-AF65-F5344CB8AC3E}">
        <p14:creationId xmlns:p14="http://schemas.microsoft.com/office/powerpoint/2010/main" val="25125651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54" name="Google Shape;54;p10"/>
          <p:cNvSpPr txBox="1"/>
          <p:nvPr/>
        </p:nvSpPr>
        <p:spPr>
          <a:xfrm>
            <a:off x="10190976" y="745385"/>
            <a:ext cx="14714392" cy="120032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2"/>
              </a:buClr>
              <a:buSzPts val="1800"/>
              <a:buFont typeface="Montserrat"/>
              <a:buNone/>
            </a:pPr>
            <a:r>
              <a:rPr lang="es-AR" sz="7200" dirty="0"/>
              <a:t>Ecosistemas y </a:t>
            </a:r>
            <a:r>
              <a:rPr lang="es-AR" sz="7200" dirty="0" err="1"/>
              <a:t>Frameworks</a:t>
            </a:r>
            <a:endParaRPr b="1" i="1" dirty="0"/>
          </a:p>
        </p:txBody>
      </p:sp>
      <p:pic>
        <p:nvPicPr>
          <p:cNvPr id="2" name="Imagen 1">
            <a:extLst>
              <a:ext uri="{FF2B5EF4-FFF2-40B4-BE49-F238E27FC236}">
                <a16:creationId xmlns:a16="http://schemas.microsoft.com/office/drawing/2014/main" id="{2C1C6617-6153-BA88-DB57-8E0C89865862}"/>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66D5C994-4D5A-23DF-8421-4F892DE66B46}"/>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9FB9CEBE-742A-C50F-220C-C9912664A66C}"/>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324A513D-F97A-43ED-5339-086E251C516D}"/>
              </a:ext>
            </a:extLst>
          </p:cNvPr>
          <p:cNvPicPr>
            <a:picLocks noChangeAspect="1"/>
          </p:cNvPicPr>
          <p:nvPr/>
        </p:nvPicPr>
        <p:blipFill>
          <a:blip r:embed="rId5"/>
          <a:stretch>
            <a:fillRect/>
          </a:stretch>
        </p:blipFill>
        <p:spPr>
          <a:xfrm>
            <a:off x="23204799" y="12494218"/>
            <a:ext cx="607560" cy="903930"/>
          </a:xfrm>
          <a:prstGeom prst="rect">
            <a:avLst/>
          </a:prstGeom>
        </p:spPr>
      </p:pic>
      <p:pic>
        <p:nvPicPr>
          <p:cNvPr id="7" name="Imagen 6">
            <a:extLst>
              <a:ext uri="{FF2B5EF4-FFF2-40B4-BE49-F238E27FC236}">
                <a16:creationId xmlns:a16="http://schemas.microsoft.com/office/drawing/2014/main" id="{6B0EDB11-577C-7723-2856-4764852B4F19}"/>
              </a:ext>
            </a:extLst>
          </p:cNvPr>
          <p:cNvPicPr>
            <a:picLocks noChangeAspect="1"/>
          </p:cNvPicPr>
          <p:nvPr/>
        </p:nvPicPr>
        <p:blipFill>
          <a:blip r:embed="rId6"/>
          <a:stretch>
            <a:fillRect/>
          </a:stretch>
        </p:blipFill>
        <p:spPr>
          <a:xfrm>
            <a:off x="2536676" y="1599740"/>
            <a:ext cx="3905689" cy="1625898"/>
          </a:xfrm>
          <a:prstGeom prst="rect">
            <a:avLst/>
          </a:prstGeom>
        </p:spPr>
      </p:pic>
      <p:sp>
        <p:nvSpPr>
          <p:cNvPr id="8" name="CuadroTexto 7">
            <a:extLst>
              <a:ext uri="{FF2B5EF4-FFF2-40B4-BE49-F238E27FC236}">
                <a16:creationId xmlns:a16="http://schemas.microsoft.com/office/drawing/2014/main" id="{DEF103B1-9D5D-5C15-E3CD-6C5513FDE6E4}"/>
              </a:ext>
            </a:extLst>
          </p:cNvPr>
          <p:cNvSpPr txBox="1"/>
          <p:nvPr/>
        </p:nvSpPr>
        <p:spPr>
          <a:xfrm>
            <a:off x="2761247" y="3718934"/>
            <a:ext cx="21051112" cy="4401205"/>
          </a:xfrm>
          <a:prstGeom prst="rect">
            <a:avLst/>
          </a:prstGeom>
          <a:noFill/>
        </p:spPr>
        <p:txBody>
          <a:bodyPr wrap="square">
            <a:spAutoFit/>
          </a:bodyPr>
          <a:lstStyle/>
          <a:p>
            <a:pPr algn="l"/>
            <a:r>
              <a:rPr lang="es-ES" sz="4000" b="0" i="0" dirty="0">
                <a:solidFill>
                  <a:srgbClr val="374151"/>
                </a:solidFill>
                <a:effectLst/>
                <a:latin typeface="Arial" panose="020B0604020202020204" pitchFamily="34" charset="0"/>
                <a:cs typeface="Arial" panose="020B0604020202020204" pitchFamily="34" charset="0"/>
              </a:rPr>
              <a:t>Apache </a:t>
            </a:r>
            <a:r>
              <a:rPr lang="es-ES" sz="4000" b="0" i="0" dirty="0" err="1">
                <a:solidFill>
                  <a:srgbClr val="374151"/>
                </a:solidFill>
                <a:effectLst/>
                <a:latin typeface="Arial" panose="020B0604020202020204" pitchFamily="34" charset="0"/>
                <a:cs typeface="Arial" panose="020B0604020202020204" pitchFamily="34" charset="0"/>
              </a:rPr>
              <a:t>Spark</a:t>
            </a:r>
            <a:r>
              <a:rPr lang="es-ES" sz="4000" b="0" i="0" dirty="0">
                <a:solidFill>
                  <a:srgbClr val="374151"/>
                </a:solidFill>
                <a:effectLst/>
                <a:latin typeface="Arial" panose="020B0604020202020204" pitchFamily="34" charset="0"/>
                <a:cs typeface="Arial" panose="020B0604020202020204" pitchFamily="34" charset="0"/>
              </a:rPr>
              <a:t> es un marco de procesamiento de datos en tiempo real y por lotes que se ha convertido en una parte fundamental del ecosistema de Big Data. Fue desarrollado en la Universidad de California, Berkeley, y se convirtió en un proyecto de código abierto bajo la Fundación Apache. </a:t>
            </a:r>
            <a:r>
              <a:rPr lang="es-ES" sz="4000" b="0" i="0" dirty="0" err="1">
                <a:solidFill>
                  <a:srgbClr val="374151"/>
                </a:solidFill>
                <a:effectLst/>
                <a:latin typeface="Arial" panose="020B0604020202020204" pitchFamily="34" charset="0"/>
                <a:cs typeface="Arial" panose="020B0604020202020204" pitchFamily="34" charset="0"/>
              </a:rPr>
              <a:t>Spark</a:t>
            </a:r>
            <a:r>
              <a:rPr lang="es-ES" sz="4000" b="0" i="0" dirty="0">
                <a:solidFill>
                  <a:srgbClr val="374151"/>
                </a:solidFill>
                <a:effectLst/>
                <a:latin typeface="Arial" panose="020B0604020202020204" pitchFamily="34" charset="0"/>
                <a:cs typeface="Arial" panose="020B0604020202020204" pitchFamily="34" charset="0"/>
              </a:rPr>
              <a:t> se destaca por su velocidad, versatilidad y capacidad para procesar y analizar datos a gran escala de manera eficiente.</a:t>
            </a:r>
          </a:p>
          <a:p>
            <a:pPr algn="l"/>
            <a:endParaRPr lang="es-ES" sz="4000" b="0" i="0" dirty="0">
              <a:solidFill>
                <a:srgbClr val="374151"/>
              </a:solidFill>
              <a:effectLst/>
              <a:latin typeface="Arial" panose="020B0604020202020204" pitchFamily="34" charset="0"/>
              <a:cs typeface="Arial" panose="020B0604020202020204" pitchFamily="34" charset="0"/>
            </a:endParaRPr>
          </a:p>
          <a:p>
            <a:pPr algn="l"/>
            <a:r>
              <a:rPr lang="es-ES" sz="4000" b="0" i="0" dirty="0">
                <a:solidFill>
                  <a:srgbClr val="374151"/>
                </a:solidFill>
                <a:effectLst/>
                <a:latin typeface="Arial" panose="020B0604020202020204" pitchFamily="34" charset="0"/>
                <a:cs typeface="Arial" panose="020B0604020202020204" pitchFamily="34" charset="0"/>
              </a:rPr>
              <a:t>Algunas de las características y conceptos clave de Apache </a:t>
            </a:r>
            <a:r>
              <a:rPr lang="es-ES" sz="4000" b="0" i="0" dirty="0" err="1">
                <a:solidFill>
                  <a:srgbClr val="374151"/>
                </a:solidFill>
                <a:effectLst/>
                <a:latin typeface="Arial" panose="020B0604020202020204" pitchFamily="34" charset="0"/>
                <a:cs typeface="Arial" panose="020B0604020202020204" pitchFamily="34" charset="0"/>
              </a:rPr>
              <a:t>Spark</a:t>
            </a:r>
            <a:r>
              <a:rPr lang="es-ES" sz="4000" b="0" i="0" dirty="0">
                <a:solidFill>
                  <a:srgbClr val="374151"/>
                </a:solidFill>
                <a:effectLst/>
                <a:latin typeface="Arial" panose="020B0604020202020204" pitchFamily="34" charset="0"/>
                <a:cs typeface="Arial" panose="020B0604020202020204" pitchFamily="34" charset="0"/>
              </a:rPr>
              <a:t> son: </a:t>
            </a:r>
          </a:p>
        </p:txBody>
      </p:sp>
      <p:sp>
        <p:nvSpPr>
          <p:cNvPr id="10" name="CuadroTexto 9">
            <a:extLst>
              <a:ext uri="{FF2B5EF4-FFF2-40B4-BE49-F238E27FC236}">
                <a16:creationId xmlns:a16="http://schemas.microsoft.com/office/drawing/2014/main" id="{FE9D1D3B-AF12-6012-8D96-0C14AE4523ED}"/>
              </a:ext>
            </a:extLst>
          </p:cNvPr>
          <p:cNvSpPr txBox="1"/>
          <p:nvPr/>
        </p:nvSpPr>
        <p:spPr>
          <a:xfrm>
            <a:off x="4489520" y="9160531"/>
            <a:ext cx="20531775" cy="3785652"/>
          </a:xfrm>
          <a:prstGeom prst="rect">
            <a:avLst/>
          </a:prstGeom>
          <a:noFill/>
        </p:spPr>
        <p:txBody>
          <a:bodyPr wrap="square">
            <a:spAutoFit/>
          </a:bodyPr>
          <a:lstStyle/>
          <a:p>
            <a:pPr algn="l">
              <a:buFont typeface="+mj-lt"/>
              <a:buAutoNum type="arabicPeriod"/>
            </a:pPr>
            <a:r>
              <a:rPr lang="es-ES" sz="4000" b="1" i="0" dirty="0">
                <a:solidFill>
                  <a:srgbClr val="374151"/>
                </a:solidFill>
                <a:effectLst/>
                <a:latin typeface="Arial" panose="020B0604020202020204" pitchFamily="34" charset="0"/>
                <a:cs typeface="Arial" panose="020B0604020202020204" pitchFamily="34" charset="0"/>
              </a:rPr>
              <a:t>Procesamiento en memoria</a:t>
            </a:r>
          </a:p>
          <a:p>
            <a:pPr algn="l">
              <a:buFont typeface="+mj-lt"/>
              <a:buAutoNum type="arabicPeriod"/>
            </a:pPr>
            <a:r>
              <a:rPr lang="es-ES" sz="4000" b="1" i="0" dirty="0">
                <a:solidFill>
                  <a:srgbClr val="374151"/>
                </a:solidFill>
                <a:effectLst/>
                <a:latin typeface="Arial" panose="020B0604020202020204" pitchFamily="34" charset="0"/>
                <a:cs typeface="Arial" panose="020B0604020202020204" pitchFamily="34" charset="0"/>
              </a:rPr>
              <a:t>Modelo de programación unificado</a:t>
            </a:r>
          </a:p>
          <a:p>
            <a:pPr algn="l">
              <a:buFont typeface="+mj-lt"/>
              <a:buAutoNum type="arabicPeriod"/>
            </a:pPr>
            <a:r>
              <a:rPr lang="es-ES" sz="4000" b="1" i="0" dirty="0" err="1">
                <a:solidFill>
                  <a:srgbClr val="374151"/>
                </a:solidFill>
                <a:effectLst/>
                <a:latin typeface="Arial" panose="020B0604020202020204" pitchFamily="34" charset="0"/>
                <a:cs typeface="Arial" panose="020B0604020202020204" pitchFamily="34" charset="0"/>
              </a:rPr>
              <a:t>Resilient</a:t>
            </a:r>
            <a:r>
              <a:rPr lang="es-ES" sz="4000" b="1" i="0" dirty="0">
                <a:solidFill>
                  <a:srgbClr val="374151"/>
                </a:solidFill>
                <a:effectLst/>
                <a:latin typeface="Arial" panose="020B0604020202020204" pitchFamily="34" charset="0"/>
                <a:cs typeface="Arial" panose="020B0604020202020204" pitchFamily="34" charset="0"/>
              </a:rPr>
              <a:t> </a:t>
            </a:r>
            <a:r>
              <a:rPr lang="es-ES" sz="4000" b="1" i="0" dirty="0" err="1">
                <a:solidFill>
                  <a:srgbClr val="374151"/>
                </a:solidFill>
                <a:effectLst/>
                <a:latin typeface="Arial" panose="020B0604020202020204" pitchFamily="34" charset="0"/>
                <a:cs typeface="Arial" panose="020B0604020202020204" pitchFamily="34" charset="0"/>
              </a:rPr>
              <a:t>Distributed</a:t>
            </a:r>
            <a:r>
              <a:rPr lang="es-ES" sz="4000" b="1" i="0" dirty="0">
                <a:solidFill>
                  <a:srgbClr val="374151"/>
                </a:solidFill>
                <a:effectLst/>
                <a:latin typeface="Arial" panose="020B0604020202020204" pitchFamily="34" charset="0"/>
                <a:cs typeface="Arial" panose="020B0604020202020204" pitchFamily="34" charset="0"/>
              </a:rPr>
              <a:t> </a:t>
            </a:r>
            <a:r>
              <a:rPr lang="es-ES" sz="4000" b="1" i="0" dirty="0" err="1">
                <a:solidFill>
                  <a:srgbClr val="374151"/>
                </a:solidFill>
                <a:effectLst/>
                <a:latin typeface="Arial" panose="020B0604020202020204" pitchFamily="34" charset="0"/>
                <a:cs typeface="Arial" panose="020B0604020202020204" pitchFamily="34" charset="0"/>
              </a:rPr>
              <a:t>Dataset</a:t>
            </a:r>
            <a:r>
              <a:rPr lang="es-ES" sz="4000" b="1" i="0" dirty="0">
                <a:solidFill>
                  <a:srgbClr val="374151"/>
                </a:solidFill>
                <a:effectLst/>
                <a:latin typeface="Arial" panose="020B0604020202020204" pitchFamily="34" charset="0"/>
                <a:cs typeface="Arial" panose="020B0604020202020204" pitchFamily="34" charset="0"/>
              </a:rPr>
              <a:t> (RDD)</a:t>
            </a:r>
          </a:p>
          <a:p>
            <a:pPr algn="l">
              <a:buFont typeface="+mj-lt"/>
              <a:buAutoNum type="arabicPeriod"/>
            </a:pPr>
            <a:r>
              <a:rPr lang="es-ES" sz="4000" b="1" i="0" dirty="0">
                <a:solidFill>
                  <a:srgbClr val="374151"/>
                </a:solidFill>
                <a:effectLst/>
                <a:latin typeface="Arial" panose="020B0604020202020204" pitchFamily="34" charset="0"/>
                <a:cs typeface="Arial" panose="020B0604020202020204" pitchFamily="34" charset="0"/>
              </a:rPr>
              <a:t>Operaciones de transformación y </a:t>
            </a:r>
            <a:r>
              <a:rPr lang="es-ES" sz="4000" b="1" i="0" dirty="0" err="1">
                <a:solidFill>
                  <a:srgbClr val="374151"/>
                </a:solidFill>
                <a:effectLst/>
                <a:latin typeface="Arial" panose="020B0604020202020204" pitchFamily="34" charset="0"/>
                <a:cs typeface="Arial" panose="020B0604020202020204" pitchFamily="34" charset="0"/>
              </a:rPr>
              <a:t>acciónLibrerías</a:t>
            </a:r>
            <a:r>
              <a:rPr lang="es-ES" sz="4000" b="1" i="0" dirty="0">
                <a:solidFill>
                  <a:srgbClr val="374151"/>
                </a:solidFill>
                <a:effectLst/>
                <a:latin typeface="Arial" panose="020B0604020202020204" pitchFamily="34" charset="0"/>
                <a:cs typeface="Arial" panose="020B0604020202020204" pitchFamily="34" charset="0"/>
              </a:rPr>
              <a:t> integradas</a:t>
            </a:r>
          </a:p>
          <a:p>
            <a:pPr algn="l">
              <a:buFont typeface="+mj-lt"/>
              <a:buAutoNum type="arabicPeriod"/>
            </a:pPr>
            <a:r>
              <a:rPr lang="es-ES" sz="4000" b="1" i="0" dirty="0">
                <a:solidFill>
                  <a:srgbClr val="374151"/>
                </a:solidFill>
                <a:effectLst/>
                <a:latin typeface="Arial" panose="020B0604020202020204" pitchFamily="34" charset="0"/>
                <a:cs typeface="Arial" panose="020B0604020202020204" pitchFamily="34" charset="0"/>
              </a:rPr>
              <a:t>Procesamiento en lotes y en tiempo real</a:t>
            </a:r>
            <a:r>
              <a:rPr lang="es-ES" sz="4000" b="0" i="0" dirty="0">
                <a:solidFill>
                  <a:srgbClr val="374151"/>
                </a:solidFill>
                <a:effectLst/>
                <a:latin typeface="Arial" panose="020B0604020202020204" pitchFamily="34" charset="0"/>
                <a:cs typeface="Arial" panose="020B0604020202020204" pitchFamily="34" charset="0"/>
              </a:rPr>
              <a:t>.</a:t>
            </a:r>
          </a:p>
          <a:p>
            <a:pPr algn="l">
              <a:buFont typeface="+mj-lt"/>
              <a:buAutoNum type="arabicPeriod"/>
            </a:pPr>
            <a:r>
              <a:rPr lang="es-ES" sz="4000" b="1" i="0" dirty="0">
                <a:solidFill>
                  <a:srgbClr val="374151"/>
                </a:solidFill>
                <a:effectLst/>
                <a:latin typeface="Arial" panose="020B0604020202020204" pitchFamily="34" charset="0"/>
                <a:cs typeface="Arial" panose="020B0604020202020204" pitchFamily="34" charset="0"/>
              </a:rPr>
              <a:t>Integración con otros sistemas</a:t>
            </a:r>
            <a:endParaRPr lang="es-ES" sz="4000" b="0" i="0" dirty="0">
              <a:solidFill>
                <a:srgbClr val="37415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901527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54" name="Google Shape;54;p10"/>
          <p:cNvSpPr txBox="1"/>
          <p:nvPr/>
        </p:nvSpPr>
        <p:spPr>
          <a:xfrm>
            <a:off x="10190976" y="745385"/>
            <a:ext cx="14714392" cy="120032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2"/>
              </a:buClr>
              <a:buSzPts val="1800"/>
              <a:buFont typeface="Montserrat"/>
              <a:buNone/>
            </a:pPr>
            <a:r>
              <a:rPr lang="es-AR" sz="7200" dirty="0"/>
              <a:t>Ecosistemas y </a:t>
            </a:r>
            <a:r>
              <a:rPr lang="es-AR" sz="7200" dirty="0" err="1"/>
              <a:t>Frameworks</a:t>
            </a:r>
            <a:endParaRPr b="1" i="1" dirty="0"/>
          </a:p>
        </p:txBody>
      </p:sp>
      <p:pic>
        <p:nvPicPr>
          <p:cNvPr id="2" name="Imagen 1">
            <a:extLst>
              <a:ext uri="{FF2B5EF4-FFF2-40B4-BE49-F238E27FC236}">
                <a16:creationId xmlns:a16="http://schemas.microsoft.com/office/drawing/2014/main" id="{2C1C6617-6153-BA88-DB57-8E0C89865862}"/>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66D5C994-4D5A-23DF-8421-4F892DE66B46}"/>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9FB9CEBE-742A-C50F-220C-C9912664A66C}"/>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324A513D-F97A-43ED-5339-086E251C516D}"/>
              </a:ext>
            </a:extLst>
          </p:cNvPr>
          <p:cNvPicPr>
            <a:picLocks noChangeAspect="1"/>
          </p:cNvPicPr>
          <p:nvPr/>
        </p:nvPicPr>
        <p:blipFill>
          <a:blip r:embed="rId5"/>
          <a:stretch>
            <a:fillRect/>
          </a:stretch>
        </p:blipFill>
        <p:spPr>
          <a:xfrm>
            <a:off x="23204799" y="12494218"/>
            <a:ext cx="607560" cy="903930"/>
          </a:xfrm>
          <a:prstGeom prst="rect">
            <a:avLst/>
          </a:prstGeom>
        </p:spPr>
      </p:pic>
      <p:pic>
        <p:nvPicPr>
          <p:cNvPr id="7" name="Imagen 6">
            <a:extLst>
              <a:ext uri="{FF2B5EF4-FFF2-40B4-BE49-F238E27FC236}">
                <a16:creationId xmlns:a16="http://schemas.microsoft.com/office/drawing/2014/main" id="{9A4DE7E9-4FA9-588F-E08B-66F87CF4F422}"/>
              </a:ext>
            </a:extLst>
          </p:cNvPr>
          <p:cNvPicPr>
            <a:picLocks noChangeAspect="1"/>
          </p:cNvPicPr>
          <p:nvPr/>
        </p:nvPicPr>
        <p:blipFill>
          <a:blip r:embed="rId6"/>
          <a:stretch>
            <a:fillRect/>
          </a:stretch>
        </p:blipFill>
        <p:spPr>
          <a:xfrm>
            <a:off x="2902939" y="1678118"/>
            <a:ext cx="3944426" cy="1690467"/>
          </a:xfrm>
          <a:prstGeom prst="rect">
            <a:avLst/>
          </a:prstGeom>
        </p:spPr>
      </p:pic>
      <p:sp>
        <p:nvSpPr>
          <p:cNvPr id="8" name="CuadroTexto 7">
            <a:extLst>
              <a:ext uri="{FF2B5EF4-FFF2-40B4-BE49-F238E27FC236}">
                <a16:creationId xmlns:a16="http://schemas.microsoft.com/office/drawing/2014/main" id="{E86C57E3-F3DD-996E-BF2A-BA038E499C5E}"/>
              </a:ext>
            </a:extLst>
          </p:cNvPr>
          <p:cNvSpPr txBox="1"/>
          <p:nvPr/>
        </p:nvSpPr>
        <p:spPr>
          <a:xfrm>
            <a:off x="2902939" y="3566361"/>
            <a:ext cx="19039974" cy="5016758"/>
          </a:xfrm>
          <a:prstGeom prst="rect">
            <a:avLst/>
          </a:prstGeom>
          <a:noFill/>
        </p:spPr>
        <p:txBody>
          <a:bodyPr wrap="square">
            <a:spAutoFit/>
          </a:bodyPr>
          <a:lstStyle/>
          <a:p>
            <a:pPr algn="just"/>
            <a:r>
              <a:rPr lang="es-ES" sz="4000" b="0" i="0" dirty="0">
                <a:solidFill>
                  <a:srgbClr val="374151"/>
                </a:solidFill>
                <a:effectLst/>
                <a:latin typeface="Arial" panose="020B0604020202020204" pitchFamily="34" charset="0"/>
                <a:cs typeface="Arial" panose="020B0604020202020204" pitchFamily="34" charset="0"/>
              </a:rPr>
              <a:t>Un sistema de mensajería (</a:t>
            </a:r>
            <a:r>
              <a:rPr lang="es-ES" sz="4000" b="0" i="0" dirty="0" err="1">
                <a:solidFill>
                  <a:srgbClr val="374151"/>
                </a:solidFill>
                <a:effectLst/>
                <a:latin typeface="Arial" panose="020B0604020202020204" pitchFamily="34" charset="0"/>
                <a:cs typeface="Arial" panose="020B0604020202020204" pitchFamily="34" charset="0"/>
              </a:rPr>
              <a:t>Messaging</a:t>
            </a:r>
            <a:r>
              <a:rPr lang="es-ES" sz="4000" b="0" i="0" dirty="0">
                <a:solidFill>
                  <a:srgbClr val="374151"/>
                </a:solidFill>
                <a:effectLst/>
                <a:latin typeface="Arial" panose="020B0604020202020204" pitchFamily="34" charset="0"/>
                <a:cs typeface="Arial" panose="020B0604020202020204" pitchFamily="34" charset="0"/>
              </a:rPr>
              <a:t> </a:t>
            </a:r>
            <a:r>
              <a:rPr lang="es-ES" sz="4000" b="0" i="0" dirty="0" err="1">
                <a:solidFill>
                  <a:srgbClr val="374151"/>
                </a:solidFill>
                <a:effectLst/>
                <a:latin typeface="Arial" panose="020B0604020202020204" pitchFamily="34" charset="0"/>
                <a:cs typeface="Arial" panose="020B0604020202020204" pitchFamily="34" charset="0"/>
              </a:rPr>
              <a:t>System</a:t>
            </a:r>
            <a:r>
              <a:rPr lang="es-ES" sz="4000" b="0" i="0" dirty="0">
                <a:solidFill>
                  <a:srgbClr val="374151"/>
                </a:solidFill>
                <a:effectLst/>
                <a:latin typeface="Arial" panose="020B0604020202020204" pitchFamily="34" charset="0"/>
                <a:cs typeface="Arial" panose="020B0604020202020204" pitchFamily="34" charset="0"/>
              </a:rPr>
              <a:t>) en el contexto del Big Data se refiere a una infraestructura que permite el intercambio de mensajes y datos entre diferentes componentes de un sistema distribuido. Estos sistemas son esenciales para facilitar la comunicación y la coordinación entre los diversos elementos de un ecosistema de Big Data, que a menudo incluye múltiples nodos, procesos y aplicaciones que trabajan juntos para procesar y analizar datos a gran escala.</a:t>
            </a:r>
          </a:p>
          <a:p>
            <a:pPr algn="just"/>
            <a:endParaRPr lang="es-ES" sz="4000" b="0" i="0" dirty="0">
              <a:solidFill>
                <a:srgbClr val="374151"/>
              </a:solidFill>
              <a:effectLst/>
              <a:latin typeface="Arial" panose="020B0604020202020204" pitchFamily="34" charset="0"/>
              <a:cs typeface="Arial" panose="020B0604020202020204" pitchFamily="34" charset="0"/>
            </a:endParaRPr>
          </a:p>
          <a:p>
            <a:pPr algn="just"/>
            <a:r>
              <a:rPr lang="es-ES" sz="4000" b="0" i="0" dirty="0">
                <a:solidFill>
                  <a:srgbClr val="374151"/>
                </a:solidFill>
                <a:effectLst/>
                <a:latin typeface="Arial" panose="020B0604020202020204" pitchFamily="34" charset="0"/>
                <a:cs typeface="Arial" panose="020B0604020202020204" pitchFamily="34" charset="0"/>
              </a:rPr>
              <a:t>Los sistemas de mensajería en Big Data desempeñan varios roles clave:</a:t>
            </a:r>
          </a:p>
        </p:txBody>
      </p:sp>
      <p:sp>
        <p:nvSpPr>
          <p:cNvPr id="10" name="CuadroTexto 9">
            <a:extLst>
              <a:ext uri="{FF2B5EF4-FFF2-40B4-BE49-F238E27FC236}">
                <a16:creationId xmlns:a16="http://schemas.microsoft.com/office/drawing/2014/main" id="{585DF6BB-8BE3-5BBF-B392-CB6700F6DFEF}"/>
              </a:ext>
            </a:extLst>
          </p:cNvPr>
          <p:cNvSpPr txBox="1"/>
          <p:nvPr/>
        </p:nvSpPr>
        <p:spPr>
          <a:xfrm>
            <a:off x="2902939" y="9045590"/>
            <a:ext cx="21484236" cy="3170099"/>
          </a:xfrm>
          <a:prstGeom prst="rect">
            <a:avLst/>
          </a:prstGeom>
          <a:noFill/>
        </p:spPr>
        <p:txBody>
          <a:bodyPr wrap="square">
            <a:spAutoFit/>
          </a:bodyPr>
          <a:lstStyle/>
          <a:p>
            <a:pPr algn="l">
              <a:buFont typeface="+mj-lt"/>
              <a:buAutoNum type="arabicPeriod"/>
            </a:pPr>
            <a:r>
              <a:rPr lang="es-ES" sz="4000" b="1" i="0" dirty="0">
                <a:solidFill>
                  <a:srgbClr val="374151"/>
                </a:solidFill>
                <a:effectLst/>
                <a:latin typeface="Arial" panose="020B0604020202020204" pitchFamily="34" charset="0"/>
                <a:cs typeface="Arial" panose="020B0604020202020204" pitchFamily="34" charset="0"/>
              </a:rPr>
              <a:t>Comunicación entre componentes</a:t>
            </a:r>
          </a:p>
          <a:p>
            <a:pPr algn="l">
              <a:buFont typeface="+mj-lt"/>
              <a:buAutoNum type="arabicPeriod"/>
            </a:pPr>
            <a:r>
              <a:rPr lang="es-ES" sz="4000" b="1" i="0" dirty="0">
                <a:solidFill>
                  <a:srgbClr val="374151"/>
                </a:solidFill>
                <a:effectLst/>
                <a:latin typeface="Arial" panose="020B0604020202020204" pitchFamily="34" charset="0"/>
                <a:cs typeface="Arial" panose="020B0604020202020204" pitchFamily="34" charset="0"/>
              </a:rPr>
              <a:t>Desacoplamiento</a:t>
            </a:r>
            <a:r>
              <a:rPr lang="es-ES" sz="4000" b="0" i="0" dirty="0">
                <a:solidFill>
                  <a:srgbClr val="374151"/>
                </a:solidFill>
                <a:effectLst/>
                <a:latin typeface="Arial" panose="020B0604020202020204" pitchFamily="34" charset="0"/>
                <a:cs typeface="Arial" panose="020B0604020202020204" pitchFamily="34" charset="0"/>
              </a:rPr>
              <a:t> </a:t>
            </a:r>
          </a:p>
          <a:p>
            <a:pPr algn="l">
              <a:buFont typeface="+mj-lt"/>
              <a:buAutoNum type="arabicPeriod"/>
            </a:pPr>
            <a:r>
              <a:rPr lang="es-ES" sz="4000" b="1" i="0" dirty="0">
                <a:solidFill>
                  <a:srgbClr val="374151"/>
                </a:solidFill>
                <a:effectLst/>
                <a:latin typeface="Arial" panose="020B0604020202020204" pitchFamily="34" charset="0"/>
                <a:cs typeface="Arial" panose="020B0604020202020204" pitchFamily="34" charset="0"/>
              </a:rPr>
              <a:t>Tolerancia a fallos</a:t>
            </a:r>
            <a:r>
              <a:rPr lang="es-ES" sz="4000" b="0" i="0" dirty="0">
                <a:solidFill>
                  <a:srgbClr val="374151"/>
                </a:solidFill>
                <a:effectLst/>
                <a:latin typeface="Arial" panose="020B0604020202020204" pitchFamily="34" charset="0"/>
                <a:cs typeface="Arial" panose="020B0604020202020204" pitchFamily="34" charset="0"/>
              </a:rPr>
              <a:t>.</a:t>
            </a:r>
          </a:p>
          <a:p>
            <a:pPr algn="l">
              <a:buFont typeface="+mj-lt"/>
              <a:buAutoNum type="arabicPeriod"/>
            </a:pPr>
            <a:r>
              <a:rPr lang="es-ES" sz="4000" b="1" i="0" dirty="0">
                <a:solidFill>
                  <a:srgbClr val="374151"/>
                </a:solidFill>
                <a:effectLst/>
                <a:latin typeface="Arial" panose="020B0604020202020204" pitchFamily="34" charset="0"/>
                <a:cs typeface="Arial" panose="020B0604020202020204" pitchFamily="34" charset="0"/>
              </a:rPr>
              <a:t>Procesamiento asíncrono</a:t>
            </a:r>
          </a:p>
          <a:p>
            <a:pPr algn="l">
              <a:buFont typeface="+mj-lt"/>
              <a:buAutoNum type="arabicPeriod"/>
            </a:pPr>
            <a:r>
              <a:rPr lang="es-ES" sz="4000" b="1" i="0">
                <a:solidFill>
                  <a:srgbClr val="374151"/>
                </a:solidFill>
                <a:effectLst/>
                <a:latin typeface="Arial" panose="020B0604020202020204" pitchFamily="34" charset="0"/>
                <a:cs typeface="Arial" panose="020B0604020202020204" pitchFamily="34" charset="0"/>
              </a:rPr>
              <a:t>Escalabilidad</a:t>
            </a:r>
            <a:endParaRPr lang="es-ES" sz="4000" b="0" i="0" dirty="0">
              <a:solidFill>
                <a:srgbClr val="37415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44850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54" name="Google Shape;54;p10"/>
          <p:cNvSpPr txBox="1"/>
          <p:nvPr/>
        </p:nvSpPr>
        <p:spPr>
          <a:xfrm>
            <a:off x="10190976" y="745385"/>
            <a:ext cx="14714392" cy="120032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2"/>
              </a:buClr>
              <a:buSzPts val="1800"/>
              <a:buFont typeface="Montserrat"/>
              <a:buNone/>
            </a:pPr>
            <a:r>
              <a:rPr lang="es-AR" sz="7200" dirty="0"/>
              <a:t>Ecosistemas y </a:t>
            </a:r>
            <a:r>
              <a:rPr lang="es-AR" sz="7200" dirty="0" err="1"/>
              <a:t>Frameworks</a:t>
            </a:r>
            <a:endParaRPr b="1" i="1" dirty="0"/>
          </a:p>
        </p:txBody>
      </p:sp>
      <p:pic>
        <p:nvPicPr>
          <p:cNvPr id="2" name="Imagen 1">
            <a:extLst>
              <a:ext uri="{FF2B5EF4-FFF2-40B4-BE49-F238E27FC236}">
                <a16:creationId xmlns:a16="http://schemas.microsoft.com/office/drawing/2014/main" id="{2C1C6617-6153-BA88-DB57-8E0C89865862}"/>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66D5C994-4D5A-23DF-8421-4F892DE66B46}"/>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9FB9CEBE-742A-C50F-220C-C9912664A66C}"/>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324A513D-F97A-43ED-5339-086E251C516D}"/>
              </a:ext>
            </a:extLst>
          </p:cNvPr>
          <p:cNvPicPr>
            <a:picLocks noChangeAspect="1"/>
          </p:cNvPicPr>
          <p:nvPr/>
        </p:nvPicPr>
        <p:blipFill>
          <a:blip r:embed="rId5"/>
          <a:stretch>
            <a:fillRect/>
          </a:stretch>
        </p:blipFill>
        <p:spPr>
          <a:xfrm>
            <a:off x="23204799" y="12494218"/>
            <a:ext cx="607560" cy="903930"/>
          </a:xfrm>
          <a:prstGeom prst="rect">
            <a:avLst/>
          </a:prstGeom>
        </p:spPr>
      </p:pic>
      <p:pic>
        <p:nvPicPr>
          <p:cNvPr id="6146" name="Picture 2" descr="Apache Hadoop vs Spark: Main Big Data Tools Explained | AltexSoft">
            <a:extLst>
              <a:ext uri="{FF2B5EF4-FFF2-40B4-BE49-F238E27FC236}">
                <a16:creationId xmlns:a16="http://schemas.microsoft.com/office/drawing/2014/main" id="{39B89EB1-E334-A4A4-E417-2FD8D0D4DED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83664" y="2174699"/>
            <a:ext cx="18959249" cy="100905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67271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54" name="Google Shape;54;p10"/>
          <p:cNvSpPr txBox="1"/>
          <p:nvPr/>
        </p:nvSpPr>
        <p:spPr>
          <a:xfrm>
            <a:off x="10190976" y="745385"/>
            <a:ext cx="14714392" cy="120032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2"/>
              </a:buClr>
              <a:buSzPts val="1800"/>
              <a:buFont typeface="Montserrat"/>
              <a:buNone/>
            </a:pPr>
            <a:r>
              <a:rPr lang="es-AR" sz="7200" dirty="0"/>
              <a:t>Ecosistemas y </a:t>
            </a:r>
            <a:r>
              <a:rPr lang="es-AR" sz="7200" dirty="0" err="1"/>
              <a:t>Frameworks</a:t>
            </a:r>
            <a:endParaRPr b="1" i="1" dirty="0"/>
          </a:p>
        </p:txBody>
      </p:sp>
      <p:pic>
        <p:nvPicPr>
          <p:cNvPr id="2" name="Imagen 1">
            <a:extLst>
              <a:ext uri="{FF2B5EF4-FFF2-40B4-BE49-F238E27FC236}">
                <a16:creationId xmlns:a16="http://schemas.microsoft.com/office/drawing/2014/main" id="{2C1C6617-6153-BA88-DB57-8E0C89865862}"/>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66D5C994-4D5A-23DF-8421-4F892DE66B46}"/>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9FB9CEBE-742A-C50F-220C-C9912664A66C}"/>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324A513D-F97A-43ED-5339-086E251C516D}"/>
              </a:ext>
            </a:extLst>
          </p:cNvPr>
          <p:cNvPicPr>
            <a:picLocks noChangeAspect="1"/>
          </p:cNvPicPr>
          <p:nvPr/>
        </p:nvPicPr>
        <p:blipFill>
          <a:blip r:embed="rId5"/>
          <a:stretch>
            <a:fillRect/>
          </a:stretch>
        </p:blipFill>
        <p:spPr>
          <a:xfrm>
            <a:off x="23204799" y="12494218"/>
            <a:ext cx="607560" cy="903930"/>
          </a:xfrm>
          <a:prstGeom prst="rect">
            <a:avLst/>
          </a:prstGeom>
        </p:spPr>
      </p:pic>
      <p:pic>
        <p:nvPicPr>
          <p:cNvPr id="13314" name="Picture 2" descr="Big data ecosystem. It not 'Now a day Big data..' story… | by divya jain |  Medium">
            <a:extLst>
              <a:ext uri="{FF2B5EF4-FFF2-40B4-BE49-F238E27FC236}">
                <a16:creationId xmlns:a16="http://schemas.microsoft.com/office/drawing/2014/main" id="{FE14E937-8383-2708-AFA4-C032E417414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5389" y="2111972"/>
            <a:ext cx="19346779" cy="11404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67127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48"/>
        <p:cNvGrpSpPr/>
        <p:nvPr/>
      </p:nvGrpSpPr>
      <p:grpSpPr>
        <a:xfrm>
          <a:off x="0" y="0"/>
          <a:ext cx="0" cy="0"/>
          <a:chOff x="0" y="0"/>
          <a:chExt cx="0" cy="0"/>
        </a:xfrm>
      </p:grpSpPr>
      <p:sp>
        <p:nvSpPr>
          <p:cNvPr id="54" name="Google Shape;54;p10"/>
          <p:cNvSpPr txBox="1"/>
          <p:nvPr/>
        </p:nvSpPr>
        <p:spPr>
          <a:xfrm>
            <a:off x="1585389" y="1863401"/>
            <a:ext cx="14714392" cy="120032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2"/>
              </a:buClr>
              <a:buSzPts val="1800"/>
              <a:buFont typeface="Montserrat"/>
              <a:buNone/>
            </a:pPr>
            <a:r>
              <a:rPr lang="es-MX" sz="7200" b="1" i="1" dirty="0">
                <a:solidFill>
                  <a:schemeClr val="dk2"/>
                </a:solidFill>
                <a:latin typeface="Montserrat"/>
                <a:ea typeface="Montserrat"/>
                <a:cs typeface="Montserrat"/>
                <a:sym typeface="Montserrat"/>
              </a:rPr>
              <a:t>Recomendaciones de Aplicación</a:t>
            </a:r>
            <a:endParaRPr lang="es-MX" b="1" i="1" dirty="0"/>
          </a:p>
        </p:txBody>
      </p:sp>
      <p:sp>
        <p:nvSpPr>
          <p:cNvPr id="10" name="CuadroTexto 9">
            <a:extLst>
              <a:ext uri="{FF2B5EF4-FFF2-40B4-BE49-F238E27FC236}">
                <a16:creationId xmlns:a16="http://schemas.microsoft.com/office/drawing/2014/main" id="{F25412E2-FB29-493A-B049-92C6989EEAFA}"/>
              </a:ext>
            </a:extLst>
          </p:cNvPr>
          <p:cNvSpPr txBox="1"/>
          <p:nvPr/>
        </p:nvSpPr>
        <p:spPr>
          <a:xfrm>
            <a:off x="2112980" y="5632568"/>
            <a:ext cx="20999888" cy="5830827"/>
          </a:xfrm>
          <a:prstGeom prst="rect">
            <a:avLst/>
          </a:prstGeom>
          <a:noFill/>
        </p:spPr>
        <p:txBody>
          <a:bodyPr wrap="square">
            <a:spAutoFit/>
          </a:bodyPr>
          <a:lstStyle/>
          <a:p>
            <a:pPr algn="just">
              <a:lnSpc>
                <a:spcPct val="150000"/>
              </a:lnSpc>
            </a:pPr>
            <a:r>
              <a:rPr lang="es-MX" sz="3600" dirty="0">
                <a:solidFill>
                  <a:schemeClr val="dk2"/>
                </a:solidFill>
                <a:latin typeface="Poppins"/>
                <a:cs typeface="Poppins"/>
              </a:rPr>
              <a:t>1. Se debe dedicar un esfuerzo importante en conseguir resultados centrados en el cliente.</a:t>
            </a:r>
          </a:p>
          <a:p>
            <a:pPr algn="just">
              <a:lnSpc>
                <a:spcPct val="150000"/>
              </a:lnSpc>
            </a:pPr>
            <a:r>
              <a:rPr lang="es-MX" sz="3600" dirty="0">
                <a:solidFill>
                  <a:schemeClr val="dk2"/>
                </a:solidFill>
                <a:latin typeface="Poppins"/>
                <a:cs typeface="Poppins"/>
              </a:rPr>
              <a:t>2. Desarrollar proyectos Big Data para toda la empresa.</a:t>
            </a:r>
          </a:p>
          <a:p>
            <a:pPr algn="just">
              <a:lnSpc>
                <a:spcPct val="150000"/>
              </a:lnSpc>
            </a:pPr>
            <a:r>
              <a:rPr lang="es-MX" sz="3600" dirty="0">
                <a:solidFill>
                  <a:schemeClr val="dk2"/>
                </a:solidFill>
                <a:latin typeface="Poppins"/>
                <a:cs typeface="Poppins"/>
              </a:rPr>
              <a:t>3. La forma más correcta de iniciar un proyecto Big Data, consiste en plantearse objetivos a corto plazo.</a:t>
            </a:r>
          </a:p>
          <a:p>
            <a:pPr algn="just">
              <a:lnSpc>
                <a:spcPct val="150000"/>
              </a:lnSpc>
            </a:pPr>
            <a:r>
              <a:rPr lang="es-MX" sz="3600" dirty="0">
                <a:solidFill>
                  <a:schemeClr val="dk2"/>
                </a:solidFill>
                <a:latin typeface="Poppins"/>
                <a:cs typeface="Poppins"/>
              </a:rPr>
              <a:t>4. Desarrollar funcionalidades analíticas sobre las necesidades y prioridades de negocio.</a:t>
            </a:r>
          </a:p>
          <a:p>
            <a:pPr algn="just">
              <a:lnSpc>
                <a:spcPct val="150000"/>
              </a:lnSpc>
            </a:pPr>
            <a:r>
              <a:rPr lang="es-MX" sz="3600" dirty="0">
                <a:solidFill>
                  <a:schemeClr val="dk2"/>
                </a:solidFill>
                <a:latin typeface="Poppins"/>
                <a:cs typeface="Poppins"/>
              </a:rPr>
              <a:t>5. Optimizar los sistemas de información del negocio.</a:t>
            </a:r>
          </a:p>
          <a:p>
            <a:pPr algn="just">
              <a:lnSpc>
                <a:spcPct val="150000"/>
              </a:lnSpc>
            </a:pPr>
            <a:r>
              <a:rPr lang="es-MX" sz="3600" dirty="0">
                <a:solidFill>
                  <a:schemeClr val="dk2"/>
                </a:solidFill>
                <a:latin typeface="Poppins"/>
                <a:cs typeface="Poppins"/>
              </a:rPr>
              <a:t>6. Crear un equipo especialista de data </a:t>
            </a:r>
            <a:r>
              <a:rPr lang="es-MX" sz="3600" dirty="0" err="1">
                <a:solidFill>
                  <a:schemeClr val="dk2"/>
                </a:solidFill>
                <a:latin typeface="Poppins"/>
                <a:cs typeface="Poppins"/>
              </a:rPr>
              <a:t>scientists</a:t>
            </a:r>
            <a:r>
              <a:rPr lang="es-MX" sz="3600" dirty="0">
                <a:solidFill>
                  <a:schemeClr val="dk2"/>
                </a:solidFill>
                <a:latin typeface="Poppins"/>
                <a:cs typeface="Poppins"/>
              </a:rPr>
              <a:t>.</a:t>
            </a:r>
          </a:p>
        </p:txBody>
      </p:sp>
      <p:pic>
        <p:nvPicPr>
          <p:cNvPr id="2" name="Imagen 1">
            <a:extLst>
              <a:ext uri="{FF2B5EF4-FFF2-40B4-BE49-F238E27FC236}">
                <a16:creationId xmlns:a16="http://schemas.microsoft.com/office/drawing/2014/main" id="{4CBA5C35-D04D-CF70-61DC-EBE0EF134B6C}"/>
              </a:ext>
            </a:extLst>
          </p:cNvPr>
          <p:cNvPicPr>
            <a:picLocks noChangeAspect="1"/>
          </p:cNvPicPr>
          <p:nvPr/>
        </p:nvPicPr>
        <p:blipFill>
          <a:blip r:embed="rId4"/>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BAE13E4C-9483-3D33-9B1B-BD83C1659BC5}"/>
              </a:ext>
            </a:extLst>
          </p:cNvPr>
          <p:cNvPicPr>
            <a:picLocks noChangeAspect="1"/>
          </p:cNvPicPr>
          <p:nvPr/>
        </p:nvPicPr>
        <p:blipFill>
          <a:blip r:embed="rId5"/>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4AF04C59-5B74-11C3-6C29-9E64C0CF7CF2}"/>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6EBA10DB-3AB2-F0CC-BA1F-8727369708AB}"/>
              </a:ext>
            </a:extLst>
          </p:cNvPr>
          <p:cNvPicPr>
            <a:picLocks noChangeAspect="1"/>
          </p:cNvPicPr>
          <p:nvPr/>
        </p:nvPicPr>
        <p:blipFill>
          <a:blip r:embed="rId6"/>
          <a:stretch>
            <a:fillRect/>
          </a:stretch>
        </p:blipFill>
        <p:spPr>
          <a:xfrm>
            <a:off x="23204799" y="12494218"/>
            <a:ext cx="607560" cy="903930"/>
          </a:xfrm>
          <a:prstGeom prst="rect">
            <a:avLst/>
          </a:prstGeom>
        </p:spPr>
      </p:pic>
    </p:spTree>
    <p:extLst>
      <p:ext uri="{BB962C8B-B14F-4D97-AF65-F5344CB8AC3E}">
        <p14:creationId xmlns:p14="http://schemas.microsoft.com/office/powerpoint/2010/main" val="3531850341"/>
      </p:ext>
    </p:extLst>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54" name="Google Shape;54;p10"/>
          <p:cNvSpPr txBox="1"/>
          <p:nvPr/>
        </p:nvSpPr>
        <p:spPr>
          <a:xfrm>
            <a:off x="1108859" y="1990790"/>
            <a:ext cx="14714392" cy="120032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2"/>
              </a:buClr>
              <a:buSzPts val="1800"/>
              <a:buFont typeface="Montserrat"/>
              <a:buNone/>
            </a:pPr>
            <a:r>
              <a:rPr lang="es" sz="7200" dirty="0"/>
              <a:t>Aplicaciones y Casos reales</a:t>
            </a:r>
            <a:endParaRPr lang="es-MX" b="1" i="1" dirty="0"/>
          </a:p>
        </p:txBody>
      </p:sp>
      <p:sp>
        <p:nvSpPr>
          <p:cNvPr id="10" name="CuadroTexto 9">
            <a:extLst>
              <a:ext uri="{FF2B5EF4-FFF2-40B4-BE49-F238E27FC236}">
                <a16:creationId xmlns:a16="http://schemas.microsoft.com/office/drawing/2014/main" id="{F25412E2-FB29-493A-B049-92C6989EEAFA}"/>
              </a:ext>
            </a:extLst>
          </p:cNvPr>
          <p:cNvSpPr txBox="1"/>
          <p:nvPr/>
        </p:nvSpPr>
        <p:spPr>
          <a:xfrm>
            <a:off x="1631048" y="3786724"/>
            <a:ext cx="14714391" cy="6661824"/>
          </a:xfrm>
          <a:prstGeom prst="rect">
            <a:avLst/>
          </a:prstGeom>
          <a:noFill/>
        </p:spPr>
        <p:txBody>
          <a:bodyPr wrap="square">
            <a:spAutoFit/>
          </a:bodyPr>
          <a:lstStyle/>
          <a:p>
            <a:pPr algn="just">
              <a:lnSpc>
                <a:spcPct val="150000"/>
              </a:lnSpc>
            </a:pPr>
            <a:r>
              <a:rPr lang="es-MX" sz="3600" dirty="0">
                <a:solidFill>
                  <a:schemeClr val="dk2"/>
                </a:solidFill>
                <a:latin typeface="Poppins"/>
                <a:cs typeface="Poppins"/>
              </a:rPr>
              <a:t>Entre las ventajas más importantes a mencionar, se encuentran: </a:t>
            </a:r>
          </a:p>
          <a:p>
            <a:pPr marL="571500" indent="-571500" algn="just">
              <a:lnSpc>
                <a:spcPct val="150000"/>
              </a:lnSpc>
              <a:buFont typeface="Arial" panose="020B0604020202020204" pitchFamily="34" charset="0"/>
              <a:buChar char="•"/>
            </a:pPr>
            <a:r>
              <a:rPr lang="es-MX" sz="3600" dirty="0">
                <a:solidFill>
                  <a:schemeClr val="dk2"/>
                </a:solidFill>
                <a:latin typeface="Poppins"/>
                <a:cs typeface="Poppins"/>
              </a:rPr>
              <a:t>Mejora el proceso de toma de decisión.</a:t>
            </a:r>
          </a:p>
          <a:p>
            <a:pPr marL="571500" indent="-571500" algn="just">
              <a:lnSpc>
                <a:spcPct val="150000"/>
              </a:lnSpc>
              <a:buFont typeface="Arial" panose="020B0604020202020204" pitchFamily="34" charset="0"/>
              <a:buChar char="•"/>
            </a:pPr>
            <a:r>
              <a:rPr lang="es-MX" sz="3600" dirty="0">
                <a:solidFill>
                  <a:schemeClr val="dk2"/>
                </a:solidFill>
                <a:latin typeface="Poppins"/>
                <a:cs typeface="Poppins"/>
              </a:rPr>
              <a:t>Seguridad en los datos.</a:t>
            </a:r>
          </a:p>
          <a:p>
            <a:pPr marL="571500" indent="-571500" algn="just">
              <a:lnSpc>
                <a:spcPct val="150000"/>
              </a:lnSpc>
              <a:buFont typeface="Arial" panose="020B0604020202020204" pitchFamily="34" charset="0"/>
              <a:buChar char="•"/>
            </a:pPr>
            <a:r>
              <a:rPr lang="es-MX" sz="3600" dirty="0">
                <a:solidFill>
                  <a:schemeClr val="dk2"/>
                </a:solidFill>
                <a:latin typeface="Poppins"/>
                <a:cs typeface="Poppins"/>
              </a:rPr>
              <a:t>Obtener ventajas competitivas.</a:t>
            </a:r>
          </a:p>
          <a:p>
            <a:pPr marL="571500" indent="-571500" algn="just">
              <a:lnSpc>
                <a:spcPct val="150000"/>
              </a:lnSpc>
              <a:buFont typeface="Arial" panose="020B0604020202020204" pitchFamily="34" charset="0"/>
              <a:buChar char="•"/>
            </a:pPr>
            <a:r>
              <a:rPr lang="es-MX" sz="3600" dirty="0">
                <a:solidFill>
                  <a:schemeClr val="dk2"/>
                </a:solidFill>
                <a:latin typeface="Poppins"/>
                <a:cs typeface="Poppins"/>
              </a:rPr>
              <a:t>Mejora de la accesibilidad de la información dentro de la empresa.</a:t>
            </a:r>
          </a:p>
          <a:p>
            <a:pPr marL="571500" indent="-571500" algn="just">
              <a:lnSpc>
                <a:spcPct val="150000"/>
              </a:lnSpc>
              <a:buFont typeface="Arial" panose="020B0604020202020204" pitchFamily="34" charset="0"/>
              <a:buChar char="•"/>
            </a:pPr>
            <a:r>
              <a:rPr lang="es-MX" sz="3600" dirty="0">
                <a:solidFill>
                  <a:schemeClr val="dk2"/>
                </a:solidFill>
                <a:latin typeface="Poppins"/>
                <a:cs typeface="Poppins"/>
              </a:rPr>
              <a:t>Nuevas fuentes de ingresos.</a:t>
            </a:r>
          </a:p>
        </p:txBody>
      </p:sp>
      <p:pic>
        <p:nvPicPr>
          <p:cNvPr id="6" name="6 Imagen" descr="Resultado de imagen de conclusiones">
            <a:extLst>
              <a:ext uri="{FF2B5EF4-FFF2-40B4-BE49-F238E27FC236}">
                <a16:creationId xmlns:a16="http://schemas.microsoft.com/office/drawing/2014/main" id="{887C27E1-E271-4DFF-85EE-EE8D514F4302}"/>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6345439" y="9741396"/>
            <a:ext cx="3804229" cy="3674608"/>
          </a:xfrm>
          <a:prstGeom prst="rect">
            <a:avLst/>
          </a:prstGeom>
          <a:noFill/>
          <a:ln>
            <a:noFill/>
          </a:ln>
        </p:spPr>
      </p:pic>
      <p:pic>
        <p:nvPicPr>
          <p:cNvPr id="2" name="Imagen 1">
            <a:extLst>
              <a:ext uri="{FF2B5EF4-FFF2-40B4-BE49-F238E27FC236}">
                <a16:creationId xmlns:a16="http://schemas.microsoft.com/office/drawing/2014/main" id="{4F66B2FA-29FF-ADC1-7777-7D1917B0944A}"/>
              </a:ext>
            </a:extLst>
          </p:cNvPr>
          <p:cNvPicPr>
            <a:picLocks noChangeAspect="1"/>
          </p:cNvPicPr>
          <p:nvPr/>
        </p:nvPicPr>
        <p:blipFill>
          <a:blip r:embed="rId4"/>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9A5EEED9-0160-8B97-6273-040D4EA124E1}"/>
              </a:ext>
            </a:extLst>
          </p:cNvPr>
          <p:cNvPicPr>
            <a:picLocks noChangeAspect="1"/>
          </p:cNvPicPr>
          <p:nvPr/>
        </p:nvPicPr>
        <p:blipFill>
          <a:blip r:embed="rId5"/>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0E101F4D-1FE1-7B2E-25CA-EFA254B7EA4E}"/>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0DD04039-BD1E-068A-C9FE-8CDAA93F6CEF}"/>
              </a:ext>
            </a:extLst>
          </p:cNvPr>
          <p:cNvPicPr>
            <a:picLocks noChangeAspect="1"/>
          </p:cNvPicPr>
          <p:nvPr/>
        </p:nvPicPr>
        <p:blipFill>
          <a:blip r:embed="rId6"/>
          <a:stretch>
            <a:fillRect/>
          </a:stretch>
        </p:blipFill>
        <p:spPr>
          <a:xfrm>
            <a:off x="23204799" y="12494218"/>
            <a:ext cx="607560" cy="903930"/>
          </a:xfrm>
          <a:prstGeom prst="rect">
            <a:avLst/>
          </a:prstGeom>
        </p:spPr>
      </p:pic>
    </p:spTree>
    <p:extLst>
      <p:ext uri="{BB962C8B-B14F-4D97-AF65-F5344CB8AC3E}">
        <p14:creationId xmlns:p14="http://schemas.microsoft.com/office/powerpoint/2010/main" val="23910668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93"/>
        <p:cNvGrpSpPr/>
        <p:nvPr/>
      </p:nvGrpSpPr>
      <p:grpSpPr>
        <a:xfrm>
          <a:off x="0" y="0"/>
          <a:ext cx="0" cy="0"/>
          <a:chOff x="0" y="0"/>
          <a:chExt cx="0" cy="0"/>
        </a:xfrm>
      </p:grpSpPr>
      <p:sp>
        <p:nvSpPr>
          <p:cNvPr id="94" name="Google Shape;94;p17"/>
          <p:cNvSpPr txBox="1"/>
          <p:nvPr/>
        </p:nvSpPr>
        <p:spPr>
          <a:xfrm>
            <a:off x="818869" y="3775074"/>
            <a:ext cx="22749433" cy="5523357"/>
          </a:xfrm>
          <a:prstGeom prst="rect">
            <a:avLst/>
          </a:prstGeom>
          <a:noFill/>
          <a:ln>
            <a:noFill/>
          </a:ln>
        </p:spPr>
        <p:txBody>
          <a:bodyPr spcFirstLastPara="1" wrap="square" lIns="243800" tIns="243800" rIns="243800" bIns="243800" anchor="t" anchorCtr="0">
            <a:noAutofit/>
          </a:bodyPr>
          <a:lstStyle/>
          <a:p>
            <a:pPr algn="just">
              <a:lnSpc>
                <a:spcPct val="150000"/>
              </a:lnSpc>
            </a:pPr>
            <a:r>
              <a:rPr lang="es-AR" sz="3600" dirty="0">
                <a:solidFill>
                  <a:schemeClr val="dk2"/>
                </a:solidFill>
                <a:latin typeface="Poppins"/>
                <a:cs typeface="Poppins"/>
              </a:rPr>
              <a:t>A la hora de implementar un proyecto de Big Data tenemos que tener en cuenta ciertas consideraciones asociadas con: </a:t>
            </a:r>
          </a:p>
          <a:p>
            <a:pPr algn="just">
              <a:lnSpc>
                <a:spcPct val="150000"/>
              </a:lnSpc>
            </a:pPr>
            <a:endParaRPr lang="es-AR" sz="3600" dirty="0">
              <a:solidFill>
                <a:schemeClr val="dk2"/>
              </a:solidFill>
              <a:latin typeface="Poppins"/>
              <a:cs typeface="Poppins"/>
            </a:endParaRPr>
          </a:p>
          <a:p>
            <a:pPr marL="762010" indent="-762010" algn="just">
              <a:lnSpc>
                <a:spcPct val="150000"/>
              </a:lnSpc>
              <a:buClr>
                <a:schemeClr val="tx1"/>
              </a:buClr>
              <a:buFont typeface="Arial" panose="020B0604020202020204" pitchFamily="34" charset="0"/>
              <a:buChar char="•"/>
            </a:pPr>
            <a:r>
              <a:rPr lang="es-AR" sz="3600" dirty="0">
                <a:solidFill>
                  <a:schemeClr val="dk2"/>
                </a:solidFill>
                <a:latin typeface="Poppins"/>
                <a:cs typeface="Poppins"/>
              </a:rPr>
              <a:t>La ciberseguridad y la seguridad informática.</a:t>
            </a:r>
          </a:p>
          <a:p>
            <a:pPr marL="762010" indent="-762010" algn="just">
              <a:lnSpc>
                <a:spcPct val="150000"/>
              </a:lnSpc>
              <a:buClr>
                <a:schemeClr val="tx1"/>
              </a:buClr>
              <a:buFont typeface="Arial" panose="020B0604020202020204" pitchFamily="34" charset="0"/>
              <a:buChar char="•"/>
            </a:pPr>
            <a:r>
              <a:rPr lang="es-AR" sz="3600" dirty="0">
                <a:solidFill>
                  <a:schemeClr val="dk2"/>
                </a:solidFill>
                <a:latin typeface="Poppins"/>
                <a:cs typeface="Poppins"/>
              </a:rPr>
              <a:t>Políticas de protección de datos personales.</a:t>
            </a:r>
          </a:p>
          <a:p>
            <a:pPr marL="762010" indent="-762010" algn="just">
              <a:lnSpc>
                <a:spcPct val="150000"/>
              </a:lnSpc>
              <a:buClr>
                <a:schemeClr val="tx1"/>
              </a:buClr>
              <a:buFont typeface="Arial" panose="020B0604020202020204" pitchFamily="34" charset="0"/>
              <a:buChar char="•"/>
            </a:pPr>
            <a:r>
              <a:rPr lang="es-AR" sz="3600" dirty="0">
                <a:solidFill>
                  <a:schemeClr val="dk2"/>
                </a:solidFill>
                <a:latin typeface="Poppins"/>
                <a:cs typeface="Poppins"/>
              </a:rPr>
              <a:t>Gestión y almacenamiento de grandes volúmenes de datos.</a:t>
            </a:r>
          </a:p>
          <a:p>
            <a:pPr marL="355604" algn="just">
              <a:lnSpc>
                <a:spcPct val="150000"/>
              </a:lnSpc>
              <a:buClr>
                <a:schemeClr val="dk2"/>
              </a:buClr>
              <a:buSzPts val="1500"/>
            </a:pPr>
            <a:endParaRPr sz="3600" dirty="0">
              <a:solidFill>
                <a:schemeClr val="dk2"/>
              </a:solidFill>
              <a:latin typeface="Poppins"/>
              <a:cs typeface="Poppins"/>
              <a:sym typeface="Roboto"/>
            </a:endParaRPr>
          </a:p>
          <a:p>
            <a:pPr algn="just">
              <a:lnSpc>
                <a:spcPct val="150000"/>
              </a:lnSpc>
            </a:pPr>
            <a:endParaRPr sz="4000" dirty="0">
              <a:solidFill>
                <a:schemeClr val="dk2"/>
              </a:solidFill>
              <a:latin typeface="Roboto"/>
              <a:ea typeface="Roboto"/>
              <a:cs typeface="Roboto"/>
              <a:sym typeface="Roboto"/>
            </a:endParaRPr>
          </a:p>
          <a:p>
            <a:pPr algn="just">
              <a:lnSpc>
                <a:spcPct val="150000"/>
              </a:lnSpc>
            </a:pPr>
            <a:endParaRPr sz="4000" dirty="0">
              <a:solidFill>
                <a:schemeClr val="dk2"/>
              </a:solidFill>
              <a:latin typeface="Roboto"/>
              <a:ea typeface="Roboto"/>
              <a:cs typeface="Roboto"/>
              <a:sym typeface="Roboto"/>
            </a:endParaRPr>
          </a:p>
          <a:p>
            <a:pPr algn="just">
              <a:lnSpc>
                <a:spcPct val="150000"/>
              </a:lnSpc>
            </a:pPr>
            <a:endParaRPr sz="4000" dirty="0">
              <a:solidFill>
                <a:schemeClr val="dk2"/>
              </a:solidFill>
              <a:latin typeface="Roboto"/>
              <a:ea typeface="Roboto"/>
              <a:cs typeface="Roboto"/>
              <a:sym typeface="Roboto"/>
            </a:endParaRPr>
          </a:p>
        </p:txBody>
      </p:sp>
      <p:pic>
        <p:nvPicPr>
          <p:cNvPr id="1026" name="Picture 2" descr="Big Data: ¿Qué es, cómo funciona y por qué es importante? - Mailjet"/>
          <p:cNvPicPr>
            <a:picLocks noChangeAspect="1" noChangeArrowheads="1"/>
          </p:cNvPicPr>
          <p:nvPr/>
        </p:nvPicPr>
        <p:blipFill rotWithShape="1">
          <a:blip r:embed="rId4">
            <a:extLst>
              <a:ext uri="{28A0092B-C50C-407E-A947-70E740481C1C}">
                <a14:useLocalDpi xmlns:a14="http://schemas.microsoft.com/office/drawing/2010/main" val="0"/>
              </a:ext>
            </a:extLst>
          </a:blip>
          <a:srcRect l="5772" t="4960" r="5082" b="17107"/>
          <a:stretch/>
        </p:blipFill>
        <p:spPr bwMode="auto">
          <a:xfrm>
            <a:off x="15758825" y="8460508"/>
            <a:ext cx="7998693" cy="4943917"/>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80;p12">
            <a:extLst>
              <a:ext uri="{FF2B5EF4-FFF2-40B4-BE49-F238E27FC236}">
                <a16:creationId xmlns:a16="http://schemas.microsoft.com/office/drawing/2014/main" id="{A0ED6AF7-DD4A-4B98-ACB9-115897873B48}"/>
              </a:ext>
            </a:extLst>
          </p:cNvPr>
          <p:cNvSpPr txBox="1"/>
          <p:nvPr/>
        </p:nvSpPr>
        <p:spPr>
          <a:xfrm>
            <a:off x="690699" y="2053191"/>
            <a:ext cx="23005771"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dirty="0" err="1">
                <a:sym typeface="Montserrat"/>
              </a:rPr>
              <a:t>Consideraciones</a:t>
            </a:r>
            <a:endParaRPr dirty="0"/>
          </a:p>
        </p:txBody>
      </p:sp>
      <p:pic>
        <p:nvPicPr>
          <p:cNvPr id="2" name="Imagen 1">
            <a:extLst>
              <a:ext uri="{FF2B5EF4-FFF2-40B4-BE49-F238E27FC236}">
                <a16:creationId xmlns:a16="http://schemas.microsoft.com/office/drawing/2014/main" id="{5A9ADE1A-7CE5-30DE-41EF-83638FD1E606}"/>
              </a:ext>
            </a:extLst>
          </p:cNvPr>
          <p:cNvPicPr>
            <a:picLocks noChangeAspect="1"/>
          </p:cNvPicPr>
          <p:nvPr/>
        </p:nvPicPr>
        <p:blipFill>
          <a:blip r:embed="rId5"/>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4EC6964F-7ADD-9F38-B692-6EBC8A238DEB}"/>
              </a:ext>
            </a:extLst>
          </p:cNvPr>
          <p:cNvPicPr>
            <a:picLocks noChangeAspect="1"/>
          </p:cNvPicPr>
          <p:nvPr/>
        </p:nvPicPr>
        <p:blipFill>
          <a:blip r:embed="rId6"/>
          <a:stretch>
            <a:fillRect/>
          </a:stretch>
        </p:blipFill>
        <p:spPr>
          <a:xfrm>
            <a:off x="20149668" y="299996"/>
            <a:ext cx="3586490" cy="968435"/>
          </a:xfrm>
          <a:prstGeom prst="rect">
            <a:avLst/>
          </a:prstGeom>
        </p:spPr>
      </p:pic>
      <p:sp>
        <p:nvSpPr>
          <p:cNvPr id="5" name="Rectángulo 4">
            <a:extLst>
              <a:ext uri="{FF2B5EF4-FFF2-40B4-BE49-F238E27FC236}">
                <a16:creationId xmlns:a16="http://schemas.microsoft.com/office/drawing/2014/main" id="{5A8E270D-CC7B-6E91-B1E6-5EA9EB6AE40C}"/>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136BC540-039E-8BC8-C01E-D5267A567A06}"/>
              </a:ext>
            </a:extLst>
          </p:cNvPr>
          <p:cNvPicPr>
            <a:picLocks noChangeAspect="1"/>
          </p:cNvPicPr>
          <p:nvPr/>
        </p:nvPicPr>
        <p:blipFill>
          <a:blip r:embed="rId7"/>
          <a:stretch>
            <a:fillRect/>
          </a:stretch>
        </p:blipFill>
        <p:spPr>
          <a:xfrm>
            <a:off x="23204799" y="12494218"/>
            <a:ext cx="607560" cy="903930"/>
          </a:xfrm>
          <a:prstGeom prst="rect">
            <a:avLst/>
          </a:prstGeom>
        </p:spPr>
      </p:pic>
    </p:spTree>
    <p:extLst>
      <p:ext uri="{BB962C8B-B14F-4D97-AF65-F5344CB8AC3E}">
        <p14:creationId xmlns:p14="http://schemas.microsoft.com/office/powerpoint/2010/main" val="2351465864"/>
      </p:ext>
    </p:extLst>
  </p:cSld>
  <p:clrMapOvr>
    <a:overrideClrMapping bg1="lt1" tx1="dk1" bg2="lt2" tx2="dk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7"/>
          <p:cNvSpPr txBox="1"/>
          <p:nvPr/>
        </p:nvSpPr>
        <p:spPr>
          <a:xfrm>
            <a:off x="947039" y="3139217"/>
            <a:ext cx="22749433" cy="5523357"/>
          </a:xfrm>
          <a:prstGeom prst="rect">
            <a:avLst/>
          </a:prstGeom>
          <a:noFill/>
          <a:ln>
            <a:noFill/>
          </a:ln>
        </p:spPr>
        <p:txBody>
          <a:bodyPr spcFirstLastPara="1" wrap="square" lIns="243800" tIns="243800" rIns="243800" bIns="243800" anchor="t" anchorCtr="0">
            <a:noAutofit/>
          </a:bodyPr>
          <a:lstStyle/>
          <a:p>
            <a:pPr algn="just">
              <a:lnSpc>
                <a:spcPct val="150000"/>
              </a:lnSpc>
            </a:pPr>
            <a:r>
              <a:rPr lang="es-MX" sz="3600" b="1" dirty="0">
                <a:solidFill>
                  <a:schemeClr val="dk2"/>
                </a:solidFill>
                <a:latin typeface="Poppins"/>
                <a:cs typeface="Poppins"/>
              </a:rPr>
              <a:t>Big Data en marketing y ventas:</a:t>
            </a:r>
          </a:p>
          <a:p>
            <a:pPr algn="just">
              <a:lnSpc>
                <a:spcPct val="150000"/>
              </a:lnSpc>
            </a:pPr>
            <a:r>
              <a:rPr lang="es-MX" sz="3600" dirty="0">
                <a:solidFill>
                  <a:schemeClr val="dk2"/>
                </a:solidFill>
                <a:latin typeface="Poppins"/>
                <a:cs typeface="Poppins"/>
              </a:rPr>
              <a:t>Los datos de los clientes se analizan y procesan obteniendo información relativa a sus gustos, preferencias, comportamientos. Así se pueden clasificar o segmentar a los mismos en diferentes categorías y utilizar modelos predictivos para que las organizaciones puedan tener indicadores de aceptación de sus productos, potenciales ventas.</a:t>
            </a:r>
          </a:p>
          <a:p>
            <a:pPr algn="just">
              <a:lnSpc>
                <a:spcPct val="150000"/>
              </a:lnSpc>
            </a:pPr>
            <a:endParaRPr lang="es-MX" sz="3600" dirty="0">
              <a:solidFill>
                <a:schemeClr val="dk2"/>
              </a:solidFill>
              <a:latin typeface="Poppins"/>
              <a:cs typeface="Poppins"/>
              <a:sym typeface="Roboto"/>
            </a:endParaRPr>
          </a:p>
          <a:p>
            <a:pPr algn="l" fontAlgn="base"/>
            <a:r>
              <a:rPr lang="es-MX" sz="4400" b="1" i="0" dirty="0">
                <a:solidFill>
                  <a:srgbClr val="363636"/>
                </a:solidFill>
                <a:effectLst/>
                <a:latin typeface="unitcomp"/>
              </a:rPr>
              <a:t>Big Data en telecomunicaciones</a:t>
            </a:r>
          </a:p>
          <a:p>
            <a:pPr algn="just" fontAlgn="base">
              <a:lnSpc>
                <a:spcPct val="150000"/>
              </a:lnSpc>
            </a:pPr>
            <a:r>
              <a:rPr lang="es-MX" sz="3600" dirty="0">
                <a:solidFill>
                  <a:schemeClr val="dk2"/>
                </a:solidFill>
                <a:latin typeface="Poppins"/>
                <a:cs typeface="Poppins"/>
              </a:rPr>
              <a:t>Algunos operadores de telefonía móvil utilizan el Big Data para analizar qué se dice de ellas en las redes sociales, examinar los datos de sus tickets de soporte a clientes o sus quejas. Esto posibilita implementar estrategias que permiten reducir el número de portabilidades o incrementar la captación de nuevos clientes.</a:t>
            </a:r>
          </a:p>
          <a:p>
            <a:pPr algn="just">
              <a:lnSpc>
                <a:spcPct val="150000"/>
              </a:lnSpc>
            </a:pPr>
            <a:endParaRPr sz="3600" dirty="0">
              <a:solidFill>
                <a:schemeClr val="dk2"/>
              </a:solidFill>
              <a:latin typeface="Poppins"/>
              <a:cs typeface="Poppins"/>
              <a:sym typeface="Roboto"/>
            </a:endParaRPr>
          </a:p>
          <a:p>
            <a:pPr algn="just">
              <a:lnSpc>
                <a:spcPct val="150000"/>
              </a:lnSpc>
            </a:pPr>
            <a:endParaRPr sz="4000" dirty="0">
              <a:solidFill>
                <a:schemeClr val="dk2"/>
              </a:solidFill>
              <a:latin typeface="Roboto"/>
              <a:ea typeface="Roboto"/>
              <a:cs typeface="Roboto"/>
              <a:sym typeface="Roboto"/>
            </a:endParaRPr>
          </a:p>
          <a:p>
            <a:pPr algn="just">
              <a:lnSpc>
                <a:spcPct val="150000"/>
              </a:lnSpc>
            </a:pPr>
            <a:endParaRPr sz="4000" dirty="0">
              <a:solidFill>
                <a:schemeClr val="dk2"/>
              </a:solidFill>
              <a:latin typeface="Roboto"/>
              <a:ea typeface="Roboto"/>
              <a:cs typeface="Roboto"/>
              <a:sym typeface="Roboto"/>
            </a:endParaRPr>
          </a:p>
          <a:p>
            <a:pPr algn="just">
              <a:lnSpc>
                <a:spcPct val="150000"/>
              </a:lnSpc>
            </a:pPr>
            <a:endParaRPr sz="4000" dirty="0">
              <a:solidFill>
                <a:schemeClr val="dk2"/>
              </a:solidFill>
              <a:latin typeface="Roboto"/>
              <a:ea typeface="Roboto"/>
              <a:cs typeface="Roboto"/>
              <a:sym typeface="Roboto"/>
            </a:endParaRPr>
          </a:p>
        </p:txBody>
      </p:sp>
      <p:sp>
        <p:nvSpPr>
          <p:cNvPr id="4" name="Google Shape;80;p12">
            <a:extLst>
              <a:ext uri="{FF2B5EF4-FFF2-40B4-BE49-F238E27FC236}">
                <a16:creationId xmlns:a16="http://schemas.microsoft.com/office/drawing/2014/main" id="{A0ED6AF7-DD4A-4B98-ACB9-115897873B48}"/>
              </a:ext>
            </a:extLst>
          </p:cNvPr>
          <p:cNvSpPr txBox="1"/>
          <p:nvPr/>
        </p:nvSpPr>
        <p:spPr>
          <a:xfrm>
            <a:off x="586672" y="1807328"/>
            <a:ext cx="23005771"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a:sym typeface="Montserrat"/>
              </a:rPr>
              <a:t>Más </a:t>
            </a:r>
            <a:r>
              <a:rPr lang="en-US" dirty="0" err="1">
                <a:sym typeface="Montserrat"/>
              </a:rPr>
              <a:t>ejemplos</a:t>
            </a:r>
            <a:endParaRPr dirty="0"/>
          </a:p>
        </p:txBody>
      </p:sp>
      <p:pic>
        <p:nvPicPr>
          <p:cNvPr id="2" name="Imagen 1">
            <a:extLst>
              <a:ext uri="{FF2B5EF4-FFF2-40B4-BE49-F238E27FC236}">
                <a16:creationId xmlns:a16="http://schemas.microsoft.com/office/drawing/2014/main" id="{E08904E5-7DF3-76C7-925F-E3683475B687}"/>
              </a:ext>
            </a:extLst>
          </p:cNvPr>
          <p:cNvPicPr>
            <a:picLocks noChangeAspect="1"/>
          </p:cNvPicPr>
          <p:nvPr/>
        </p:nvPicPr>
        <p:blipFill>
          <a:blip r:embed="rId3"/>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A9BB3431-27F8-ED2B-6EEE-3DC9C7732A07}"/>
              </a:ext>
            </a:extLst>
          </p:cNvPr>
          <p:cNvPicPr>
            <a:picLocks noChangeAspect="1"/>
          </p:cNvPicPr>
          <p:nvPr/>
        </p:nvPicPr>
        <p:blipFill>
          <a:blip r:embed="rId4"/>
          <a:stretch>
            <a:fillRect/>
          </a:stretch>
        </p:blipFill>
        <p:spPr>
          <a:xfrm>
            <a:off x="20149668" y="299996"/>
            <a:ext cx="3586490" cy="968435"/>
          </a:xfrm>
          <a:prstGeom prst="rect">
            <a:avLst/>
          </a:prstGeom>
        </p:spPr>
      </p:pic>
      <p:sp>
        <p:nvSpPr>
          <p:cNvPr id="5" name="Rectángulo 4">
            <a:extLst>
              <a:ext uri="{FF2B5EF4-FFF2-40B4-BE49-F238E27FC236}">
                <a16:creationId xmlns:a16="http://schemas.microsoft.com/office/drawing/2014/main" id="{FC95824E-469F-F16F-033A-6CFD032A7537}"/>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1E2F8F1B-8321-18D8-11C3-19122815786D}"/>
              </a:ext>
            </a:extLst>
          </p:cNvPr>
          <p:cNvPicPr>
            <a:picLocks noChangeAspect="1"/>
          </p:cNvPicPr>
          <p:nvPr/>
        </p:nvPicPr>
        <p:blipFill>
          <a:blip r:embed="rId5"/>
          <a:stretch>
            <a:fillRect/>
          </a:stretch>
        </p:blipFill>
        <p:spPr>
          <a:xfrm>
            <a:off x="23204799" y="12494218"/>
            <a:ext cx="607560" cy="903930"/>
          </a:xfrm>
          <a:prstGeom prst="rect">
            <a:avLst/>
          </a:prstGeom>
        </p:spPr>
      </p:pic>
    </p:spTree>
    <p:extLst>
      <p:ext uri="{BB962C8B-B14F-4D97-AF65-F5344CB8AC3E}">
        <p14:creationId xmlns:p14="http://schemas.microsoft.com/office/powerpoint/2010/main" val="1890827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93"/>
        <p:cNvGrpSpPr/>
        <p:nvPr/>
      </p:nvGrpSpPr>
      <p:grpSpPr>
        <a:xfrm>
          <a:off x="0" y="0"/>
          <a:ext cx="0" cy="0"/>
          <a:chOff x="0" y="0"/>
          <a:chExt cx="0" cy="0"/>
        </a:xfrm>
      </p:grpSpPr>
      <p:sp>
        <p:nvSpPr>
          <p:cNvPr id="94" name="Google Shape;94;p17"/>
          <p:cNvSpPr txBox="1"/>
          <p:nvPr/>
        </p:nvSpPr>
        <p:spPr>
          <a:xfrm>
            <a:off x="1062926" y="3850983"/>
            <a:ext cx="22749433" cy="5523357"/>
          </a:xfrm>
          <a:prstGeom prst="rect">
            <a:avLst/>
          </a:prstGeom>
          <a:noFill/>
          <a:ln>
            <a:noFill/>
          </a:ln>
        </p:spPr>
        <p:txBody>
          <a:bodyPr spcFirstLastPara="1" wrap="square" lIns="243800" tIns="243800" rIns="243800" bIns="243800" anchor="t" anchorCtr="0">
            <a:noAutofit/>
          </a:bodyPr>
          <a:lstStyle/>
          <a:p>
            <a:pPr algn="just">
              <a:lnSpc>
                <a:spcPct val="150000"/>
              </a:lnSpc>
            </a:pPr>
            <a:r>
              <a:rPr lang="es-MX" sz="3600" b="1" dirty="0">
                <a:solidFill>
                  <a:schemeClr val="dk2"/>
                </a:solidFill>
                <a:latin typeface="Poppins"/>
                <a:cs typeface="Poppins"/>
              </a:rPr>
              <a:t>Big Data en la logística y transporte</a:t>
            </a:r>
          </a:p>
          <a:p>
            <a:pPr algn="just">
              <a:lnSpc>
                <a:spcPct val="150000"/>
              </a:lnSpc>
            </a:pPr>
            <a:r>
              <a:rPr lang="es-MX" sz="3600" dirty="0">
                <a:solidFill>
                  <a:schemeClr val="dk2"/>
                </a:solidFill>
                <a:latin typeface="Poppins"/>
                <a:cs typeface="Poppins"/>
              </a:rPr>
              <a:t>El incremento del tráfico en carreteras, la mayor deslocalización de los almacenes, las fluctuaciones del precio de los combustibles, la internacionalización empresarial y el auge del comercio electrónico, son tendencias logísticas sobre las que Big Data interviene.</a:t>
            </a:r>
          </a:p>
          <a:p>
            <a:pPr algn="just">
              <a:lnSpc>
                <a:spcPct val="150000"/>
              </a:lnSpc>
            </a:pPr>
            <a:endParaRPr lang="es-MX" sz="3600" dirty="0">
              <a:solidFill>
                <a:schemeClr val="dk2"/>
              </a:solidFill>
              <a:latin typeface="Poppins"/>
              <a:cs typeface="Poppins"/>
            </a:endParaRPr>
          </a:p>
          <a:p>
            <a:pPr algn="just">
              <a:lnSpc>
                <a:spcPct val="150000"/>
              </a:lnSpc>
            </a:pPr>
            <a:r>
              <a:rPr lang="es-MX" sz="3600" dirty="0">
                <a:solidFill>
                  <a:schemeClr val="dk2"/>
                </a:solidFill>
                <a:latin typeface="Poppins"/>
                <a:cs typeface="Poppins"/>
              </a:rPr>
              <a:t>Aquí, los sistemas Big Data trabajan con información obtenida de los GPS de los vehículos, de los datos de tráfico de las instituciones oficiales, datos de movilidad de personas y materiales en almacenes, información de abastecimiento del producto por parte de los clientes, etc.</a:t>
            </a:r>
            <a:endParaRPr sz="4000" dirty="0">
              <a:solidFill>
                <a:schemeClr val="dk2"/>
              </a:solidFill>
              <a:latin typeface="Roboto"/>
              <a:ea typeface="Roboto"/>
              <a:cs typeface="Roboto"/>
              <a:sym typeface="Roboto"/>
            </a:endParaRPr>
          </a:p>
          <a:p>
            <a:pPr algn="just">
              <a:lnSpc>
                <a:spcPct val="150000"/>
              </a:lnSpc>
            </a:pPr>
            <a:endParaRPr sz="4000" dirty="0">
              <a:solidFill>
                <a:schemeClr val="dk2"/>
              </a:solidFill>
              <a:latin typeface="Roboto"/>
              <a:ea typeface="Roboto"/>
              <a:cs typeface="Roboto"/>
              <a:sym typeface="Roboto"/>
            </a:endParaRPr>
          </a:p>
          <a:p>
            <a:pPr algn="just">
              <a:lnSpc>
                <a:spcPct val="150000"/>
              </a:lnSpc>
            </a:pPr>
            <a:endParaRPr sz="4000" dirty="0">
              <a:solidFill>
                <a:schemeClr val="dk2"/>
              </a:solidFill>
              <a:latin typeface="Roboto"/>
              <a:ea typeface="Roboto"/>
              <a:cs typeface="Roboto"/>
              <a:sym typeface="Roboto"/>
            </a:endParaRPr>
          </a:p>
        </p:txBody>
      </p:sp>
      <p:sp>
        <p:nvSpPr>
          <p:cNvPr id="4" name="Google Shape;80;p12">
            <a:extLst>
              <a:ext uri="{FF2B5EF4-FFF2-40B4-BE49-F238E27FC236}">
                <a16:creationId xmlns:a16="http://schemas.microsoft.com/office/drawing/2014/main" id="{A0ED6AF7-DD4A-4B98-ACB9-115897873B48}"/>
              </a:ext>
            </a:extLst>
          </p:cNvPr>
          <p:cNvSpPr txBox="1"/>
          <p:nvPr/>
        </p:nvSpPr>
        <p:spPr>
          <a:xfrm>
            <a:off x="586672" y="2097197"/>
            <a:ext cx="23005771"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a:sym typeface="Montserrat"/>
              </a:rPr>
              <a:t>Más </a:t>
            </a:r>
            <a:r>
              <a:rPr lang="en-US" dirty="0" err="1">
                <a:sym typeface="Montserrat"/>
              </a:rPr>
              <a:t>ejemplos</a:t>
            </a:r>
            <a:endParaRPr dirty="0"/>
          </a:p>
        </p:txBody>
      </p:sp>
      <p:pic>
        <p:nvPicPr>
          <p:cNvPr id="2" name="Imagen 1">
            <a:extLst>
              <a:ext uri="{FF2B5EF4-FFF2-40B4-BE49-F238E27FC236}">
                <a16:creationId xmlns:a16="http://schemas.microsoft.com/office/drawing/2014/main" id="{7431FE15-0B20-0096-A001-B761C0EBC902}"/>
              </a:ext>
            </a:extLst>
          </p:cNvPr>
          <p:cNvPicPr>
            <a:picLocks noChangeAspect="1"/>
          </p:cNvPicPr>
          <p:nvPr/>
        </p:nvPicPr>
        <p:blipFill>
          <a:blip r:embed="rId4"/>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7082DE3D-7571-2CB1-6661-DBFA8D46E055}"/>
              </a:ext>
            </a:extLst>
          </p:cNvPr>
          <p:cNvPicPr>
            <a:picLocks noChangeAspect="1"/>
          </p:cNvPicPr>
          <p:nvPr/>
        </p:nvPicPr>
        <p:blipFill>
          <a:blip r:embed="rId5"/>
          <a:stretch>
            <a:fillRect/>
          </a:stretch>
        </p:blipFill>
        <p:spPr>
          <a:xfrm>
            <a:off x="20149668" y="299996"/>
            <a:ext cx="3586490" cy="968435"/>
          </a:xfrm>
          <a:prstGeom prst="rect">
            <a:avLst/>
          </a:prstGeom>
        </p:spPr>
      </p:pic>
      <p:sp>
        <p:nvSpPr>
          <p:cNvPr id="5" name="Rectángulo 4">
            <a:extLst>
              <a:ext uri="{FF2B5EF4-FFF2-40B4-BE49-F238E27FC236}">
                <a16:creationId xmlns:a16="http://schemas.microsoft.com/office/drawing/2014/main" id="{60FCCED7-0A58-EE19-BF04-18B4F92FAC0F}"/>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AFDDB2EF-1719-54FC-41EE-73ED0E042D5F}"/>
              </a:ext>
            </a:extLst>
          </p:cNvPr>
          <p:cNvPicPr>
            <a:picLocks noChangeAspect="1"/>
          </p:cNvPicPr>
          <p:nvPr/>
        </p:nvPicPr>
        <p:blipFill>
          <a:blip r:embed="rId6"/>
          <a:stretch>
            <a:fillRect/>
          </a:stretch>
        </p:blipFill>
        <p:spPr>
          <a:xfrm>
            <a:off x="23204799" y="12494218"/>
            <a:ext cx="607560" cy="903930"/>
          </a:xfrm>
          <a:prstGeom prst="rect">
            <a:avLst/>
          </a:prstGeom>
        </p:spPr>
      </p:pic>
    </p:spTree>
    <p:extLst>
      <p:ext uri="{BB962C8B-B14F-4D97-AF65-F5344CB8AC3E}">
        <p14:creationId xmlns:p14="http://schemas.microsoft.com/office/powerpoint/2010/main" val="3818594376"/>
      </p:ext>
    </p:extLst>
  </p:cSld>
  <p:clrMapOvr>
    <a:overrideClrMapping bg1="lt1" tx1="dk1" bg2="lt2" tx2="dk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93"/>
        <p:cNvGrpSpPr/>
        <p:nvPr/>
      </p:nvGrpSpPr>
      <p:grpSpPr>
        <a:xfrm>
          <a:off x="0" y="0"/>
          <a:ext cx="0" cy="0"/>
          <a:chOff x="0" y="0"/>
          <a:chExt cx="0" cy="0"/>
        </a:xfrm>
      </p:grpSpPr>
      <p:sp>
        <p:nvSpPr>
          <p:cNvPr id="94" name="Google Shape;94;p17"/>
          <p:cNvSpPr txBox="1"/>
          <p:nvPr/>
        </p:nvSpPr>
        <p:spPr>
          <a:xfrm>
            <a:off x="1062926" y="4519898"/>
            <a:ext cx="22749433" cy="5523357"/>
          </a:xfrm>
          <a:prstGeom prst="rect">
            <a:avLst/>
          </a:prstGeom>
          <a:noFill/>
          <a:ln>
            <a:noFill/>
          </a:ln>
        </p:spPr>
        <p:txBody>
          <a:bodyPr spcFirstLastPara="1" wrap="square" lIns="243800" tIns="243800" rIns="243800" bIns="243800" anchor="t" anchorCtr="0">
            <a:noAutofit/>
          </a:bodyPr>
          <a:lstStyle/>
          <a:p>
            <a:pPr algn="just">
              <a:lnSpc>
                <a:spcPct val="150000"/>
              </a:lnSpc>
            </a:pPr>
            <a:r>
              <a:rPr lang="es-MX" sz="3600" b="1" dirty="0">
                <a:solidFill>
                  <a:schemeClr val="dk2"/>
                </a:solidFill>
                <a:latin typeface="Poppins"/>
                <a:cs typeface="Poppins"/>
              </a:rPr>
              <a:t>Big Data en los procesos de producción:</a:t>
            </a:r>
          </a:p>
          <a:p>
            <a:pPr algn="just">
              <a:lnSpc>
                <a:spcPct val="150000"/>
              </a:lnSpc>
            </a:pPr>
            <a:r>
              <a:rPr lang="es-MX" sz="3600" dirty="0">
                <a:solidFill>
                  <a:schemeClr val="dk2"/>
                </a:solidFill>
                <a:latin typeface="Poppins"/>
                <a:cs typeface="Poppins"/>
              </a:rPr>
              <a:t>Dentro de las propias acciones de fabricación, el análisis de datos es clave para, por ejemplo, evitar que aparezcan fallos mecánicos en la maquinaria. En este caso, se combina la tecnología Big Data con la inteligencia artificial para dar forma al mantenimiento predictivo.</a:t>
            </a:r>
          </a:p>
          <a:p>
            <a:pPr algn="just">
              <a:lnSpc>
                <a:spcPct val="150000"/>
              </a:lnSpc>
            </a:pPr>
            <a:endParaRPr lang="es-MX" sz="3600" dirty="0">
              <a:solidFill>
                <a:schemeClr val="dk2"/>
              </a:solidFill>
              <a:latin typeface="Poppins"/>
              <a:cs typeface="Poppins"/>
            </a:endParaRPr>
          </a:p>
          <a:p>
            <a:pPr algn="just">
              <a:lnSpc>
                <a:spcPct val="150000"/>
              </a:lnSpc>
            </a:pPr>
            <a:r>
              <a:rPr lang="es-MX" sz="3600" dirty="0">
                <a:solidFill>
                  <a:schemeClr val="dk2"/>
                </a:solidFill>
                <a:latin typeface="Poppins"/>
                <a:cs typeface="Poppins"/>
              </a:rPr>
              <a:t>De esta forma, podremos anticiparnos a la aparición de fallos críticos. Unos fallos que pueden paralizar el trabajo o crear productos defectuosos, sin ningún valor y que generen importantes pérdidas económicas.</a:t>
            </a:r>
            <a:endParaRPr sz="4000" dirty="0">
              <a:solidFill>
                <a:schemeClr val="dk2"/>
              </a:solidFill>
              <a:latin typeface="Roboto"/>
              <a:ea typeface="Roboto"/>
              <a:cs typeface="Roboto"/>
              <a:sym typeface="Roboto"/>
            </a:endParaRPr>
          </a:p>
          <a:p>
            <a:pPr algn="just">
              <a:lnSpc>
                <a:spcPct val="150000"/>
              </a:lnSpc>
            </a:pPr>
            <a:endParaRPr sz="4000" dirty="0">
              <a:solidFill>
                <a:schemeClr val="dk2"/>
              </a:solidFill>
              <a:latin typeface="Roboto"/>
              <a:ea typeface="Roboto"/>
              <a:cs typeface="Roboto"/>
              <a:sym typeface="Roboto"/>
            </a:endParaRPr>
          </a:p>
        </p:txBody>
      </p:sp>
      <p:sp>
        <p:nvSpPr>
          <p:cNvPr id="4" name="Google Shape;80;p12">
            <a:extLst>
              <a:ext uri="{FF2B5EF4-FFF2-40B4-BE49-F238E27FC236}">
                <a16:creationId xmlns:a16="http://schemas.microsoft.com/office/drawing/2014/main" id="{A0ED6AF7-DD4A-4B98-ACB9-115897873B48}"/>
              </a:ext>
            </a:extLst>
          </p:cNvPr>
          <p:cNvSpPr txBox="1"/>
          <p:nvPr/>
        </p:nvSpPr>
        <p:spPr>
          <a:xfrm>
            <a:off x="690701" y="2025351"/>
            <a:ext cx="23005771"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a:sym typeface="Montserrat"/>
              </a:rPr>
              <a:t>Más </a:t>
            </a:r>
            <a:r>
              <a:rPr lang="en-US" dirty="0" err="1">
                <a:sym typeface="Montserrat"/>
              </a:rPr>
              <a:t>ejemplos</a:t>
            </a:r>
            <a:endParaRPr dirty="0"/>
          </a:p>
        </p:txBody>
      </p:sp>
      <p:pic>
        <p:nvPicPr>
          <p:cNvPr id="2" name="Imagen 1">
            <a:extLst>
              <a:ext uri="{FF2B5EF4-FFF2-40B4-BE49-F238E27FC236}">
                <a16:creationId xmlns:a16="http://schemas.microsoft.com/office/drawing/2014/main" id="{3DC37F82-CF82-FE43-0833-2A303D15DE87}"/>
              </a:ext>
            </a:extLst>
          </p:cNvPr>
          <p:cNvPicPr>
            <a:picLocks noChangeAspect="1"/>
          </p:cNvPicPr>
          <p:nvPr/>
        </p:nvPicPr>
        <p:blipFill>
          <a:blip r:embed="rId4"/>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5AD2D94E-A3D1-B4D9-5E21-40167E8C05EF}"/>
              </a:ext>
            </a:extLst>
          </p:cNvPr>
          <p:cNvPicPr>
            <a:picLocks noChangeAspect="1"/>
          </p:cNvPicPr>
          <p:nvPr/>
        </p:nvPicPr>
        <p:blipFill>
          <a:blip r:embed="rId5"/>
          <a:stretch>
            <a:fillRect/>
          </a:stretch>
        </p:blipFill>
        <p:spPr>
          <a:xfrm>
            <a:off x="20149668" y="299996"/>
            <a:ext cx="3586490" cy="968435"/>
          </a:xfrm>
          <a:prstGeom prst="rect">
            <a:avLst/>
          </a:prstGeom>
        </p:spPr>
      </p:pic>
      <p:sp>
        <p:nvSpPr>
          <p:cNvPr id="5" name="Rectángulo 4">
            <a:extLst>
              <a:ext uri="{FF2B5EF4-FFF2-40B4-BE49-F238E27FC236}">
                <a16:creationId xmlns:a16="http://schemas.microsoft.com/office/drawing/2014/main" id="{4A1CA5AE-D460-54BB-D984-67CF380723D3}"/>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A43B7622-2BD8-8BD1-148C-2613C1CC0BA7}"/>
              </a:ext>
            </a:extLst>
          </p:cNvPr>
          <p:cNvPicPr>
            <a:picLocks noChangeAspect="1"/>
          </p:cNvPicPr>
          <p:nvPr/>
        </p:nvPicPr>
        <p:blipFill>
          <a:blip r:embed="rId6"/>
          <a:stretch>
            <a:fillRect/>
          </a:stretch>
        </p:blipFill>
        <p:spPr>
          <a:xfrm>
            <a:off x="23204799" y="12494218"/>
            <a:ext cx="607560" cy="903930"/>
          </a:xfrm>
          <a:prstGeom prst="rect">
            <a:avLst/>
          </a:prstGeom>
        </p:spPr>
      </p:pic>
    </p:spTree>
    <p:extLst>
      <p:ext uri="{BB962C8B-B14F-4D97-AF65-F5344CB8AC3E}">
        <p14:creationId xmlns:p14="http://schemas.microsoft.com/office/powerpoint/2010/main" val="502266590"/>
      </p:ext>
    </p:extLst>
  </p:cSld>
  <p:clrMapOvr>
    <a:overrideClrMapping bg1="lt1" tx1="dk1" bg2="lt2" tx2="dk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pic>
        <p:nvPicPr>
          <p:cNvPr id="7" name="4 Imagen" descr="Amazon.com: Compras en Línea de Electrónicos, Ropa, Computadoras ...">
            <a:extLst>
              <a:ext uri="{FF2B5EF4-FFF2-40B4-BE49-F238E27FC236}">
                <a16:creationId xmlns:a16="http://schemas.microsoft.com/office/drawing/2014/main" id="{C8216202-0C5C-436C-954A-CC217CA79932}"/>
              </a:ext>
            </a:extLst>
          </p:cNvPr>
          <p:cNvPicPr/>
          <p:nvPr/>
        </p:nvPicPr>
        <p:blipFill rotWithShape="1">
          <a:blip r:embed="rId3" cstate="print">
            <a:extLst>
              <a:ext uri="{28A0092B-C50C-407E-A947-70E740481C1C}">
                <a14:useLocalDpi xmlns:a14="http://schemas.microsoft.com/office/drawing/2010/main" val="0"/>
              </a:ext>
            </a:extLst>
          </a:blip>
          <a:srcRect t="32317" b="35061"/>
          <a:stretch/>
        </p:blipFill>
        <p:spPr bwMode="auto">
          <a:xfrm>
            <a:off x="8477161" y="2668441"/>
            <a:ext cx="5642187" cy="2060400"/>
          </a:xfrm>
          <a:prstGeom prst="rect">
            <a:avLst/>
          </a:prstGeom>
          <a:noFill/>
          <a:ln>
            <a:noFill/>
          </a:ln>
          <a:extLst>
            <a:ext uri="{53640926-AAD7-44D8-BBD7-CCE9431645EC}">
              <a14:shadowObscured xmlns:a14="http://schemas.microsoft.com/office/drawing/2010/main"/>
            </a:ext>
          </a:extLst>
        </p:spPr>
      </p:pic>
      <p:sp>
        <p:nvSpPr>
          <p:cNvPr id="8" name="2 Rectángulo">
            <a:extLst>
              <a:ext uri="{FF2B5EF4-FFF2-40B4-BE49-F238E27FC236}">
                <a16:creationId xmlns:a16="http://schemas.microsoft.com/office/drawing/2014/main" id="{38A95AB2-EFCF-4D99-A75C-1B2D73619CC8}"/>
              </a:ext>
            </a:extLst>
          </p:cNvPr>
          <p:cNvSpPr/>
          <p:nvPr/>
        </p:nvSpPr>
        <p:spPr>
          <a:xfrm>
            <a:off x="4362137" y="5339366"/>
            <a:ext cx="14436420" cy="7492820"/>
          </a:xfrm>
          <a:prstGeom prst="rect">
            <a:avLst/>
          </a:prstGeom>
        </p:spPr>
        <p:txBody>
          <a:bodyPr wrap="square">
            <a:spAutoFit/>
          </a:bodyPr>
          <a:lstStyle/>
          <a:p>
            <a:pPr algn="just">
              <a:lnSpc>
                <a:spcPct val="150000"/>
              </a:lnSpc>
            </a:pPr>
            <a:r>
              <a:rPr lang="es-AR" sz="3600" dirty="0">
                <a:solidFill>
                  <a:schemeClr val="dk2"/>
                </a:solidFill>
                <a:latin typeface="Poppins"/>
                <a:cs typeface="Poppins"/>
                <a:sym typeface="Roboto"/>
              </a:rPr>
              <a:t>Amazon es el rey del </a:t>
            </a:r>
            <a:r>
              <a:rPr lang="es-AR" sz="3600" dirty="0" err="1">
                <a:solidFill>
                  <a:schemeClr val="dk2"/>
                </a:solidFill>
                <a:latin typeface="Poppins"/>
                <a:cs typeface="Poppins"/>
                <a:sym typeface="Roboto"/>
              </a:rPr>
              <a:t>eCommerce</a:t>
            </a:r>
            <a:r>
              <a:rPr lang="es-AR" sz="3600" dirty="0">
                <a:solidFill>
                  <a:schemeClr val="dk2"/>
                </a:solidFill>
                <a:latin typeface="Poppins"/>
                <a:cs typeface="Poppins"/>
                <a:sym typeface="Roboto"/>
              </a:rPr>
              <a:t> porque supo adoptar la tecnología de vanguardia para recolectar, analizar y utilizar la cantidad masiva de datos a la que tienen acceso a partir del historial de búsqueda y de compra de una persona. </a:t>
            </a:r>
          </a:p>
          <a:p>
            <a:pPr algn="just">
              <a:lnSpc>
                <a:spcPct val="150000"/>
              </a:lnSpc>
            </a:pPr>
            <a:endParaRPr lang="es-AR" sz="3600" dirty="0">
              <a:solidFill>
                <a:schemeClr val="dk2"/>
              </a:solidFill>
              <a:latin typeface="Poppins"/>
              <a:cs typeface="Poppins"/>
              <a:sym typeface="Roboto"/>
            </a:endParaRPr>
          </a:p>
          <a:p>
            <a:pPr algn="just">
              <a:lnSpc>
                <a:spcPct val="150000"/>
              </a:lnSpc>
            </a:pPr>
            <a:r>
              <a:rPr lang="es-AR" sz="3600" dirty="0">
                <a:solidFill>
                  <a:schemeClr val="dk2"/>
                </a:solidFill>
                <a:latin typeface="Poppins"/>
                <a:cs typeface="Poppins"/>
                <a:sym typeface="Roboto"/>
              </a:rPr>
              <a:t>Con toda esta información, la compañía logró optimizar su cadena de suministro, mejorar sus sistemas de recomendación y en consecuencia perfeccionar su política de precios.</a:t>
            </a:r>
          </a:p>
        </p:txBody>
      </p:sp>
      <p:sp>
        <p:nvSpPr>
          <p:cNvPr id="12" name="CuadroTexto 11">
            <a:extLst>
              <a:ext uri="{FF2B5EF4-FFF2-40B4-BE49-F238E27FC236}">
                <a16:creationId xmlns:a16="http://schemas.microsoft.com/office/drawing/2014/main" id="{3C8A6787-46C6-48A5-9526-0C775AA6C6AC}"/>
              </a:ext>
            </a:extLst>
          </p:cNvPr>
          <p:cNvSpPr txBox="1"/>
          <p:nvPr/>
        </p:nvSpPr>
        <p:spPr>
          <a:xfrm>
            <a:off x="18293181" y="1083017"/>
            <a:ext cx="12187988" cy="830997"/>
          </a:xfrm>
          <a:prstGeom prst="rect">
            <a:avLst/>
          </a:prstGeom>
          <a:noFill/>
        </p:spPr>
        <p:txBody>
          <a:bodyPr wrap="square">
            <a:spAutoFit/>
          </a:bodyPr>
          <a:lstStyle/>
          <a:p>
            <a:r>
              <a:rPr lang="es-US" sz="4800" b="1" dirty="0">
                <a:solidFill>
                  <a:schemeClr val="dk2"/>
                </a:solidFill>
                <a:latin typeface="Poppins"/>
                <a:cs typeface="Poppins"/>
              </a:rPr>
              <a:t>Casos de Éxito</a:t>
            </a:r>
          </a:p>
        </p:txBody>
      </p:sp>
      <p:pic>
        <p:nvPicPr>
          <p:cNvPr id="2" name="Imagen 1">
            <a:extLst>
              <a:ext uri="{FF2B5EF4-FFF2-40B4-BE49-F238E27FC236}">
                <a16:creationId xmlns:a16="http://schemas.microsoft.com/office/drawing/2014/main" id="{65F67673-BC49-DB5A-B1E8-A72489DDDE64}"/>
              </a:ext>
            </a:extLst>
          </p:cNvPr>
          <p:cNvPicPr>
            <a:picLocks noChangeAspect="1"/>
          </p:cNvPicPr>
          <p:nvPr/>
        </p:nvPicPr>
        <p:blipFill>
          <a:blip r:embed="rId4"/>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75788CBD-7F89-BD58-F6E8-7E0D0374545D}"/>
              </a:ext>
            </a:extLst>
          </p:cNvPr>
          <p:cNvPicPr>
            <a:picLocks noChangeAspect="1"/>
          </p:cNvPicPr>
          <p:nvPr/>
        </p:nvPicPr>
        <p:blipFill>
          <a:blip r:embed="rId5"/>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C3E27EAB-EF0C-D5AF-0DDE-61445C8C6580}"/>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E7C5865B-8C6F-1036-B06D-6C7EB8C872B4}"/>
              </a:ext>
            </a:extLst>
          </p:cNvPr>
          <p:cNvPicPr>
            <a:picLocks noChangeAspect="1"/>
          </p:cNvPicPr>
          <p:nvPr/>
        </p:nvPicPr>
        <p:blipFill>
          <a:blip r:embed="rId6"/>
          <a:stretch>
            <a:fillRect/>
          </a:stretch>
        </p:blipFill>
        <p:spPr>
          <a:xfrm>
            <a:off x="23204799" y="12494218"/>
            <a:ext cx="607560" cy="903930"/>
          </a:xfrm>
          <a:prstGeom prst="rect">
            <a:avLst/>
          </a:prstGeom>
        </p:spPr>
      </p:pic>
    </p:spTree>
    <p:extLst>
      <p:ext uri="{BB962C8B-B14F-4D97-AF65-F5344CB8AC3E}">
        <p14:creationId xmlns:p14="http://schemas.microsoft.com/office/powerpoint/2010/main" val="4726518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6" name="Google Shape;111;p20">
            <a:extLst>
              <a:ext uri="{FF2B5EF4-FFF2-40B4-BE49-F238E27FC236}">
                <a16:creationId xmlns:a16="http://schemas.microsoft.com/office/drawing/2014/main" id="{47808912-EB2A-44B6-939C-600269FCA329}"/>
              </a:ext>
            </a:extLst>
          </p:cNvPr>
          <p:cNvSpPr txBox="1"/>
          <p:nvPr/>
        </p:nvSpPr>
        <p:spPr>
          <a:xfrm>
            <a:off x="4911235" y="5925396"/>
            <a:ext cx="14564704" cy="7173187"/>
          </a:xfrm>
          <a:prstGeom prst="rect">
            <a:avLst/>
          </a:prstGeom>
          <a:noFill/>
          <a:ln>
            <a:noFill/>
          </a:ln>
        </p:spPr>
        <p:txBody>
          <a:bodyPr spcFirstLastPara="1" wrap="square" lIns="243800" tIns="243800" rIns="243800" bIns="243800" anchor="t" anchorCtr="0">
            <a:noAutofit/>
          </a:bodyPr>
          <a:lstStyle/>
          <a:p>
            <a:pPr algn="just">
              <a:lnSpc>
                <a:spcPct val="150000"/>
              </a:lnSpc>
            </a:pPr>
            <a:r>
              <a:rPr lang="es" sz="3600" dirty="0">
                <a:solidFill>
                  <a:schemeClr val="dk2"/>
                </a:solidFill>
                <a:latin typeface="Poppins"/>
                <a:cs typeface="Poppins"/>
                <a:sym typeface="Roboto"/>
              </a:rPr>
              <a:t>“</a:t>
            </a:r>
            <a:r>
              <a:rPr lang="es-AR" sz="3600" dirty="0">
                <a:solidFill>
                  <a:schemeClr val="dk2"/>
                </a:solidFill>
                <a:latin typeface="Poppins"/>
                <a:cs typeface="Poppins"/>
              </a:rPr>
              <a:t>Sin dudas, Netflix también es una de las empresas que mejor ha sabido utilizar a su favor todas las potencialidades que el Big Data ofrece en su masividad de datos. Entre las acciones que realiza, rastrea las calificaciones, el tiempo dedicado y las tendencias de cada uno de sus usuarios para brindar una lista o sugerencia personalizada. Además, en base a esos </a:t>
            </a:r>
            <a:r>
              <a:rPr lang="es-AR" sz="3600" dirty="0" err="1">
                <a:solidFill>
                  <a:schemeClr val="dk2"/>
                </a:solidFill>
                <a:latin typeface="Poppins"/>
                <a:cs typeface="Poppins"/>
              </a:rPr>
              <a:t>insight</a:t>
            </a:r>
            <a:r>
              <a:rPr lang="es-AR" sz="3600" dirty="0">
                <a:solidFill>
                  <a:schemeClr val="dk2"/>
                </a:solidFill>
                <a:latin typeface="Poppins"/>
                <a:cs typeface="Poppins"/>
              </a:rPr>
              <a:t> obtenidos planifica incluso su propia producción de contenido audiovisual.</a:t>
            </a:r>
            <a:r>
              <a:rPr lang="es" sz="3600" dirty="0">
                <a:solidFill>
                  <a:schemeClr val="dk2"/>
                </a:solidFill>
                <a:latin typeface="Poppins"/>
                <a:cs typeface="Poppins"/>
                <a:sym typeface="Roboto"/>
              </a:rPr>
              <a:t>”</a:t>
            </a:r>
            <a:endParaRPr sz="3600" dirty="0">
              <a:solidFill>
                <a:schemeClr val="dk2"/>
              </a:solidFill>
              <a:latin typeface="Poppins"/>
              <a:cs typeface="Poppins"/>
              <a:sym typeface="Roboto"/>
            </a:endParaRPr>
          </a:p>
          <a:p>
            <a:pPr algn="just">
              <a:lnSpc>
                <a:spcPct val="150000"/>
              </a:lnSpc>
            </a:pPr>
            <a:endParaRPr sz="3600" dirty="0">
              <a:solidFill>
                <a:schemeClr val="dk2"/>
              </a:solidFill>
              <a:latin typeface="Poppins"/>
              <a:cs typeface="Poppins"/>
              <a:sym typeface="Roboto"/>
            </a:endParaRPr>
          </a:p>
          <a:p>
            <a:pPr algn="just">
              <a:lnSpc>
                <a:spcPct val="150000"/>
              </a:lnSpc>
            </a:pPr>
            <a:endParaRPr sz="4000" dirty="0">
              <a:solidFill>
                <a:schemeClr val="dk2"/>
              </a:solidFill>
              <a:latin typeface="Roboto"/>
              <a:ea typeface="Roboto"/>
              <a:cs typeface="Roboto"/>
              <a:sym typeface="Roboto"/>
            </a:endParaRPr>
          </a:p>
          <a:p>
            <a:pPr algn="just">
              <a:lnSpc>
                <a:spcPct val="150000"/>
              </a:lnSpc>
            </a:pPr>
            <a:endParaRPr sz="4000" dirty="0">
              <a:solidFill>
                <a:schemeClr val="dk2"/>
              </a:solidFill>
              <a:latin typeface="Roboto"/>
              <a:ea typeface="Roboto"/>
              <a:cs typeface="Roboto"/>
              <a:sym typeface="Roboto"/>
            </a:endParaRPr>
          </a:p>
          <a:p>
            <a:pPr algn="just">
              <a:lnSpc>
                <a:spcPct val="150000"/>
              </a:lnSpc>
            </a:pPr>
            <a:endParaRPr sz="4000" dirty="0">
              <a:solidFill>
                <a:schemeClr val="dk2"/>
              </a:solidFill>
              <a:latin typeface="Roboto"/>
              <a:ea typeface="Roboto"/>
              <a:cs typeface="Roboto"/>
              <a:sym typeface="Roboto"/>
            </a:endParaRPr>
          </a:p>
          <a:p>
            <a:pPr algn="just">
              <a:lnSpc>
                <a:spcPct val="150000"/>
              </a:lnSpc>
            </a:pPr>
            <a:endParaRPr sz="4000" dirty="0">
              <a:solidFill>
                <a:schemeClr val="dk2"/>
              </a:solidFill>
              <a:latin typeface="Roboto"/>
              <a:ea typeface="Roboto"/>
              <a:cs typeface="Roboto"/>
              <a:sym typeface="Roboto"/>
            </a:endParaRPr>
          </a:p>
        </p:txBody>
      </p:sp>
      <p:pic>
        <p:nvPicPr>
          <p:cNvPr id="9" name="3 Imagen" descr="España ya tiene casi 3 millones y medio de usuarios de Netflix ...">
            <a:extLst>
              <a:ext uri="{FF2B5EF4-FFF2-40B4-BE49-F238E27FC236}">
                <a16:creationId xmlns:a16="http://schemas.microsoft.com/office/drawing/2014/main" id="{DE85DDC4-ABA0-4CB3-935C-C3C7709A173C}"/>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36839" y="2190749"/>
            <a:ext cx="4417161" cy="2671941"/>
          </a:xfrm>
          <a:prstGeom prst="rect">
            <a:avLst/>
          </a:prstGeom>
          <a:noFill/>
          <a:ln>
            <a:solidFill>
              <a:schemeClr val="tx1"/>
            </a:solidFill>
          </a:ln>
        </p:spPr>
      </p:pic>
      <p:pic>
        <p:nvPicPr>
          <p:cNvPr id="2" name="Imagen 1">
            <a:extLst>
              <a:ext uri="{FF2B5EF4-FFF2-40B4-BE49-F238E27FC236}">
                <a16:creationId xmlns:a16="http://schemas.microsoft.com/office/drawing/2014/main" id="{0AD943D2-4C5B-33E8-1C90-08F276E3FEAF}"/>
              </a:ext>
            </a:extLst>
          </p:cNvPr>
          <p:cNvPicPr>
            <a:picLocks noChangeAspect="1"/>
          </p:cNvPicPr>
          <p:nvPr/>
        </p:nvPicPr>
        <p:blipFill>
          <a:blip r:embed="rId4"/>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58FEEFA8-75BD-90EE-A4A2-A1C2982E8CBC}"/>
              </a:ext>
            </a:extLst>
          </p:cNvPr>
          <p:cNvPicPr>
            <a:picLocks noChangeAspect="1"/>
          </p:cNvPicPr>
          <p:nvPr/>
        </p:nvPicPr>
        <p:blipFill>
          <a:blip r:embed="rId5"/>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2B5C5FAE-4FC6-A535-16A8-FEA64473B4E8}"/>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571704F5-63B3-7849-5FE9-356382E286EE}"/>
              </a:ext>
            </a:extLst>
          </p:cNvPr>
          <p:cNvPicPr>
            <a:picLocks noChangeAspect="1"/>
          </p:cNvPicPr>
          <p:nvPr/>
        </p:nvPicPr>
        <p:blipFill>
          <a:blip r:embed="rId6"/>
          <a:stretch>
            <a:fillRect/>
          </a:stretch>
        </p:blipFill>
        <p:spPr>
          <a:xfrm>
            <a:off x="23204799" y="12494218"/>
            <a:ext cx="607560" cy="903930"/>
          </a:xfrm>
          <a:prstGeom prst="rect">
            <a:avLst/>
          </a:prstGeom>
        </p:spPr>
      </p:pic>
      <p:pic>
        <p:nvPicPr>
          <p:cNvPr id="7" name="Imagen 6">
            <a:extLst>
              <a:ext uri="{FF2B5EF4-FFF2-40B4-BE49-F238E27FC236}">
                <a16:creationId xmlns:a16="http://schemas.microsoft.com/office/drawing/2014/main" id="{345BFE10-D975-DC16-3B08-F1EDE7B36D4B}"/>
              </a:ext>
            </a:extLst>
          </p:cNvPr>
          <p:cNvPicPr>
            <a:picLocks noChangeAspect="1"/>
          </p:cNvPicPr>
          <p:nvPr/>
        </p:nvPicPr>
        <p:blipFill>
          <a:blip r:embed="rId4"/>
          <a:stretch>
            <a:fillRect/>
          </a:stretch>
        </p:blipFill>
        <p:spPr>
          <a:xfrm>
            <a:off x="739072" y="352120"/>
            <a:ext cx="3052617" cy="1200300"/>
          </a:xfrm>
          <a:prstGeom prst="rect">
            <a:avLst/>
          </a:prstGeom>
        </p:spPr>
      </p:pic>
      <p:pic>
        <p:nvPicPr>
          <p:cNvPr id="8" name="Imagen 7">
            <a:extLst>
              <a:ext uri="{FF2B5EF4-FFF2-40B4-BE49-F238E27FC236}">
                <a16:creationId xmlns:a16="http://schemas.microsoft.com/office/drawing/2014/main" id="{519BB250-763B-E18D-A552-6F28A296BAE0}"/>
              </a:ext>
            </a:extLst>
          </p:cNvPr>
          <p:cNvPicPr>
            <a:picLocks noChangeAspect="1"/>
          </p:cNvPicPr>
          <p:nvPr/>
        </p:nvPicPr>
        <p:blipFill>
          <a:blip r:embed="rId5"/>
          <a:stretch>
            <a:fillRect/>
          </a:stretch>
        </p:blipFill>
        <p:spPr>
          <a:xfrm>
            <a:off x="20302068" y="452396"/>
            <a:ext cx="3586490" cy="968435"/>
          </a:xfrm>
          <a:prstGeom prst="rect">
            <a:avLst/>
          </a:prstGeom>
        </p:spPr>
      </p:pic>
      <p:sp>
        <p:nvSpPr>
          <p:cNvPr id="10" name="Rectángulo 9">
            <a:extLst>
              <a:ext uri="{FF2B5EF4-FFF2-40B4-BE49-F238E27FC236}">
                <a16:creationId xmlns:a16="http://schemas.microsoft.com/office/drawing/2014/main" id="{D9EBA200-2922-2D82-2F4D-375004433057}"/>
              </a:ext>
            </a:extLst>
          </p:cNvPr>
          <p:cNvSpPr/>
          <p:nvPr/>
        </p:nvSpPr>
        <p:spPr>
          <a:xfrm>
            <a:off x="152400" y="15240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Imagen 10">
            <a:extLst>
              <a:ext uri="{FF2B5EF4-FFF2-40B4-BE49-F238E27FC236}">
                <a16:creationId xmlns:a16="http://schemas.microsoft.com/office/drawing/2014/main" id="{90A401E1-CDBC-4A47-34CE-3432E1F3B59E}"/>
              </a:ext>
            </a:extLst>
          </p:cNvPr>
          <p:cNvPicPr>
            <a:picLocks noChangeAspect="1"/>
          </p:cNvPicPr>
          <p:nvPr/>
        </p:nvPicPr>
        <p:blipFill>
          <a:blip r:embed="rId6"/>
          <a:stretch>
            <a:fillRect/>
          </a:stretch>
        </p:blipFill>
        <p:spPr>
          <a:xfrm>
            <a:off x="23357199" y="12646618"/>
            <a:ext cx="607560" cy="903930"/>
          </a:xfrm>
          <a:prstGeom prst="rect">
            <a:avLst/>
          </a:prstGeom>
        </p:spPr>
      </p:pic>
    </p:spTree>
    <p:extLst>
      <p:ext uri="{BB962C8B-B14F-4D97-AF65-F5344CB8AC3E}">
        <p14:creationId xmlns:p14="http://schemas.microsoft.com/office/powerpoint/2010/main" val="18551284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8" name="2 Rectángulo">
            <a:extLst>
              <a:ext uri="{FF2B5EF4-FFF2-40B4-BE49-F238E27FC236}">
                <a16:creationId xmlns:a16="http://schemas.microsoft.com/office/drawing/2014/main" id="{38A95AB2-EFCF-4D99-A75C-1B2D73619CC8}"/>
              </a:ext>
            </a:extLst>
          </p:cNvPr>
          <p:cNvSpPr/>
          <p:nvPr/>
        </p:nvSpPr>
        <p:spPr>
          <a:xfrm>
            <a:off x="5109441" y="4622366"/>
            <a:ext cx="15040227" cy="8323817"/>
          </a:xfrm>
          <a:prstGeom prst="rect">
            <a:avLst/>
          </a:prstGeom>
        </p:spPr>
        <p:txBody>
          <a:bodyPr wrap="square">
            <a:spAutoFit/>
          </a:bodyPr>
          <a:lstStyle/>
          <a:p>
            <a:pPr algn="just">
              <a:lnSpc>
                <a:spcPct val="150000"/>
              </a:lnSpc>
            </a:pPr>
            <a:r>
              <a:rPr lang="es-MX" sz="3600" dirty="0">
                <a:solidFill>
                  <a:schemeClr val="dk2"/>
                </a:solidFill>
                <a:latin typeface="Poppins"/>
                <a:cs typeface="Poppins"/>
                <a:sym typeface="Roboto"/>
              </a:rPr>
              <a:t>“Creo que todos, alguna vez nos hemos preguntado cómo Starbucks puede abrir 5 tiendas en un radio de 3 kilómetros y aun así siempre estar llenos? La realidad es que esta compañía cafetera, utiliza el Big Data para determinar el éxito potencial de cada tienda nueva que piensan abrir.  Recogen información sobre la ubicación, tráfico, área demográfica y comportamientos del consumidor. Realizar este tipo de evaluación antes de abrir una tienda, le permite a Starbucks hacer una estimación bastante precisa de cuál será la tasa de éxito y elegir la ubicación más adecuada y efectiva.”</a:t>
            </a:r>
          </a:p>
        </p:txBody>
      </p:sp>
      <p:pic>
        <p:nvPicPr>
          <p:cNvPr id="6" name="4 Imagen" descr="La eficiencia de Starbucks">
            <a:extLst>
              <a:ext uri="{FF2B5EF4-FFF2-40B4-BE49-F238E27FC236}">
                <a16:creationId xmlns:a16="http://schemas.microsoft.com/office/drawing/2014/main" id="{88A61677-19CD-41A5-9F03-A13F7AD003D8}"/>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9638324" y="1305132"/>
            <a:ext cx="3316652" cy="2988363"/>
          </a:xfrm>
          <a:prstGeom prst="rect">
            <a:avLst/>
          </a:prstGeom>
          <a:noFill/>
          <a:ln>
            <a:noFill/>
          </a:ln>
        </p:spPr>
      </p:pic>
      <p:pic>
        <p:nvPicPr>
          <p:cNvPr id="2" name="Imagen 1">
            <a:extLst>
              <a:ext uri="{FF2B5EF4-FFF2-40B4-BE49-F238E27FC236}">
                <a16:creationId xmlns:a16="http://schemas.microsoft.com/office/drawing/2014/main" id="{9ED81879-6C72-A4B1-2076-BA8D7851EAEC}"/>
              </a:ext>
            </a:extLst>
          </p:cNvPr>
          <p:cNvPicPr>
            <a:picLocks noChangeAspect="1"/>
          </p:cNvPicPr>
          <p:nvPr/>
        </p:nvPicPr>
        <p:blipFill>
          <a:blip r:embed="rId4"/>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E1F1B662-8EFF-BB67-E099-CF55630D8F5E}"/>
              </a:ext>
            </a:extLst>
          </p:cNvPr>
          <p:cNvPicPr>
            <a:picLocks noChangeAspect="1"/>
          </p:cNvPicPr>
          <p:nvPr/>
        </p:nvPicPr>
        <p:blipFill>
          <a:blip r:embed="rId5"/>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981FC7E9-714A-846B-8B94-A7E7AFC831B8}"/>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120915C1-BC97-EFD8-F380-DB327AA72C64}"/>
              </a:ext>
            </a:extLst>
          </p:cNvPr>
          <p:cNvPicPr>
            <a:picLocks noChangeAspect="1"/>
          </p:cNvPicPr>
          <p:nvPr/>
        </p:nvPicPr>
        <p:blipFill>
          <a:blip r:embed="rId6"/>
          <a:stretch>
            <a:fillRect/>
          </a:stretch>
        </p:blipFill>
        <p:spPr>
          <a:xfrm>
            <a:off x="23204799" y="12494218"/>
            <a:ext cx="607560" cy="903930"/>
          </a:xfrm>
          <a:prstGeom prst="rect">
            <a:avLst/>
          </a:prstGeom>
        </p:spPr>
      </p:pic>
    </p:spTree>
    <p:extLst>
      <p:ext uri="{BB962C8B-B14F-4D97-AF65-F5344CB8AC3E}">
        <p14:creationId xmlns:p14="http://schemas.microsoft.com/office/powerpoint/2010/main" val="39731932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4"/>
        <p:cNvGrpSpPr/>
        <p:nvPr/>
      </p:nvGrpSpPr>
      <p:grpSpPr>
        <a:xfrm>
          <a:off x="0" y="0"/>
          <a:ext cx="0" cy="0"/>
          <a:chOff x="0" y="0"/>
          <a:chExt cx="0" cy="0"/>
        </a:xfrm>
      </p:grpSpPr>
      <p:sp>
        <p:nvSpPr>
          <p:cNvPr id="5" name="Google Shape;80;p12">
            <a:extLst>
              <a:ext uri="{FF2B5EF4-FFF2-40B4-BE49-F238E27FC236}">
                <a16:creationId xmlns:a16="http://schemas.microsoft.com/office/drawing/2014/main" id="{39790C59-6689-4DFE-A0D6-55FAA3E66555}"/>
              </a:ext>
            </a:extLst>
          </p:cNvPr>
          <p:cNvSpPr txBox="1"/>
          <p:nvPr/>
        </p:nvSpPr>
        <p:spPr>
          <a:xfrm>
            <a:off x="690701" y="1705154"/>
            <a:ext cx="23005771" cy="1200300"/>
          </a:xfrm>
          <a:prstGeom prst="rect">
            <a:avLst/>
          </a:prstGeom>
          <a:solidFill>
            <a:schemeClr val="accent1">
              <a:lumMod val="75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lang="en-US"/>
            </a:defPPr>
            <a:lvl1pPr indent="0" algn="ctr">
              <a:buSzPts val="3600"/>
              <a:buNone/>
              <a:defRPr sz="3600">
                <a:latin typeface="Montserrat"/>
                <a:ea typeface="Montserrat"/>
                <a:cs typeface="Montserrat"/>
              </a:defRPr>
            </a:lvl1pPr>
          </a:lstStyle>
          <a:p>
            <a:r>
              <a:rPr lang="en-US">
                <a:sym typeface="Montserrat"/>
              </a:rPr>
              <a:t>Conclusiones</a:t>
            </a:r>
            <a:r>
              <a:rPr lang="en-US" dirty="0">
                <a:sym typeface="Montserrat"/>
              </a:rPr>
              <a:t> del Taller</a:t>
            </a:r>
            <a:endParaRPr dirty="0"/>
          </a:p>
        </p:txBody>
      </p:sp>
      <p:sp>
        <p:nvSpPr>
          <p:cNvPr id="6" name="CuadroTexto 5">
            <a:extLst>
              <a:ext uri="{FF2B5EF4-FFF2-40B4-BE49-F238E27FC236}">
                <a16:creationId xmlns:a16="http://schemas.microsoft.com/office/drawing/2014/main" id="{A6C91BB8-1AD1-459D-8D99-85EE3AD932BE}"/>
              </a:ext>
            </a:extLst>
          </p:cNvPr>
          <p:cNvSpPr txBox="1"/>
          <p:nvPr/>
        </p:nvSpPr>
        <p:spPr>
          <a:xfrm>
            <a:off x="968542" y="3478039"/>
            <a:ext cx="22727930" cy="6661824"/>
          </a:xfrm>
          <a:prstGeom prst="rect">
            <a:avLst/>
          </a:prstGeom>
          <a:noFill/>
        </p:spPr>
        <p:txBody>
          <a:bodyPr wrap="square">
            <a:spAutoFit/>
          </a:bodyPr>
          <a:lstStyle/>
          <a:p>
            <a:pPr marL="762010" indent="-762010" algn="just">
              <a:lnSpc>
                <a:spcPct val="150000"/>
              </a:lnSpc>
              <a:buFont typeface="Arial" panose="020B0604020202020204" pitchFamily="34" charset="0"/>
              <a:buChar char="•"/>
            </a:pPr>
            <a:r>
              <a:rPr lang="es-AR" sz="3600" dirty="0">
                <a:solidFill>
                  <a:schemeClr val="dk2"/>
                </a:solidFill>
                <a:latin typeface="Poppins"/>
                <a:cs typeface="Poppins"/>
                <a:sym typeface="Roboto"/>
              </a:rPr>
              <a:t>La gran mayoría de casos involucra siempre, la aplicación de diversas tecnologías como ser: Inteligencia de Negocios, Ciencia de Datos, Machine </a:t>
            </a:r>
            <a:r>
              <a:rPr lang="es-AR" sz="3600" dirty="0" err="1">
                <a:solidFill>
                  <a:schemeClr val="dk2"/>
                </a:solidFill>
                <a:latin typeface="Poppins"/>
                <a:cs typeface="Poppins"/>
                <a:sym typeface="Roboto"/>
              </a:rPr>
              <a:t>Learning</a:t>
            </a:r>
            <a:r>
              <a:rPr lang="es-AR" sz="3600" dirty="0">
                <a:solidFill>
                  <a:schemeClr val="dk2"/>
                </a:solidFill>
                <a:latin typeface="Poppins"/>
                <a:cs typeface="Poppins"/>
                <a:sym typeface="Roboto"/>
              </a:rPr>
              <a:t>, Inteligencia Artificial, etc.</a:t>
            </a:r>
          </a:p>
          <a:p>
            <a:pPr marL="762010" indent="-762010" algn="just">
              <a:lnSpc>
                <a:spcPct val="150000"/>
              </a:lnSpc>
              <a:buFont typeface="Arial" panose="020B0604020202020204" pitchFamily="34" charset="0"/>
              <a:buChar char="•"/>
            </a:pPr>
            <a:endParaRPr lang="es-AR" sz="3600" dirty="0">
              <a:solidFill>
                <a:schemeClr val="dk2"/>
              </a:solidFill>
              <a:latin typeface="Poppins"/>
              <a:cs typeface="Poppins"/>
              <a:sym typeface="Roboto"/>
            </a:endParaRPr>
          </a:p>
          <a:p>
            <a:pPr marL="762010" indent="-762010" algn="just">
              <a:lnSpc>
                <a:spcPct val="150000"/>
              </a:lnSpc>
              <a:buFont typeface="Arial" panose="020B0604020202020204" pitchFamily="34" charset="0"/>
              <a:buChar char="•"/>
            </a:pPr>
            <a:r>
              <a:rPr lang="es-AR" sz="3600" dirty="0">
                <a:solidFill>
                  <a:schemeClr val="dk2"/>
                </a:solidFill>
                <a:latin typeface="Poppins"/>
                <a:cs typeface="Poppins"/>
                <a:sym typeface="Roboto"/>
              </a:rPr>
              <a:t>Una solución de Big Data siempre estará asociada a las famosas 3 “V” del Big Data (Volumen, Velocidad y Variedad).</a:t>
            </a:r>
          </a:p>
          <a:p>
            <a:pPr algn="just">
              <a:lnSpc>
                <a:spcPct val="150000"/>
              </a:lnSpc>
            </a:pPr>
            <a:endParaRPr lang="es-AR" sz="3600" dirty="0">
              <a:solidFill>
                <a:schemeClr val="dk2"/>
              </a:solidFill>
              <a:latin typeface="Poppins"/>
              <a:cs typeface="Poppins"/>
              <a:sym typeface="Roboto"/>
            </a:endParaRPr>
          </a:p>
          <a:p>
            <a:pPr algn="just">
              <a:lnSpc>
                <a:spcPct val="150000"/>
              </a:lnSpc>
            </a:pPr>
            <a:r>
              <a:rPr lang="es-AR" sz="3600" dirty="0">
                <a:solidFill>
                  <a:schemeClr val="dk2"/>
                </a:solidFill>
                <a:latin typeface="Poppins"/>
                <a:cs typeface="Poppins"/>
                <a:sym typeface="Roboto"/>
              </a:rPr>
              <a:t>“</a:t>
            </a:r>
            <a:r>
              <a:rPr lang="es-AR" sz="3600" dirty="0">
                <a:solidFill>
                  <a:schemeClr val="dk2"/>
                </a:solidFill>
                <a:latin typeface="Poppins"/>
                <a:cs typeface="Poppins"/>
              </a:rPr>
              <a:t>Alto volumen de datos, que crecen a una velocidad exponencial y que presentan una variedad o estructura particularmente compleja .”</a:t>
            </a:r>
            <a:endParaRPr lang="es-AR" sz="3600" dirty="0">
              <a:solidFill>
                <a:schemeClr val="dk2"/>
              </a:solidFill>
              <a:latin typeface="Poppins"/>
              <a:cs typeface="Poppins"/>
              <a:sym typeface="Roboto"/>
            </a:endParaRPr>
          </a:p>
        </p:txBody>
      </p:sp>
      <p:pic>
        <p:nvPicPr>
          <p:cNvPr id="2" name="Imagen 1">
            <a:extLst>
              <a:ext uri="{FF2B5EF4-FFF2-40B4-BE49-F238E27FC236}">
                <a16:creationId xmlns:a16="http://schemas.microsoft.com/office/drawing/2014/main" id="{E5333BB3-724D-6B15-0CE6-9A759BAC35F6}"/>
              </a:ext>
            </a:extLst>
          </p:cNvPr>
          <p:cNvPicPr>
            <a:picLocks noChangeAspect="1"/>
          </p:cNvPicPr>
          <p:nvPr/>
        </p:nvPicPr>
        <p:blipFill>
          <a:blip r:embed="rId4"/>
          <a:stretch>
            <a:fillRect/>
          </a:stretch>
        </p:blipFill>
        <p:spPr>
          <a:xfrm>
            <a:off x="586672" y="199720"/>
            <a:ext cx="3052617" cy="1200300"/>
          </a:xfrm>
          <a:prstGeom prst="rect">
            <a:avLst/>
          </a:prstGeom>
        </p:spPr>
      </p:pic>
      <p:pic>
        <p:nvPicPr>
          <p:cNvPr id="3" name="Imagen 2">
            <a:extLst>
              <a:ext uri="{FF2B5EF4-FFF2-40B4-BE49-F238E27FC236}">
                <a16:creationId xmlns:a16="http://schemas.microsoft.com/office/drawing/2014/main" id="{C7311A01-9D8E-8D02-5549-9DBCEE92D914}"/>
              </a:ext>
            </a:extLst>
          </p:cNvPr>
          <p:cNvPicPr>
            <a:picLocks noChangeAspect="1"/>
          </p:cNvPicPr>
          <p:nvPr/>
        </p:nvPicPr>
        <p:blipFill>
          <a:blip r:embed="rId5"/>
          <a:stretch>
            <a:fillRect/>
          </a:stretch>
        </p:blipFill>
        <p:spPr>
          <a:xfrm>
            <a:off x="20149668" y="299996"/>
            <a:ext cx="3586490" cy="968435"/>
          </a:xfrm>
          <a:prstGeom prst="rect">
            <a:avLst/>
          </a:prstGeom>
        </p:spPr>
      </p:pic>
      <p:sp>
        <p:nvSpPr>
          <p:cNvPr id="4" name="Rectángulo 3">
            <a:extLst>
              <a:ext uri="{FF2B5EF4-FFF2-40B4-BE49-F238E27FC236}">
                <a16:creationId xmlns:a16="http://schemas.microsoft.com/office/drawing/2014/main" id="{057D74BF-75FE-334C-7CE5-87F76CEA0D36}"/>
              </a:ext>
            </a:extLst>
          </p:cNvPr>
          <p:cNvSpPr/>
          <p:nvPr/>
        </p:nvSpPr>
        <p:spPr>
          <a:xfrm>
            <a:off x="0" y="0"/>
            <a:ext cx="586672" cy="13716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n 6">
            <a:extLst>
              <a:ext uri="{FF2B5EF4-FFF2-40B4-BE49-F238E27FC236}">
                <a16:creationId xmlns:a16="http://schemas.microsoft.com/office/drawing/2014/main" id="{96A6CD50-41A2-E437-066D-D5D46A91879B}"/>
              </a:ext>
            </a:extLst>
          </p:cNvPr>
          <p:cNvPicPr>
            <a:picLocks noChangeAspect="1"/>
          </p:cNvPicPr>
          <p:nvPr/>
        </p:nvPicPr>
        <p:blipFill>
          <a:blip r:embed="rId6"/>
          <a:stretch>
            <a:fillRect/>
          </a:stretch>
        </p:blipFill>
        <p:spPr>
          <a:xfrm>
            <a:off x="23204799" y="12494218"/>
            <a:ext cx="607560" cy="903930"/>
          </a:xfrm>
          <a:prstGeom prst="rect">
            <a:avLst/>
          </a:prstGeom>
        </p:spPr>
      </p:pic>
    </p:spTree>
    <p:extLst>
      <p:ext uri="{BB962C8B-B14F-4D97-AF65-F5344CB8AC3E}">
        <p14:creationId xmlns:p14="http://schemas.microsoft.com/office/powerpoint/2010/main" val="3064139554"/>
      </p:ext>
    </p:extLst>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486</TotalTime>
  <Words>7793</Words>
  <Application>Microsoft Office PowerPoint</Application>
  <PresentationFormat>Personalizado</PresentationFormat>
  <Paragraphs>407</Paragraphs>
  <Slides>40</Slides>
  <Notes>40</Notes>
  <HiddenSlides>0</HiddenSlides>
  <MMClips>1</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40</vt:i4>
      </vt:variant>
    </vt:vector>
  </HeadingPairs>
  <TitlesOfParts>
    <vt:vector size="50" baseType="lpstr">
      <vt:lpstr>Roboto</vt:lpstr>
      <vt:lpstr>Poppins</vt:lpstr>
      <vt:lpstr>Calibri Light</vt:lpstr>
      <vt:lpstr>unitcomp</vt:lpstr>
      <vt:lpstr>Montserrat</vt:lpstr>
      <vt:lpstr>Calibri</vt:lpstr>
      <vt:lpstr>Arial</vt:lpstr>
      <vt:lpstr>Söhne</vt:lpstr>
      <vt:lpstr>NVIDIA-APAC</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Osvaldo Medina</dc:creator>
  <cp:lastModifiedBy>Osvaldo Medina</cp:lastModifiedBy>
  <cp:revision>25</cp:revision>
  <dcterms:modified xsi:type="dcterms:W3CDTF">2025-08-20T00:05:20Z</dcterms:modified>
</cp:coreProperties>
</file>