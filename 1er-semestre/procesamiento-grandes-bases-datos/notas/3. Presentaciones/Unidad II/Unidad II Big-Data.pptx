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heme/themeOverride2.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heme/themeOverride3.xml" ContentType="application/vnd.openxmlformats-officedocument.themeOverride+xml"/>
  <Override PartName="/ppt/notesSlides/notesSlide34.xml" ContentType="application/vnd.openxmlformats-officedocument.presentationml.notesSlide+xml"/>
  <Override PartName="/ppt/theme/themeOverride4.xml" ContentType="application/vnd.openxmlformats-officedocument.themeOverr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heme/themeOverride5.xml" ContentType="application/vnd.openxmlformats-officedocument.themeOverr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41"/>
  </p:notesMasterIdLst>
  <p:sldIdLst>
    <p:sldId id="256" r:id="rId2"/>
    <p:sldId id="304" r:id="rId3"/>
    <p:sldId id="305" r:id="rId4"/>
    <p:sldId id="306" r:id="rId5"/>
    <p:sldId id="300" r:id="rId6"/>
    <p:sldId id="301" r:id="rId7"/>
    <p:sldId id="262" r:id="rId8"/>
    <p:sldId id="302" r:id="rId9"/>
    <p:sldId id="275" r:id="rId10"/>
    <p:sldId id="303" r:id="rId11"/>
    <p:sldId id="307" r:id="rId12"/>
    <p:sldId id="278" r:id="rId13"/>
    <p:sldId id="318" r:id="rId14"/>
    <p:sldId id="319" r:id="rId15"/>
    <p:sldId id="320" r:id="rId16"/>
    <p:sldId id="321" r:id="rId17"/>
    <p:sldId id="323" r:id="rId18"/>
    <p:sldId id="324" r:id="rId19"/>
    <p:sldId id="325" r:id="rId20"/>
    <p:sldId id="310" r:id="rId21"/>
    <p:sldId id="322" r:id="rId22"/>
    <p:sldId id="326" r:id="rId23"/>
    <p:sldId id="327" r:id="rId24"/>
    <p:sldId id="328" r:id="rId25"/>
    <p:sldId id="329" r:id="rId26"/>
    <p:sldId id="330" r:id="rId27"/>
    <p:sldId id="331" r:id="rId28"/>
    <p:sldId id="332" r:id="rId29"/>
    <p:sldId id="333" r:id="rId30"/>
    <p:sldId id="308" r:id="rId31"/>
    <p:sldId id="309" r:id="rId32"/>
    <p:sldId id="286" r:id="rId33"/>
    <p:sldId id="315" r:id="rId34"/>
    <p:sldId id="316" r:id="rId35"/>
    <p:sldId id="317" r:id="rId36"/>
    <p:sldId id="311" r:id="rId37"/>
    <p:sldId id="312" r:id="rId38"/>
    <p:sldId id="313" r:id="rId39"/>
    <p:sldId id="314" r:id="rId40"/>
  </p:sldIdLst>
  <p:sldSz cx="24387175" cy="13716000"/>
  <p:notesSz cx="6858000" cy="9144000"/>
  <p:embeddedFontLst>
    <p:embeddedFont>
      <p:font typeface="Calibri" panose="020F0502020204030204" pitchFamily="34" charset="0"/>
      <p:regular r:id="rId42"/>
      <p:bold r:id="rId43"/>
      <p:italic r:id="rId44"/>
      <p:boldItalic r:id="rId45"/>
    </p:embeddedFont>
    <p:embeddedFont>
      <p:font typeface="Calibri Light" panose="020F0302020204030204" pitchFamily="34" charset="0"/>
      <p:regular r:id="rId46"/>
      <p:italic r:id="rId47"/>
    </p:embeddedFont>
    <p:embeddedFont>
      <p:font typeface="Montserrat" panose="00000500000000000000" pitchFamily="2" charset="0"/>
      <p:regular r:id="rId48"/>
      <p:bold r:id="rId49"/>
      <p:italic r:id="rId50"/>
      <p:boldItalic r:id="rId51"/>
    </p:embeddedFont>
    <p:embeddedFont>
      <p:font typeface="Poppins" panose="00000500000000000000" pitchFamily="2" charset="0"/>
      <p:regular r:id="rId52"/>
      <p:bold r:id="rId53"/>
      <p:italic r:id="rId54"/>
      <p:boldItalic r:id="rId55"/>
    </p:embeddedFont>
    <p:embeddedFont>
      <p:font typeface="Roboto" panose="02000000000000000000" pitchFamily="2" charset="0"/>
      <p:regular r:id="rId56"/>
      <p:bold r:id="rId57"/>
      <p:italic r:id="rId58"/>
      <p:boldItalic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16">
          <p15:clr>
            <a:srgbClr val="9AA0A6"/>
          </p15:clr>
        </p15:guide>
        <p15:guide id="2" pos="76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853" autoAdjust="0"/>
  </p:normalViewPr>
  <p:slideViewPr>
    <p:cSldViewPr snapToGrid="0">
      <p:cViewPr varScale="1">
        <p:scale>
          <a:sx n="32" d="100"/>
          <a:sy n="32" d="100"/>
        </p:scale>
        <p:origin x="1397" y="72"/>
      </p:cViewPr>
      <p:guideLst>
        <p:guide orient="horz" pos="5616"/>
        <p:guide pos="768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lvl1pPr>
            <a:lvl2pPr marL="914400" marR="0" lvl="1" indent="-228600" algn="l" rtl="0">
              <a:spcBef>
                <a:spcPts val="0"/>
              </a:spcBef>
              <a:spcAft>
                <a:spcPts val="0"/>
              </a:spcAft>
              <a:buSzPts val="1400"/>
              <a:buNone/>
              <a:defRPr sz="1100" b="0" i="0" u="none" strike="noStrike" cap="none"/>
            </a:lvl2pPr>
            <a:lvl3pPr marL="1371600" marR="0" lvl="2" indent="-228600" algn="l" rtl="0">
              <a:spcBef>
                <a:spcPts val="0"/>
              </a:spcBef>
              <a:spcAft>
                <a:spcPts val="0"/>
              </a:spcAft>
              <a:buSzPts val="1400"/>
              <a:buNone/>
              <a:defRPr sz="1100" b="0" i="0" u="none" strike="noStrike" cap="none"/>
            </a:lvl3pPr>
            <a:lvl4pPr marL="1828800" marR="0" lvl="3" indent="-228600" algn="l" rtl="0">
              <a:spcBef>
                <a:spcPts val="0"/>
              </a:spcBef>
              <a:spcAft>
                <a:spcPts val="0"/>
              </a:spcAft>
              <a:buSzPts val="1400"/>
              <a:buNone/>
              <a:defRPr sz="1100" b="0" i="0" u="none" strike="noStrike" cap="none"/>
            </a:lvl4pPr>
            <a:lvl5pPr marL="2286000" marR="0" lvl="4" indent="-228600" algn="l" rtl="0">
              <a:spcBef>
                <a:spcPts val="0"/>
              </a:spcBef>
              <a:spcAft>
                <a:spcPts val="0"/>
              </a:spcAft>
              <a:buSzPts val="1400"/>
              <a:buNone/>
              <a:defRPr sz="1100" b="0" i="0" u="none" strike="noStrike" cap="none"/>
            </a:lvl5pPr>
            <a:lvl6pPr marL="2743200" marR="0" lvl="5" indent="-228600" algn="l" rtl="0">
              <a:spcBef>
                <a:spcPts val="0"/>
              </a:spcBef>
              <a:spcAft>
                <a:spcPts val="0"/>
              </a:spcAft>
              <a:buSzPts val="1400"/>
              <a:buNone/>
              <a:defRPr sz="1100" b="0" i="0" u="none" strike="noStrike" cap="none"/>
            </a:lvl6pPr>
            <a:lvl7pPr marL="3200400" marR="0" lvl="6" indent="-228600" algn="l" rtl="0">
              <a:spcBef>
                <a:spcPts val="0"/>
              </a:spcBef>
              <a:spcAft>
                <a:spcPts val="0"/>
              </a:spcAft>
              <a:buSzPts val="1400"/>
              <a:buNone/>
              <a:defRPr sz="1100" b="0" i="0" u="none" strike="noStrike" cap="none"/>
            </a:lvl7pPr>
            <a:lvl8pPr marL="3657600" marR="0" lvl="7" indent="-228600" algn="l" rtl="0">
              <a:spcBef>
                <a:spcPts val="0"/>
              </a:spcBef>
              <a:spcAft>
                <a:spcPts val="0"/>
              </a:spcAft>
              <a:buSzPts val="1400"/>
              <a:buNone/>
              <a:defRPr sz="1100" b="0" i="0" u="none" strike="noStrike" cap="none"/>
            </a:lvl8pPr>
            <a:lvl9pPr marL="4114800" marR="0" lvl="8" indent="-228600" algn="l" rtl="0">
              <a:spcBef>
                <a:spcPts val="0"/>
              </a:spcBef>
              <a:spcAft>
                <a:spcPts val="0"/>
              </a:spcAft>
              <a:buSzPts val="1400"/>
              <a:buNone/>
              <a:defRPr sz="11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g8a7df07ae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25" name="Google Shape;25;g8a7df07ae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4558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a81927de4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74" name="Google Shape;74;ga81927de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4905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a81927de4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74" name="Google Shape;74;ga81927de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3895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Söhne"/>
              </a:rPr>
              <a:t>En el contexto de Big Data, el "volumen" se refiere a la cantidad masiva de datos que se generan, recopilan y almacenan a una escala mucho mayor de lo que puede ser procesado y analizado utilizando herramientas y técnicas tradicionales. El volumen es uno de los tres desafíos principales de Big Data, junto con la variedad y la velocidad.</a:t>
            </a:r>
          </a:p>
          <a:p>
            <a:pPr marL="0" lvl="0" indent="0" algn="l" rtl="0">
              <a:spcBef>
                <a:spcPts val="0"/>
              </a:spcBef>
              <a:spcAft>
                <a:spcPts val="0"/>
              </a:spcAft>
              <a:buNone/>
            </a:pPr>
            <a:endParaRPr lang="es-ES" b="0" i="0" dirty="0">
              <a:solidFill>
                <a:srgbClr val="374151"/>
              </a:solidFill>
              <a:effectLst/>
              <a:latin typeface="Söhne"/>
            </a:endParaRPr>
          </a:p>
          <a:p>
            <a:pPr marL="0" lvl="0" indent="0" algn="l" rtl="0">
              <a:spcBef>
                <a:spcPts val="0"/>
              </a:spcBef>
              <a:spcAft>
                <a:spcPts val="0"/>
              </a:spcAft>
              <a:buNone/>
            </a:pPr>
            <a:r>
              <a:rPr lang="es-ES" b="0" i="0" dirty="0">
                <a:solidFill>
                  <a:srgbClr val="374151"/>
                </a:solidFill>
                <a:effectLst/>
                <a:latin typeface="Söhne"/>
              </a:rPr>
              <a:t>El crecimiento explosivo en la cantidad de datos se ha producido debido a varios factores, como la mayor adopción de dispositivos conectados a Internet, el almacenamiento más asequible, el aumento en la cantidad de datos generados por usuarios y sistemas, y la recopilación proactiva de información para análisis y toma de decisiones.</a:t>
            </a:r>
          </a:p>
          <a:p>
            <a:pPr marL="0" lvl="0" indent="0" algn="l" rtl="0">
              <a:spcBef>
                <a:spcPts val="0"/>
              </a:spcBef>
              <a:spcAft>
                <a:spcPts val="0"/>
              </a:spcAft>
              <a:buNone/>
            </a:pPr>
            <a:endParaRPr lang="es-ES" b="0" i="0" dirty="0">
              <a:solidFill>
                <a:srgbClr val="374151"/>
              </a:solidFill>
              <a:effectLst/>
              <a:latin typeface="Söhne"/>
            </a:endParaRPr>
          </a:p>
          <a:p>
            <a:pPr marL="0" lvl="0" indent="0" algn="l" rtl="0">
              <a:spcBef>
                <a:spcPts val="0"/>
              </a:spcBef>
              <a:spcAft>
                <a:spcPts val="0"/>
              </a:spcAft>
              <a:buNone/>
            </a:pPr>
            <a:r>
              <a:rPr lang="es-ES" b="0" i="0" dirty="0">
                <a:solidFill>
                  <a:srgbClr val="374151"/>
                </a:solidFill>
                <a:effectLst/>
                <a:latin typeface="Söhne"/>
              </a:rPr>
              <a:t>Para abordar el desafío del volumen en Big Data, se requiere una infraestructura y tecnologías adecuadas que puedan manejar y procesar grandes cantidades de datos de manera eficiente. Algunas de las herramientas populares utilizadas para lidiar con el volumen de datos en Big Data incluyen sistemas de almacenamiento distribuido como Hadoop </a:t>
            </a:r>
            <a:r>
              <a:rPr lang="es-ES" b="0" i="0" dirty="0" err="1">
                <a:solidFill>
                  <a:srgbClr val="374151"/>
                </a:solidFill>
                <a:effectLst/>
                <a:latin typeface="Söhne"/>
              </a:rPr>
              <a:t>Distributed</a:t>
            </a:r>
            <a:r>
              <a:rPr lang="es-ES" b="0" i="0" dirty="0">
                <a:solidFill>
                  <a:srgbClr val="374151"/>
                </a:solidFill>
                <a:effectLst/>
                <a:latin typeface="Söhne"/>
              </a:rPr>
              <a:t> File </a:t>
            </a:r>
            <a:r>
              <a:rPr lang="es-ES" b="0" i="0" dirty="0" err="1">
                <a:solidFill>
                  <a:srgbClr val="374151"/>
                </a:solidFill>
                <a:effectLst/>
                <a:latin typeface="Söhne"/>
              </a:rPr>
              <a:t>System</a:t>
            </a:r>
            <a:r>
              <a:rPr lang="es-ES" b="0" i="0" dirty="0">
                <a:solidFill>
                  <a:srgbClr val="374151"/>
                </a:solidFill>
                <a:effectLst/>
                <a:latin typeface="Söhne"/>
              </a:rPr>
              <a:t> (HDFS), sistemas de procesamiento en paralelo como Apache </a:t>
            </a:r>
            <a:r>
              <a:rPr lang="es-ES" b="0" i="0" dirty="0" err="1">
                <a:solidFill>
                  <a:srgbClr val="374151"/>
                </a:solidFill>
                <a:effectLst/>
                <a:latin typeface="Söhne"/>
              </a:rPr>
              <a:t>Spark</a:t>
            </a:r>
            <a:r>
              <a:rPr lang="es-ES" b="0" i="0" dirty="0">
                <a:solidFill>
                  <a:srgbClr val="374151"/>
                </a:solidFill>
                <a:effectLst/>
                <a:latin typeface="Söhne"/>
              </a:rPr>
              <a:t>, bases de datos NoSQL y servicios en la nube escalables.</a:t>
            </a:r>
            <a:endParaRPr dirty="0"/>
          </a:p>
        </p:txBody>
      </p:sp>
    </p:spTree>
    <p:extLst>
      <p:ext uri="{BB962C8B-B14F-4D97-AF65-F5344CB8AC3E}">
        <p14:creationId xmlns:p14="http://schemas.microsoft.com/office/powerpoint/2010/main" val="376200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la "variedad" se refiere a la diversidad de tipos y formatos de datos que se manejan en un entorno de análisis y procesamiento masivo de información. A diferencia de los datos estructurados que se encuentran en bases de datos tradicionales, los datos en el ámbito del Big Data pueden ser de naturaleza muy variada y no estar organizados en tablas o esquemas predefinidos.</a:t>
            </a:r>
          </a:p>
          <a:p>
            <a:pPr algn="l"/>
            <a:endParaRPr lang="es-ES" b="0" i="0" dirty="0">
              <a:solidFill>
                <a:srgbClr val="374151"/>
              </a:solidFill>
              <a:effectLst/>
              <a:latin typeface="Söhne"/>
            </a:endParaRPr>
          </a:p>
          <a:p>
            <a:pPr algn="l"/>
            <a:r>
              <a:rPr lang="es-ES" b="0" i="0" dirty="0">
                <a:solidFill>
                  <a:srgbClr val="374151"/>
                </a:solidFill>
                <a:effectLst/>
                <a:latin typeface="Söhne"/>
              </a:rPr>
              <a:t>Los datos pueden clasificarse en tres categorías principales en términos de variedad:</a:t>
            </a:r>
          </a:p>
          <a:p>
            <a:pPr algn="l"/>
            <a:endParaRPr lang="es-ES" b="0" i="0" dirty="0">
              <a:solidFill>
                <a:srgbClr val="374151"/>
              </a:solidFill>
              <a:effectLst/>
              <a:latin typeface="Söhne"/>
            </a:endParaRPr>
          </a:p>
          <a:p>
            <a:pPr algn="l">
              <a:buFont typeface="+mj-lt"/>
              <a:buAutoNum type="arabicPeriod"/>
            </a:pPr>
            <a:r>
              <a:rPr lang="es-ES" b="0" i="0" dirty="0">
                <a:solidFill>
                  <a:srgbClr val="374151"/>
                </a:solidFill>
                <a:effectLst/>
                <a:latin typeface="Söhne"/>
              </a:rPr>
              <a:t>Datos estructurados: Son datos organizados en tablas con filas y columnas. Estos datos se almacenan en bases de datos relacionales y suelen tener un esquema fijo. Ejemplos de datos estructurados incluyen información almacenada en hojas de cálculo, sistemas de gestión de bases de datos tradicionales y archivos CSV (valores separados por comas).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54783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8e91b49eda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8e91b49eda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Söhne"/>
              </a:rPr>
              <a:t>Datos no estructurados: Son datos que no siguen un formato fijo y no se pueden almacenar en tablas. Estos datos pueden incluir texto libre, imágenes, videos, audio, correos electrónicos, publicaciones en redes sociales, documentos PDF, entre otros. El procesamiento y análisis de datos no estructurados presentan desafíos adicionales debido a la falta de una estructura predefinida.</a:t>
            </a:r>
            <a:endParaRPr dirty="0"/>
          </a:p>
        </p:txBody>
      </p:sp>
    </p:spTree>
    <p:extLst>
      <p:ext uri="{BB962C8B-B14F-4D97-AF65-F5344CB8AC3E}">
        <p14:creationId xmlns:p14="http://schemas.microsoft.com/office/powerpoint/2010/main" val="78559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8e91b49eda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8e91b49eda_0_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Söhne"/>
              </a:rPr>
              <a:t>Datos semiestructurados: Son datos que contienen alguna estructura, pero no se ajustan a un esquema fijo como los datos estructurados. Los datos semiestructurados se caracterizan por tener metadatos que describen la estructura o relación entre los elementos. Ejemplos de datos semiestructurados incluyen documentos XML, JSON y HTML.</a:t>
            </a:r>
          </a:p>
          <a:p>
            <a:pPr marL="0" lvl="0" indent="0" algn="l" rtl="0">
              <a:spcBef>
                <a:spcPts val="0"/>
              </a:spcBef>
              <a:spcAft>
                <a:spcPts val="0"/>
              </a:spcAft>
              <a:buNone/>
            </a:pPr>
            <a:endParaRPr lang="es-ES" b="0" i="0" dirty="0">
              <a:solidFill>
                <a:srgbClr val="374151"/>
              </a:solidFill>
              <a:effectLst/>
              <a:latin typeface="Söhne"/>
            </a:endParaRPr>
          </a:p>
          <a:p>
            <a:pPr marL="0" lvl="0" indent="0" algn="l" rtl="0">
              <a:spcBef>
                <a:spcPts val="0"/>
              </a:spcBef>
              <a:spcAft>
                <a:spcPts val="0"/>
              </a:spcAft>
              <a:buNone/>
            </a:pPr>
            <a:r>
              <a:rPr lang="es-ES" b="0" i="0" dirty="0">
                <a:solidFill>
                  <a:srgbClr val="374151"/>
                </a:solidFill>
                <a:effectLst/>
                <a:latin typeface="Söhne"/>
              </a:rPr>
              <a:t>La variedad en Big Data se convierte en un desafío significativo porque requiere la utilización de herramientas y técnicas adecuadas para procesar y analizar datos de diferentes formatos y tipos. Las tecnologías de Big Data, como Hadoop y </a:t>
            </a:r>
            <a:r>
              <a:rPr lang="es-ES" b="0" i="0" dirty="0" err="1">
                <a:solidFill>
                  <a:srgbClr val="374151"/>
                </a:solidFill>
                <a:effectLst/>
                <a:latin typeface="Söhne"/>
              </a:rPr>
              <a:t>Spark</a:t>
            </a:r>
            <a:r>
              <a:rPr lang="es-ES" b="0" i="0" dirty="0">
                <a:solidFill>
                  <a:srgbClr val="374151"/>
                </a:solidFill>
                <a:effectLst/>
                <a:latin typeface="Söhne"/>
              </a:rPr>
              <a:t>, son especialmente útiles para abordar la variedad, ya que permiten la ingestión, almacenamiento y procesamiento de datos heterogéneos y no estructurados en clústeres distribuidos. Al hacer frente a la variedad de datos, las organizaciones pueden aprovechar una amplia gama de fuentes para obtener información más completa y valiosa.</a:t>
            </a:r>
            <a:endParaRPr dirty="0"/>
          </a:p>
        </p:txBody>
      </p:sp>
    </p:spTree>
    <p:extLst>
      <p:ext uri="{BB962C8B-B14F-4D97-AF65-F5344CB8AC3E}">
        <p14:creationId xmlns:p14="http://schemas.microsoft.com/office/powerpoint/2010/main" val="1218298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es-ES" b="0" i="0" dirty="0">
                <a:solidFill>
                  <a:srgbClr val="374151"/>
                </a:solidFill>
                <a:effectLst/>
                <a:latin typeface="Söhne"/>
              </a:rPr>
              <a:t>En el contexto de Big Data, la "velocidad" se refiere a la capacidad de procesar y analizar grandes volúmenes de datos de manera rápida y eficiente. Big Data se caracteriza por la generación y recopilación de enormes cantidades de información en tiempo real o a un ritmo muy acelerado. Por lo tanto, la velocidad se convierte en un factor crítico para extraer información útil y tomar decisiones rápidas en entornos comerciales y científicos.</a:t>
            </a:r>
          </a:p>
          <a:p>
            <a:pPr algn="just"/>
            <a:endParaRPr lang="es-ES" b="0" i="0" dirty="0">
              <a:solidFill>
                <a:srgbClr val="374151"/>
              </a:solidFill>
              <a:effectLst/>
              <a:latin typeface="Söhne"/>
            </a:endParaRPr>
          </a:p>
          <a:p>
            <a:pPr algn="l"/>
            <a:r>
              <a:rPr lang="es-ES" b="0" i="0" dirty="0">
                <a:solidFill>
                  <a:srgbClr val="374151"/>
                </a:solidFill>
                <a:effectLst/>
                <a:latin typeface="Söhne"/>
              </a:rPr>
              <a:t>La velocidad en Big Data implica dos aspectos principales:</a:t>
            </a:r>
          </a:p>
          <a:p>
            <a:pPr algn="l"/>
            <a:endParaRPr lang="es-ES" b="0" i="0" dirty="0">
              <a:solidFill>
                <a:srgbClr val="374151"/>
              </a:solidFill>
              <a:effectLst/>
              <a:latin typeface="Söhne"/>
            </a:endParaRPr>
          </a:p>
          <a:p>
            <a:pPr marL="228600" indent="0" algn="l">
              <a:buFont typeface="+mj-lt"/>
              <a:buNone/>
            </a:pPr>
            <a:r>
              <a:rPr lang="es-ES" b="0" i="0" dirty="0">
                <a:solidFill>
                  <a:srgbClr val="374151"/>
                </a:solidFill>
                <a:effectLst/>
                <a:latin typeface="Söhne"/>
              </a:rPr>
              <a:t>1. Velocidad de adquisición de datos: Se refiere a la rapidez con la que los datos pueden ser recopilados e ingresados en el sistema de Big Data. Esta velocidad puede variar según el tipo de datos y las fuentes de adquisición. Por ejemplo, en aplicaciones de </a:t>
            </a:r>
            <a:r>
              <a:rPr lang="es-ES" b="0" i="0" dirty="0" err="1">
                <a:solidFill>
                  <a:srgbClr val="374151"/>
                </a:solidFill>
                <a:effectLst/>
                <a:latin typeface="Söhne"/>
              </a:rPr>
              <a:t>IoT</a:t>
            </a:r>
            <a:r>
              <a:rPr lang="es-ES" b="0" i="0" dirty="0">
                <a:solidFill>
                  <a:srgbClr val="374151"/>
                </a:solidFill>
                <a:effectLst/>
                <a:latin typeface="Söhne"/>
              </a:rPr>
              <a:t> (Internet de las cosas), los sensores pueden generar datos continuamente, lo que requiere un procesamiento rápido para no perder información relevante.</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0" i="0" dirty="0">
                <a:solidFill>
                  <a:srgbClr val="374151"/>
                </a:solidFill>
                <a:effectLst/>
                <a:latin typeface="Söhne"/>
              </a:rPr>
              <a:t>2. Velocidad de procesamiento y análisis: Una vez que los datos están disponibles en el sistema de Big Data, la velocidad de procesamiento y análisis se vuelve esencial para obtener información en tiempo real o en un tiempo aceptable. Esta tarea a menudo involucra el uso de sistemas de procesamiento distribuido, como Hadoop, </a:t>
            </a:r>
            <a:r>
              <a:rPr lang="es-ES" b="0" i="0" dirty="0" err="1">
                <a:solidFill>
                  <a:srgbClr val="374151"/>
                </a:solidFill>
                <a:effectLst/>
                <a:latin typeface="Söhne"/>
              </a:rPr>
              <a:t>Spark</a:t>
            </a:r>
            <a:r>
              <a:rPr lang="es-ES" b="0" i="0" dirty="0">
                <a:solidFill>
                  <a:srgbClr val="374151"/>
                </a:solidFill>
                <a:effectLst/>
                <a:latin typeface="Söhne"/>
              </a:rPr>
              <a:t> u otras herramientas de procesamiento en paralelo, para lograr un rendimiento óptimo.</a:t>
            </a:r>
          </a:p>
          <a:p>
            <a:pPr marL="228600" indent="0" algn="l">
              <a:buFont typeface="+mj-lt"/>
              <a:buNone/>
            </a:pPr>
            <a:endParaRPr lang="es-ES" b="0" i="0" dirty="0">
              <a:solidFill>
                <a:srgbClr val="374151"/>
              </a:solidFill>
              <a:effectLst/>
              <a:latin typeface="Söhne"/>
            </a:endParaRPr>
          </a:p>
          <a:p>
            <a:pPr algn="l"/>
            <a:r>
              <a:rPr lang="es-ES" b="0" i="0" dirty="0">
                <a:solidFill>
                  <a:srgbClr val="374151"/>
                </a:solidFill>
                <a:effectLst/>
                <a:latin typeface="Söhne"/>
              </a:rPr>
              <a:t>La velocidad se considera uno de los tres desafíos principales de Big Data, junto con el volumen (cantidad masiva de datos) y la variedad (diversidad de fuentes y formatos de datos). Al abordar estos desafíos, las organizaciones pueden aprovechar el poder del Big Data para obtener información valiosa, mejorar la toma de decisiones, detectar patrones y tendencias, optimizar operaciones comerciales, entre otras aplicaciones.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077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mj-lt"/>
              <a:buAutoNum type="arabicPeriod"/>
            </a:pPr>
            <a:r>
              <a:rPr lang="es-ES" b="0" i="0" dirty="0">
                <a:solidFill>
                  <a:srgbClr val="000000"/>
                </a:solidFill>
                <a:effectLst/>
                <a:latin typeface="Söhne"/>
              </a:rPr>
              <a:t>Veracidad: Se refiere a la calidad y confiabilidad de los datos. Es importante asegurar que los datos sean precisos y estén libres de errores o información falsa.</a:t>
            </a:r>
          </a:p>
          <a:p>
            <a:pPr algn="l">
              <a:buFont typeface="+mj-lt"/>
              <a:buAutoNum type="arabicPeriod"/>
            </a:pPr>
            <a:r>
              <a:rPr lang="es-ES" b="0" i="0" dirty="0">
                <a:solidFill>
                  <a:srgbClr val="000000"/>
                </a:solidFill>
                <a:effectLst/>
                <a:latin typeface="Söhne"/>
              </a:rPr>
              <a:t>Valor: Es el objetivo principal de Big Data, extraer información significativa y relevante de los datos para obtener </a:t>
            </a:r>
            <a:r>
              <a:rPr lang="es-ES" b="0" i="0" dirty="0" err="1">
                <a:solidFill>
                  <a:srgbClr val="000000"/>
                </a:solidFill>
                <a:effectLst/>
                <a:latin typeface="Söhne"/>
              </a:rPr>
              <a:t>insights</a:t>
            </a:r>
            <a:r>
              <a:rPr lang="es-ES" b="0" i="0" dirty="0">
                <a:solidFill>
                  <a:srgbClr val="000000"/>
                </a:solidFill>
                <a:effectLst/>
                <a:latin typeface="Söhne"/>
              </a:rPr>
              <a:t> y conocimientos que generen valor y ventaja competitiva en diversas áreas.</a:t>
            </a:r>
          </a:p>
          <a:p>
            <a:pPr algn="l">
              <a:buFont typeface="+mj-lt"/>
              <a:buAutoNum type="arabicPeriod"/>
            </a:pPr>
            <a:r>
              <a:rPr lang="es-ES" b="0" i="0" dirty="0">
                <a:solidFill>
                  <a:srgbClr val="000000"/>
                </a:solidFill>
                <a:effectLst/>
                <a:latin typeface="Söhne"/>
              </a:rPr>
              <a:t>Variabilidad: Se refiere a la inconsistencia y cambios en los datos a lo largo del tiempo, lo que puede agregar complejidad al análisis y la gestión de Big Data.</a:t>
            </a:r>
          </a:p>
          <a:p>
            <a:pPr algn="l">
              <a:buFont typeface="+mj-lt"/>
              <a:buAutoNum type="arabicPeriod"/>
            </a:pPr>
            <a:r>
              <a:rPr lang="es-ES" b="0" i="0" dirty="0">
                <a:solidFill>
                  <a:srgbClr val="000000"/>
                </a:solidFill>
                <a:effectLst/>
                <a:latin typeface="Söhne"/>
              </a:rPr>
              <a:t>Visualización: Hace referencia a la presentación y representación gráfica de los datos para facilitar la comprensión y la toma de decisiones por parte de los usuarios.</a:t>
            </a:r>
          </a:p>
          <a:p>
            <a:pPr algn="l">
              <a:buFont typeface="+mj-lt"/>
              <a:buAutoNum type="arabicPeriod"/>
            </a:pPr>
            <a:endParaRPr lang="es-ES" b="0" i="0" dirty="0">
              <a:solidFill>
                <a:srgbClr val="000000"/>
              </a:solidFill>
              <a:effectLst/>
              <a:latin typeface="Söhne"/>
            </a:endParaRPr>
          </a:p>
          <a:p>
            <a:pPr marL="228600" indent="0" algn="l">
              <a:buFont typeface="+mj-lt"/>
              <a:buNone/>
            </a:pPr>
            <a:endParaRPr lang="es-ES" b="0" i="0" dirty="0">
              <a:solidFill>
                <a:srgbClr val="000000"/>
              </a:solidFill>
              <a:effectLst/>
              <a:latin typeface="Söhne"/>
            </a:endParaRPr>
          </a:p>
          <a:p>
            <a:pPr algn="l"/>
            <a:r>
              <a:rPr lang="es-ES" b="0" i="0" dirty="0">
                <a:solidFill>
                  <a:srgbClr val="000000"/>
                </a:solidFill>
                <a:effectLst/>
                <a:latin typeface="Söhne"/>
              </a:rPr>
              <a:t>Estas "7V" ayudan a destacar los desafíos y oportunidades que surgen al trabajar con Big Data, y enfatizan la necesidad de utilizar enfoques y herramientas adecuadas para aprovechar al máximo el potencial de estos grandes conjuntos de datos.</a:t>
            </a:r>
          </a:p>
          <a:p>
            <a:br>
              <a:rPr lang="es-ES" b="0" i="0" dirty="0">
                <a:solidFill>
                  <a:srgbClr val="000000"/>
                </a:solidFill>
                <a:effectLst/>
                <a:latin typeface="Söhne"/>
              </a:rPr>
            </a:br>
            <a:endParaRPr dirty="0"/>
          </a:p>
        </p:txBody>
      </p:sp>
    </p:spTree>
    <p:extLst>
      <p:ext uri="{BB962C8B-B14F-4D97-AF65-F5344CB8AC3E}">
        <p14:creationId xmlns:p14="http://schemas.microsoft.com/office/powerpoint/2010/main" val="1286602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7050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Un proyecto de Big Data generalmente se divide en varias fases, que incluyen desde la planificación y preparación inicial hasta la implementación y mantenimiento continuo. A continuación, se describen las fases típicas de un proyecto de Big Data:</a:t>
            </a:r>
          </a:p>
          <a:p>
            <a:pPr algn="l">
              <a:buFont typeface="+mj-lt"/>
              <a:buAutoNum type="arabicPeriod"/>
            </a:pPr>
            <a:r>
              <a:rPr lang="es-ES" b="0" i="0" dirty="0">
                <a:solidFill>
                  <a:srgbClr val="374151"/>
                </a:solidFill>
                <a:effectLst/>
                <a:latin typeface="Söhne"/>
              </a:rPr>
              <a:t>Definición del objetivo y alcance: En esta fase inicial, se establecen los objetivos comerciales o científicos del proyecto de Big Data. Se identifican los problemas o preguntas específicas que se desean abordar, y se define el alcance del proyecto.</a:t>
            </a:r>
          </a:p>
          <a:p>
            <a:pPr algn="l">
              <a:buFont typeface="+mj-lt"/>
              <a:buAutoNum type="arabicPeriod"/>
            </a:pPr>
            <a:r>
              <a:rPr lang="es-ES" b="0" i="0" dirty="0">
                <a:solidFill>
                  <a:srgbClr val="374151"/>
                </a:solidFill>
                <a:effectLst/>
                <a:latin typeface="Söhne"/>
              </a:rPr>
              <a:t>Recopilación y preparación de datos: En esta etapa, se identifican y recopilan las fuentes de datos relevantes para el proyecto. Los datos pueden provenir de diversas fuentes, como bases de datos, archivos, registros de aplicaciones, sensores, redes sociales, entre otros. Luego, los datos se preparan y transforman para asegurarse de que estén en el formato adecuado y sean adecuados para su posterior análisis.</a:t>
            </a:r>
          </a:p>
          <a:p>
            <a:pPr algn="l">
              <a:buFont typeface="+mj-lt"/>
              <a:buAutoNum type="arabicPeriod"/>
            </a:pPr>
            <a:r>
              <a:rPr lang="es-ES" b="0" i="0" dirty="0">
                <a:solidFill>
                  <a:srgbClr val="374151"/>
                </a:solidFill>
                <a:effectLst/>
                <a:latin typeface="Söhne"/>
              </a:rPr>
              <a:t>Almacenamiento y gestión de datos: En esta fase, los datos se almacenan en un entorno de Big Data adecuado, que puede incluir sistemas de almacenamiento distribuido como Hadoop </a:t>
            </a:r>
            <a:r>
              <a:rPr lang="es-ES" b="0" i="0" dirty="0" err="1">
                <a:solidFill>
                  <a:srgbClr val="374151"/>
                </a:solidFill>
                <a:effectLst/>
                <a:latin typeface="Söhne"/>
              </a:rPr>
              <a:t>Distributed</a:t>
            </a:r>
            <a:r>
              <a:rPr lang="es-ES" b="0" i="0" dirty="0">
                <a:solidFill>
                  <a:srgbClr val="374151"/>
                </a:solidFill>
                <a:effectLst/>
                <a:latin typeface="Söhne"/>
              </a:rPr>
              <a:t> File </a:t>
            </a:r>
            <a:r>
              <a:rPr lang="es-ES" b="0" i="0" dirty="0" err="1">
                <a:solidFill>
                  <a:srgbClr val="374151"/>
                </a:solidFill>
                <a:effectLst/>
                <a:latin typeface="Söhne"/>
              </a:rPr>
              <a:t>System</a:t>
            </a:r>
            <a:r>
              <a:rPr lang="es-ES" b="0" i="0" dirty="0">
                <a:solidFill>
                  <a:srgbClr val="374151"/>
                </a:solidFill>
                <a:effectLst/>
                <a:latin typeface="Söhne"/>
              </a:rPr>
              <a:t> (HDFS) o bases de datos NoSQL. Se implementa una infraestructura de gestión de datos que permita el acceso y la recuperación eficientes de los datos.</a:t>
            </a:r>
          </a:p>
          <a:p>
            <a:pPr algn="l">
              <a:buFont typeface="+mj-lt"/>
              <a:buAutoNum type="arabicPeriod"/>
            </a:pPr>
            <a:r>
              <a:rPr lang="es-ES" b="0" i="0" dirty="0">
                <a:solidFill>
                  <a:srgbClr val="374151"/>
                </a:solidFill>
                <a:effectLst/>
                <a:latin typeface="Söhne"/>
              </a:rPr>
              <a:t>Procesamiento y análisis de datos: En esta etapa, se aplican técnicas y algoritmos de procesamiento y análisis de datos para obtener información valiosa. Se pueden utilizar herramientas como Apache </a:t>
            </a:r>
            <a:r>
              <a:rPr lang="es-ES" b="0" i="0" dirty="0" err="1">
                <a:solidFill>
                  <a:srgbClr val="374151"/>
                </a:solidFill>
                <a:effectLst/>
                <a:latin typeface="Söhne"/>
              </a:rPr>
              <a:t>Spark</a:t>
            </a:r>
            <a:r>
              <a:rPr lang="es-ES" b="0" i="0" dirty="0">
                <a:solidFill>
                  <a:srgbClr val="374151"/>
                </a:solidFill>
                <a:effectLst/>
                <a:latin typeface="Söhne"/>
              </a:rPr>
              <a:t> o herramientas de aprendizaje automático (machine </a:t>
            </a:r>
            <a:r>
              <a:rPr lang="es-ES" b="0" i="0" dirty="0" err="1">
                <a:solidFill>
                  <a:srgbClr val="374151"/>
                </a:solidFill>
                <a:effectLst/>
                <a:latin typeface="Söhne"/>
              </a:rPr>
              <a:t>learning</a:t>
            </a:r>
            <a:r>
              <a:rPr lang="es-ES" b="0" i="0" dirty="0">
                <a:solidFill>
                  <a:srgbClr val="374151"/>
                </a:solidFill>
                <a:effectLst/>
                <a:latin typeface="Söhne"/>
              </a:rPr>
              <a:t>) para realizar análisis en los datos.</a:t>
            </a:r>
          </a:p>
          <a:p>
            <a:pPr algn="l">
              <a:buFont typeface="+mj-lt"/>
              <a:buAutoNum type="arabicPeriod"/>
            </a:pPr>
            <a:r>
              <a:rPr lang="es-ES" b="0" i="0" dirty="0">
                <a:solidFill>
                  <a:srgbClr val="374151"/>
                </a:solidFill>
                <a:effectLst/>
                <a:latin typeface="Söhne"/>
              </a:rPr>
              <a:t>Interpretación de resultados: Una vez que se ha realizado el análisis de los datos, se interpretan los resultados para extraer información significativa y relevante que responda a las preguntas planteadas en la fase de definición del objetivo.</a:t>
            </a:r>
          </a:p>
          <a:p>
            <a:pPr algn="l">
              <a:buFont typeface="+mj-lt"/>
              <a:buAutoNum type="arabicPeriod"/>
            </a:pPr>
            <a:r>
              <a:rPr lang="es-ES" b="0" i="0" dirty="0">
                <a:solidFill>
                  <a:srgbClr val="374151"/>
                </a:solidFill>
                <a:effectLst/>
                <a:latin typeface="Söhne"/>
              </a:rPr>
              <a:t>Visualización y presentación de resultados: En esta fase, los resultados del análisis se presentan visualmente en forma de gráficos, tablas u otros formatos que sean comprensibles para los usuarios y partes interesadas. La visualización es una parte importante para comunicar los hallazgos de manera efectiva.</a:t>
            </a:r>
          </a:p>
          <a:p>
            <a:pPr algn="l">
              <a:buFont typeface="+mj-lt"/>
              <a:buAutoNum type="arabicPeriod"/>
            </a:pPr>
            <a:r>
              <a:rPr lang="es-ES" b="0" i="0" dirty="0">
                <a:solidFill>
                  <a:srgbClr val="374151"/>
                </a:solidFill>
                <a:effectLst/>
                <a:latin typeface="Söhne"/>
              </a:rPr>
              <a:t>Implementación y aplicación de resultados: En esta etapa, se implementan las conclusiones y recomendaciones derivadas del análisis en las operaciones comerciales o proyectos científicos. Esto puede implicar ajustar estrategias, mejorar procesos, optimizar la toma de decisiones, entre otros.</a:t>
            </a:r>
          </a:p>
          <a:p>
            <a:pPr algn="l">
              <a:buFont typeface="+mj-lt"/>
              <a:buAutoNum type="arabicPeriod"/>
            </a:pPr>
            <a:r>
              <a:rPr lang="es-ES" b="0" i="0" dirty="0">
                <a:solidFill>
                  <a:srgbClr val="374151"/>
                </a:solidFill>
                <a:effectLst/>
                <a:latin typeface="Söhne"/>
              </a:rPr>
              <a:t>Monitorización y mantenimiento: Después de la implementación, se monitorea el rendimiento y los resultados para garantizar que el proyecto de Big Data continúe cumpliendo con los objetivos establecidos. Se realizan ajustes y mejoras según sea necesario para mantener la relevancia y eficacia del sistema de Big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45823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generación se refieren a métodos y técnicas utilizadas para simular o crear datos masivos con características específicas para realizar pruebas, análisis y evaluaciones en entornos de desarrollo y pruebas. Estos modelos permiten generar grandes volúmenes de datos de manera controlada y reproducible, lo que es útil para probar el rendimiento, escalabilidad y eficacia de soluciones de Big Data antes de implementarlas en producción.</a:t>
            </a:r>
          </a:p>
          <a:p>
            <a:pPr algn="l"/>
            <a:endParaRPr lang="es-ES" b="0" i="0" dirty="0">
              <a:solidFill>
                <a:srgbClr val="374151"/>
              </a:solidFill>
              <a:effectLst/>
              <a:latin typeface="Söhne"/>
            </a:endParaRPr>
          </a:p>
          <a:p>
            <a:pPr algn="l"/>
            <a:r>
              <a:rPr lang="es-ES" b="0" i="0" dirty="0">
                <a:solidFill>
                  <a:srgbClr val="374151"/>
                </a:solidFill>
                <a:effectLst/>
                <a:latin typeface="Söhne"/>
              </a:rPr>
              <a:t>Algunos de los modelos de generación de Big Data más comunes son:</a:t>
            </a:r>
          </a:p>
          <a:p>
            <a:pPr algn="l"/>
            <a:endParaRPr lang="es-ES" b="0" i="0" dirty="0">
              <a:solidFill>
                <a:srgbClr val="374151"/>
              </a:solidFill>
              <a:effectLst/>
              <a:latin typeface="Söhne"/>
            </a:endParaRPr>
          </a:p>
          <a:p>
            <a:pPr algn="l">
              <a:buFont typeface="+mj-lt"/>
              <a:buAutoNum type="arabicPeriod"/>
            </a:pPr>
            <a:r>
              <a:rPr lang="es-ES" b="0" i="0" dirty="0">
                <a:solidFill>
                  <a:srgbClr val="374151"/>
                </a:solidFill>
                <a:effectLst/>
                <a:latin typeface="Söhne"/>
              </a:rPr>
              <a:t>Modelos Sintéticos: Estos modelos utilizan algoritmos para generar datos que simulan características y patrones de datos reales, pero sin estar basados en datos existentes. Pueden generar datos estructurados, no estructurados o </a:t>
            </a:r>
            <a:r>
              <a:rPr lang="es-ES" b="0" i="0" dirty="0" err="1">
                <a:solidFill>
                  <a:srgbClr val="374151"/>
                </a:solidFill>
                <a:effectLst/>
                <a:latin typeface="Söhne"/>
              </a:rPr>
              <a:t>semi-estructurados</a:t>
            </a:r>
            <a:r>
              <a:rPr lang="es-ES" b="0" i="0" dirty="0">
                <a:solidFill>
                  <a:srgbClr val="374151"/>
                </a:solidFill>
                <a:effectLst/>
                <a:latin typeface="Söhne"/>
              </a:rPr>
              <a:t>. Ejemplos de modelos sintéticos son el modelo de distribución normal para datos numéricos, generación de texto mediante cadenas de </a:t>
            </a:r>
            <a:r>
              <a:rPr lang="es-ES" b="0" i="0" dirty="0" err="1">
                <a:solidFill>
                  <a:srgbClr val="374151"/>
                </a:solidFill>
                <a:effectLst/>
                <a:latin typeface="Söhne"/>
              </a:rPr>
              <a:t>Markov</a:t>
            </a:r>
            <a:r>
              <a:rPr lang="es-ES" b="0" i="0" dirty="0">
                <a:solidFill>
                  <a:srgbClr val="374151"/>
                </a:solidFill>
                <a:effectLst/>
                <a:latin typeface="Söhne"/>
              </a:rPr>
              <a:t>, o la generación de redes sociales sintéticas.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02130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1" i="0" dirty="0">
                <a:solidFill>
                  <a:srgbClr val="525252"/>
                </a:solidFill>
                <a:effectLst/>
                <a:latin typeface="NVIDIA-APAC"/>
              </a:rPr>
              <a:t>Datos Aumentados y Anonimizados Frente a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La mayoría de los desarrolladores ya están familiarizados con el aumento de datos, una técnica que implica agregar nuevos datos a un conjunto de datos del mundo real existente. Por ejemplo, podrían rotar o iluminar una imagen existente para crear una nueva.</a:t>
            </a:r>
          </a:p>
          <a:p>
            <a:pPr algn="l"/>
            <a:r>
              <a:rPr lang="es-ES" b="0" i="0" dirty="0">
                <a:solidFill>
                  <a:srgbClr val="000000"/>
                </a:solidFill>
                <a:effectLst/>
                <a:latin typeface="NVIDIA-APAC"/>
              </a:rPr>
              <a:t>Dadas las preocupaciones y las políticas gubernamentales sobre la privacidad, eliminar información personal de un conjunto de datos es una práctica cada vez más común. Esto se llama </a:t>
            </a:r>
            <a:r>
              <a:rPr lang="es-ES" b="0" i="0" dirty="0" err="1">
                <a:solidFill>
                  <a:srgbClr val="000000"/>
                </a:solidFill>
                <a:effectLst/>
                <a:latin typeface="NVIDIA-APAC"/>
              </a:rPr>
              <a:t>anonimización</a:t>
            </a:r>
            <a:r>
              <a:rPr lang="es-ES" b="0" i="0" dirty="0">
                <a:solidFill>
                  <a:srgbClr val="000000"/>
                </a:solidFill>
                <a:effectLst/>
                <a:latin typeface="NVIDIA-APAC"/>
              </a:rPr>
              <a:t> de datos, y es especialmente popular para el texto, un tipo de datos estructurados utilizados en industrias como las finanzas y la </a:t>
            </a:r>
            <a:r>
              <a:rPr lang="es-ES" b="0" i="0" dirty="0" err="1">
                <a:solidFill>
                  <a:srgbClr val="000000"/>
                </a:solidFill>
                <a:effectLst/>
                <a:latin typeface="NVIDIA-APAC"/>
              </a:rPr>
              <a:t>area</a:t>
            </a:r>
            <a:r>
              <a:rPr lang="es-ES" b="0" i="0" dirty="0">
                <a:solidFill>
                  <a:srgbClr val="000000"/>
                </a:solidFill>
                <a:effectLst/>
                <a:latin typeface="NVIDIA-APAC"/>
              </a:rPr>
              <a:t> de la salud.</a:t>
            </a:r>
          </a:p>
          <a:p>
            <a:pPr algn="l"/>
            <a:r>
              <a:rPr lang="es-ES" b="0" i="0" dirty="0">
                <a:solidFill>
                  <a:srgbClr val="000000"/>
                </a:solidFill>
                <a:effectLst/>
                <a:latin typeface="NVIDIA-APAC"/>
              </a:rPr>
              <a:t>Los datos aumentados y anonimizados no suelen considerarse datos sintéticos. Sin embargo, es posible crear datos sintéticos mediante estas técnicas. Por ejemplo, los desarrolladores podrían combinar dos imágenes de coches del mundo real para crear una nueva imagen sintética con dos coches.</a:t>
            </a:r>
          </a:p>
          <a:p>
            <a:pPr algn="l"/>
            <a:r>
              <a:rPr lang="es-ES" b="1" i="0" dirty="0">
                <a:solidFill>
                  <a:srgbClr val="525252"/>
                </a:solidFill>
                <a:effectLst/>
                <a:latin typeface="NVIDIA-APAC"/>
              </a:rPr>
              <a:t>¿Por Qué Son Tan Importantes los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Los desarrolladores necesitan conjuntos de datos grandes y cuidadosamente etiquetados para entrenar redes neuronales. Los datos de entrenamiento más diversos generalmente hacen que los modelos de IA sean más precisos.</a:t>
            </a:r>
          </a:p>
          <a:p>
            <a:pPr algn="l"/>
            <a:r>
              <a:rPr lang="es-ES" b="0" i="0" dirty="0">
                <a:solidFill>
                  <a:srgbClr val="000000"/>
                </a:solidFill>
                <a:effectLst/>
                <a:latin typeface="NVIDIA-APAC"/>
              </a:rPr>
              <a:t>El problema es que la recopilación y el etiquetado de conjuntos de datos que pueden contener entre unos pocos miles y decenas de millones de elementos consume mucho tiempo y, a menudo, es prohibitivamente caro.</a:t>
            </a:r>
          </a:p>
          <a:p>
            <a:pPr algn="l"/>
            <a:r>
              <a:rPr lang="es-ES" b="0" i="0" dirty="0">
                <a:solidFill>
                  <a:srgbClr val="000000"/>
                </a:solidFill>
                <a:effectLst/>
                <a:latin typeface="NVIDIA-APAC"/>
              </a:rPr>
              <a:t>Introduzca datos sintéticos. Una sola imagen que podría costar 6 dólares de un servicio de etiquetado se puede generar artificialmente por seis centavos, estima Paul </a:t>
            </a:r>
            <a:r>
              <a:rPr lang="es-ES" b="0" i="0" dirty="0" err="1">
                <a:solidFill>
                  <a:srgbClr val="000000"/>
                </a:solidFill>
                <a:effectLst/>
                <a:latin typeface="NVIDIA-APAC"/>
              </a:rPr>
              <a:t>Walborsky</a:t>
            </a:r>
            <a:r>
              <a:rPr lang="es-ES" b="0" i="0" dirty="0">
                <a:solidFill>
                  <a:srgbClr val="000000"/>
                </a:solidFill>
                <a:effectLst/>
                <a:latin typeface="NVIDIA-APAC"/>
              </a:rPr>
              <a:t>, quien cofundó uno de los primeros servicios de datos sintéticos dedicados, la </a:t>
            </a:r>
            <a:r>
              <a:rPr lang="es-ES" b="0" i="0" dirty="0" err="1">
                <a:solidFill>
                  <a:srgbClr val="000000"/>
                </a:solidFill>
                <a:effectLst/>
                <a:latin typeface="NVIDIA-APAC"/>
              </a:rPr>
              <a:t>AI.Reverie</a:t>
            </a:r>
            <a:r>
              <a:rPr lang="es-ES" b="0" i="0" dirty="0">
                <a:solidFill>
                  <a:srgbClr val="000000"/>
                </a:solidFill>
                <a:effectLst/>
                <a:latin typeface="NVIDIA-APAC"/>
              </a:rPr>
              <a:t>.</a:t>
            </a:r>
          </a:p>
          <a:p>
            <a:pPr algn="l"/>
            <a:r>
              <a:rPr lang="es-ES" b="0" i="0" dirty="0">
                <a:solidFill>
                  <a:srgbClr val="000000"/>
                </a:solidFill>
                <a:effectLst/>
                <a:latin typeface="NVIDIA-APAC"/>
              </a:rPr>
              <a:t>El ahorro de costes es solo el comienzo. «Los datos sintéticos son clave para lidiar con los problemas de privacidad y reducir el sesgo al garantizar que tenga la diversidad de datos para representar el mundo real», agregó </a:t>
            </a:r>
            <a:r>
              <a:rPr lang="es-ES" b="0" i="0" dirty="0" err="1">
                <a:solidFill>
                  <a:srgbClr val="000000"/>
                </a:solidFill>
                <a:effectLst/>
                <a:latin typeface="NVIDIA-APAC"/>
              </a:rPr>
              <a:t>Walborsky</a:t>
            </a:r>
            <a:r>
              <a:rPr lang="es-ES" b="0" i="0" dirty="0">
                <a:solidFill>
                  <a:srgbClr val="000000"/>
                </a:solidFill>
                <a:effectLst/>
                <a:latin typeface="NVIDIA-APAC"/>
              </a:rPr>
              <a:t>.</a:t>
            </a:r>
          </a:p>
          <a:p>
            <a:pPr algn="l"/>
            <a:r>
              <a:rPr lang="es-ES" b="0" i="0" dirty="0">
                <a:solidFill>
                  <a:srgbClr val="000000"/>
                </a:solidFill>
                <a:effectLst/>
                <a:latin typeface="NVIDIA-APAC"/>
              </a:rPr>
              <a:t>Dado que los conjuntos de datos sintéticos se etiquetan automáticamente y pueden incluir deliberadamente casos de esquina raros pero cruciales, a veces es mejor que los datos del mundo real.</a:t>
            </a:r>
          </a:p>
          <a:p>
            <a:pPr algn="l"/>
            <a:r>
              <a:rPr lang="es-ES" b="1" i="0" dirty="0">
                <a:solidFill>
                  <a:srgbClr val="525252"/>
                </a:solidFill>
                <a:effectLst/>
                <a:latin typeface="NVIDIA-APAC"/>
              </a:rPr>
              <a:t>¿Cuál es el Historial de los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Los datos sintéticos han existido de una forma u otra durante décadas. Está en juegos de ordenador como simuladores de vuelo y simulaciones científicas de todo, desde átomos hasta galaxias.</a:t>
            </a:r>
          </a:p>
          <a:p>
            <a:pPr algn="l"/>
            <a:r>
              <a:rPr lang="es-ES" b="0" i="0" dirty="0">
                <a:solidFill>
                  <a:srgbClr val="000000"/>
                </a:solidFill>
                <a:effectLst/>
                <a:latin typeface="NVIDIA-APAC"/>
              </a:rPr>
              <a:t>Donald B. </a:t>
            </a:r>
            <a:r>
              <a:rPr lang="es-ES" b="0" i="0" dirty="0" err="1">
                <a:solidFill>
                  <a:srgbClr val="000000"/>
                </a:solidFill>
                <a:effectLst/>
                <a:latin typeface="NVIDIA-APAC"/>
              </a:rPr>
              <a:t>Rubin</a:t>
            </a:r>
            <a:r>
              <a:rPr lang="es-ES" b="0" i="0" dirty="0">
                <a:solidFill>
                  <a:srgbClr val="000000"/>
                </a:solidFill>
                <a:effectLst/>
                <a:latin typeface="NVIDIA-APAC"/>
              </a:rPr>
              <a:t>, un profesor de estadística de Harvard, estaba ayudando a las ramas del gobierno de Estados Unidos a resolver problemas como un recuento insuficiente, especialmente de personas pobres en un censo, cuando se le dio una idea. Lo describió en un artículo de 1993 a menudo citado como el nacimiento de datos sintéticos.</a:t>
            </a:r>
          </a:p>
          <a:p>
            <a:pPr algn="l"/>
            <a:r>
              <a:rPr lang="es-ES" b="0" i="0" dirty="0">
                <a:solidFill>
                  <a:srgbClr val="000000"/>
                </a:solidFill>
                <a:effectLst/>
                <a:latin typeface="NVIDIA-APAC"/>
              </a:rPr>
              <a:t>«Utilicé el término datos sintéticos en ese documento refiriéndose a múltiples conjuntos de datos simulados», explicó </a:t>
            </a:r>
            <a:r>
              <a:rPr lang="es-ES" b="0" i="0" dirty="0" err="1">
                <a:solidFill>
                  <a:srgbClr val="000000"/>
                </a:solidFill>
                <a:effectLst/>
                <a:latin typeface="NVIDIA-APAC"/>
              </a:rPr>
              <a:t>Rubin</a:t>
            </a:r>
            <a:r>
              <a:rPr lang="es-ES" b="0" i="0" dirty="0">
                <a:solidFill>
                  <a:srgbClr val="000000"/>
                </a:solidFill>
                <a:effectLst/>
                <a:latin typeface="NVIDIA-APAC"/>
              </a:rPr>
              <a: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79511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Existen varios modelos sintéticos utilizados en Big Data para generar datos que simulan características y patrones de datos reales, pero sin estar basados en datos existentes. A continuación, algunos ejemplos de modelos sintéticos comunes:</a:t>
            </a:r>
          </a:p>
          <a:p>
            <a:pPr algn="l">
              <a:buFont typeface="+mj-lt"/>
              <a:buAutoNum type="arabicPeriod"/>
            </a:pPr>
            <a:r>
              <a:rPr lang="es-ES" b="0" i="0" dirty="0">
                <a:solidFill>
                  <a:srgbClr val="374151"/>
                </a:solidFill>
                <a:effectLst/>
                <a:latin typeface="Söhne"/>
              </a:rPr>
              <a:t>Modelo de Distribución Normal: Este modelo se utiliza para generar datos numéricos que siguen una distribución normal o gaussiana. Los datos generados se concentran en torno a un valor medio y se dispersan a lo largo de una desviación estándar específica. Es útil para simular datos como edad, ingresos, puntajes de exámenes, entre otros.</a:t>
            </a:r>
          </a:p>
          <a:p>
            <a:pPr algn="l">
              <a:buFont typeface="+mj-lt"/>
              <a:buAutoNum type="arabicPeriod"/>
            </a:pPr>
            <a:r>
              <a:rPr lang="es-ES" b="0" i="0" dirty="0">
                <a:solidFill>
                  <a:srgbClr val="374151"/>
                </a:solidFill>
                <a:effectLst/>
                <a:latin typeface="Söhne"/>
              </a:rPr>
              <a:t>Modelo de Distribución Uniforme: Este modelo genera datos numéricos que siguen una distribución uniforme en un rango determinado. Los datos generados son igualmente probables en todo el rango. Puede utilizarse para simular datos como coordenadas geográficas o valores de variables aleatorias.</a:t>
            </a:r>
          </a:p>
          <a:p>
            <a:pPr algn="l">
              <a:buFont typeface="+mj-lt"/>
              <a:buAutoNum type="arabicPeriod"/>
            </a:pPr>
            <a:r>
              <a:rPr lang="es-ES" b="0" i="0" dirty="0">
                <a:solidFill>
                  <a:srgbClr val="374151"/>
                </a:solidFill>
                <a:effectLst/>
                <a:latin typeface="Söhne"/>
              </a:rPr>
              <a:t>Cadena de </a:t>
            </a:r>
            <a:r>
              <a:rPr lang="es-ES" b="0" i="0" dirty="0" err="1">
                <a:solidFill>
                  <a:srgbClr val="374151"/>
                </a:solidFill>
                <a:effectLst/>
                <a:latin typeface="Söhne"/>
              </a:rPr>
              <a:t>Markov</a:t>
            </a:r>
            <a:r>
              <a:rPr lang="es-ES" b="0" i="0" dirty="0">
                <a:solidFill>
                  <a:srgbClr val="374151"/>
                </a:solidFill>
                <a:effectLst/>
                <a:latin typeface="Söhne"/>
              </a:rPr>
              <a:t>: Es un modelo utilizado para generar datos secuenciales, como texto o series temporales, que siguen una distribución específica basada en la probabilidad de transición entre estados. Se utiliza ampliamente para generar texto sintético que tenga un estilo similar al texto real.</a:t>
            </a:r>
          </a:p>
          <a:p>
            <a:pPr algn="l">
              <a:buFont typeface="+mj-lt"/>
              <a:buAutoNum type="arabicPeriod"/>
            </a:pPr>
            <a:r>
              <a:rPr lang="es-ES" b="0" i="0" dirty="0">
                <a:solidFill>
                  <a:srgbClr val="374151"/>
                </a:solidFill>
                <a:effectLst/>
                <a:latin typeface="Söhne"/>
              </a:rPr>
              <a:t>Redes Sociales Sintéticas: Se utilizan para simular interacciones y relaciones en redes sociales. Estos modelos generan comunidades, conexiones y comportamientos típicos de las redes sociales, lo que es útil para probar algoritmos de análisis de redes sociales.</a:t>
            </a:r>
          </a:p>
          <a:p>
            <a:pPr algn="l">
              <a:buFont typeface="+mj-lt"/>
              <a:buAutoNum type="arabicPeriod"/>
            </a:pPr>
            <a:r>
              <a:rPr lang="es-ES" b="0" i="0" dirty="0">
                <a:solidFill>
                  <a:srgbClr val="374151"/>
                </a:solidFill>
                <a:effectLst/>
                <a:latin typeface="Söhne"/>
              </a:rPr>
              <a:t>Árboles de Decisión: Este modelo se utiliza para generar conjuntos de datos estructurados. Los árboles de decisión generan datos siguiendo reglas y condiciones específicas, lo que permite generar conjuntos de datos con diferentes relaciones lógicas entre atributos.</a:t>
            </a:r>
          </a:p>
          <a:p>
            <a:pPr algn="l">
              <a:buFont typeface="+mj-lt"/>
              <a:buAutoNum type="arabicPeriod"/>
            </a:pPr>
            <a:r>
              <a:rPr lang="es-ES" b="0" i="0" dirty="0">
                <a:solidFill>
                  <a:srgbClr val="374151"/>
                </a:solidFill>
                <a:effectLst/>
                <a:latin typeface="Söhne"/>
              </a:rPr>
              <a:t>Generadores de Texto: Se basan en técnicas de lenguaje natural y aprendizaje automático para generar texto sintético con características similares a los textos reales. Pueden utilizarse para generar comentarios, reseñas o artículos.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707408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Los modelos de extracción en Big Data se refieren a técnicas y métodos utilizados para obtener datos reales de fuentes existentes y replicarlos en un entorno de prueba o desarrollo. Estos modelos permiten extraer datos de sistemas en producción, bases de datos, registros, aplicaciones web, redes sociales u otras fuentes y utilizarlos para realizar análisis, pruebas y experimentos en un entorno controlado sin afectar los datos originales o el rendimiento del sistema en producción.</a:t>
            </a:r>
          </a:p>
          <a:p>
            <a:pPr algn="l"/>
            <a:endParaRPr lang="es-ES" b="0" i="0" dirty="0">
              <a:solidFill>
                <a:srgbClr val="374151"/>
              </a:solidFill>
              <a:effectLst/>
              <a:latin typeface="Söhne"/>
            </a:endParaRPr>
          </a:p>
          <a:p>
            <a:pPr algn="l"/>
            <a:r>
              <a:rPr lang="es-ES" b="0" i="0" dirty="0">
                <a:solidFill>
                  <a:srgbClr val="374151"/>
                </a:solidFill>
                <a:effectLst/>
                <a:latin typeface="Söhne"/>
              </a:rPr>
              <a:t>Algunas técnicas comunes de modelos de extracción en Big Data incluyen:</a:t>
            </a:r>
          </a:p>
          <a:p>
            <a:pPr algn="l"/>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bases de datos: </a:t>
            </a:r>
            <a:r>
              <a:rPr lang="es-ES" b="0" i="0" dirty="0">
                <a:solidFill>
                  <a:srgbClr val="374151"/>
                </a:solidFill>
                <a:effectLst/>
                <a:latin typeface="Söhne"/>
              </a:rPr>
              <a:t>Se utiliza para obtener datos de bases de datos en producción mediante consultas SQL u otras técnicas de acceso a datos. Los datos extraídos pueden utilizarse para cargar bases de datos en entornos de desarrollo o pruebas.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Web </a:t>
            </a:r>
            <a:r>
              <a:rPr lang="es-ES" b="1" i="0" dirty="0" err="1">
                <a:solidFill>
                  <a:srgbClr val="374151"/>
                </a:solidFill>
                <a:effectLst/>
                <a:latin typeface="Söhne"/>
              </a:rPr>
              <a:t>Scraping</a:t>
            </a:r>
            <a:r>
              <a:rPr lang="es-ES" b="1" i="0" dirty="0">
                <a:solidFill>
                  <a:srgbClr val="374151"/>
                </a:solidFill>
                <a:effectLst/>
                <a:latin typeface="Söhne"/>
              </a:rPr>
              <a:t>: </a:t>
            </a:r>
            <a:r>
              <a:rPr lang="es-ES" b="0" i="0" dirty="0">
                <a:solidFill>
                  <a:srgbClr val="374151"/>
                </a:solidFill>
                <a:effectLst/>
                <a:latin typeface="Söhne"/>
              </a:rPr>
              <a:t>Es una técnica que implica el uso de rastreadores web (web </a:t>
            </a:r>
            <a:r>
              <a:rPr lang="es-ES" b="0" i="0" dirty="0" err="1">
                <a:solidFill>
                  <a:srgbClr val="374151"/>
                </a:solidFill>
                <a:effectLst/>
                <a:latin typeface="Söhne"/>
              </a:rPr>
              <a:t>crawlers</a:t>
            </a:r>
            <a:r>
              <a:rPr lang="es-ES" b="0" i="0" dirty="0">
                <a:solidFill>
                  <a:srgbClr val="374151"/>
                </a:solidFill>
                <a:effectLst/>
                <a:latin typeface="Söhne"/>
              </a:rPr>
              <a:t>) para extraer datos de sitios web públicos o privados. Se pueden extraer datos estructurados o no estructurados de páginas web y almacenarlos en un formato adecuado para su posterior análisis.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API (Interfaz de Programación de Aplicaciones): </a:t>
            </a:r>
            <a:r>
              <a:rPr lang="es-ES" b="0" i="0" dirty="0">
                <a:solidFill>
                  <a:srgbClr val="374151"/>
                </a:solidFill>
                <a:effectLst/>
                <a:latin typeface="Söhne"/>
              </a:rPr>
              <a:t>Algunas aplicaciones y servicios proporcionan </a:t>
            </a:r>
            <a:r>
              <a:rPr lang="es-ES" b="0" i="0" dirty="0" err="1">
                <a:solidFill>
                  <a:srgbClr val="374151"/>
                </a:solidFill>
                <a:effectLst/>
                <a:latin typeface="Söhne"/>
              </a:rPr>
              <a:t>APIs</a:t>
            </a:r>
            <a:r>
              <a:rPr lang="es-ES" b="0" i="0" dirty="0">
                <a:solidFill>
                  <a:srgbClr val="374151"/>
                </a:solidFill>
                <a:effectLst/>
                <a:latin typeface="Söhne"/>
              </a:rPr>
              <a:t> que permiten acceder a sus datos de forma programática. Los datos pueden extraerse a través de estas </a:t>
            </a:r>
            <a:r>
              <a:rPr lang="es-ES" b="0" i="0" dirty="0" err="1">
                <a:solidFill>
                  <a:srgbClr val="374151"/>
                </a:solidFill>
                <a:effectLst/>
                <a:latin typeface="Söhne"/>
              </a:rPr>
              <a:t>APIs</a:t>
            </a:r>
            <a:r>
              <a:rPr lang="es-ES" b="0" i="0" dirty="0">
                <a:solidFill>
                  <a:srgbClr val="374151"/>
                </a:solidFill>
                <a:effectLst/>
                <a:latin typeface="Söhne"/>
              </a:rPr>
              <a:t> y utilizarse para análisis y pruebas.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Log </a:t>
            </a:r>
            <a:r>
              <a:rPr lang="es-ES" b="1" i="0" dirty="0" err="1">
                <a:solidFill>
                  <a:srgbClr val="374151"/>
                </a:solidFill>
                <a:effectLst/>
                <a:latin typeface="Söhne"/>
              </a:rPr>
              <a:t>Parsing</a:t>
            </a:r>
            <a:r>
              <a:rPr lang="es-ES" b="1" i="0" dirty="0">
                <a:solidFill>
                  <a:srgbClr val="374151"/>
                </a:solidFill>
                <a:effectLst/>
                <a:latin typeface="Söhne"/>
              </a:rPr>
              <a:t>: </a:t>
            </a:r>
            <a:r>
              <a:rPr lang="es-ES" b="0" i="0" dirty="0">
                <a:solidFill>
                  <a:srgbClr val="374151"/>
                </a:solidFill>
                <a:effectLst/>
                <a:latin typeface="Söhne"/>
              </a:rPr>
              <a:t>Esta técnica se utiliza para extraer información relevante de archivos de registro (logs) generados por aplicaciones o sistemas. Los logs contienen registros de eventos y actividades, y el </a:t>
            </a:r>
            <a:r>
              <a:rPr lang="es-ES" b="0" i="0" dirty="0" err="1">
                <a:solidFill>
                  <a:srgbClr val="374151"/>
                </a:solidFill>
                <a:effectLst/>
                <a:latin typeface="Söhne"/>
              </a:rPr>
              <a:t>parsing</a:t>
            </a:r>
            <a:r>
              <a:rPr lang="es-ES" b="0" i="0" dirty="0">
                <a:solidFill>
                  <a:srgbClr val="374151"/>
                </a:solidFill>
                <a:effectLst/>
                <a:latin typeface="Söhne"/>
              </a:rPr>
              <a:t> permite extraer datos específicos para su análisis.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datos de redes sociales: </a:t>
            </a:r>
            <a:r>
              <a:rPr lang="es-ES" b="0" i="0" dirty="0">
                <a:solidFill>
                  <a:srgbClr val="374151"/>
                </a:solidFill>
                <a:effectLst/>
                <a:latin typeface="Söhne"/>
              </a:rPr>
              <a:t>Se utiliza para obtener datos de plataformas de redes sociales como Twitter, Facebook, LinkedIn, entre otras. Los datos extraídos pueden incluir publicaciones, comentarios, información de perfil de usuarios, etc.</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datos de sensores y dispositivos </a:t>
            </a:r>
            <a:r>
              <a:rPr lang="es-ES" b="1" i="0" dirty="0" err="1">
                <a:solidFill>
                  <a:srgbClr val="374151"/>
                </a:solidFill>
                <a:effectLst/>
                <a:latin typeface="Söhne"/>
              </a:rPr>
              <a:t>IoT</a:t>
            </a:r>
            <a:r>
              <a:rPr lang="es-ES" b="1" i="0" dirty="0">
                <a:solidFill>
                  <a:srgbClr val="374151"/>
                </a:solidFill>
                <a:effectLst/>
                <a:latin typeface="Söhne"/>
              </a:rPr>
              <a:t>: </a:t>
            </a:r>
            <a:r>
              <a:rPr lang="es-ES" b="0" i="0" dirty="0">
                <a:solidFill>
                  <a:srgbClr val="374151"/>
                </a:solidFill>
                <a:effectLst/>
                <a:latin typeface="Söhne"/>
              </a:rPr>
              <a:t>En aplicaciones de Internet de las cosas (</a:t>
            </a:r>
            <a:r>
              <a:rPr lang="es-ES" b="0" i="0" dirty="0" err="1">
                <a:solidFill>
                  <a:srgbClr val="374151"/>
                </a:solidFill>
                <a:effectLst/>
                <a:latin typeface="Söhne"/>
              </a:rPr>
              <a:t>IoT</a:t>
            </a:r>
            <a:r>
              <a:rPr lang="es-ES" b="0" i="0" dirty="0">
                <a:solidFill>
                  <a:srgbClr val="374151"/>
                </a:solidFill>
                <a:effectLst/>
                <a:latin typeface="Söhne"/>
              </a:rPr>
              <a:t>), los sensores y dispositivos generan datos en tiempo real. La extracción de estos datos permite utilizarlos para análisis y toma de decisiones.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6257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ampliación se refieren a técnicas y enfoques utilizados para aumentar la cantidad de datos disponibles para su análisis y procesamiento. Estos modelos permiten generar grandes volúmenes de datos adicionales o replicar los datos existentes para realizar pruebas, entrenar algoritmos de aprendizaje automático o evaluar el rendimiento de soluciones de Big Data en un entorno de desarrollo o pruebas.</a:t>
            </a:r>
          </a:p>
          <a:p>
            <a:pPr algn="l"/>
            <a:r>
              <a:rPr lang="es-ES" b="0" i="0" dirty="0">
                <a:solidFill>
                  <a:srgbClr val="374151"/>
                </a:solidFill>
                <a:effectLst/>
                <a:latin typeface="Söhne"/>
              </a:rPr>
              <a:t>Algunos de los modelos de ampliación más comunes en Big Data son:</a:t>
            </a:r>
          </a:p>
          <a:p>
            <a:pPr algn="l">
              <a:buFont typeface="+mj-lt"/>
              <a:buAutoNum type="arabicPeriod"/>
            </a:pPr>
            <a:r>
              <a:rPr lang="es-ES" b="0" i="0" dirty="0">
                <a:solidFill>
                  <a:srgbClr val="374151"/>
                </a:solidFill>
                <a:effectLst/>
                <a:latin typeface="Söhne"/>
              </a:rPr>
              <a:t>Duplicación: En este modelo, se duplican los datos existentes para generar un conjunto de datos más grande. Esto puede ser útil para probar la escalabilidad y el rendimiento de un sistema de Big Data sin necesidad de recopilar nuevos datos.</a:t>
            </a:r>
          </a:p>
          <a:p>
            <a:pPr algn="l">
              <a:buFont typeface="+mj-lt"/>
              <a:buAutoNum type="arabicPeriod"/>
            </a:pPr>
            <a:r>
              <a:rPr lang="es-ES" b="0" i="0" dirty="0">
                <a:solidFill>
                  <a:srgbClr val="374151"/>
                </a:solidFill>
                <a:effectLst/>
                <a:latin typeface="Söhne"/>
              </a:rPr>
              <a:t>Multiplicación: En este modelo, los datos se multiplican mediante técnicas de generación de datos basadas en reglas o patrones. Por ejemplo, se pueden multiplicar registros de eventos temporales para simular un tráfico de datos más intenso.</a:t>
            </a:r>
          </a:p>
          <a:p>
            <a:pPr algn="l">
              <a:buFont typeface="+mj-lt"/>
              <a:buAutoNum type="arabicPeriod"/>
            </a:pPr>
            <a:r>
              <a:rPr lang="es-ES" b="0" i="0" dirty="0">
                <a:solidFill>
                  <a:srgbClr val="374151"/>
                </a:solidFill>
                <a:effectLst/>
                <a:latin typeface="Söhne"/>
              </a:rPr>
              <a:t>Escalamiento: En este modelo, se aumenta el tamaño de los datos existentes mediante técnicas de ampliación que conservan las propiedades y características de los datos originales. Puede implicar aumentar el tamaño de imágenes, archivos de texto o registros de bases de datos.</a:t>
            </a:r>
          </a:p>
          <a:p>
            <a:pPr algn="l">
              <a:buFont typeface="+mj-lt"/>
              <a:buAutoNum type="arabicPeriod"/>
            </a:pPr>
            <a:r>
              <a:rPr lang="es-ES" b="0" i="0" dirty="0">
                <a:solidFill>
                  <a:srgbClr val="374151"/>
                </a:solidFill>
                <a:effectLst/>
                <a:latin typeface="Söhne"/>
              </a:rPr>
              <a:t>Generación de datos sintéticos: Este modelo implica la generación de nuevos datos que simulan características y patrones de datos reales utilizando técnicas de modelado y generación de datos sintéticos. Estos datos pueden ser utilizados para aumentar la diversidad y el volumen de los conjuntos de datos.</a:t>
            </a:r>
          </a:p>
          <a:p>
            <a:pPr algn="l">
              <a:buFont typeface="+mj-lt"/>
              <a:buAutoNum type="arabicPeriod"/>
            </a:pPr>
            <a:r>
              <a:rPr lang="es-ES" b="0" i="0" dirty="0">
                <a:solidFill>
                  <a:srgbClr val="374151"/>
                </a:solidFill>
                <a:effectLst/>
                <a:latin typeface="Söhne"/>
              </a:rPr>
              <a:t>Datos enriquecidos: En este modelo, se agregan datos adicionales a los conjuntos de datos existentes para proporcionar información adicional y detallada. Por ejemplo, se pueden agregar datos geoespaciales o datos demográficos a un conjunto de datos para enriquecer su contenido.</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29384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combinación se refieren a técnicas y enfoques utilizados para integrar y unificar diferentes fuentes de datos en un único conjunto de datos coherente y completo. Estos modelos permiten combinar datos de diversas fuentes, que pueden ser estructurados o no estructurados, para obtener una visión más completa y enriquecida de la información.</a:t>
            </a:r>
          </a:p>
          <a:p>
            <a:pPr algn="l"/>
            <a:r>
              <a:rPr lang="es-ES" b="0" i="0" dirty="0">
                <a:solidFill>
                  <a:srgbClr val="374151"/>
                </a:solidFill>
                <a:effectLst/>
                <a:latin typeface="Söhne"/>
              </a:rPr>
              <a:t>Algunos de los modelos de combinación más comunes en Big Data son:</a:t>
            </a:r>
          </a:p>
          <a:p>
            <a:pPr algn="l">
              <a:buFont typeface="+mj-lt"/>
              <a:buAutoNum type="arabicPeriod"/>
            </a:pPr>
            <a:r>
              <a:rPr lang="es-ES" b="0" i="0" dirty="0">
                <a:solidFill>
                  <a:srgbClr val="374151"/>
                </a:solidFill>
                <a:effectLst/>
                <a:latin typeface="Söhne"/>
              </a:rPr>
              <a:t>Integración de bases de datos: En este modelo, se combinan datos de múltiples bases de datos, ya sean bases de datos internas o externas, para crear un almacén de datos centralizado. Esto permite realizar análisis más complejos y obtener información más detallada al unificar datos dispersos en un solo lugar.</a:t>
            </a:r>
          </a:p>
          <a:p>
            <a:pPr algn="l">
              <a:buFont typeface="+mj-lt"/>
              <a:buAutoNum type="arabicPeriod"/>
            </a:pPr>
            <a:r>
              <a:rPr lang="es-ES" b="0" i="0" dirty="0">
                <a:solidFill>
                  <a:srgbClr val="374151"/>
                </a:solidFill>
                <a:effectLst/>
                <a:latin typeface="Söhne"/>
              </a:rPr>
              <a:t>Fusión de datos estructurados y no estructurados: En este modelo, se combinan datos estructurados (almacenados en tablas) y no estructurados (como texto libre, imágenes, videos) para enriquecer el análisis y obtener una visión más completa de la información. Se pueden utilizar técnicas de procesamiento de lenguaje natural y análisis de imágenes para extraer conocimientos de los datos no estructurados.</a:t>
            </a:r>
          </a:p>
          <a:p>
            <a:pPr algn="l">
              <a:buFont typeface="+mj-lt"/>
              <a:buAutoNum type="arabicPeriod"/>
            </a:pPr>
            <a:r>
              <a:rPr lang="es-ES" b="0" i="0" dirty="0">
                <a:solidFill>
                  <a:srgbClr val="374151"/>
                </a:solidFill>
                <a:effectLst/>
                <a:latin typeface="Söhne"/>
              </a:rPr>
              <a:t>Ensamblado de datos en tiempo real: En este modelo, se combinan datos en tiempo real procedentes de diferentes fuentes, como sensores </a:t>
            </a:r>
            <a:r>
              <a:rPr lang="es-ES" b="0" i="0" dirty="0" err="1">
                <a:solidFill>
                  <a:srgbClr val="374151"/>
                </a:solidFill>
                <a:effectLst/>
                <a:latin typeface="Söhne"/>
              </a:rPr>
              <a:t>IoT</a:t>
            </a:r>
            <a:r>
              <a:rPr lang="es-ES" b="0" i="0" dirty="0">
                <a:solidFill>
                  <a:srgbClr val="374151"/>
                </a:solidFill>
                <a:effectLst/>
                <a:latin typeface="Söhne"/>
              </a:rPr>
              <a:t> y redes sociales, para tomar decisiones rápidas y en tiempo real. Esto es especialmente útil en aplicaciones donde se requiere una respuesta rápida basada en datos actuales.</a:t>
            </a:r>
          </a:p>
          <a:p>
            <a:pPr algn="l">
              <a:buFont typeface="+mj-lt"/>
              <a:buAutoNum type="arabicPeriod"/>
            </a:pPr>
            <a:r>
              <a:rPr lang="es-ES" b="0" i="0" dirty="0">
                <a:solidFill>
                  <a:srgbClr val="374151"/>
                </a:solidFill>
                <a:effectLst/>
                <a:latin typeface="Söhne"/>
              </a:rPr>
              <a:t>Integración de datos de fuentes externas: En este modelo, se combinan datos de fuentes externas, como datos de proveedores, datos de redes sociales o datos de </a:t>
            </a:r>
            <a:r>
              <a:rPr lang="es-ES" b="0" i="0" dirty="0" err="1">
                <a:solidFill>
                  <a:srgbClr val="374151"/>
                </a:solidFill>
                <a:effectLst/>
                <a:latin typeface="Söhne"/>
              </a:rPr>
              <a:t>APIs</a:t>
            </a:r>
            <a:r>
              <a:rPr lang="es-ES" b="0" i="0" dirty="0">
                <a:solidFill>
                  <a:srgbClr val="374151"/>
                </a:solidFill>
                <a:effectLst/>
                <a:latin typeface="Söhne"/>
              </a:rPr>
              <a:t>, con los datos internos de una organización para enriquecer la información y obtener una visión más completa de las operaciones y el entorno de negocio.</a:t>
            </a:r>
          </a:p>
          <a:p>
            <a:pPr algn="l">
              <a:buFont typeface="+mj-lt"/>
              <a:buAutoNum type="arabicPeriod"/>
            </a:pPr>
            <a:r>
              <a:rPr lang="es-ES" b="0" i="0" dirty="0">
                <a:solidFill>
                  <a:srgbClr val="374151"/>
                </a:solidFill>
                <a:effectLst/>
                <a:latin typeface="Söhne"/>
              </a:rPr>
              <a:t>Unificación de identidades: En este modelo, se combinan datos de diferentes sistemas que hacen referencia a una misma entidad (por ejemplo, un cliente o un producto) para crear una vista unificada de esa entidad. Esto es útil para mejorar la calidad de los datos y evitar duplicidades.</a:t>
            </a:r>
          </a:p>
          <a:p>
            <a:pPr algn="l">
              <a:buFont typeface="+mj-lt"/>
              <a:buAutoNum type="arabicPeriod"/>
            </a:pPr>
            <a:r>
              <a:rPr lang="es-ES" b="0" i="0" dirty="0">
                <a:solidFill>
                  <a:srgbClr val="374151"/>
                </a:solidFill>
                <a:effectLst/>
                <a:latin typeface="Söhne"/>
              </a:rPr>
              <a:t>Combinación de datos históricos y en tiempo real: En este modelo, se combinan datos históricos almacenados en bases de datos con datos en tiempo real generados por sensores u otros dispositivos para obtener una visión completa del comportamiento de un sistema o proceso a lo largo del tiempo.</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898890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err="1">
                <a:solidFill>
                  <a:srgbClr val="374151"/>
                </a:solidFill>
                <a:effectLst/>
                <a:latin typeface="Söhne"/>
              </a:rPr>
              <a:t>xisten</a:t>
            </a:r>
            <a:r>
              <a:rPr lang="es-ES" b="0" i="0" dirty="0">
                <a:solidFill>
                  <a:srgbClr val="374151"/>
                </a:solidFill>
                <a:effectLst/>
                <a:latin typeface="Söhne"/>
              </a:rPr>
              <a:t> varias técnicas de inyección de datos que se utilizan para insertar, generar o simular datos en sistemas de gran escala. Estas técnicas son valiosas para realizar pruebas, entrenar modelos, analizar el rendimiento del sistema y evaluar su capacidad de procesamiento y almacenamiento. A continuación, algunas técnicas comunes de inyección de datos en Big Data:</a:t>
            </a:r>
          </a:p>
          <a:p>
            <a:pPr algn="l">
              <a:buFont typeface="+mj-lt"/>
              <a:buAutoNum type="arabicPeriod"/>
            </a:pPr>
            <a:r>
              <a:rPr lang="es-ES" b="0" i="0" dirty="0">
                <a:solidFill>
                  <a:srgbClr val="374151"/>
                </a:solidFill>
                <a:effectLst/>
                <a:latin typeface="Söhne"/>
              </a:rPr>
              <a:t>Carga masiva desde fuentes externas: Consiste en importar grandes volúmenes de datos desde fuentes externas, como bases de datos, archivos, o servicios de terceros. Esta técnica es útil para probar la capacidad del sistema para manejar flujos masivos de datos desde diversas fuentes.</a:t>
            </a:r>
          </a:p>
          <a:p>
            <a:pPr algn="l">
              <a:buFont typeface="+mj-lt"/>
              <a:buAutoNum type="arabicPeriod"/>
            </a:pPr>
            <a:r>
              <a:rPr lang="es-ES" b="0" i="0" dirty="0">
                <a:solidFill>
                  <a:srgbClr val="374151"/>
                </a:solidFill>
                <a:effectLst/>
                <a:latin typeface="Söhne"/>
              </a:rPr>
              <a:t>Generación programática de datos: Se crean scripts o programas para generar datos sintéticos que simulan el comportamiento y las características de los datos reales. Estos datos sintéticos pueden tener distribuciones específicas y se utilizan para pruebas y pruebas de escalabilidad.</a:t>
            </a:r>
          </a:p>
          <a:p>
            <a:pPr algn="l">
              <a:buFont typeface="+mj-lt"/>
              <a:buAutoNum type="arabicPeriod"/>
            </a:pPr>
            <a:r>
              <a:rPr lang="es-ES" b="0" i="0" dirty="0">
                <a:solidFill>
                  <a:srgbClr val="374151"/>
                </a:solidFill>
                <a:effectLst/>
                <a:latin typeface="Söhne"/>
              </a:rPr>
              <a:t>Generación de datos aleatorios: Se generan datos aleatorios siguiendo ciertas distribuciones estadísticas. Esta técnica es útil para crear grandes conjuntos de datos para pruebas de rendimiento y análisis exploratorios.</a:t>
            </a:r>
          </a:p>
          <a:p>
            <a:pPr algn="l">
              <a:buFont typeface="+mj-lt"/>
              <a:buAutoNum type="arabicPeriod"/>
            </a:pPr>
            <a:r>
              <a:rPr lang="es-ES" b="0" i="0" dirty="0">
                <a:solidFill>
                  <a:srgbClr val="374151"/>
                </a:solidFill>
                <a:effectLst/>
                <a:latin typeface="Söhne"/>
              </a:rPr>
              <a:t>Replicación de datos existentes: Consiste en duplicar o replicar datos ya existentes para aumentar su volumen y evaluar el comportamiento del sistema en escenarios de mayor carga.</a:t>
            </a:r>
          </a:p>
          <a:p>
            <a:pPr algn="l">
              <a:buFont typeface="+mj-lt"/>
              <a:buAutoNum type="arabicPeriod"/>
            </a:pPr>
            <a:r>
              <a:rPr lang="es-ES" b="0" i="0" dirty="0">
                <a:solidFill>
                  <a:srgbClr val="374151"/>
                </a:solidFill>
                <a:effectLst/>
                <a:latin typeface="Söhne"/>
              </a:rPr>
              <a:t>Generación de datos de prueba específicos: Se crean conjuntos de datos de prueba específicos para simular situaciones o casos de uso particulares, lo que permite realizar pruebas y </a:t>
            </a:r>
            <a:r>
              <a:rPr lang="es-ES" b="0" i="0" dirty="0" err="1">
                <a:solidFill>
                  <a:srgbClr val="374151"/>
                </a:solidFill>
                <a:effectLst/>
                <a:latin typeface="Söhne"/>
              </a:rPr>
              <a:t>Eanálisis</a:t>
            </a:r>
            <a:r>
              <a:rPr lang="es-ES" b="0" i="0" dirty="0">
                <a:solidFill>
                  <a:srgbClr val="374151"/>
                </a:solidFill>
                <a:effectLst/>
                <a:latin typeface="Söhne"/>
              </a:rPr>
              <a:t> en condiciones controladas.</a:t>
            </a:r>
          </a:p>
          <a:p>
            <a:pPr algn="l">
              <a:buFont typeface="+mj-lt"/>
              <a:buAutoNum type="arabicPeriod"/>
            </a:pPr>
            <a:r>
              <a:rPr lang="es-ES" b="0" i="0" dirty="0">
                <a:solidFill>
                  <a:srgbClr val="374151"/>
                </a:solidFill>
                <a:effectLst/>
                <a:latin typeface="Söhne"/>
              </a:rPr>
              <a:t>Inyección de datos en tiempo real: Se generan flujos de datos en tiempo real que simulan la llegada continua de información desde diversas fuentes, como sensores o sistemas de monitoreo. Esta técnica es útil para evaluar la capacidad de procesamiento y análisis en tiempo real del sistema.</a:t>
            </a:r>
          </a:p>
          <a:p>
            <a:pPr algn="l">
              <a:buFont typeface="+mj-lt"/>
              <a:buAutoNum type="arabicPeriod"/>
            </a:pPr>
            <a:r>
              <a:rPr lang="es-ES" b="0" i="0" dirty="0">
                <a:solidFill>
                  <a:srgbClr val="374151"/>
                </a:solidFill>
                <a:effectLst/>
                <a:latin typeface="Söhne"/>
              </a:rPr>
              <a:t>Utilización de conjuntos de datos públicos: Se emplean conjuntos de datos públicos disponibles para realizar pruebas y experimentos. Estos conjuntos pueden incluir datos de redes sociales, datos meteorológicos, datos gubernamentales, entre otros.</a:t>
            </a:r>
          </a:p>
          <a:p>
            <a:pPr algn="l">
              <a:buFont typeface="+mj-lt"/>
              <a:buAutoNum type="arabicPeriod"/>
            </a:pPr>
            <a:r>
              <a:rPr lang="es-ES" b="0" i="0" dirty="0">
                <a:solidFill>
                  <a:srgbClr val="374151"/>
                </a:solidFill>
                <a:effectLst/>
                <a:latin typeface="Söhne"/>
              </a:rPr>
              <a:t>Extracción y transformación de datos históricos: Se toman datos históricos almacenados en un formato específico y se transforman para adaptarlos al sistema de Big Data. Esto permite analizar datos antiguos con herramientas y tecnologías más avanzadas</a:t>
            </a:r>
          </a:p>
          <a:p>
            <a:pPr algn="l"/>
            <a:endParaRPr lang="en-US" dirty="0"/>
          </a:p>
        </p:txBody>
      </p:sp>
    </p:spTree>
    <p:extLst>
      <p:ext uri="{BB962C8B-B14F-4D97-AF65-F5344CB8AC3E}">
        <p14:creationId xmlns:p14="http://schemas.microsoft.com/office/powerpoint/2010/main" val="1423110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6882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06078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algn="l"/>
            <a:r>
              <a:rPr lang="es-ES" b="0" i="0" dirty="0">
                <a:solidFill>
                  <a:srgbClr val="374151"/>
                </a:solidFill>
                <a:effectLst/>
                <a:latin typeface="Söhne"/>
              </a:rPr>
              <a:t>El objetivo principal de Hadoop es permitir el procesamiento de datos a gran escala de manera eficiente y confiable, incluso en hardware convencional y asequible. El </a:t>
            </a:r>
            <a:r>
              <a:rPr lang="es-ES" b="0" i="0" dirty="0" err="1">
                <a:solidFill>
                  <a:srgbClr val="374151"/>
                </a:solidFill>
                <a:effectLst/>
                <a:latin typeface="Söhne"/>
              </a:rPr>
              <a:t>framework</a:t>
            </a:r>
            <a:r>
              <a:rPr lang="es-ES" b="0" i="0" dirty="0">
                <a:solidFill>
                  <a:srgbClr val="374151"/>
                </a:solidFill>
                <a:effectLst/>
                <a:latin typeface="Söhne"/>
              </a:rPr>
              <a:t> está diseñado para manejar datos de diversos formatos, como datos estructurados, </a:t>
            </a:r>
            <a:r>
              <a:rPr lang="es-ES" b="0" i="0" dirty="0" err="1">
                <a:solidFill>
                  <a:srgbClr val="374151"/>
                </a:solidFill>
                <a:effectLst/>
                <a:latin typeface="Söhne"/>
              </a:rPr>
              <a:t>semi-estructurados</a:t>
            </a:r>
            <a:r>
              <a:rPr lang="es-ES" b="0" i="0" dirty="0">
                <a:solidFill>
                  <a:srgbClr val="374151"/>
                </a:solidFill>
                <a:effectLst/>
                <a:latin typeface="Söhne"/>
              </a:rPr>
              <a:t> y no estructurados.</a:t>
            </a:r>
          </a:p>
          <a:p>
            <a:pPr algn="l"/>
            <a:r>
              <a:rPr lang="es-ES" b="0" i="0" dirty="0">
                <a:solidFill>
                  <a:srgbClr val="374151"/>
                </a:solidFill>
                <a:effectLst/>
                <a:latin typeface="Söhne"/>
              </a:rPr>
              <a:t>Los componentes principales de Hadoop son:</a:t>
            </a:r>
          </a:p>
          <a:p>
            <a:pPr algn="l">
              <a:buFont typeface="+mj-lt"/>
              <a:buAutoNum type="arabicPeriod"/>
            </a:pPr>
            <a:r>
              <a:rPr lang="es-ES" b="0" i="0" dirty="0">
                <a:solidFill>
                  <a:srgbClr val="374151"/>
                </a:solidFill>
                <a:effectLst/>
                <a:latin typeface="Söhne"/>
              </a:rPr>
              <a:t>Hadoop </a:t>
            </a:r>
            <a:r>
              <a:rPr lang="es-ES" b="0" i="0" dirty="0" err="1">
                <a:solidFill>
                  <a:srgbClr val="374151"/>
                </a:solidFill>
                <a:effectLst/>
                <a:latin typeface="Söhne"/>
              </a:rPr>
              <a:t>Distributed</a:t>
            </a:r>
            <a:r>
              <a:rPr lang="es-ES" b="0" i="0" dirty="0">
                <a:solidFill>
                  <a:srgbClr val="374151"/>
                </a:solidFill>
                <a:effectLst/>
                <a:latin typeface="Söhne"/>
              </a:rPr>
              <a:t> File </a:t>
            </a:r>
            <a:r>
              <a:rPr lang="es-ES" b="0" i="0" dirty="0" err="1">
                <a:solidFill>
                  <a:srgbClr val="374151"/>
                </a:solidFill>
                <a:effectLst/>
                <a:latin typeface="Söhne"/>
              </a:rPr>
              <a:t>System</a:t>
            </a:r>
            <a:r>
              <a:rPr lang="es-ES" b="0" i="0" dirty="0">
                <a:solidFill>
                  <a:srgbClr val="374151"/>
                </a:solidFill>
                <a:effectLst/>
                <a:latin typeface="Söhne"/>
              </a:rPr>
              <a:t> (HDFS): Es el sistema de archivos distribuido de Hadoop, diseñado para almacenar grandes conjuntos de datos a través de múltiples nodos en un clúster. HDFS divide los datos en bloques y los distribuye en diferentes nodos para garantizar la redundancia y la tolerancia a fallos.</a:t>
            </a:r>
          </a:p>
          <a:p>
            <a:pPr algn="l">
              <a:buFont typeface="+mj-lt"/>
              <a:buAutoNum type="arabicPeriod"/>
            </a:pPr>
            <a:r>
              <a:rPr lang="es-ES" b="0" i="0" dirty="0">
                <a:solidFill>
                  <a:srgbClr val="374151"/>
                </a:solidFill>
                <a:effectLst/>
                <a:latin typeface="Söhne"/>
              </a:rPr>
              <a:t>MapReduce: Es un modelo de programación para el procesamiento paralelo de datos en clústeres de Hadoop. Permite dividir una tarea en múltiples tareas más pequeñas (</a:t>
            </a:r>
            <a:r>
              <a:rPr lang="es-ES" b="0" i="0" dirty="0" err="1">
                <a:solidFill>
                  <a:srgbClr val="374151"/>
                </a:solidFill>
                <a:effectLst/>
                <a:latin typeface="Söhne"/>
              </a:rPr>
              <a:t>mappers</a:t>
            </a:r>
            <a:r>
              <a:rPr lang="es-ES" b="0" i="0" dirty="0">
                <a:solidFill>
                  <a:srgbClr val="374151"/>
                </a:solidFill>
                <a:effectLst/>
                <a:latin typeface="Söhne"/>
              </a:rPr>
              <a:t>) que se ejecutan en paralelo en diferentes nodos, y luego combinar y reducir los resultados para obtener el resultado final (</a:t>
            </a:r>
            <a:r>
              <a:rPr lang="es-ES" b="0" i="0" dirty="0" err="1">
                <a:solidFill>
                  <a:srgbClr val="374151"/>
                </a:solidFill>
                <a:effectLst/>
                <a:latin typeface="Söhne"/>
              </a:rPr>
              <a:t>reducers</a:t>
            </a:r>
            <a:r>
              <a:rPr lang="es-ES" b="0" i="0" dirty="0">
                <a:solidFill>
                  <a:srgbClr val="374151"/>
                </a:solidFill>
                <a:effectLst/>
                <a:latin typeface="Söhne"/>
              </a:rPr>
              <a:t>).</a:t>
            </a:r>
          </a:p>
          <a:p>
            <a:pPr algn="l">
              <a:buFont typeface="+mj-lt"/>
              <a:buAutoNum type="arabicPeriod"/>
            </a:pPr>
            <a:r>
              <a:rPr lang="es-ES" b="0" i="0" dirty="0">
                <a:solidFill>
                  <a:srgbClr val="374151"/>
                </a:solidFill>
                <a:effectLst/>
                <a:latin typeface="Söhne"/>
              </a:rPr>
              <a:t>YARN (</a:t>
            </a:r>
            <a:r>
              <a:rPr lang="es-ES" b="0" i="0" dirty="0" err="1">
                <a:solidFill>
                  <a:srgbClr val="374151"/>
                </a:solidFill>
                <a:effectLst/>
                <a:latin typeface="Söhne"/>
              </a:rPr>
              <a:t>Yet</a:t>
            </a:r>
            <a:r>
              <a:rPr lang="es-ES" b="0" i="0" dirty="0">
                <a:solidFill>
                  <a:srgbClr val="374151"/>
                </a:solidFill>
                <a:effectLst/>
                <a:latin typeface="Söhne"/>
              </a:rPr>
              <a:t> </a:t>
            </a:r>
            <a:r>
              <a:rPr lang="es-ES" b="0" i="0" dirty="0" err="1">
                <a:solidFill>
                  <a:srgbClr val="374151"/>
                </a:solidFill>
                <a:effectLst/>
                <a:latin typeface="Söhne"/>
              </a:rPr>
              <a:t>Another</a:t>
            </a:r>
            <a:r>
              <a:rPr lang="es-ES" b="0" i="0" dirty="0">
                <a:solidFill>
                  <a:srgbClr val="374151"/>
                </a:solidFill>
                <a:effectLst/>
                <a:latin typeface="Söhne"/>
              </a:rPr>
              <a:t> </a:t>
            </a:r>
            <a:r>
              <a:rPr lang="es-ES" b="0" i="0" dirty="0" err="1">
                <a:solidFill>
                  <a:srgbClr val="374151"/>
                </a:solidFill>
                <a:effectLst/>
                <a:latin typeface="Söhne"/>
              </a:rPr>
              <a:t>Resource</a:t>
            </a:r>
            <a:r>
              <a:rPr lang="es-ES" b="0" i="0" dirty="0">
                <a:solidFill>
                  <a:srgbClr val="374151"/>
                </a:solidFill>
                <a:effectLst/>
                <a:latin typeface="Söhne"/>
              </a:rPr>
              <a:t> </a:t>
            </a:r>
            <a:r>
              <a:rPr lang="es-ES" b="0" i="0" dirty="0" err="1">
                <a:solidFill>
                  <a:srgbClr val="374151"/>
                </a:solidFill>
                <a:effectLst/>
                <a:latin typeface="Söhne"/>
              </a:rPr>
              <a:t>Negotiator</a:t>
            </a:r>
            <a:r>
              <a:rPr lang="es-ES" b="0" i="0" dirty="0">
                <a:solidFill>
                  <a:srgbClr val="374151"/>
                </a:solidFill>
                <a:effectLst/>
                <a:latin typeface="Söhne"/>
              </a:rPr>
              <a:t>): Es el administrador de recursos de Hadoop que gestiona y asigna recursos de CPU y memoria en el clúster para las tareas de procesamiento.</a:t>
            </a:r>
          </a:p>
          <a:p>
            <a:pPr algn="l">
              <a:buFont typeface="+mj-lt"/>
              <a:buAutoNum type="arabicPeriod"/>
            </a:pPr>
            <a:r>
              <a:rPr lang="es-ES" b="0" i="0" dirty="0" err="1">
                <a:solidFill>
                  <a:srgbClr val="374151"/>
                </a:solidFill>
                <a:effectLst/>
                <a:latin typeface="Söhne"/>
              </a:rPr>
              <a:t>Common</a:t>
            </a:r>
            <a:r>
              <a:rPr lang="es-ES" b="0" i="0" dirty="0">
                <a:solidFill>
                  <a:srgbClr val="374151"/>
                </a:solidFill>
                <a:effectLst/>
                <a:latin typeface="Söhne"/>
              </a:rPr>
              <a:t> </a:t>
            </a:r>
            <a:r>
              <a:rPr lang="es-ES" b="0" i="0" dirty="0" err="1">
                <a:solidFill>
                  <a:srgbClr val="374151"/>
                </a:solidFill>
                <a:effectLst/>
                <a:latin typeface="Söhne"/>
              </a:rPr>
              <a:t>Utilities</a:t>
            </a:r>
            <a:r>
              <a:rPr lang="es-ES" b="0" i="0" dirty="0">
                <a:solidFill>
                  <a:srgbClr val="374151"/>
                </a:solidFill>
                <a:effectLst/>
                <a:latin typeface="Söhne"/>
              </a:rPr>
              <a:t>: Es un conjunto de librerías y utilidades compartidas que proporciona funcionalidades esenciales para todos los componentes de Hadoop.</a:t>
            </a:r>
          </a:p>
          <a:p>
            <a:pPr algn="l"/>
            <a:r>
              <a:rPr lang="es-ES" b="0" i="0" dirty="0">
                <a:solidFill>
                  <a:srgbClr val="374151"/>
                </a:solidFill>
                <a:effectLst/>
                <a:latin typeface="Söhne"/>
              </a:rPr>
              <a:t>Hadoop es ampliamente utilizado en aplicaciones de Big Data y es especialmente útil cuando se enfrentan grandes volúmenes de datos y la necesidad de procesarlos de manera eficiente y escalable. Permite el almacenamiento y procesamiento de datos en paralelo, lo que lo convierte en una opción popular para el análisis de datos masivos, el procesamiento de registros de aplicaciones, el procesamiento de datos web, la indexación y mucho más.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42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7331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1634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2293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16908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94264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639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64855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9226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2362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0193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8883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1561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1599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3835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95763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25145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ce1f7c01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ce1f7c01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2242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04/08/2023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1435244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04/08/2023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6739619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E25EE4-D6A6-437A-9391-E3EE8A2D826E}" type="datetimeFigureOut">
              <a:rPr lang="es-MX" smtClean="0"/>
              <a:t>04/08/2023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7183228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1E25EE4-D6A6-437A-9391-E3EE8A2D826E}" type="datetimeFigureOut">
              <a:rPr lang="es-MX" smtClean="0"/>
              <a:t>04/08/2023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9292742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4" name="Content Placeholder 3"/>
          <p:cNvSpPr>
            <a:spLocks noGrp="1"/>
          </p:cNvSpPr>
          <p:nvPr>
            <p:ph sz="half" idx="2"/>
          </p:nvPr>
        </p:nvSpPr>
        <p:spPr>
          <a:xfrm>
            <a:off x="1679796" y="5010150"/>
            <a:ext cx="10316917"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6" name="Content Placeholder 5"/>
          <p:cNvSpPr>
            <a:spLocks noGrp="1"/>
          </p:cNvSpPr>
          <p:nvPr>
            <p:ph sz="quarter" idx="4"/>
          </p:nvPr>
        </p:nvSpPr>
        <p:spPr>
          <a:xfrm>
            <a:off x="12346007" y="5010150"/>
            <a:ext cx="10367726"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1E25EE4-D6A6-437A-9391-E3EE8A2D826E}" type="datetimeFigureOut">
              <a:rPr lang="es-MX" smtClean="0"/>
              <a:t>04/08/2023</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6423337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1E25EE4-D6A6-437A-9391-E3EE8A2D826E}" type="datetimeFigureOut">
              <a:rPr lang="es-MX" smtClean="0"/>
              <a:t>04/08/2023</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15521238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E25EE4-D6A6-437A-9391-E3EE8A2D826E}" type="datetimeFigureOut">
              <a:rPr lang="es-MX" smtClean="0"/>
              <a:t>04/08/2023</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9641877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E25EE4-D6A6-437A-9391-E3EE8A2D826E}" type="datetimeFigureOut">
              <a:rPr lang="es-MX" smtClean="0"/>
              <a:t>04/08/2023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84834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E25EE4-D6A6-437A-9391-E3EE8A2D826E}" type="datetimeFigureOut">
              <a:rPr lang="es-MX" smtClean="0"/>
              <a:t>04/08/2023</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87921727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04/08/2023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3164862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04/08/2023</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424157621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01E25EE4-D6A6-437A-9391-E3EE8A2D826E}" type="datetimeFigureOut">
              <a:rPr lang="es-MX" smtClean="0"/>
              <a:t>04/08/2023</a:t>
            </a:fld>
            <a:endParaRPr lang="es-MX"/>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D50F448D-55D1-40F3-901A-A06ED0942412}" type="slidenum">
              <a:rPr lang="es-MX" smtClean="0"/>
              <a:t>‹Nº›</a:t>
            </a:fld>
            <a:endParaRPr lang="es-MX"/>
          </a:p>
        </p:txBody>
      </p:sp>
    </p:spTree>
    <p:extLst>
      <p:ext uri="{BB962C8B-B14F-4D97-AF65-F5344CB8AC3E}">
        <p14:creationId xmlns:p14="http://schemas.microsoft.com/office/powerpoint/2010/main" val="386141998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7.jpe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cxnSp>
        <p:nvCxnSpPr>
          <p:cNvPr id="27" name="Google Shape;27;p8"/>
          <p:cNvCxnSpPr/>
          <p:nvPr/>
        </p:nvCxnSpPr>
        <p:spPr>
          <a:xfrm>
            <a:off x="1498741" y="-1748367"/>
            <a:ext cx="0" cy="0"/>
          </a:xfrm>
          <a:prstGeom prst="straightConnector1">
            <a:avLst/>
          </a:prstGeom>
          <a:noFill/>
          <a:ln>
            <a:noFill/>
          </a:ln>
        </p:spPr>
      </p:cxnSp>
      <p:cxnSp>
        <p:nvCxnSpPr>
          <p:cNvPr id="28" name="Google Shape;28;p8"/>
          <p:cNvCxnSpPr/>
          <p:nvPr/>
        </p:nvCxnSpPr>
        <p:spPr>
          <a:xfrm>
            <a:off x="1498741" y="-1748367"/>
            <a:ext cx="0" cy="0"/>
          </a:xfrm>
          <a:prstGeom prst="straightConnector1">
            <a:avLst/>
          </a:prstGeom>
          <a:noFill/>
          <a:ln>
            <a:noFill/>
          </a:ln>
        </p:spPr>
      </p:cxnSp>
      <p:pic>
        <p:nvPicPr>
          <p:cNvPr id="2" name="Imagen 1">
            <a:extLst>
              <a:ext uri="{FF2B5EF4-FFF2-40B4-BE49-F238E27FC236}">
                <a16:creationId xmlns:a16="http://schemas.microsoft.com/office/drawing/2014/main" id="{D201D745-DD58-DAF6-A4B3-C5ED3F748EB9}"/>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34E50C9-B149-AD25-66EC-4B01EEB171CA}"/>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3E463BD-5D17-F074-AA81-294C3A0B0E6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E33B722-B730-9D67-CD29-0A93D9472B26}"/>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6" name="Título 1">
            <a:extLst>
              <a:ext uri="{FF2B5EF4-FFF2-40B4-BE49-F238E27FC236}">
                <a16:creationId xmlns:a16="http://schemas.microsoft.com/office/drawing/2014/main" id="{789D3C35-B739-EB77-1151-771A8312FE54}"/>
              </a:ext>
            </a:extLst>
          </p:cNvPr>
          <p:cNvSpPr txBox="1">
            <a:spLocks/>
          </p:cNvSpPr>
          <p:nvPr/>
        </p:nvSpPr>
        <p:spPr>
          <a:xfrm>
            <a:off x="5259387" y="3903663"/>
            <a:ext cx="13868400" cy="23876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lgn="ctr"/>
            <a:r>
              <a:rPr lang="es-MX" dirty="0"/>
              <a:t>Maestría en Ciencia de Datos (MCD)</a:t>
            </a:r>
            <a:endParaRPr lang="en-US" dirty="0"/>
          </a:p>
        </p:txBody>
      </p:sp>
      <p:sp>
        <p:nvSpPr>
          <p:cNvPr id="7" name="Subtítulo 2">
            <a:extLst>
              <a:ext uri="{FF2B5EF4-FFF2-40B4-BE49-F238E27FC236}">
                <a16:creationId xmlns:a16="http://schemas.microsoft.com/office/drawing/2014/main" id="{723C9D5A-7F3D-A9B3-8892-BCC49AC8A02A}"/>
              </a:ext>
            </a:extLst>
          </p:cNvPr>
          <p:cNvSpPr txBox="1">
            <a:spLocks/>
          </p:cNvSpPr>
          <p:nvPr/>
        </p:nvSpPr>
        <p:spPr>
          <a:xfrm>
            <a:off x="6019800" y="7907338"/>
            <a:ext cx="12534900" cy="165576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s-MX" i="1" dirty="0"/>
              <a:t>Procesamiento de Grandes Bases de Datos (</a:t>
            </a:r>
            <a:r>
              <a:rPr lang="es-MX" i="1" dirty="0" err="1"/>
              <a:t>BigData</a:t>
            </a:r>
            <a:r>
              <a:rPr lang="es-MX" i="1"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0" name="Google Shape;50;p10"/>
          <p:cNvSpPr txBox="1"/>
          <p:nvPr/>
        </p:nvSpPr>
        <p:spPr>
          <a:xfrm>
            <a:off x="8915629" y="3219076"/>
            <a:ext cx="13831658" cy="2585322"/>
          </a:xfrm>
          <a:prstGeom prst="rect">
            <a:avLst/>
          </a:prstGeom>
          <a:noFill/>
          <a:ln>
            <a:noFill/>
          </a:ln>
        </p:spPr>
        <p:txBody>
          <a:bodyPr spcFirstLastPara="1" wrap="square" lIns="91425" tIns="45700" rIns="91425" bIns="45700" anchor="t" anchorCtr="0">
            <a:noAutofit/>
          </a:bodyPr>
          <a:lstStyle/>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Definición</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Tipos de datos</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a:t>
            </a:r>
            <a:r>
              <a:rPr lang="es-MX" sz="3600" b="1" dirty="0" err="1">
                <a:solidFill>
                  <a:schemeClr val="dk2"/>
                </a:solidFill>
                <a:latin typeface="Poppins"/>
                <a:cs typeface="Poppins"/>
              </a:rPr>
              <a:t>Carácteristicas</a:t>
            </a:r>
            <a:endParaRPr lang="es-MX" sz="3600" b="1" dirty="0">
              <a:solidFill>
                <a:schemeClr val="dk2"/>
              </a:solidFill>
              <a:latin typeface="Poppins"/>
              <a:cs typeface="Poppins"/>
            </a:endParaRP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Las </a:t>
            </a:r>
            <a:r>
              <a:rPr lang="es-MX" sz="3600" b="1" dirty="0" err="1">
                <a:solidFill>
                  <a:schemeClr val="dk2"/>
                </a:solidFill>
                <a:latin typeface="Poppins"/>
                <a:cs typeface="Poppins"/>
              </a:rPr>
              <a:t>V’s</a:t>
            </a:r>
            <a:r>
              <a:rPr lang="es-MX" sz="3600" b="1" dirty="0">
                <a:solidFill>
                  <a:schemeClr val="dk2"/>
                </a:solidFill>
                <a:latin typeface="Poppins"/>
                <a:cs typeface="Poppins"/>
              </a:rPr>
              <a:t>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Aprovechamiento</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Generación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Modelo de Generación</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Manejo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Valor de análisis</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a:t>
            </a:r>
            <a:endParaRPr b="1" dirty="0">
              <a:latin typeface="Poppins"/>
              <a:ea typeface="Poppins"/>
              <a:cs typeface="Poppins"/>
              <a:sym typeface="Poppins"/>
            </a:endParaRPr>
          </a:p>
        </p:txBody>
      </p:sp>
      <p:sp>
        <p:nvSpPr>
          <p:cNvPr id="54" name="Google Shape;54;p10"/>
          <p:cNvSpPr txBox="1"/>
          <p:nvPr/>
        </p:nvSpPr>
        <p:spPr>
          <a:xfrm>
            <a:off x="8915629" y="1130396"/>
            <a:ext cx="6773008"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n-US" sz="7200" b="1" i="1" dirty="0">
                <a:solidFill>
                  <a:schemeClr val="dk2"/>
                </a:solidFill>
                <a:latin typeface="Montserrat"/>
                <a:sym typeface="Montserrat"/>
              </a:rPr>
              <a:t>Unidad I</a:t>
            </a:r>
            <a:endParaRPr b="1" i="1" dirty="0"/>
          </a:p>
        </p:txBody>
      </p:sp>
      <p:pic>
        <p:nvPicPr>
          <p:cNvPr id="2" name="Imagen 1">
            <a:extLst>
              <a:ext uri="{FF2B5EF4-FFF2-40B4-BE49-F238E27FC236}">
                <a16:creationId xmlns:a16="http://schemas.microsoft.com/office/drawing/2014/main" id="{26F8041D-5122-2DEF-8203-7F2F1463F4BD}"/>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30803D8B-C397-224A-28BD-9E3F48936260}"/>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5BD2C07-C8A0-AF77-DC2C-09D98C0311F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CC5D14C4-A940-A186-FCCD-BA093D6FE6C7}"/>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9029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80" name="Google Shape;80;p12"/>
          <p:cNvSpPr txBox="1"/>
          <p:nvPr/>
        </p:nvSpPr>
        <p:spPr>
          <a:xfrm>
            <a:off x="1736170" y="1925803"/>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indent="0" algn="ctr">
              <a:buSzPts val="3600"/>
              <a:buNone/>
              <a:defRPr sz="3600">
                <a:solidFill>
                  <a:schemeClr val="lt1"/>
                </a:solidFill>
                <a:highlight>
                  <a:srgbClr val="FFFF00"/>
                </a:highlight>
                <a:latin typeface="Montserrat"/>
                <a:ea typeface="Montserrat"/>
                <a:cs typeface="Montserrat"/>
              </a:defRPr>
            </a:lvl1pPr>
          </a:lstStyle>
          <a:p>
            <a:r>
              <a:rPr lang="en-US" dirty="0" err="1">
                <a:solidFill>
                  <a:schemeClr val="tx1"/>
                </a:solidFill>
                <a:sym typeface="Montserrat"/>
              </a:rPr>
              <a:t>Fundamentos</a:t>
            </a:r>
            <a:r>
              <a:rPr lang="en-US" dirty="0">
                <a:solidFill>
                  <a:schemeClr val="tx1"/>
                </a:solidFill>
                <a:sym typeface="Montserrat"/>
              </a:rPr>
              <a:t> </a:t>
            </a:r>
            <a:r>
              <a:rPr lang="en-US" dirty="0" err="1">
                <a:solidFill>
                  <a:schemeClr val="tx1"/>
                </a:solidFill>
                <a:sym typeface="Montserrat"/>
              </a:rPr>
              <a:t>Generales</a:t>
            </a:r>
            <a:endParaRPr dirty="0">
              <a:solidFill>
                <a:schemeClr val="tx1"/>
              </a:solidFill>
            </a:endParaRPr>
          </a:p>
        </p:txBody>
      </p:sp>
      <p:sp>
        <p:nvSpPr>
          <p:cNvPr id="14" name="CuadroTexto 13">
            <a:extLst>
              <a:ext uri="{FF2B5EF4-FFF2-40B4-BE49-F238E27FC236}">
                <a16:creationId xmlns:a16="http://schemas.microsoft.com/office/drawing/2014/main" id="{B3631A70-BA4F-4D3D-9F34-D4E86643CD66}"/>
              </a:ext>
            </a:extLst>
          </p:cNvPr>
          <p:cNvSpPr txBox="1"/>
          <p:nvPr/>
        </p:nvSpPr>
        <p:spPr>
          <a:xfrm>
            <a:off x="1445601" y="10745960"/>
            <a:ext cx="21022839" cy="2506840"/>
          </a:xfrm>
          <a:prstGeom prst="rect">
            <a:avLst/>
          </a:prstGeom>
          <a:noFill/>
        </p:spPr>
        <p:txBody>
          <a:bodyPr wrap="square">
            <a:spAutoFit/>
          </a:bodyPr>
          <a:lstStyle/>
          <a:p>
            <a:pPr algn="just">
              <a:lnSpc>
                <a:spcPct val="150000"/>
              </a:lnSpc>
            </a:pPr>
            <a:r>
              <a:rPr lang="es-ES" sz="3600" b="1" dirty="0">
                <a:solidFill>
                  <a:schemeClr val="dk2"/>
                </a:solidFill>
                <a:latin typeface="Poppins"/>
                <a:cs typeface="Poppins"/>
              </a:rPr>
              <a:t>Big Data:  </a:t>
            </a:r>
            <a:r>
              <a:rPr lang="es-ES" sz="3600" dirty="0">
                <a:solidFill>
                  <a:schemeClr val="dk2"/>
                </a:solidFill>
                <a:latin typeface="Poppins"/>
                <a:cs typeface="Poppins"/>
              </a:rPr>
              <a:t>se refiere a un término utilizado para describir conjuntos de datos extremadamente grandes y complejos que son difíciles de procesar y analizar utilizando métodos tradicionales o herramientas </a:t>
            </a:r>
            <a:r>
              <a:rPr lang="es-ES" sz="3600" dirty="0" err="1">
                <a:solidFill>
                  <a:schemeClr val="dk2"/>
                </a:solidFill>
                <a:latin typeface="Poppins"/>
                <a:cs typeface="Poppins"/>
              </a:rPr>
              <a:t>convencionale</a:t>
            </a:r>
            <a:r>
              <a:rPr lang="es-MX" sz="3600" dirty="0">
                <a:solidFill>
                  <a:schemeClr val="dk2"/>
                </a:solidFill>
                <a:latin typeface="Poppins"/>
                <a:cs typeface="Poppins"/>
              </a:rPr>
              <a:t>”.</a:t>
            </a:r>
          </a:p>
        </p:txBody>
      </p:sp>
      <p:pic>
        <p:nvPicPr>
          <p:cNvPr id="2" name="Imagen 1">
            <a:extLst>
              <a:ext uri="{FF2B5EF4-FFF2-40B4-BE49-F238E27FC236}">
                <a16:creationId xmlns:a16="http://schemas.microsoft.com/office/drawing/2014/main" id="{4E9B96D8-2A4F-A18E-697C-7BC987BB278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0E22C91-7CAB-DFB4-CFC2-ED1D190F06A9}"/>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0579C0F-BEA2-C75F-57EE-8BC3534B8591}"/>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CD22870-F9EE-65B8-8F09-F487DE0E2E68}"/>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CED9B337-A564-635F-599F-39E6AA1A11B3}"/>
              </a:ext>
            </a:extLst>
          </p:cNvPr>
          <p:cNvPicPr>
            <a:picLocks noChangeAspect="1"/>
          </p:cNvPicPr>
          <p:nvPr/>
        </p:nvPicPr>
        <p:blipFill>
          <a:blip r:embed="rId6"/>
          <a:stretch>
            <a:fillRect/>
          </a:stretch>
        </p:blipFill>
        <p:spPr>
          <a:xfrm>
            <a:off x="6838416" y="3783475"/>
            <a:ext cx="10237205" cy="6838133"/>
          </a:xfrm>
          <a:prstGeom prst="rect">
            <a:avLst/>
          </a:prstGeom>
        </p:spPr>
      </p:pic>
    </p:spTree>
    <p:extLst>
      <p:ext uri="{BB962C8B-B14F-4D97-AF65-F5344CB8AC3E}">
        <p14:creationId xmlns:p14="http://schemas.microsoft.com/office/powerpoint/2010/main" val="277779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80" name="Google Shape;80;p12"/>
          <p:cNvSpPr txBox="1"/>
          <p:nvPr/>
        </p:nvSpPr>
        <p:spPr>
          <a:xfrm>
            <a:off x="1972737" y="2279723"/>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sp>
        <p:nvSpPr>
          <p:cNvPr id="14" name="CuadroTexto 13">
            <a:extLst>
              <a:ext uri="{FF2B5EF4-FFF2-40B4-BE49-F238E27FC236}">
                <a16:creationId xmlns:a16="http://schemas.microsoft.com/office/drawing/2014/main" id="{B3631A70-BA4F-4D3D-9F34-D4E86643CD66}"/>
              </a:ext>
            </a:extLst>
          </p:cNvPr>
          <p:cNvSpPr txBox="1"/>
          <p:nvPr/>
        </p:nvSpPr>
        <p:spPr>
          <a:xfrm>
            <a:off x="13571621" y="4955838"/>
            <a:ext cx="9865894" cy="6661824"/>
          </a:xfrm>
          <a:prstGeom prst="rect">
            <a:avLst/>
          </a:prstGeom>
          <a:noFill/>
        </p:spPr>
        <p:txBody>
          <a:bodyPr wrap="square">
            <a:spAutoFit/>
          </a:bodyPr>
          <a:lstStyle/>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Volumen: </a:t>
            </a:r>
            <a:r>
              <a:rPr lang="es-MX" sz="3600" dirty="0">
                <a:solidFill>
                  <a:schemeClr val="dk2"/>
                </a:solidFill>
                <a:latin typeface="Poppins"/>
                <a:cs typeface="Poppins"/>
              </a:rPr>
              <a:t>Referido a la masividad de los datos generados.</a:t>
            </a:r>
          </a:p>
          <a:p>
            <a:pPr marL="571500" indent="-571500" algn="just">
              <a:lnSpc>
                <a:spcPct val="150000"/>
              </a:lnSpc>
              <a:buFont typeface="Arial" panose="020B0604020202020204" pitchFamily="34" charset="0"/>
              <a:buChar char="•"/>
            </a:pPr>
            <a:endParaRPr lang="es-MX" sz="3600" b="1" dirty="0">
              <a:solidFill>
                <a:schemeClr val="dk2"/>
              </a:solidFill>
              <a:latin typeface="Poppins"/>
              <a:cs typeface="Poppins"/>
            </a:endParaRPr>
          </a:p>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Variedad: </a:t>
            </a:r>
            <a:r>
              <a:rPr lang="es-MX" sz="3600" dirty="0">
                <a:solidFill>
                  <a:schemeClr val="dk2"/>
                </a:solidFill>
                <a:latin typeface="Poppins"/>
                <a:cs typeface="Poppins"/>
              </a:rPr>
              <a:t>Diversidad en las estructuras de los datos a integrar. </a:t>
            </a:r>
          </a:p>
          <a:p>
            <a:pPr marL="571500" indent="-571500" algn="just">
              <a:lnSpc>
                <a:spcPct val="150000"/>
              </a:lnSpc>
              <a:buFont typeface="Arial" panose="020B0604020202020204" pitchFamily="34" charset="0"/>
              <a:buChar char="•"/>
            </a:pPr>
            <a:endParaRPr lang="es-MX" sz="3600" b="1" dirty="0">
              <a:solidFill>
                <a:schemeClr val="dk2"/>
              </a:solidFill>
              <a:latin typeface="Poppins"/>
              <a:cs typeface="Poppins"/>
            </a:endParaRPr>
          </a:p>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Velocidad: </a:t>
            </a:r>
            <a:r>
              <a:rPr lang="es-MX" sz="3600" dirty="0">
                <a:solidFill>
                  <a:schemeClr val="dk2"/>
                </a:solidFill>
                <a:latin typeface="Poppins"/>
                <a:cs typeface="Poppins"/>
              </a:rPr>
              <a:t>Asociado con el tiempo de procesamiento de los datos.</a:t>
            </a:r>
          </a:p>
        </p:txBody>
      </p:sp>
      <p:pic>
        <p:nvPicPr>
          <p:cNvPr id="2" name="Imagen 1">
            <a:extLst>
              <a:ext uri="{FF2B5EF4-FFF2-40B4-BE49-F238E27FC236}">
                <a16:creationId xmlns:a16="http://schemas.microsoft.com/office/drawing/2014/main" id="{3BF1E749-A790-3658-748D-390D382E7F48}"/>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4923608-C48D-1443-D197-5EA1E9958DAB}"/>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C8205CEF-1C76-9E48-EA9D-1972B3B87FA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2DD8E929-4DD8-8A20-4CD6-05AE552EF17A}"/>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028" name="Picture 4" descr="IBM y Big Data | SG Buzz">
            <a:extLst>
              <a:ext uri="{FF2B5EF4-FFF2-40B4-BE49-F238E27FC236}">
                <a16:creationId xmlns:a16="http://schemas.microsoft.com/office/drawing/2014/main" id="{4185DB9B-1CE2-FC97-87D7-DE8034F882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5330" y="4491315"/>
            <a:ext cx="9199617" cy="7700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905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p:nvPr/>
        </p:nvSpPr>
        <p:spPr>
          <a:xfrm>
            <a:off x="1396363" y="3588974"/>
            <a:ext cx="6286400" cy="1106077"/>
          </a:xfrm>
          <a:prstGeom prst="rect">
            <a:avLst/>
          </a:prstGeom>
          <a:noFill/>
          <a:ln>
            <a:noFill/>
          </a:ln>
        </p:spPr>
        <p:txBody>
          <a:bodyPr spcFirstLastPara="1" wrap="square" lIns="243800" tIns="243800" rIns="243800" bIns="243800" anchor="t" anchorCtr="0">
            <a:noAutofit/>
          </a:bodyPr>
          <a:lstStyle/>
          <a:p>
            <a:r>
              <a:rPr lang="es" sz="4000" b="1" u="sng" dirty="0">
                <a:solidFill>
                  <a:schemeClr val="dk2"/>
                </a:solidFill>
                <a:latin typeface="Roboto"/>
                <a:ea typeface="Roboto"/>
                <a:cs typeface="Roboto"/>
                <a:sym typeface="Roboto"/>
              </a:rPr>
              <a:t>Volumen</a:t>
            </a:r>
            <a:r>
              <a:rPr lang="es" sz="4000" b="1" dirty="0">
                <a:solidFill>
                  <a:schemeClr val="dk2"/>
                </a:solidFill>
                <a:latin typeface="Roboto"/>
                <a:ea typeface="Roboto"/>
                <a:cs typeface="Roboto"/>
                <a:sym typeface="Roboto"/>
              </a:rPr>
              <a:t>:</a:t>
            </a:r>
            <a:endParaRPr sz="4000" b="1" dirty="0">
              <a:solidFill>
                <a:schemeClr val="dk2"/>
              </a:solidFill>
              <a:latin typeface="Roboto"/>
              <a:ea typeface="Roboto"/>
              <a:cs typeface="Roboto"/>
              <a:sym typeface="Roboto"/>
            </a:endParaRPr>
          </a:p>
        </p:txBody>
      </p:sp>
      <p:sp>
        <p:nvSpPr>
          <p:cNvPr id="88" name="Google Shape;88;p16"/>
          <p:cNvSpPr txBox="1"/>
          <p:nvPr/>
        </p:nvSpPr>
        <p:spPr>
          <a:xfrm>
            <a:off x="1396363" y="4647853"/>
            <a:ext cx="21326680" cy="37968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“En el año 2000, se almacenaron en el mundo 800.000 petabytes. Se espera que en el año 2020, se alcancen los 35 zettabytes (ZB). Sólo Twitter genera más de 9 terabytes (TB) de datos cada día, Facebook 10 TB y algunas empresas ya generan terabytes de datos cada hora de cada día del año”. </a:t>
            </a:r>
            <a:endParaRPr sz="3600" dirty="0">
              <a:solidFill>
                <a:schemeClr val="dk2"/>
              </a:solidFill>
              <a:latin typeface="Poppins"/>
              <a:cs typeface="Poppins"/>
              <a:sym typeface="Roboto"/>
            </a:endParaRPr>
          </a:p>
        </p:txBody>
      </p:sp>
      <p:sp>
        <p:nvSpPr>
          <p:cNvPr id="5" name="Google Shape;80;p12">
            <a:extLst>
              <a:ext uri="{FF2B5EF4-FFF2-40B4-BE49-F238E27FC236}">
                <a16:creationId xmlns:a16="http://schemas.microsoft.com/office/drawing/2014/main" id="{22B70F6D-5600-4ED1-B8F5-A8302C36C657}"/>
              </a:ext>
            </a:extLst>
          </p:cNvPr>
          <p:cNvSpPr txBox="1"/>
          <p:nvPr/>
        </p:nvSpPr>
        <p:spPr>
          <a:xfrm>
            <a:off x="1674886" y="1942932"/>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20B159A6-BF34-3227-868B-E3A15E3EA821}"/>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EB202FD9-828F-25E3-649F-CD514B82A74C}"/>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BA6F6635-2E52-A193-D0F3-29B2FE70B9D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5B48900F-30E4-48B3-1CFA-77B60C3C7CFE}"/>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4098" name="Picture 2" descr="El Big Data describe el gran volumen... - Ruano Informática | Facebook">
            <a:extLst>
              <a:ext uri="{FF2B5EF4-FFF2-40B4-BE49-F238E27FC236}">
                <a16:creationId xmlns:a16="http://schemas.microsoft.com/office/drawing/2014/main" id="{6B5F951C-B89A-7BA5-14C1-165D7070E8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97956" y="7613780"/>
            <a:ext cx="6936968" cy="5832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934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p:nvPr/>
        </p:nvSpPr>
        <p:spPr>
          <a:xfrm>
            <a:off x="1323474" y="3855680"/>
            <a:ext cx="3575095" cy="1143200"/>
          </a:xfrm>
          <a:prstGeom prst="rect">
            <a:avLst/>
          </a:prstGeom>
          <a:noFill/>
          <a:ln>
            <a:noFill/>
          </a:ln>
        </p:spPr>
        <p:txBody>
          <a:bodyPr spcFirstLastPara="1" wrap="square" lIns="243800" tIns="243800" rIns="243800" bIns="243800" anchor="t" anchorCtr="0">
            <a:noAutofit/>
          </a:bodyPr>
          <a:lstStyle/>
          <a:p>
            <a:r>
              <a:rPr lang="es" sz="3600" b="1" u="sng" dirty="0">
                <a:solidFill>
                  <a:schemeClr val="dk2"/>
                </a:solidFill>
                <a:latin typeface="Poppins"/>
                <a:cs typeface="Poppins"/>
                <a:sym typeface="Roboto"/>
              </a:rPr>
              <a:t>Variedad:</a:t>
            </a:r>
            <a:endParaRPr sz="3600" b="1" u="sng" dirty="0">
              <a:solidFill>
                <a:schemeClr val="dk2"/>
              </a:solidFill>
              <a:latin typeface="Poppins"/>
              <a:cs typeface="Poppins"/>
              <a:sym typeface="Roboto"/>
            </a:endParaRPr>
          </a:p>
        </p:txBody>
      </p:sp>
      <p:sp>
        <p:nvSpPr>
          <p:cNvPr id="96" name="Google Shape;96;p17"/>
          <p:cNvSpPr txBox="1"/>
          <p:nvPr/>
        </p:nvSpPr>
        <p:spPr>
          <a:xfrm>
            <a:off x="969335" y="5521757"/>
            <a:ext cx="10926400" cy="63680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La gran mayoría de las fuentes de datos tradicionales son originadas por datos del tipo estructurados, datos con formato o esquema fijo, que poseen campos fijos y bien definidos. </a:t>
            </a: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0C9979C2-6153-43F5-8EC4-3EE8D90AE3FD}"/>
              </a:ext>
            </a:extLst>
          </p:cNvPr>
          <p:cNvSpPr txBox="1"/>
          <p:nvPr/>
        </p:nvSpPr>
        <p:spPr>
          <a:xfrm>
            <a:off x="1323474" y="2118030"/>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5EF950B6-D59C-F027-AAB4-73EB0FDFD667}"/>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996A280-09DC-1103-9138-16C4A556E5A2}"/>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FBE095D9-0B0E-0C96-5BBA-7AE12B3C3011}"/>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D002D481-F539-FEE7-AFF1-33C5FEE7BB10}"/>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0" name="Imagen 9">
            <a:extLst>
              <a:ext uri="{FF2B5EF4-FFF2-40B4-BE49-F238E27FC236}">
                <a16:creationId xmlns:a16="http://schemas.microsoft.com/office/drawing/2014/main" id="{DDB02562-B044-0FDA-9316-9835A41568B9}"/>
              </a:ext>
            </a:extLst>
          </p:cNvPr>
          <p:cNvPicPr>
            <a:picLocks noChangeAspect="1"/>
          </p:cNvPicPr>
          <p:nvPr/>
        </p:nvPicPr>
        <p:blipFill>
          <a:blip r:embed="rId6"/>
          <a:stretch>
            <a:fillRect/>
          </a:stretch>
        </p:blipFill>
        <p:spPr>
          <a:xfrm>
            <a:off x="14246127" y="9532678"/>
            <a:ext cx="7810500" cy="2600325"/>
          </a:xfrm>
          <a:prstGeom prst="rect">
            <a:avLst/>
          </a:prstGeom>
        </p:spPr>
      </p:pic>
      <p:pic>
        <p:nvPicPr>
          <p:cNvPr id="11" name="Imagen 10">
            <a:extLst>
              <a:ext uri="{FF2B5EF4-FFF2-40B4-BE49-F238E27FC236}">
                <a16:creationId xmlns:a16="http://schemas.microsoft.com/office/drawing/2014/main" id="{8FB99BC4-D6C3-E465-C797-F846DD3E3C18}"/>
              </a:ext>
            </a:extLst>
          </p:cNvPr>
          <p:cNvPicPr>
            <a:picLocks noChangeAspect="1"/>
          </p:cNvPicPr>
          <p:nvPr/>
        </p:nvPicPr>
        <p:blipFill>
          <a:blip r:embed="rId7"/>
          <a:stretch>
            <a:fillRect/>
          </a:stretch>
        </p:blipFill>
        <p:spPr>
          <a:xfrm>
            <a:off x="13083225" y="4637729"/>
            <a:ext cx="9775280" cy="3032035"/>
          </a:xfrm>
          <a:prstGeom prst="rect">
            <a:avLst/>
          </a:prstGeom>
        </p:spPr>
      </p:pic>
    </p:spTree>
    <p:extLst>
      <p:ext uri="{BB962C8B-B14F-4D97-AF65-F5344CB8AC3E}">
        <p14:creationId xmlns:p14="http://schemas.microsoft.com/office/powerpoint/2010/main" val="717511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1104653" y="3055848"/>
            <a:ext cx="3996735" cy="1143200"/>
          </a:xfrm>
          <a:prstGeom prst="rect">
            <a:avLst/>
          </a:prstGeom>
          <a:noFill/>
          <a:ln>
            <a:noFill/>
          </a:ln>
        </p:spPr>
        <p:txBody>
          <a:bodyPr spcFirstLastPara="1" wrap="square" lIns="243800" tIns="243800" rIns="243800" bIns="243800" anchor="t" anchorCtr="0">
            <a:noAutofit/>
          </a:bodyPr>
          <a:lstStyle/>
          <a:p>
            <a:r>
              <a:rPr lang="es" sz="3600" b="1" dirty="0">
                <a:solidFill>
                  <a:schemeClr val="dk2"/>
                </a:solidFill>
                <a:latin typeface="Poppins"/>
                <a:cs typeface="Poppins"/>
                <a:sym typeface="Roboto"/>
              </a:rPr>
              <a:t>Variedad:</a:t>
            </a:r>
            <a:endParaRPr sz="3600" b="1" dirty="0">
              <a:solidFill>
                <a:schemeClr val="dk2"/>
              </a:solidFill>
              <a:latin typeface="Poppins"/>
              <a:cs typeface="Poppins"/>
              <a:sym typeface="Roboto"/>
            </a:endParaRPr>
          </a:p>
        </p:txBody>
      </p:sp>
      <p:sp>
        <p:nvSpPr>
          <p:cNvPr id="110" name="Google Shape;110;p19"/>
          <p:cNvSpPr txBox="1"/>
          <p:nvPr/>
        </p:nvSpPr>
        <p:spPr>
          <a:xfrm>
            <a:off x="1367720" y="4180911"/>
            <a:ext cx="8943847" cy="775256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no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Son las estructuras de datos más difíciles de manejar, podemos encontrar entre los datos no estructurados más conocidos: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Documentos PDF o Word.</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Audios y videos.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Correos electrónicos.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Ficheros multimedia de imagen.</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Artículos y textos, entre otros</a:t>
            </a:r>
            <a:r>
              <a:rPr lang="es" sz="3733" dirty="0">
                <a:solidFill>
                  <a:schemeClr val="dk2"/>
                </a:solidFill>
                <a:latin typeface="Roboto"/>
                <a:ea typeface="Roboto"/>
                <a:cs typeface="Roboto"/>
                <a:sym typeface="Roboto"/>
              </a:rPr>
              <a:t>.</a:t>
            </a:r>
            <a:endParaRPr sz="3733"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r>
              <a:rPr lang="es" sz="4000" dirty="0">
                <a:solidFill>
                  <a:schemeClr val="dk2"/>
                </a:solidFill>
                <a:latin typeface="Roboto"/>
                <a:ea typeface="Roboto"/>
                <a:cs typeface="Roboto"/>
                <a:sym typeface="Roboto"/>
              </a:rPr>
              <a:t> </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3B97141F-BDED-4D8B-A520-E6D3E059649C}"/>
              </a:ext>
            </a:extLst>
          </p:cNvPr>
          <p:cNvSpPr txBox="1"/>
          <p:nvPr/>
        </p:nvSpPr>
        <p:spPr>
          <a:xfrm>
            <a:off x="1057234" y="1817930"/>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BE67ED16-0557-3E43-13B7-7528CAD3AB2F}"/>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A705F28-C7CE-CEBA-2DDA-815AD5358AEE}"/>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BB0918DC-FC26-0AA6-3A97-B0A13397429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C11EC156-E3C9-D1BB-5FB6-A22F05007D75}"/>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Picture 2" descr="▶️Big Data: Todo lo que necesitas saber">
            <a:extLst>
              <a:ext uri="{FF2B5EF4-FFF2-40B4-BE49-F238E27FC236}">
                <a16:creationId xmlns:a16="http://schemas.microsoft.com/office/drawing/2014/main" id="{4ED4FB23-17BD-B289-6874-D65826E51F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8073" y="4881081"/>
            <a:ext cx="12574286" cy="7752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14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p:nvPr/>
        </p:nvSpPr>
        <p:spPr>
          <a:xfrm>
            <a:off x="1139859" y="3192874"/>
            <a:ext cx="3274841" cy="1143200"/>
          </a:xfrm>
          <a:prstGeom prst="rect">
            <a:avLst/>
          </a:prstGeom>
          <a:noFill/>
          <a:ln>
            <a:noFill/>
          </a:ln>
        </p:spPr>
        <p:txBody>
          <a:bodyPr spcFirstLastPara="1" wrap="square" lIns="243800" tIns="243800" rIns="243800" bIns="243800" anchor="t" anchorCtr="0">
            <a:noAutofit/>
          </a:bodyPr>
          <a:lstStyle/>
          <a:p>
            <a:r>
              <a:rPr lang="es" sz="3600" b="1" dirty="0">
                <a:solidFill>
                  <a:schemeClr val="dk2"/>
                </a:solidFill>
                <a:latin typeface="Poppins"/>
                <a:cs typeface="Poppins"/>
                <a:sym typeface="Roboto"/>
              </a:rPr>
              <a:t>Variedad:</a:t>
            </a:r>
            <a:endParaRPr sz="3600" b="1" dirty="0">
              <a:solidFill>
                <a:schemeClr val="dk2"/>
              </a:solidFill>
              <a:latin typeface="Poppins"/>
              <a:cs typeface="Poppins"/>
              <a:sym typeface="Roboto"/>
            </a:endParaRPr>
          </a:p>
        </p:txBody>
      </p:sp>
      <p:sp>
        <p:nvSpPr>
          <p:cNvPr id="103" name="Google Shape;103;p18"/>
          <p:cNvSpPr txBox="1"/>
          <p:nvPr/>
        </p:nvSpPr>
        <p:spPr>
          <a:xfrm>
            <a:off x="1062920" y="4000499"/>
            <a:ext cx="10214680" cy="836216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Semi -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Son un híbrido entre los datos estructurados y los datos no estructurados, podríamos decir entonces de manera sencilla, que no presentan una estructura perfectamente definida como los datos estructurados, pero sí presentan una organización definida en sus metadatos donde describen los objetos y sus relaciones. </a:t>
            </a:r>
            <a:endParaRPr sz="3600" dirty="0">
              <a:solidFill>
                <a:schemeClr val="dk2"/>
              </a:solidFill>
              <a:latin typeface="Poppins"/>
              <a:cs typeface="Poppins"/>
              <a:sym typeface="Roboto"/>
            </a:endParaRPr>
          </a:p>
          <a:p>
            <a:pPr algn="just">
              <a:lnSpc>
                <a:spcPct val="150000"/>
              </a:lnSpc>
            </a:pPr>
            <a:r>
              <a:rPr lang="es" sz="4000" dirty="0">
                <a:solidFill>
                  <a:schemeClr val="dk2"/>
                </a:solidFill>
                <a:latin typeface="Roboto"/>
                <a:ea typeface="Roboto"/>
                <a:cs typeface="Roboto"/>
                <a:sym typeface="Roboto"/>
              </a:rPr>
              <a:t> </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1CA1CF8E-2B16-40DD-8044-CE63E8CE13DB}"/>
              </a:ext>
            </a:extLst>
          </p:cNvPr>
          <p:cNvSpPr txBox="1"/>
          <p:nvPr/>
        </p:nvSpPr>
        <p:spPr>
          <a:xfrm>
            <a:off x="1139859" y="1860985"/>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B97944F7-0CCC-532C-F78F-E600547E847C}"/>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1BD6257F-DB1D-FB8A-3060-83D75B407A2B}"/>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7818FB6A-6D2A-D2C9-90BA-840C9DB21C3A}"/>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2E645F61-D04A-310A-7FEA-F35196DECA07}"/>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 name="Imagen 7">
            <a:extLst>
              <a:ext uri="{FF2B5EF4-FFF2-40B4-BE49-F238E27FC236}">
                <a16:creationId xmlns:a16="http://schemas.microsoft.com/office/drawing/2014/main" id="{BAB0619E-BFC0-CFF5-67EA-60452B6FA7F8}"/>
              </a:ext>
            </a:extLst>
          </p:cNvPr>
          <p:cNvPicPr>
            <a:picLocks noChangeAspect="1"/>
          </p:cNvPicPr>
          <p:nvPr/>
        </p:nvPicPr>
        <p:blipFill>
          <a:blip r:embed="rId6"/>
          <a:stretch>
            <a:fillRect/>
          </a:stretch>
        </p:blipFill>
        <p:spPr>
          <a:xfrm>
            <a:off x="12863155" y="4121963"/>
            <a:ext cx="10461100" cy="7733052"/>
          </a:xfrm>
          <a:prstGeom prst="rect">
            <a:avLst/>
          </a:prstGeom>
        </p:spPr>
      </p:pic>
    </p:spTree>
    <p:extLst>
      <p:ext uri="{BB962C8B-B14F-4D97-AF65-F5344CB8AC3E}">
        <p14:creationId xmlns:p14="http://schemas.microsoft.com/office/powerpoint/2010/main" val="2458059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9" name="Google Shape;89;p16"/>
          <p:cNvSpPr txBox="1"/>
          <p:nvPr/>
        </p:nvSpPr>
        <p:spPr>
          <a:xfrm>
            <a:off x="1057234" y="5350524"/>
            <a:ext cx="22272705" cy="30616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a:t>
            </a:r>
            <a:r>
              <a:rPr lang="es-ES" sz="3600" dirty="0">
                <a:solidFill>
                  <a:srgbClr val="374151"/>
                </a:solidFill>
                <a:latin typeface="Söhne"/>
                <a:cs typeface="Poppins"/>
                <a:sym typeface="Roboto"/>
              </a:rPr>
              <a:t>S</a:t>
            </a:r>
            <a:r>
              <a:rPr lang="es-ES" sz="3600" b="0" i="0" dirty="0">
                <a:solidFill>
                  <a:srgbClr val="374151"/>
                </a:solidFill>
                <a:effectLst/>
                <a:latin typeface="Söhne"/>
              </a:rPr>
              <a:t>e refiere a la capacidad de procesar y analizar grandes volúmenes de datos de manera rápida y eficiente.</a:t>
            </a:r>
            <a:r>
              <a:rPr lang="es" sz="3600" dirty="0">
                <a:solidFill>
                  <a:schemeClr val="dk2"/>
                </a:solidFill>
                <a:latin typeface="Poppins"/>
                <a:cs typeface="Poppins"/>
                <a:sym typeface="Roboto"/>
              </a:rPr>
              <a:t>”. </a:t>
            </a:r>
            <a:endParaRPr sz="3600" dirty="0">
              <a:solidFill>
                <a:schemeClr val="dk2"/>
              </a:solidFill>
              <a:latin typeface="Poppins"/>
              <a:cs typeface="Poppins"/>
              <a:sym typeface="Roboto"/>
            </a:endParaRPr>
          </a:p>
        </p:txBody>
      </p:sp>
      <p:sp>
        <p:nvSpPr>
          <p:cNvPr id="90" name="Google Shape;90;p16"/>
          <p:cNvSpPr txBox="1"/>
          <p:nvPr/>
        </p:nvSpPr>
        <p:spPr>
          <a:xfrm>
            <a:off x="1260434" y="3757189"/>
            <a:ext cx="6286400" cy="1673600"/>
          </a:xfrm>
          <a:prstGeom prst="rect">
            <a:avLst/>
          </a:prstGeom>
          <a:noFill/>
          <a:ln>
            <a:noFill/>
          </a:ln>
        </p:spPr>
        <p:txBody>
          <a:bodyPr spcFirstLastPara="1" wrap="square" lIns="243800" tIns="243800" rIns="243800" bIns="243800" anchor="t" anchorCtr="0">
            <a:noAutofit/>
          </a:bodyPr>
          <a:lstStyle/>
          <a:p>
            <a:r>
              <a:rPr lang="es" sz="3600" u="sng" dirty="0">
                <a:solidFill>
                  <a:schemeClr val="dk2"/>
                </a:solidFill>
                <a:latin typeface="Poppins"/>
                <a:cs typeface="Poppins"/>
                <a:sym typeface="Roboto"/>
              </a:rPr>
              <a:t>Velocidad:</a:t>
            </a:r>
            <a:endParaRPr sz="3600" u="sng" dirty="0">
              <a:solidFill>
                <a:schemeClr val="dk2"/>
              </a:solidFill>
              <a:latin typeface="Poppins"/>
              <a:cs typeface="Poppins"/>
              <a:sym typeface="Roboto"/>
            </a:endParaRPr>
          </a:p>
        </p:txBody>
      </p:sp>
      <p:sp>
        <p:nvSpPr>
          <p:cNvPr id="5" name="Google Shape;80;p12">
            <a:extLst>
              <a:ext uri="{FF2B5EF4-FFF2-40B4-BE49-F238E27FC236}">
                <a16:creationId xmlns:a16="http://schemas.microsoft.com/office/drawing/2014/main" id="{5011CF44-3803-47E8-BA87-14CEBB3C013E}"/>
              </a:ext>
            </a:extLst>
          </p:cNvPr>
          <p:cNvSpPr txBox="1"/>
          <p:nvPr/>
        </p:nvSpPr>
        <p:spPr>
          <a:xfrm>
            <a:off x="1260434" y="2290537"/>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67B3AE73-E7A2-61B3-8A26-53FCE44CACE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51BDFDB-8F55-1163-F4A8-00D2EBC0F750}"/>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6268F87-4178-D470-D3D0-8B1653871FE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FE630F3A-CC6F-D0B0-EF75-3FB342ACC86C}"/>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170" name="Picture 2">
            <a:extLst>
              <a:ext uri="{FF2B5EF4-FFF2-40B4-BE49-F238E27FC236}">
                <a16:creationId xmlns:a16="http://schemas.microsoft.com/office/drawing/2014/main" id="{E96A78B6-1D42-48F1-BF4F-6D2DAC0D71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64962" y="8913268"/>
            <a:ext cx="8065830" cy="403291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47BB7B4-63D8-041E-5E9D-F1795065F58C}"/>
              </a:ext>
            </a:extLst>
          </p:cNvPr>
          <p:cNvSpPr txBox="1"/>
          <p:nvPr/>
        </p:nvSpPr>
        <p:spPr>
          <a:xfrm>
            <a:off x="1956383" y="8621401"/>
            <a:ext cx="12195110" cy="2308324"/>
          </a:xfrm>
          <a:prstGeom prst="rect">
            <a:avLst/>
          </a:prstGeom>
          <a:noFill/>
        </p:spPr>
        <p:txBody>
          <a:bodyPr wrap="square">
            <a:spAutoFit/>
          </a:bodyPr>
          <a:lstStyle/>
          <a:p>
            <a:r>
              <a:rPr lang="es-ES" sz="3600" b="0" i="0" dirty="0">
                <a:solidFill>
                  <a:srgbClr val="374151"/>
                </a:solidFill>
                <a:effectLst/>
                <a:latin typeface="Söhne"/>
              </a:rPr>
              <a:t>Velocidad de </a:t>
            </a:r>
            <a:r>
              <a:rPr lang="es-ES" sz="3600" dirty="0">
                <a:solidFill>
                  <a:srgbClr val="374151"/>
                </a:solidFill>
                <a:latin typeface="Söhne"/>
              </a:rPr>
              <a:t>adquisición</a:t>
            </a:r>
            <a:r>
              <a:rPr lang="es-ES" sz="3600" b="0" i="0" dirty="0">
                <a:solidFill>
                  <a:srgbClr val="374151"/>
                </a:solidFill>
                <a:effectLst/>
                <a:latin typeface="Söhne"/>
              </a:rPr>
              <a:t> de datos</a:t>
            </a:r>
            <a:endParaRPr lang="es-ES" sz="3600" dirty="0">
              <a:solidFill>
                <a:srgbClr val="374151"/>
              </a:solidFill>
              <a:latin typeface="Söhne"/>
            </a:endParaRPr>
          </a:p>
          <a:p>
            <a:endParaRPr lang="es-ES" sz="3600" dirty="0">
              <a:solidFill>
                <a:srgbClr val="374151"/>
              </a:solidFill>
              <a:latin typeface="Söhne"/>
            </a:endParaRPr>
          </a:p>
          <a:p>
            <a:endParaRPr lang="es-ES" sz="3600" dirty="0">
              <a:solidFill>
                <a:srgbClr val="374151"/>
              </a:solidFill>
              <a:latin typeface="Söhne"/>
            </a:endParaRPr>
          </a:p>
          <a:p>
            <a:r>
              <a:rPr lang="es-ES" sz="3600" b="0" i="0" dirty="0">
                <a:solidFill>
                  <a:srgbClr val="374151"/>
                </a:solidFill>
                <a:effectLst/>
                <a:latin typeface="Söhne"/>
              </a:rPr>
              <a:t>Velocidad de procesamiento y análisis</a:t>
            </a:r>
            <a:endParaRPr lang="es-MX" sz="3600" dirty="0"/>
          </a:p>
        </p:txBody>
      </p:sp>
    </p:spTree>
    <p:extLst>
      <p:ext uri="{BB962C8B-B14F-4D97-AF65-F5344CB8AC3E}">
        <p14:creationId xmlns:p14="http://schemas.microsoft.com/office/powerpoint/2010/main" val="4157565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7" name="6 CuadroTexto"/>
          <p:cNvSpPr txBox="1"/>
          <p:nvPr/>
        </p:nvSpPr>
        <p:spPr>
          <a:xfrm>
            <a:off x="2865477" y="4107961"/>
            <a:ext cx="13108532" cy="2421112"/>
          </a:xfrm>
          <a:prstGeom prst="rect">
            <a:avLst/>
          </a:prstGeom>
          <a:noFill/>
        </p:spPr>
        <p:txBody>
          <a:bodyPr wrap="square" lIns="182880" tIns="91440" rIns="182880" bIns="91440" rtlCol="0">
            <a:spAutoFit/>
          </a:bodyPr>
          <a:lstStyle/>
          <a:p>
            <a:pPr>
              <a:lnSpc>
                <a:spcPct val="150000"/>
              </a:lnSpc>
            </a:pPr>
            <a:r>
              <a:rPr lang="es-ES" sz="3600" dirty="0">
                <a:solidFill>
                  <a:schemeClr val="dk2"/>
                </a:solidFill>
                <a:latin typeface="Poppins"/>
                <a:cs typeface="Poppins"/>
              </a:rPr>
              <a:t>Se agregan a las anteriores V´s, las siguientes características:</a:t>
            </a:r>
          </a:p>
          <a:p>
            <a:endParaRPr lang="es-ES" sz="3733" dirty="0"/>
          </a:p>
        </p:txBody>
      </p:sp>
      <p:sp>
        <p:nvSpPr>
          <p:cNvPr id="8" name="Google Shape;80;p12">
            <a:extLst>
              <a:ext uri="{FF2B5EF4-FFF2-40B4-BE49-F238E27FC236}">
                <a16:creationId xmlns:a16="http://schemas.microsoft.com/office/drawing/2014/main" id="{DB693DA0-AB27-48B7-A3C2-D4FF8FAC09DA}"/>
              </a:ext>
            </a:extLst>
          </p:cNvPr>
          <p:cNvSpPr txBox="1"/>
          <p:nvPr/>
        </p:nvSpPr>
        <p:spPr>
          <a:xfrm>
            <a:off x="1235874" y="2205551"/>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7 V del Big Data</a:t>
            </a:r>
            <a:endParaRPr dirty="0"/>
          </a:p>
        </p:txBody>
      </p:sp>
      <p:pic>
        <p:nvPicPr>
          <p:cNvPr id="2" name="Imagen 1">
            <a:extLst>
              <a:ext uri="{FF2B5EF4-FFF2-40B4-BE49-F238E27FC236}">
                <a16:creationId xmlns:a16="http://schemas.microsoft.com/office/drawing/2014/main" id="{26F977E9-8CD8-5993-00F7-372E726A249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16DE16A-FBE9-1277-7A09-0038D21C607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08C7808-CEAD-A396-D2DB-ED635DF62D70}"/>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AF671FB-2AB2-B6B1-FF6C-1093BCE34F13}"/>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3074" name="Picture 2" descr="Big Data, Introducción a Conceptos y Terminología">
            <a:extLst>
              <a:ext uri="{FF2B5EF4-FFF2-40B4-BE49-F238E27FC236}">
                <a16:creationId xmlns:a16="http://schemas.microsoft.com/office/drawing/2014/main" id="{4B17A9EB-9DEB-2A0F-FC58-832BDAEE65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498" y="6529073"/>
            <a:ext cx="17495469" cy="5224076"/>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94D14491-5007-3325-371F-1EEC0D4E94DB}"/>
              </a:ext>
            </a:extLst>
          </p:cNvPr>
          <p:cNvSpPr txBox="1"/>
          <p:nvPr/>
        </p:nvSpPr>
        <p:spPr>
          <a:xfrm>
            <a:off x="19368364" y="7472192"/>
            <a:ext cx="4367794" cy="3337837"/>
          </a:xfrm>
          <a:prstGeom prst="rect">
            <a:avLst/>
          </a:prstGeom>
          <a:noFill/>
        </p:spPr>
        <p:txBody>
          <a:bodyPr wrap="square">
            <a:spAutoFit/>
          </a:bodyPr>
          <a:lstStyle/>
          <a:p>
            <a:pPr marL="571508" indent="-571508">
              <a:lnSpc>
                <a:spcPct val="150000"/>
              </a:lnSpc>
              <a:buFont typeface="Arial" panose="020B0604020202020204" pitchFamily="34" charset="0"/>
              <a:buChar char="•"/>
            </a:pPr>
            <a:r>
              <a:rPr lang="es-ES" sz="3600" dirty="0">
                <a:solidFill>
                  <a:schemeClr val="dk2"/>
                </a:solidFill>
                <a:latin typeface="Poppins"/>
                <a:cs typeface="Poppins"/>
              </a:rPr>
              <a:t>Veracidad.</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Viabilidad.</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Visualización.</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Valor.</a:t>
            </a:r>
          </a:p>
        </p:txBody>
      </p:sp>
    </p:spTree>
    <p:extLst>
      <p:ext uri="{BB962C8B-B14F-4D97-AF65-F5344CB8AC3E}">
        <p14:creationId xmlns:p14="http://schemas.microsoft.com/office/powerpoint/2010/main" val="1424425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6153379" y="160263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n-US" sz="7200" b="1" i="1" dirty="0" err="1">
                <a:solidFill>
                  <a:schemeClr val="dk2"/>
                </a:solidFill>
                <a:latin typeface="Montserrat"/>
                <a:ea typeface="Montserrat"/>
                <a:cs typeface="Montserrat"/>
                <a:sym typeface="Montserrat"/>
              </a:rPr>
              <a:t>Fases</a:t>
            </a:r>
            <a:r>
              <a:rPr lang="en-US" sz="7200" b="1" i="1" dirty="0">
                <a:solidFill>
                  <a:schemeClr val="dk2"/>
                </a:solidFill>
                <a:latin typeface="Montserrat"/>
                <a:ea typeface="Montserrat"/>
                <a:cs typeface="Montserrat"/>
                <a:sym typeface="Montserrat"/>
              </a:rPr>
              <a:t> de un Proyecto de Big Data</a:t>
            </a:r>
            <a:endParaRPr b="1" i="1" dirty="0"/>
          </a:p>
        </p:txBody>
      </p:sp>
      <p:sp>
        <p:nvSpPr>
          <p:cNvPr id="6" name="Google Shape;72;p14">
            <a:extLst>
              <a:ext uri="{FF2B5EF4-FFF2-40B4-BE49-F238E27FC236}">
                <a16:creationId xmlns:a16="http://schemas.microsoft.com/office/drawing/2014/main" id="{83F7F8AE-31ED-43A5-8946-39501E48183D}"/>
              </a:ext>
            </a:extLst>
          </p:cNvPr>
          <p:cNvSpPr txBox="1">
            <a:spLocks/>
          </p:cNvSpPr>
          <p:nvPr/>
        </p:nvSpPr>
        <p:spPr>
          <a:xfrm>
            <a:off x="6269267" y="10433863"/>
            <a:ext cx="14714391" cy="3848000"/>
          </a:xfrm>
          <a:prstGeom prst="rect">
            <a:avLst/>
          </a:prstGeom>
        </p:spPr>
        <p:txBody>
          <a:bodyPr spcFirstLastPara="1" wrap="square" lIns="243800" tIns="243800" rIns="243800" bIns="2438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lr>
                <a:schemeClr val="bg2"/>
              </a:buClr>
            </a:pPr>
            <a:r>
              <a:rPr lang="es-MX" sz="3733" i="1" dirty="0"/>
              <a:t>“</a:t>
            </a:r>
            <a:r>
              <a:rPr lang="es-MX" sz="3600" dirty="0">
                <a:solidFill>
                  <a:schemeClr val="dk2"/>
                </a:solidFill>
                <a:latin typeface="Poppins"/>
                <a:cs typeface="Poppins"/>
              </a:rPr>
              <a:t>La implementación de una solución de Big Data, consiste en la ejecución del ciclo de vida estándar asociado a todo proyecto de Big Data”.</a:t>
            </a:r>
          </a:p>
          <a:p>
            <a:pPr marL="171450" indent="-171450" algn="just">
              <a:lnSpc>
                <a:spcPct val="150000"/>
              </a:lnSpc>
              <a:buClr>
                <a:schemeClr val="bg2"/>
              </a:buClr>
              <a:buFont typeface="Arial" panose="020B0604020202020204" pitchFamily="34" charset="0"/>
              <a:buChar char="•"/>
            </a:pPr>
            <a:endParaRPr lang="es-MX" sz="3600" b="1" dirty="0">
              <a:solidFill>
                <a:schemeClr val="dk2"/>
              </a:solidFill>
              <a:latin typeface="Poppins"/>
              <a:cs typeface="Poppins"/>
            </a:endParaRPr>
          </a:p>
          <a:p>
            <a:pPr>
              <a:spcBef>
                <a:spcPts val="4267"/>
              </a:spcBef>
              <a:spcAft>
                <a:spcPts val="4267"/>
              </a:spcAft>
            </a:pPr>
            <a:endParaRPr lang="es-MX" dirty="0"/>
          </a:p>
        </p:txBody>
      </p:sp>
      <p:pic>
        <p:nvPicPr>
          <p:cNvPr id="7" name="Google Shape;74;p14">
            <a:extLst>
              <a:ext uri="{FF2B5EF4-FFF2-40B4-BE49-F238E27FC236}">
                <a16:creationId xmlns:a16="http://schemas.microsoft.com/office/drawing/2014/main" id="{931A3401-5A1A-4131-8275-EFBA336600E2}"/>
              </a:ext>
            </a:extLst>
          </p:cNvPr>
          <p:cNvPicPr preferRelativeResize="0"/>
          <p:nvPr/>
        </p:nvPicPr>
        <p:blipFill>
          <a:blip r:embed="rId3">
            <a:alphaModFix/>
          </a:blip>
          <a:stretch>
            <a:fillRect/>
          </a:stretch>
        </p:blipFill>
        <p:spPr>
          <a:xfrm>
            <a:off x="10370189" y="3565068"/>
            <a:ext cx="6512545" cy="6585863"/>
          </a:xfrm>
          <a:prstGeom prst="rect">
            <a:avLst/>
          </a:prstGeom>
          <a:noFill/>
          <a:ln>
            <a:noFill/>
          </a:ln>
        </p:spPr>
      </p:pic>
      <p:pic>
        <p:nvPicPr>
          <p:cNvPr id="2" name="Imagen 1">
            <a:extLst>
              <a:ext uri="{FF2B5EF4-FFF2-40B4-BE49-F238E27FC236}">
                <a16:creationId xmlns:a16="http://schemas.microsoft.com/office/drawing/2014/main" id="{F4A9FEA5-0D74-8544-8616-A18DD99579E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024749E2-2CFD-AF25-9D74-15E3894FD87A}"/>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FC10C6B0-5F94-942F-8D2E-89FB5893E26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D26D985-B655-4F20-B129-3D6BD3E5E69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600783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Fases</a:t>
            </a:r>
            <a:r>
              <a:rPr lang="en-US" dirty="0">
                <a:sym typeface="Montserrat"/>
              </a:rPr>
              <a:t> de un Proyecto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194" name="Picture 2" descr="Observatorio BI &amp; Analytics: Fase de Análisis de Big Data">
            <a:extLst>
              <a:ext uri="{FF2B5EF4-FFF2-40B4-BE49-F238E27FC236}">
                <a16:creationId xmlns:a16="http://schemas.microsoft.com/office/drawing/2014/main" id="{40A921C2-0600-E967-4B59-C01E759312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452" y="3593837"/>
            <a:ext cx="18146689" cy="8988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980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 name="Imagen 7">
            <a:extLst>
              <a:ext uri="{FF2B5EF4-FFF2-40B4-BE49-F238E27FC236}">
                <a16:creationId xmlns:a16="http://schemas.microsoft.com/office/drawing/2014/main" id="{7F0811E3-F675-44AC-E383-91E90ED45B6D}"/>
              </a:ext>
            </a:extLst>
          </p:cNvPr>
          <p:cNvPicPr>
            <a:picLocks noChangeAspect="1"/>
          </p:cNvPicPr>
          <p:nvPr/>
        </p:nvPicPr>
        <p:blipFill>
          <a:blip r:embed="rId6"/>
          <a:stretch>
            <a:fillRect/>
          </a:stretch>
        </p:blipFill>
        <p:spPr>
          <a:xfrm>
            <a:off x="4341666" y="4561094"/>
            <a:ext cx="15108138" cy="7542676"/>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646331"/>
          </a:xfrm>
          <a:prstGeom prst="rect">
            <a:avLst/>
          </a:prstGeom>
          <a:noFill/>
        </p:spPr>
        <p:txBody>
          <a:bodyPr wrap="square">
            <a:spAutoFit/>
          </a:bodyPr>
          <a:lstStyle/>
          <a:p>
            <a:r>
              <a:rPr lang="es-ES" sz="3600" b="0" i="0" dirty="0">
                <a:solidFill>
                  <a:srgbClr val="374151"/>
                </a:solidFill>
                <a:effectLst/>
                <a:latin typeface="Söhne"/>
              </a:rPr>
              <a:t>Modelos Sintéticos</a:t>
            </a:r>
            <a:endParaRPr lang="es-MX" sz="3600" dirty="0"/>
          </a:p>
        </p:txBody>
      </p:sp>
    </p:spTree>
    <p:extLst>
      <p:ext uri="{BB962C8B-B14F-4D97-AF65-F5344CB8AC3E}">
        <p14:creationId xmlns:p14="http://schemas.microsoft.com/office/powerpoint/2010/main" val="1554256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707886"/>
          </a:xfrm>
          <a:prstGeom prst="rect">
            <a:avLst/>
          </a:prstGeom>
          <a:noFill/>
        </p:spPr>
        <p:txBody>
          <a:bodyPr wrap="square">
            <a:spAutoFit/>
          </a:bodyPr>
          <a:lstStyle/>
          <a:p>
            <a:r>
              <a:rPr lang="es-ES" sz="4000" b="1" i="0" dirty="0">
                <a:solidFill>
                  <a:srgbClr val="374151"/>
                </a:solidFill>
                <a:effectLst/>
                <a:latin typeface="Söhne"/>
              </a:rPr>
              <a:t>Modelos Sintéticos</a:t>
            </a:r>
            <a:endParaRPr lang="es-MX" sz="4000" b="1" dirty="0"/>
          </a:p>
        </p:txBody>
      </p:sp>
      <p:sp>
        <p:nvSpPr>
          <p:cNvPr id="9" name="CuadroTexto 8">
            <a:extLst>
              <a:ext uri="{FF2B5EF4-FFF2-40B4-BE49-F238E27FC236}">
                <a16:creationId xmlns:a16="http://schemas.microsoft.com/office/drawing/2014/main" id="{241358EE-8C13-66A5-8F77-C2D0167F2C49}"/>
              </a:ext>
            </a:extLst>
          </p:cNvPr>
          <p:cNvSpPr txBox="1"/>
          <p:nvPr/>
        </p:nvSpPr>
        <p:spPr>
          <a:xfrm>
            <a:off x="3095995" y="5246417"/>
            <a:ext cx="12098016" cy="3416320"/>
          </a:xfrm>
          <a:prstGeom prst="rect">
            <a:avLst/>
          </a:prstGeom>
          <a:noFill/>
        </p:spPr>
        <p:txBody>
          <a:bodyPr wrap="square">
            <a:spAutoFit/>
          </a:bodyPr>
          <a:lstStyle/>
          <a:p>
            <a:pPr algn="l"/>
            <a:r>
              <a:rPr lang="es-ES" sz="3600" b="1" i="0" dirty="0">
                <a:solidFill>
                  <a:srgbClr val="525252"/>
                </a:solidFill>
                <a:effectLst/>
                <a:latin typeface="NVIDIA-APAC"/>
              </a:rPr>
              <a:t>Datos Aumentados y Anonimizados Frente a Datos Sintéticos</a:t>
            </a:r>
          </a:p>
          <a:p>
            <a:pPr algn="l"/>
            <a:endParaRPr lang="es-ES" sz="3600" b="1" dirty="0">
              <a:solidFill>
                <a:srgbClr val="525252"/>
              </a:solidFill>
              <a:latin typeface="NVIDIA-APAC"/>
            </a:endParaRPr>
          </a:p>
          <a:p>
            <a:pPr algn="l"/>
            <a:r>
              <a:rPr lang="es-ES" sz="3600" b="1" i="0" dirty="0">
                <a:solidFill>
                  <a:srgbClr val="525252"/>
                </a:solidFill>
                <a:effectLst/>
                <a:latin typeface="NVIDIA-APAC"/>
              </a:rPr>
              <a:t>¿Por Qué Son Tan Importantes los Datos Sintéticos?</a:t>
            </a:r>
          </a:p>
          <a:p>
            <a:pPr algn="l"/>
            <a:endParaRPr lang="es-ES" sz="3600" b="1" dirty="0">
              <a:solidFill>
                <a:srgbClr val="525252"/>
              </a:solidFill>
              <a:latin typeface="NVIDIA-APAC"/>
            </a:endParaRPr>
          </a:p>
          <a:p>
            <a:r>
              <a:rPr lang="es-ES" sz="3600" b="1" i="0" dirty="0">
                <a:solidFill>
                  <a:srgbClr val="525252"/>
                </a:solidFill>
                <a:effectLst/>
                <a:latin typeface="NVIDIA-APAC"/>
              </a:rPr>
              <a:t>¿Cuál es el Historial de los Datos Sintéticos?</a:t>
            </a:r>
            <a:endParaRPr lang="es-ES" sz="3600" b="0" i="0" dirty="0">
              <a:solidFill>
                <a:srgbClr val="525252"/>
              </a:solidFill>
              <a:effectLst/>
              <a:latin typeface="NVIDIA-APAC"/>
            </a:endParaRPr>
          </a:p>
          <a:p>
            <a:pPr algn="l"/>
            <a:endParaRPr lang="es-ES" sz="3600" b="1" i="0" dirty="0">
              <a:solidFill>
                <a:srgbClr val="525252"/>
              </a:solidFill>
              <a:effectLst/>
              <a:latin typeface="NVIDIA-APAC"/>
            </a:endParaRPr>
          </a:p>
        </p:txBody>
      </p:sp>
      <p:pic>
        <p:nvPicPr>
          <p:cNvPr id="9218" name="Picture 2">
            <a:extLst>
              <a:ext uri="{FF2B5EF4-FFF2-40B4-BE49-F238E27FC236}">
                <a16:creationId xmlns:a16="http://schemas.microsoft.com/office/drawing/2014/main" id="{459D63FE-2549-5CAA-9515-B5697E2D25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5995" y="9401487"/>
            <a:ext cx="6953250" cy="27336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BC9BDA7B-EBCD-8B0F-F7F7-616DFF9698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51050" y="5242643"/>
            <a:ext cx="6953249" cy="6840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911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707886"/>
          </a:xfrm>
          <a:prstGeom prst="rect">
            <a:avLst/>
          </a:prstGeom>
          <a:noFill/>
        </p:spPr>
        <p:txBody>
          <a:bodyPr wrap="square">
            <a:spAutoFit/>
          </a:bodyPr>
          <a:lstStyle/>
          <a:p>
            <a:r>
              <a:rPr lang="es-ES" sz="4000" b="1" i="0" dirty="0">
                <a:solidFill>
                  <a:srgbClr val="374151"/>
                </a:solidFill>
                <a:effectLst/>
                <a:latin typeface="Söhne"/>
              </a:rPr>
              <a:t>Modelos Sintéticos</a:t>
            </a:r>
            <a:endParaRPr lang="es-MX" sz="4000" b="1" dirty="0"/>
          </a:p>
        </p:txBody>
      </p:sp>
      <p:sp>
        <p:nvSpPr>
          <p:cNvPr id="12" name="CuadroTexto 11">
            <a:extLst>
              <a:ext uri="{FF2B5EF4-FFF2-40B4-BE49-F238E27FC236}">
                <a16:creationId xmlns:a16="http://schemas.microsoft.com/office/drawing/2014/main" id="{0EA2C5C8-E230-DF49-AC5F-C6B8FE83AE94}"/>
              </a:ext>
            </a:extLst>
          </p:cNvPr>
          <p:cNvSpPr txBox="1"/>
          <p:nvPr/>
        </p:nvSpPr>
        <p:spPr>
          <a:xfrm>
            <a:off x="2170332" y="5698707"/>
            <a:ext cx="20046510" cy="6186309"/>
          </a:xfrm>
          <a:prstGeom prst="rect">
            <a:avLst/>
          </a:prstGeom>
          <a:noFill/>
        </p:spPr>
        <p:txBody>
          <a:bodyPr wrap="square">
            <a:spAutoFit/>
          </a:bodyPr>
          <a:lstStyle/>
          <a:p>
            <a:pPr marL="457200" indent="-457200" algn="l">
              <a:buFont typeface="Arial" panose="020B0604020202020204" pitchFamily="34" charset="0"/>
              <a:buChar char="•"/>
            </a:pPr>
            <a:r>
              <a:rPr lang="es-ES" sz="3600" b="1" i="0" dirty="0">
                <a:solidFill>
                  <a:srgbClr val="374151"/>
                </a:solidFill>
                <a:effectLst/>
                <a:latin typeface="Söhne"/>
              </a:rPr>
              <a:t>Modelo de Distribución Normal</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Modelo de Distribución Uniforme</a:t>
            </a:r>
          </a:p>
          <a:p>
            <a:pPr algn="l"/>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Cadena de </a:t>
            </a:r>
            <a:r>
              <a:rPr lang="es-ES" sz="3600" b="1" i="0" dirty="0" err="1">
                <a:solidFill>
                  <a:srgbClr val="374151"/>
                </a:solidFill>
                <a:effectLst/>
                <a:latin typeface="Söhne"/>
              </a:rPr>
              <a:t>Markov</a:t>
            </a:r>
            <a:endParaRPr lang="es-ES" sz="3600" b="1" i="0" dirty="0">
              <a:solidFill>
                <a:srgbClr val="374151"/>
              </a:solidFill>
              <a:effectLst/>
              <a:latin typeface="Söhne"/>
            </a:endParaRPr>
          </a:p>
          <a:p>
            <a:pPr algn="l"/>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Redes Sociales Sintéticas</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Árboles de Decisión</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Generadores de Texto</a:t>
            </a:r>
          </a:p>
        </p:txBody>
      </p:sp>
      <p:pic>
        <p:nvPicPr>
          <p:cNvPr id="11266" name="Picture 2" descr="Distribución normal - Wikipedia, la enciclopedia libre">
            <a:extLst>
              <a:ext uri="{FF2B5EF4-FFF2-40B4-BE49-F238E27FC236}">
                <a16:creationId xmlns:a16="http://schemas.microsoft.com/office/drawing/2014/main" id="{38F85AD0-D86D-657D-BE77-8A7B8C010E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38924" y="3960571"/>
            <a:ext cx="3713623" cy="186266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Distribución uniforme continua: características, ejemplos, aplicaciones">
            <a:extLst>
              <a:ext uri="{FF2B5EF4-FFF2-40B4-BE49-F238E27FC236}">
                <a16:creationId xmlns:a16="http://schemas.microsoft.com/office/drawing/2014/main" id="{07238A57-3FCC-E610-FBF7-4F63D3C0A3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33542" y="4918019"/>
            <a:ext cx="3230646" cy="189648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FAEDIS">
            <a:extLst>
              <a:ext uri="{FF2B5EF4-FFF2-40B4-BE49-F238E27FC236}">
                <a16:creationId xmlns:a16="http://schemas.microsoft.com/office/drawing/2014/main" id="{8587239E-F334-2ED3-B858-E626E92D01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52579" y="6814507"/>
            <a:ext cx="2879777" cy="1874963"/>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Árbol de decisiones: Definición, pasos hacer uno y ejemplos">
            <a:extLst>
              <a:ext uri="{FF2B5EF4-FFF2-40B4-BE49-F238E27FC236}">
                <a16:creationId xmlns:a16="http://schemas.microsoft.com/office/drawing/2014/main" id="{22053AFA-76C5-C168-47D5-FB55D11B8E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30538" y="9901523"/>
            <a:ext cx="2533650" cy="1809750"/>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Las 10 mejores herramientas de resumen de texto de IA (2023) - BforBloggers">
            <a:extLst>
              <a:ext uri="{FF2B5EF4-FFF2-40B4-BE49-F238E27FC236}">
                <a16:creationId xmlns:a16="http://schemas.microsoft.com/office/drawing/2014/main" id="{1BB9F9D3-15F0-8DB2-CA5E-2E4C053EE9F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77884" y="11254565"/>
            <a:ext cx="3545380"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703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extracción</a:t>
            </a:r>
            <a:endParaRPr lang="es-MX" sz="4000" b="1" dirty="0"/>
          </a:p>
        </p:txBody>
      </p:sp>
      <p:pic>
        <p:nvPicPr>
          <p:cNvPr id="1026" name="Picture 2" descr="O que é Big Data e Como as Empresas Usam? - Mobilit">
            <a:extLst>
              <a:ext uri="{FF2B5EF4-FFF2-40B4-BE49-F238E27FC236}">
                <a16:creationId xmlns:a16="http://schemas.microsoft.com/office/drawing/2014/main" id="{10E563E6-34D9-CB44-080A-7759D33FF5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14121" y="5011340"/>
            <a:ext cx="9594458" cy="6361950"/>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F54ED5FB-2786-959F-A353-4074AD853650}"/>
              </a:ext>
            </a:extLst>
          </p:cNvPr>
          <p:cNvSpPr txBox="1"/>
          <p:nvPr/>
        </p:nvSpPr>
        <p:spPr>
          <a:xfrm>
            <a:off x="1182376" y="5011339"/>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Extracción de bases de datos </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Web </a:t>
            </a:r>
            <a:r>
              <a:rPr lang="es-ES" sz="3000" b="1" dirty="0" err="1">
                <a:solidFill>
                  <a:schemeClr val="dk2"/>
                </a:solidFill>
                <a:latin typeface="Poppins"/>
                <a:cs typeface="Poppins"/>
              </a:rPr>
              <a:t>Scraping</a:t>
            </a:r>
            <a:endParaRPr lang="es-ES" sz="3000" b="1" dirty="0">
              <a:solidFill>
                <a:schemeClr val="dk2"/>
              </a:solidFill>
              <a:latin typeface="Poppins"/>
              <a:cs typeface="Poppins"/>
            </a:endParaRP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API (Interfaz de Programación de Aplicaciones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Log </a:t>
            </a:r>
            <a:r>
              <a:rPr lang="es-ES" sz="3000" b="1" dirty="0" err="1">
                <a:solidFill>
                  <a:schemeClr val="dk2"/>
                </a:solidFill>
                <a:latin typeface="Poppins"/>
                <a:cs typeface="Poppins"/>
              </a:rPr>
              <a:t>Parsing</a:t>
            </a:r>
            <a:endParaRPr lang="es-ES" sz="3000" b="1" dirty="0">
              <a:solidFill>
                <a:schemeClr val="dk2"/>
              </a:solidFill>
              <a:latin typeface="Poppins"/>
              <a:cs typeface="Poppins"/>
            </a:endParaRP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Extracción de datos de redes sociales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Extracción de datos de sensores y dispositivos </a:t>
            </a:r>
            <a:r>
              <a:rPr lang="es-ES" sz="3000" b="1" dirty="0" err="1">
                <a:solidFill>
                  <a:schemeClr val="dk2"/>
                </a:solidFill>
                <a:latin typeface="Poppins"/>
                <a:cs typeface="Poppins"/>
              </a:rPr>
              <a:t>IoT</a:t>
            </a:r>
            <a:endParaRPr lang="es-ES" sz="3000" b="1" dirty="0">
              <a:solidFill>
                <a:schemeClr val="dk2"/>
              </a:solidFill>
              <a:latin typeface="Poppins"/>
              <a:cs typeface="Poppins"/>
            </a:endParaRPr>
          </a:p>
        </p:txBody>
      </p:sp>
    </p:spTree>
    <p:extLst>
      <p:ext uri="{BB962C8B-B14F-4D97-AF65-F5344CB8AC3E}">
        <p14:creationId xmlns:p14="http://schemas.microsoft.com/office/powerpoint/2010/main" val="1742903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ampliación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5829747"/>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Duplicación </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Multiplicación</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Escalamiento</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sintéticos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Datos enriquecidos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2050" name="Picture 2" descr="Big Data, una herramienta fundamental e imprescindible para las empresas -  Diario Jurídico Big Data, una herramienta fundamental e imprescindible para  las empresas">
            <a:extLst>
              <a:ext uri="{FF2B5EF4-FFF2-40B4-BE49-F238E27FC236}">
                <a16:creationId xmlns:a16="http://schemas.microsoft.com/office/drawing/2014/main" id="{E0791F8A-3216-4D65-C244-35BBAAFB50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96871" y="5011339"/>
            <a:ext cx="7771854" cy="435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267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combinación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5829747"/>
            <a:ext cx="10777013" cy="609397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Integración de base de datos</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Fusión de datos no estructurados y estructurados </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Ensamblado de datos en tipo real</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Integración de datos  de fuentes externas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Unificación de identidades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Combinación de datos históricos y tiempo real</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3074" name="Picture 2" descr="Los grandes datos del Big Data - CIO MX % %">
            <a:extLst>
              <a:ext uri="{FF2B5EF4-FFF2-40B4-BE49-F238E27FC236}">
                <a16:creationId xmlns:a16="http://schemas.microsoft.com/office/drawing/2014/main" id="{06344E62-69A8-F030-0EA0-D8EF037D3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59227" y="5359918"/>
            <a:ext cx="7597107" cy="544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0278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4770257" y="4076572"/>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inyección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6173093"/>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Carga masiva de fuentes externas</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programática de datos </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aleatorios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Replicación de datos existentes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de pruebas específicas</a:t>
            </a:r>
          </a:p>
          <a:p>
            <a:pPr algn="just"/>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4098" name="Picture 2" descr="Consideraciones procesos ETL en entornos Big Data: Caso Hadoop | Dataprix">
            <a:extLst>
              <a:ext uri="{FF2B5EF4-FFF2-40B4-BE49-F238E27FC236}">
                <a16:creationId xmlns:a16="http://schemas.microsoft.com/office/drawing/2014/main" id="{EFC3487E-B8AC-6F45-93CE-71E6D73A4D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4191" y="6070379"/>
            <a:ext cx="9656410" cy="4421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239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3133963" y="2694500"/>
            <a:ext cx="14714392" cy="1200329"/>
          </a:xfrm>
          <a:prstGeom prst="rect">
            <a:avLst/>
          </a:prstGeom>
          <a:noFill/>
          <a:ln>
            <a:noFill/>
          </a:ln>
        </p:spPr>
        <p:txBody>
          <a:bodyPr spcFirstLastPara="1" wrap="square" lIns="91425" tIns="45700" rIns="91425" bIns="45700" anchor="t" anchorCtr="0">
            <a:noAutofit/>
          </a:bodyPr>
          <a:lstStyle/>
          <a:p>
            <a:pPr algn="l"/>
            <a:r>
              <a:rPr lang="es-ES" sz="4400" b="1" dirty="0">
                <a:solidFill>
                  <a:srgbClr val="374151"/>
                </a:solidFill>
                <a:latin typeface="Söhne"/>
              </a:rPr>
              <a:t>Tarea</a:t>
            </a:r>
          </a:p>
          <a:p>
            <a:pPr algn="l"/>
            <a:endParaRPr lang="es-ES" sz="4400" b="1" dirty="0">
              <a:solidFill>
                <a:srgbClr val="374151"/>
              </a:solidFill>
              <a:latin typeface="Söhne"/>
            </a:endParaRPr>
          </a:p>
          <a:p>
            <a:pPr algn="l"/>
            <a:endParaRPr lang="es-ES" sz="4400" b="1" dirty="0">
              <a:solidFill>
                <a:srgbClr val="374151"/>
              </a:solidFill>
              <a:latin typeface="Söhne"/>
            </a:endParaRPr>
          </a:p>
          <a:p>
            <a:pPr algn="l"/>
            <a:r>
              <a:rPr lang="es-ES" sz="4400" b="1" dirty="0">
                <a:solidFill>
                  <a:srgbClr val="374151"/>
                </a:solidFill>
                <a:latin typeface="Söhne"/>
              </a:rPr>
              <a:t>Realizar un mapa mental de cada modelo de generación o extracción de datos</a:t>
            </a:r>
          </a:p>
          <a:p>
            <a:pPr algn="l"/>
            <a:endParaRPr lang="es-ES" sz="4400" b="1" dirty="0">
              <a:solidFill>
                <a:srgbClr val="374151"/>
              </a:solidFill>
              <a:latin typeface="Söhne"/>
            </a:endParaRPr>
          </a:p>
          <a:p>
            <a:pPr algn="l"/>
            <a:r>
              <a:rPr lang="es-ES" sz="4400" b="1" dirty="0">
                <a:solidFill>
                  <a:srgbClr val="374151"/>
                </a:solidFill>
                <a:latin typeface="Söhne"/>
              </a:rPr>
              <a:t>   a) Modelos sintéticos</a:t>
            </a:r>
          </a:p>
          <a:p>
            <a:pPr algn="l"/>
            <a:r>
              <a:rPr lang="es-ES" sz="4400" b="1" dirty="0">
                <a:solidFill>
                  <a:srgbClr val="374151"/>
                </a:solidFill>
                <a:latin typeface="Söhne"/>
              </a:rPr>
              <a:t>   b) Modelo de extracción de datos</a:t>
            </a:r>
          </a:p>
          <a:p>
            <a:pPr algn="l"/>
            <a:r>
              <a:rPr lang="es-ES" sz="4400" b="1" dirty="0">
                <a:solidFill>
                  <a:srgbClr val="374151"/>
                </a:solidFill>
                <a:latin typeface="Söhne"/>
              </a:rPr>
              <a:t>   c) Modelos de ampliación</a:t>
            </a:r>
          </a:p>
          <a:p>
            <a:pPr algn="l"/>
            <a:r>
              <a:rPr lang="es-ES" sz="4400" b="1" dirty="0">
                <a:solidFill>
                  <a:srgbClr val="374151"/>
                </a:solidFill>
                <a:latin typeface="Söhne"/>
              </a:rPr>
              <a:t>   d) Modelos de combinación</a:t>
            </a:r>
          </a:p>
          <a:p>
            <a:pPr algn="l"/>
            <a:r>
              <a:rPr lang="es-ES" sz="4400" b="1" dirty="0">
                <a:solidFill>
                  <a:srgbClr val="374151"/>
                </a:solidFill>
                <a:latin typeface="Söhne"/>
              </a:rPr>
              <a:t>   e) Modelos de Inyección</a:t>
            </a:r>
          </a:p>
          <a:p>
            <a:pPr algn="l"/>
            <a:endParaRPr lang="es-ES" sz="4400" b="1" dirty="0">
              <a:solidFill>
                <a:srgbClr val="374151"/>
              </a:solidFill>
              <a:latin typeface="Söhne"/>
            </a:endParaRPr>
          </a:p>
          <a:p>
            <a:pPr algn="l"/>
            <a:endParaRPr lang="es-ES" sz="4400" b="1" dirty="0">
              <a:solidFill>
                <a:srgbClr val="374151"/>
              </a:solidFill>
              <a:latin typeface="Söhne"/>
            </a:endParaRPr>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90275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5124" name="Picture 4">
            <a:extLst>
              <a:ext uri="{FF2B5EF4-FFF2-40B4-BE49-F238E27FC236}">
                <a16:creationId xmlns:a16="http://schemas.microsoft.com/office/drawing/2014/main" id="{FCDA6CD2-E5AF-A8D4-C8D9-726A485A54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4294" y="2537791"/>
            <a:ext cx="18678586" cy="995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161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B840383B-D107-3DE3-6B90-856F5573E464}"/>
              </a:ext>
            </a:extLst>
          </p:cNvPr>
          <p:cNvPicPr>
            <a:picLocks noChangeAspect="1"/>
          </p:cNvPicPr>
          <p:nvPr/>
        </p:nvPicPr>
        <p:blipFill>
          <a:blip r:embed="rId6"/>
          <a:stretch>
            <a:fillRect/>
          </a:stretch>
        </p:blipFill>
        <p:spPr>
          <a:xfrm>
            <a:off x="1694972" y="2137977"/>
            <a:ext cx="4321877" cy="1976822"/>
          </a:xfrm>
          <a:prstGeom prst="rect">
            <a:avLst/>
          </a:prstGeom>
        </p:spPr>
      </p:pic>
      <p:sp>
        <p:nvSpPr>
          <p:cNvPr id="9" name="CuadroTexto 8">
            <a:extLst>
              <a:ext uri="{FF2B5EF4-FFF2-40B4-BE49-F238E27FC236}">
                <a16:creationId xmlns:a16="http://schemas.microsoft.com/office/drawing/2014/main" id="{20028E74-A737-85E6-C0FB-70DA410CF230}"/>
              </a:ext>
            </a:extLst>
          </p:cNvPr>
          <p:cNvSpPr txBox="1"/>
          <p:nvPr/>
        </p:nvSpPr>
        <p:spPr>
          <a:xfrm>
            <a:off x="2112980" y="4661595"/>
            <a:ext cx="20667187" cy="8648521"/>
          </a:xfrm>
          <a:prstGeom prst="rect">
            <a:avLst/>
          </a:prstGeom>
          <a:noFill/>
        </p:spPr>
        <p:txBody>
          <a:bodyPr wrap="square">
            <a:spAutoFit/>
          </a:bodyPr>
          <a:lstStyle/>
          <a:p>
            <a:pPr algn="just"/>
            <a:r>
              <a:rPr lang="es-ES" sz="4000" b="0" i="0" dirty="0">
                <a:solidFill>
                  <a:srgbClr val="374151"/>
                </a:solidFill>
                <a:effectLst/>
                <a:latin typeface="Söhne"/>
              </a:rPr>
              <a:t>Hadoop es un </a:t>
            </a:r>
            <a:r>
              <a:rPr lang="es-ES" sz="4000" b="0" i="0" dirty="0" err="1">
                <a:solidFill>
                  <a:srgbClr val="374151"/>
                </a:solidFill>
                <a:effectLst/>
                <a:latin typeface="Söhne"/>
              </a:rPr>
              <a:t>framework</a:t>
            </a:r>
            <a:r>
              <a:rPr lang="es-ES" sz="4000" b="0" i="0" dirty="0">
                <a:solidFill>
                  <a:srgbClr val="374151"/>
                </a:solidFill>
                <a:effectLst/>
                <a:latin typeface="Söhne"/>
              </a:rPr>
              <a:t> de código abierto diseñado para el almacenamiento y procesamiento distribuido de grandes volúmenes de datos en clústeres de servidores. Fue desarrollado por Apache Software </a:t>
            </a:r>
            <a:r>
              <a:rPr lang="es-ES" sz="4000" b="0" i="0" dirty="0" err="1">
                <a:solidFill>
                  <a:srgbClr val="374151"/>
                </a:solidFill>
                <a:effectLst/>
                <a:latin typeface="Söhne"/>
              </a:rPr>
              <a:t>Foundation</a:t>
            </a:r>
            <a:r>
              <a:rPr lang="es-ES" sz="4000" b="0" i="0" dirty="0">
                <a:solidFill>
                  <a:srgbClr val="374151"/>
                </a:solidFill>
                <a:effectLst/>
                <a:latin typeface="Söhne"/>
              </a:rPr>
              <a:t> y se basa en el trabajo del proyecto Google File </a:t>
            </a:r>
            <a:r>
              <a:rPr lang="es-ES" sz="4000" b="0" i="0" dirty="0" err="1">
                <a:solidFill>
                  <a:srgbClr val="374151"/>
                </a:solidFill>
                <a:effectLst/>
                <a:latin typeface="Söhne"/>
              </a:rPr>
              <a:t>System</a:t>
            </a:r>
            <a:r>
              <a:rPr lang="es-ES" sz="4000" b="0" i="0" dirty="0">
                <a:solidFill>
                  <a:srgbClr val="374151"/>
                </a:solidFill>
                <a:effectLst/>
                <a:latin typeface="Söhne"/>
              </a:rPr>
              <a:t> (GFS) y el modelo de programación MapReduce de Google.</a:t>
            </a:r>
          </a:p>
          <a:p>
            <a:pPr algn="l"/>
            <a:endParaRPr lang="es-ES" sz="3600" dirty="0">
              <a:solidFill>
                <a:srgbClr val="374151"/>
              </a:solidFill>
              <a:latin typeface="Söhne"/>
            </a:endParaRPr>
          </a:p>
          <a:p>
            <a:pPr algn="l"/>
            <a:r>
              <a:rPr lang="es-ES" sz="3600" b="0" i="0" dirty="0">
                <a:solidFill>
                  <a:srgbClr val="374151"/>
                </a:solidFill>
                <a:effectLst/>
                <a:latin typeface="Söhne"/>
              </a:rPr>
              <a:t>El objetivo principal de Hadoop es permitir el procesamiento de datos a gran escala de manera eficiente y confiable, incluso en hardware convencional y asequible. El </a:t>
            </a:r>
            <a:r>
              <a:rPr lang="es-ES" sz="3600" b="0" i="0" dirty="0" err="1">
                <a:solidFill>
                  <a:srgbClr val="374151"/>
                </a:solidFill>
                <a:effectLst/>
                <a:latin typeface="Söhne"/>
              </a:rPr>
              <a:t>framework</a:t>
            </a:r>
            <a:r>
              <a:rPr lang="es-ES" sz="3600" b="0" i="0" dirty="0">
                <a:solidFill>
                  <a:srgbClr val="374151"/>
                </a:solidFill>
                <a:effectLst/>
                <a:latin typeface="Söhne"/>
              </a:rPr>
              <a:t> está diseñado para manejar datos de diversos formatos, como datos estructurados, </a:t>
            </a:r>
            <a:r>
              <a:rPr lang="es-ES" sz="3600" b="0" i="0" dirty="0" err="1">
                <a:solidFill>
                  <a:srgbClr val="374151"/>
                </a:solidFill>
                <a:effectLst/>
                <a:latin typeface="Söhne"/>
              </a:rPr>
              <a:t>semi-estructurados</a:t>
            </a:r>
            <a:r>
              <a:rPr lang="es-ES" sz="3600" b="0" i="0" dirty="0">
                <a:solidFill>
                  <a:srgbClr val="374151"/>
                </a:solidFill>
                <a:effectLst/>
                <a:latin typeface="Söhne"/>
              </a:rPr>
              <a:t> y no estructurados.</a:t>
            </a:r>
          </a:p>
          <a:p>
            <a:pPr algn="l"/>
            <a:endParaRPr lang="es-ES" sz="3600" b="0" i="0" dirty="0">
              <a:solidFill>
                <a:srgbClr val="374151"/>
              </a:solidFill>
              <a:effectLst/>
              <a:latin typeface="Söhne"/>
            </a:endParaRPr>
          </a:p>
          <a:p>
            <a:pPr algn="l"/>
            <a:r>
              <a:rPr lang="es-ES" sz="3600" b="0" i="0" dirty="0">
                <a:solidFill>
                  <a:srgbClr val="374151"/>
                </a:solidFill>
                <a:effectLst/>
                <a:latin typeface="Söhne"/>
              </a:rPr>
              <a:t>Los componentes principales de Hadoop son:</a:t>
            </a:r>
          </a:p>
          <a:p>
            <a:pPr algn="l"/>
            <a:endParaRPr lang="es-ES" sz="3600" b="0" i="0" dirty="0">
              <a:solidFill>
                <a:srgbClr val="374151"/>
              </a:solidFill>
              <a:effectLst/>
              <a:latin typeface="Söhne"/>
            </a:endParaRPr>
          </a:p>
          <a:p>
            <a:pPr algn="l">
              <a:buFont typeface="+mj-lt"/>
              <a:buAutoNum type="arabicPeriod"/>
            </a:pPr>
            <a:r>
              <a:rPr lang="es-ES" sz="3600" b="0" i="0" dirty="0">
                <a:solidFill>
                  <a:srgbClr val="374151"/>
                </a:solidFill>
                <a:effectLst/>
                <a:latin typeface="Söhne"/>
              </a:rPr>
              <a:t>Hadoop </a:t>
            </a:r>
            <a:r>
              <a:rPr lang="es-ES" sz="3600" b="0" i="0" dirty="0" err="1">
                <a:solidFill>
                  <a:srgbClr val="374151"/>
                </a:solidFill>
                <a:effectLst/>
                <a:latin typeface="Söhne"/>
              </a:rPr>
              <a:t>Distributed</a:t>
            </a:r>
            <a:r>
              <a:rPr lang="es-ES" sz="3600" b="0" i="0" dirty="0">
                <a:solidFill>
                  <a:srgbClr val="374151"/>
                </a:solidFill>
                <a:effectLst/>
                <a:latin typeface="Söhne"/>
              </a:rPr>
              <a:t> File </a:t>
            </a:r>
            <a:r>
              <a:rPr lang="es-ES" sz="3600" b="0" i="0" dirty="0" err="1">
                <a:solidFill>
                  <a:srgbClr val="374151"/>
                </a:solidFill>
                <a:effectLst/>
                <a:latin typeface="Söhne"/>
              </a:rPr>
              <a:t>System</a:t>
            </a:r>
            <a:r>
              <a:rPr lang="es-ES" sz="3600" b="0" i="0" dirty="0">
                <a:solidFill>
                  <a:srgbClr val="374151"/>
                </a:solidFill>
                <a:effectLst/>
                <a:latin typeface="Söhne"/>
              </a:rPr>
              <a:t> (HDF):</a:t>
            </a:r>
          </a:p>
          <a:p>
            <a:pPr algn="l">
              <a:buFont typeface="+mj-lt"/>
              <a:buAutoNum type="arabicPeriod"/>
            </a:pPr>
            <a:r>
              <a:rPr lang="es-ES" sz="3600" dirty="0" err="1">
                <a:solidFill>
                  <a:srgbClr val="374151"/>
                </a:solidFill>
                <a:latin typeface="Söhne"/>
              </a:rPr>
              <a:t>MapRedce</a:t>
            </a:r>
            <a:endParaRPr lang="es-ES" sz="3600" b="0" i="0" dirty="0">
              <a:solidFill>
                <a:srgbClr val="374151"/>
              </a:solidFill>
              <a:effectLst/>
              <a:latin typeface="Söhne"/>
            </a:endParaRPr>
          </a:p>
          <a:p>
            <a:pPr algn="l">
              <a:buFont typeface="+mj-lt"/>
              <a:buAutoNum type="arabicPeriod"/>
            </a:pPr>
            <a:r>
              <a:rPr lang="es-ES" sz="3600" b="0" i="0" dirty="0">
                <a:solidFill>
                  <a:srgbClr val="374151"/>
                </a:solidFill>
                <a:effectLst/>
                <a:latin typeface="Söhne"/>
              </a:rPr>
              <a:t>YARN (</a:t>
            </a:r>
            <a:r>
              <a:rPr lang="es-ES" sz="3600" b="0" i="0" dirty="0" err="1">
                <a:solidFill>
                  <a:srgbClr val="374151"/>
                </a:solidFill>
                <a:effectLst/>
                <a:latin typeface="Söhne"/>
              </a:rPr>
              <a:t>Yet</a:t>
            </a:r>
            <a:r>
              <a:rPr lang="es-ES" sz="3600" b="0" i="0" dirty="0">
                <a:solidFill>
                  <a:srgbClr val="374151"/>
                </a:solidFill>
                <a:effectLst/>
                <a:latin typeface="Söhne"/>
              </a:rPr>
              <a:t> </a:t>
            </a:r>
            <a:r>
              <a:rPr lang="es-ES" sz="3600" b="0" i="0" dirty="0" err="1">
                <a:solidFill>
                  <a:srgbClr val="374151"/>
                </a:solidFill>
                <a:effectLst/>
                <a:latin typeface="Söhne"/>
              </a:rPr>
              <a:t>Another</a:t>
            </a:r>
            <a:r>
              <a:rPr lang="es-ES" sz="3600" b="0" i="0" dirty="0">
                <a:solidFill>
                  <a:srgbClr val="374151"/>
                </a:solidFill>
                <a:effectLst/>
                <a:latin typeface="Söhne"/>
              </a:rPr>
              <a:t> </a:t>
            </a:r>
            <a:r>
              <a:rPr lang="es-ES" sz="3600" b="0" i="0" dirty="0" err="1">
                <a:solidFill>
                  <a:srgbClr val="374151"/>
                </a:solidFill>
                <a:effectLst/>
                <a:latin typeface="Söhne"/>
              </a:rPr>
              <a:t>Resource</a:t>
            </a:r>
            <a:r>
              <a:rPr lang="es-ES" sz="3600" b="0" i="0" dirty="0">
                <a:solidFill>
                  <a:srgbClr val="374151"/>
                </a:solidFill>
                <a:effectLst/>
                <a:latin typeface="Söhne"/>
              </a:rPr>
              <a:t> </a:t>
            </a:r>
            <a:r>
              <a:rPr lang="es-ES" sz="3600" b="0" i="0" dirty="0" err="1">
                <a:solidFill>
                  <a:srgbClr val="374151"/>
                </a:solidFill>
                <a:effectLst/>
                <a:latin typeface="Söhne"/>
              </a:rPr>
              <a:t>Negotiator</a:t>
            </a:r>
            <a:endParaRPr lang="es-ES" sz="3600" b="0" i="0" dirty="0">
              <a:solidFill>
                <a:srgbClr val="374151"/>
              </a:solidFill>
              <a:effectLst/>
              <a:latin typeface="Söhne"/>
            </a:endParaRPr>
          </a:p>
          <a:p>
            <a:pPr algn="l">
              <a:buFont typeface="+mj-lt"/>
              <a:buAutoNum type="arabicPeriod"/>
            </a:pPr>
            <a:r>
              <a:rPr lang="es-ES" sz="3600" b="0" i="0" dirty="0" err="1">
                <a:solidFill>
                  <a:srgbClr val="374151"/>
                </a:solidFill>
                <a:effectLst/>
                <a:latin typeface="Söhne"/>
              </a:rPr>
              <a:t>Common</a:t>
            </a:r>
            <a:r>
              <a:rPr lang="es-ES" sz="3600" b="0" i="0" dirty="0">
                <a:solidFill>
                  <a:srgbClr val="374151"/>
                </a:solidFill>
                <a:effectLst/>
                <a:latin typeface="Söhne"/>
              </a:rPr>
              <a:t> </a:t>
            </a:r>
            <a:r>
              <a:rPr lang="es-ES" sz="3600" b="0" i="0" dirty="0" err="1">
                <a:solidFill>
                  <a:srgbClr val="374151"/>
                </a:solidFill>
                <a:effectLst/>
                <a:latin typeface="Söhne"/>
              </a:rPr>
              <a:t>Utilities</a:t>
            </a:r>
            <a:endParaRPr lang="es-ES" sz="3600" b="0" i="0" dirty="0">
              <a:solidFill>
                <a:srgbClr val="374151"/>
              </a:solidFill>
              <a:effectLst/>
              <a:latin typeface="Söhne"/>
            </a:endParaRPr>
          </a:p>
        </p:txBody>
      </p:sp>
    </p:spTree>
    <p:extLst>
      <p:ext uri="{BB962C8B-B14F-4D97-AF65-F5344CB8AC3E}">
        <p14:creationId xmlns:p14="http://schemas.microsoft.com/office/powerpoint/2010/main" val="3383510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9" name="Imagen 8">
            <a:extLst>
              <a:ext uri="{FF2B5EF4-FFF2-40B4-BE49-F238E27FC236}">
                <a16:creationId xmlns:a16="http://schemas.microsoft.com/office/drawing/2014/main" id="{639805E4-BFB7-4108-F8E5-640B461308C0}"/>
              </a:ext>
            </a:extLst>
          </p:cNvPr>
          <p:cNvPicPr>
            <a:picLocks noChangeAspect="1"/>
          </p:cNvPicPr>
          <p:nvPr/>
        </p:nvPicPr>
        <p:blipFill>
          <a:blip r:embed="rId6"/>
          <a:stretch>
            <a:fillRect/>
          </a:stretch>
        </p:blipFill>
        <p:spPr>
          <a:xfrm>
            <a:off x="2487423" y="2992821"/>
            <a:ext cx="4145045" cy="1867938"/>
          </a:xfrm>
          <a:prstGeom prst="rect">
            <a:avLst/>
          </a:prstGeom>
        </p:spPr>
      </p:pic>
    </p:spTree>
    <p:extLst>
      <p:ext uri="{BB962C8B-B14F-4D97-AF65-F5344CB8AC3E}">
        <p14:creationId xmlns:p14="http://schemas.microsoft.com/office/powerpoint/2010/main" val="504838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3505F9CA-200D-76BF-13DD-D79E4C883641}"/>
              </a:ext>
            </a:extLst>
          </p:cNvPr>
          <p:cNvPicPr>
            <a:picLocks noChangeAspect="1"/>
          </p:cNvPicPr>
          <p:nvPr/>
        </p:nvPicPr>
        <p:blipFill>
          <a:blip r:embed="rId6"/>
          <a:stretch>
            <a:fillRect/>
          </a:stretch>
        </p:blipFill>
        <p:spPr>
          <a:xfrm>
            <a:off x="1539359" y="2553180"/>
            <a:ext cx="3802662" cy="2065870"/>
          </a:xfrm>
          <a:prstGeom prst="rect">
            <a:avLst/>
          </a:prstGeom>
        </p:spPr>
      </p:pic>
    </p:spTree>
    <p:extLst>
      <p:ext uri="{BB962C8B-B14F-4D97-AF65-F5344CB8AC3E}">
        <p14:creationId xmlns:p14="http://schemas.microsoft.com/office/powerpoint/2010/main" val="3418084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1AB70855-34DA-C0C2-A9A3-5428B6776462}"/>
              </a:ext>
            </a:extLst>
          </p:cNvPr>
          <p:cNvPicPr>
            <a:picLocks noChangeAspect="1"/>
          </p:cNvPicPr>
          <p:nvPr/>
        </p:nvPicPr>
        <p:blipFill>
          <a:blip r:embed="rId6"/>
          <a:stretch>
            <a:fillRect/>
          </a:stretch>
        </p:blipFill>
        <p:spPr>
          <a:xfrm>
            <a:off x="2672682" y="2838418"/>
            <a:ext cx="4244516" cy="1902024"/>
          </a:xfrm>
          <a:prstGeom prst="rect">
            <a:avLst/>
          </a:prstGeom>
        </p:spPr>
      </p:pic>
    </p:spTree>
    <p:extLst>
      <p:ext uri="{BB962C8B-B14F-4D97-AF65-F5344CB8AC3E}">
        <p14:creationId xmlns:p14="http://schemas.microsoft.com/office/powerpoint/2010/main" val="2512565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6B0EDB11-577C-7723-2856-4764852B4F19}"/>
              </a:ext>
            </a:extLst>
          </p:cNvPr>
          <p:cNvPicPr>
            <a:picLocks noChangeAspect="1"/>
          </p:cNvPicPr>
          <p:nvPr/>
        </p:nvPicPr>
        <p:blipFill>
          <a:blip r:embed="rId6"/>
          <a:stretch>
            <a:fillRect/>
          </a:stretch>
        </p:blipFill>
        <p:spPr>
          <a:xfrm>
            <a:off x="2392297" y="3090481"/>
            <a:ext cx="3905689" cy="1625898"/>
          </a:xfrm>
          <a:prstGeom prst="rect">
            <a:avLst/>
          </a:prstGeom>
        </p:spPr>
      </p:pic>
    </p:spTree>
    <p:extLst>
      <p:ext uri="{BB962C8B-B14F-4D97-AF65-F5344CB8AC3E}">
        <p14:creationId xmlns:p14="http://schemas.microsoft.com/office/powerpoint/2010/main" val="3390152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9A4DE7E9-4FA9-588F-E08B-66F87CF4F422}"/>
              </a:ext>
            </a:extLst>
          </p:cNvPr>
          <p:cNvPicPr>
            <a:picLocks noChangeAspect="1"/>
          </p:cNvPicPr>
          <p:nvPr/>
        </p:nvPicPr>
        <p:blipFill>
          <a:blip r:embed="rId6"/>
          <a:stretch>
            <a:fillRect/>
          </a:stretch>
        </p:blipFill>
        <p:spPr>
          <a:xfrm>
            <a:off x="2528216" y="3218418"/>
            <a:ext cx="3944426" cy="1690467"/>
          </a:xfrm>
          <a:prstGeom prst="rect">
            <a:avLst/>
          </a:prstGeom>
        </p:spPr>
      </p:pic>
    </p:spTree>
    <p:extLst>
      <p:ext uri="{BB962C8B-B14F-4D97-AF65-F5344CB8AC3E}">
        <p14:creationId xmlns:p14="http://schemas.microsoft.com/office/powerpoint/2010/main" val="2354485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6146" name="Picture 2" descr="Apache Hadoop vs Spark: Main Big Data Tools Explained | AltexSoft">
            <a:extLst>
              <a:ext uri="{FF2B5EF4-FFF2-40B4-BE49-F238E27FC236}">
                <a16:creationId xmlns:a16="http://schemas.microsoft.com/office/drawing/2014/main" id="{39B89EB1-E334-A4A4-E417-2FD8D0D4D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3664" y="2174699"/>
            <a:ext cx="18959249" cy="10090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727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3314" name="Picture 2" descr="Big data ecosystem. It not 'Now a day Big data..' story… | by divya jain |  Medium">
            <a:extLst>
              <a:ext uri="{FF2B5EF4-FFF2-40B4-BE49-F238E27FC236}">
                <a16:creationId xmlns:a16="http://schemas.microsoft.com/office/drawing/2014/main" id="{FE14E937-8383-2708-AFA4-C032E41741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5389" y="2111972"/>
            <a:ext cx="19346779" cy="11404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712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48"/>
        <p:cNvGrpSpPr/>
        <p:nvPr/>
      </p:nvGrpSpPr>
      <p:grpSpPr>
        <a:xfrm>
          <a:off x="0" y="0"/>
          <a:ext cx="0" cy="0"/>
          <a:chOff x="0" y="0"/>
          <a:chExt cx="0" cy="0"/>
        </a:xfrm>
      </p:grpSpPr>
      <p:sp>
        <p:nvSpPr>
          <p:cNvPr id="54" name="Google Shape;54;p10"/>
          <p:cNvSpPr txBox="1"/>
          <p:nvPr/>
        </p:nvSpPr>
        <p:spPr>
          <a:xfrm>
            <a:off x="1585389" y="1863401"/>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MX" sz="7200" b="1" i="1" dirty="0">
                <a:solidFill>
                  <a:schemeClr val="dk2"/>
                </a:solidFill>
                <a:latin typeface="Montserrat"/>
                <a:ea typeface="Montserrat"/>
                <a:cs typeface="Montserrat"/>
                <a:sym typeface="Montserrat"/>
              </a:rPr>
              <a:t>Recomendaciones de Aplicación</a:t>
            </a:r>
            <a:endParaRPr lang="es-MX" b="1" i="1" dirty="0"/>
          </a:p>
        </p:txBody>
      </p:sp>
      <p:sp>
        <p:nvSpPr>
          <p:cNvPr id="10" name="CuadroTexto 9">
            <a:extLst>
              <a:ext uri="{FF2B5EF4-FFF2-40B4-BE49-F238E27FC236}">
                <a16:creationId xmlns:a16="http://schemas.microsoft.com/office/drawing/2014/main" id="{F25412E2-FB29-493A-B049-92C6989EEAFA}"/>
              </a:ext>
            </a:extLst>
          </p:cNvPr>
          <p:cNvSpPr txBox="1"/>
          <p:nvPr/>
        </p:nvSpPr>
        <p:spPr>
          <a:xfrm>
            <a:off x="2112980" y="5632568"/>
            <a:ext cx="20999888" cy="5830827"/>
          </a:xfrm>
          <a:prstGeom prst="rect">
            <a:avLst/>
          </a:prstGeom>
          <a:noFill/>
        </p:spPr>
        <p:txBody>
          <a:bodyPr wrap="square">
            <a:spAutoFit/>
          </a:bodyPr>
          <a:lstStyle/>
          <a:p>
            <a:pPr algn="just">
              <a:lnSpc>
                <a:spcPct val="150000"/>
              </a:lnSpc>
            </a:pPr>
            <a:r>
              <a:rPr lang="es-MX" sz="3600" dirty="0">
                <a:solidFill>
                  <a:schemeClr val="dk2"/>
                </a:solidFill>
                <a:latin typeface="Poppins"/>
                <a:cs typeface="Poppins"/>
              </a:rPr>
              <a:t>1. Se debe dedicar un esfuerzo importante en conseguir resultados centrados en el cliente.</a:t>
            </a:r>
          </a:p>
          <a:p>
            <a:pPr algn="just">
              <a:lnSpc>
                <a:spcPct val="150000"/>
              </a:lnSpc>
            </a:pPr>
            <a:r>
              <a:rPr lang="es-MX" sz="3600" dirty="0">
                <a:solidFill>
                  <a:schemeClr val="dk2"/>
                </a:solidFill>
                <a:latin typeface="Poppins"/>
                <a:cs typeface="Poppins"/>
              </a:rPr>
              <a:t>2. Desarrollar proyectos Big Data para toda la empresa.</a:t>
            </a:r>
          </a:p>
          <a:p>
            <a:pPr algn="just">
              <a:lnSpc>
                <a:spcPct val="150000"/>
              </a:lnSpc>
            </a:pPr>
            <a:r>
              <a:rPr lang="es-MX" sz="3600" dirty="0">
                <a:solidFill>
                  <a:schemeClr val="dk2"/>
                </a:solidFill>
                <a:latin typeface="Poppins"/>
                <a:cs typeface="Poppins"/>
              </a:rPr>
              <a:t>3. La forma más correcta de iniciar un proyecto Big Data, consiste en plantearse objetivos a corto plazo.</a:t>
            </a:r>
          </a:p>
          <a:p>
            <a:pPr algn="just">
              <a:lnSpc>
                <a:spcPct val="150000"/>
              </a:lnSpc>
            </a:pPr>
            <a:r>
              <a:rPr lang="es-MX" sz="3600" dirty="0">
                <a:solidFill>
                  <a:schemeClr val="dk2"/>
                </a:solidFill>
                <a:latin typeface="Poppins"/>
                <a:cs typeface="Poppins"/>
              </a:rPr>
              <a:t>4. Desarrollar funcionalidades analíticas sobre las necesidades y prioridades de negocio.</a:t>
            </a:r>
          </a:p>
          <a:p>
            <a:pPr algn="just">
              <a:lnSpc>
                <a:spcPct val="150000"/>
              </a:lnSpc>
            </a:pPr>
            <a:r>
              <a:rPr lang="es-MX" sz="3600" dirty="0">
                <a:solidFill>
                  <a:schemeClr val="dk2"/>
                </a:solidFill>
                <a:latin typeface="Poppins"/>
                <a:cs typeface="Poppins"/>
              </a:rPr>
              <a:t>5. Optimizar los sistemas de información del negocio.</a:t>
            </a:r>
          </a:p>
          <a:p>
            <a:pPr algn="just">
              <a:lnSpc>
                <a:spcPct val="150000"/>
              </a:lnSpc>
            </a:pPr>
            <a:r>
              <a:rPr lang="es-MX" sz="3600" dirty="0">
                <a:solidFill>
                  <a:schemeClr val="dk2"/>
                </a:solidFill>
                <a:latin typeface="Poppins"/>
                <a:cs typeface="Poppins"/>
              </a:rPr>
              <a:t>6. Crear un equipo especialista de data </a:t>
            </a:r>
            <a:r>
              <a:rPr lang="es-MX" sz="3600" dirty="0" err="1">
                <a:solidFill>
                  <a:schemeClr val="dk2"/>
                </a:solidFill>
                <a:latin typeface="Poppins"/>
                <a:cs typeface="Poppins"/>
              </a:rPr>
              <a:t>scientists</a:t>
            </a:r>
            <a:r>
              <a:rPr lang="es-MX" sz="3600" dirty="0">
                <a:solidFill>
                  <a:schemeClr val="dk2"/>
                </a:solidFill>
                <a:latin typeface="Poppins"/>
                <a:cs typeface="Poppins"/>
              </a:rPr>
              <a:t>.</a:t>
            </a:r>
          </a:p>
        </p:txBody>
      </p:sp>
      <p:pic>
        <p:nvPicPr>
          <p:cNvPr id="2" name="Imagen 1">
            <a:extLst>
              <a:ext uri="{FF2B5EF4-FFF2-40B4-BE49-F238E27FC236}">
                <a16:creationId xmlns:a16="http://schemas.microsoft.com/office/drawing/2014/main" id="{4CBA5C35-D04D-CF70-61DC-EBE0EF134B6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AE13E4C-9483-3D33-9B1B-BD83C1659BC5}"/>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4AF04C59-5B74-11C3-6C29-9E64C0CF7CF2}"/>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EBA10DB-3AB2-F0CC-BA1F-8727369708AB}"/>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531850341"/>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108859" y="1990790"/>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 sz="7200" dirty="0"/>
              <a:t>Aplicaciones y Casos reales</a:t>
            </a:r>
            <a:endParaRPr lang="es-MX" b="1" i="1" dirty="0"/>
          </a:p>
        </p:txBody>
      </p:sp>
      <p:sp>
        <p:nvSpPr>
          <p:cNvPr id="10" name="CuadroTexto 9">
            <a:extLst>
              <a:ext uri="{FF2B5EF4-FFF2-40B4-BE49-F238E27FC236}">
                <a16:creationId xmlns:a16="http://schemas.microsoft.com/office/drawing/2014/main" id="{F25412E2-FB29-493A-B049-92C6989EEAFA}"/>
              </a:ext>
            </a:extLst>
          </p:cNvPr>
          <p:cNvSpPr txBox="1"/>
          <p:nvPr/>
        </p:nvSpPr>
        <p:spPr>
          <a:xfrm>
            <a:off x="1631048" y="3786724"/>
            <a:ext cx="14714391" cy="6661824"/>
          </a:xfrm>
          <a:prstGeom prst="rect">
            <a:avLst/>
          </a:prstGeom>
          <a:noFill/>
        </p:spPr>
        <p:txBody>
          <a:bodyPr wrap="square">
            <a:spAutoFit/>
          </a:bodyPr>
          <a:lstStyle/>
          <a:p>
            <a:pPr algn="just">
              <a:lnSpc>
                <a:spcPct val="150000"/>
              </a:lnSpc>
            </a:pPr>
            <a:r>
              <a:rPr lang="es-MX" sz="3600" dirty="0">
                <a:solidFill>
                  <a:schemeClr val="dk2"/>
                </a:solidFill>
                <a:latin typeface="Poppins"/>
                <a:cs typeface="Poppins"/>
              </a:rPr>
              <a:t>Entre las ventajas más importantes a mencionar, se encuentran: </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Mejora el proceso de toma de decisión.</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Seguridad en los datos.</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Obtener ventajas competitivas.</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Mejora de la accesibilidad de la información dentro de la empresa.</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Nuevas fuentes de ingresos.</a:t>
            </a:r>
          </a:p>
        </p:txBody>
      </p:sp>
      <p:pic>
        <p:nvPicPr>
          <p:cNvPr id="6" name="6 Imagen" descr="Resultado de imagen de conclusiones">
            <a:extLst>
              <a:ext uri="{FF2B5EF4-FFF2-40B4-BE49-F238E27FC236}">
                <a16:creationId xmlns:a16="http://schemas.microsoft.com/office/drawing/2014/main" id="{887C27E1-E271-4DFF-85EE-EE8D514F430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6345439" y="9741396"/>
            <a:ext cx="3804229" cy="3674608"/>
          </a:xfrm>
          <a:prstGeom prst="rect">
            <a:avLst/>
          </a:prstGeom>
          <a:noFill/>
          <a:ln>
            <a:noFill/>
          </a:ln>
        </p:spPr>
      </p:pic>
      <p:pic>
        <p:nvPicPr>
          <p:cNvPr id="2" name="Imagen 1">
            <a:extLst>
              <a:ext uri="{FF2B5EF4-FFF2-40B4-BE49-F238E27FC236}">
                <a16:creationId xmlns:a16="http://schemas.microsoft.com/office/drawing/2014/main" id="{4F66B2FA-29FF-ADC1-7777-7D1917B0944A}"/>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A5EEED9-0160-8B97-6273-040D4EA124E1}"/>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E101F4D-1FE1-7B2E-25CA-EFA254B7EA4E}"/>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DD04039-BD1E-068A-C9FE-8CDAA93F6CE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2391066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818869" y="3775074"/>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AR" sz="3600" dirty="0">
                <a:solidFill>
                  <a:schemeClr val="dk2"/>
                </a:solidFill>
                <a:latin typeface="Poppins"/>
                <a:cs typeface="Poppins"/>
              </a:rPr>
              <a:t>A la hora de implementar un proyecto de Big Data tenemos que tener en cuenta ciertas consideraciones asociadas con: </a:t>
            </a:r>
          </a:p>
          <a:p>
            <a:pPr algn="just">
              <a:lnSpc>
                <a:spcPct val="150000"/>
              </a:lnSpc>
            </a:pPr>
            <a:endParaRPr lang="es-AR" sz="3600" dirty="0">
              <a:solidFill>
                <a:schemeClr val="dk2"/>
              </a:solidFill>
              <a:latin typeface="Poppins"/>
              <a:cs typeface="Poppins"/>
            </a:endParaRP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La ciberseguridad y la seguridad informática.</a:t>
            </a: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Políticas de protección de datos personales.</a:t>
            </a: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Gestión y almacenamiento de grandes volúmenes de datos.</a:t>
            </a:r>
          </a:p>
          <a:p>
            <a:pPr marL="355604" algn="just">
              <a:lnSpc>
                <a:spcPct val="150000"/>
              </a:lnSpc>
              <a:buClr>
                <a:schemeClr val="dk2"/>
              </a:buClr>
              <a:buSzPts val="1500"/>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pic>
        <p:nvPicPr>
          <p:cNvPr id="1026" name="Picture 2" descr="Big Data: ¿Qué es, cómo funciona y por qué es importante? - Mailjet"/>
          <p:cNvPicPr>
            <a:picLocks noChangeAspect="1" noChangeArrowheads="1"/>
          </p:cNvPicPr>
          <p:nvPr/>
        </p:nvPicPr>
        <p:blipFill rotWithShape="1">
          <a:blip r:embed="rId4">
            <a:extLst>
              <a:ext uri="{28A0092B-C50C-407E-A947-70E740481C1C}">
                <a14:useLocalDpi xmlns:a14="http://schemas.microsoft.com/office/drawing/2010/main" val="0"/>
              </a:ext>
            </a:extLst>
          </a:blip>
          <a:srcRect l="5772" t="4960" r="5082" b="17107"/>
          <a:stretch/>
        </p:blipFill>
        <p:spPr bwMode="auto">
          <a:xfrm>
            <a:off x="15758825" y="8460508"/>
            <a:ext cx="7998693" cy="4943917"/>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80;p12">
            <a:extLst>
              <a:ext uri="{FF2B5EF4-FFF2-40B4-BE49-F238E27FC236}">
                <a16:creationId xmlns:a16="http://schemas.microsoft.com/office/drawing/2014/main" id="{A0ED6AF7-DD4A-4B98-ACB9-115897873B48}"/>
              </a:ext>
            </a:extLst>
          </p:cNvPr>
          <p:cNvSpPr txBox="1"/>
          <p:nvPr/>
        </p:nvSpPr>
        <p:spPr>
          <a:xfrm>
            <a:off x="690699" y="2053191"/>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Consideraciones</a:t>
            </a:r>
            <a:endParaRPr dirty="0"/>
          </a:p>
        </p:txBody>
      </p:sp>
      <p:pic>
        <p:nvPicPr>
          <p:cNvPr id="2" name="Imagen 1">
            <a:extLst>
              <a:ext uri="{FF2B5EF4-FFF2-40B4-BE49-F238E27FC236}">
                <a16:creationId xmlns:a16="http://schemas.microsoft.com/office/drawing/2014/main" id="{5A9ADE1A-7CE5-30DE-41EF-83638FD1E606}"/>
              </a:ext>
            </a:extLst>
          </p:cNvPr>
          <p:cNvPicPr>
            <a:picLocks noChangeAspect="1"/>
          </p:cNvPicPr>
          <p:nvPr/>
        </p:nvPicPr>
        <p:blipFill>
          <a:blip r:embed="rId5"/>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4EC6964F-7ADD-9F38-B692-6EBC8A238DEB}"/>
              </a:ext>
            </a:extLst>
          </p:cNvPr>
          <p:cNvPicPr>
            <a:picLocks noChangeAspect="1"/>
          </p:cNvPicPr>
          <p:nvPr/>
        </p:nvPicPr>
        <p:blipFill>
          <a:blip r:embed="rId6"/>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5A8E270D-CC7B-6E91-B1E6-5EA9EB6AE40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136BC540-039E-8BC8-C01E-D5267A567A06}"/>
              </a:ext>
            </a:extLst>
          </p:cNvPr>
          <p:cNvPicPr>
            <a:picLocks noChangeAspect="1"/>
          </p:cNvPicPr>
          <p:nvPr/>
        </p:nvPicPr>
        <p:blipFill>
          <a:blip r:embed="rId7"/>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235146586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p:nvPr/>
        </p:nvSpPr>
        <p:spPr>
          <a:xfrm>
            <a:off x="947039" y="3139217"/>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marketing y ventas:</a:t>
            </a:r>
          </a:p>
          <a:p>
            <a:pPr algn="just">
              <a:lnSpc>
                <a:spcPct val="150000"/>
              </a:lnSpc>
            </a:pPr>
            <a:r>
              <a:rPr lang="es-MX" sz="3600" dirty="0">
                <a:solidFill>
                  <a:schemeClr val="dk2"/>
                </a:solidFill>
                <a:latin typeface="Poppins"/>
                <a:cs typeface="Poppins"/>
              </a:rPr>
              <a:t>Los datos de los clientes se analizan y procesan obteniendo información relativa a sus gustos, preferencias, comportamientos. Así se pueden clasificar o segmentar a los mismos en diferentes categorías y utilizar modelos predictivos para que las organizaciones puedan tener indicadores de aceptación de sus productos, potenciales ventas.</a:t>
            </a:r>
          </a:p>
          <a:p>
            <a:pPr algn="just">
              <a:lnSpc>
                <a:spcPct val="150000"/>
              </a:lnSpc>
            </a:pPr>
            <a:endParaRPr lang="es-MX" sz="3600" dirty="0">
              <a:solidFill>
                <a:schemeClr val="dk2"/>
              </a:solidFill>
              <a:latin typeface="Poppins"/>
              <a:cs typeface="Poppins"/>
              <a:sym typeface="Roboto"/>
            </a:endParaRPr>
          </a:p>
          <a:p>
            <a:pPr algn="l" fontAlgn="base"/>
            <a:r>
              <a:rPr lang="es-MX" sz="4400" b="1" i="0" dirty="0">
                <a:solidFill>
                  <a:srgbClr val="363636"/>
                </a:solidFill>
                <a:effectLst/>
                <a:latin typeface="unitcomp"/>
              </a:rPr>
              <a:t>Big Data en telecomunicaciones</a:t>
            </a:r>
          </a:p>
          <a:p>
            <a:pPr algn="just" fontAlgn="base">
              <a:lnSpc>
                <a:spcPct val="150000"/>
              </a:lnSpc>
            </a:pPr>
            <a:r>
              <a:rPr lang="es-MX" sz="3600" dirty="0">
                <a:solidFill>
                  <a:schemeClr val="dk2"/>
                </a:solidFill>
                <a:latin typeface="Poppins"/>
                <a:cs typeface="Poppins"/>
              </a:rPr>
              <a:t>Algunos operadores de telefonía móvil utilizan el Big Data para analizar qué se dice de ellas en las redes sociales, examinar los datos de sus tickets de soporte a clientes o sus quejas. Esto posibilita implementar estrategias que permiten reducir el número de portabilidades o incrementar la captación de nuevos clientes.</a:t>
            </a:r>
          </a:p>
          <a:p>
            <a:pPr algn="just">
              <a:lnSpc>
                <a:spcPct val="150000"/>
              </a:lnSpc>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586672" y="1807328"/>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E08904E5-7DF3-76C7-925F-E3683475B687}"/>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A9BB3431-27F8-ED2B-6EEE-3DC9C7732A07}"/>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FC95824E-469F-F16F-033A-6CFD032A7537}"/>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1E2F8F1B-8321-18D8-11C3-19122815786D}"/>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189082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1062926" y="3850983"/>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la logística y transporte</a:t>
            </a:r>
          </a:p>
          <a:p>
            <a:pPr algn="just">
              <a:lnSpc>
                <a:spcPct val="150000"/>
              </a:lnSpc>
            </a:pPr>
            <a:r>
              <a:rPr lang="es-MX" sz="3600" dirty="0">
                <a:solidFill>
                  <a:schemeClr val="dk2"/>
                </a:solidFill>
                <a:latin typeface="Poppins"/>
                <a:cs typeface="Poppins"/>
              </a:rPr>
              <a:t>El incremento del tráfico en carreteras, la mayor deslocalización de los almacenes, las fluctuaciones del precio de los combustibles, la internacionalización empresarial y el auge del comercio electrónico, son tendencias logísticas sobre las que Big Data interviene.</a:t>
            </a:r>
          </a:p>
          <a:p>
            <a:pPr algn="just">
              <a:lnSpc>
                <a:spcPct val="150000"/>
              </a:lnSpc>
            </a:pPr>
            <a:endParaRPr lang="es-MX" sz="3600" dirty="0">
              <a:solidFill>
                <a:schemeClr val="dk2"/>
              </a:solidFill>
              <a:latin typeface="Poppins"/>
              <a:cs typeface="Poppins"/>
            </a:endParaRPr>
          </a:p>
          <a:p>
            <a:pPr algn="just">
              <a:lnSpc>
                <a:spcPct val="150000"/>
              </a:lnSpc>
            </a:pPr>
            <a:r>
              <a:rPr lang="es-MX" sz="3600" dirty="0">
                <a:solidFill>
                  <a:schemeClr val="dk2"/>
                </a:solidFill>
                <a:latin typeface="Poppins"/>
                <a:cs typeface="Poppins"/>
              </a:rPr>
              <a:t>Aquí, los sistemas Big Data trabajan con información obtenida de los GPS de los vehículos, de los datos de tráfico de las instituciones oficiales, datos de movilidad de personas y materiales en almacenes, información de abastecimiento del producto por parte de los clientes, etc.</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586672" y="2097197"/>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7431FE15-0B20-0096-A001-B761C0EBC902}"/>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082DE3D-7571-2CB1-6661-DBFA8D46E055}"/>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60FCCED7-0A58-EE19-BF04-18B4F92FAC0F}"/>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FDDB2EF-1719-54FC-41EE-73ED0E042D5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818594376"/>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1062926" y="4519898"/>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los procesos de producción:</a:t>
            </a:r>
          </a:p>
          <a:p>
            <a:pPr algn="just">
              <a:lnSpc>
                <a:spcPct val="150000"/>
              </a:lnSpc>
            </a:pPr>
            <a:r>
              <a:rPr lang="es-MX" sz="3600" dirty="0">
                <a:solidFill>
                  <a:schemeClr val="dk2"/>
                </a:solidFill>
                <a:latin typeface="Poppins"/>
                <a:cs typeface="Poppins"/>
              </a:rPr>
              <a:t>Dentro de las propias acciones de fabricación, el análisis de datos es clave para, por ejemplo, evitar que aparezcan fallos mecánicos en la maquinaria. En este caso, se combina la tecnología Big Data con la inteligencia artificial para dar forma al mantenimiento predictivo.</a:t>
            </a:r>
          </a:p>
          <a:p>
            <a:pPr algn="just">
              <a:lnSpc>
                <a:spcPct val="150000"/>
              </a:lnSpc>
            </a:pPr>
            <a:endParaRPr lang="es-MX" sz="3600" dirty="0">
              <a:solidFill>
                <a:schemeClr val="dk2"/>
              </a:solidFill>
              <a:latin typeface="Poppins"/>
              <a:cs typeface="Poppins"/>
            </a:endParaRPr>
          </a:p>
          <a:p>
            <a:pPr algn="just">
              <a:lnSpc>
                <a:spcPct val="150000"/>
              </a:lnSpc>
            </a:pPr>
            <a:r>
              <a:rPr lang="es-MX" sz="3600" dirty="0">
                <a:solidFill>
                  <a:schemeClr val="dk2"/>
                </a:solidFill>
                <a:latin typeface="Poppins"/>
                <a:cs typeface="Poppins"/>
              </a:rPr>
              <a:t>De esta forma, podremos anticiparnos a la aparición de fallos críticos. Unos fallos que pueden paralizar el trabajo o crear productos defectuosos, sin ningún valor y que generen importantes pérdidas económicas.</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690701" y="2025351"/>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3DC37F82-CF82-FE43-0833-2A303D15DE87}"/>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5AD2D94E-A3D1-B4D9-5E21-40167E8C05EF}"/>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4A1CA5AE-D460-54BB-D984-67CF380723D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43B7622-2BD8-8BD1-148C-2613C1CC0BA7}"/>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502266590"/>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4 Imagen" descr="Amazon.com: Compras en Línea de Electrónicos, Ropa, Computadoras ...">
            <a:extLst>
              <a:ext uri="{FF2B5EF4-FFF2-40B4-BE49-F238E27FC236}">
                <a16:creationId xmlns:a16="http://schemas.microsoft.com/office/drawing/2014/main" id="{C8216202-0C5C-436C-954A-CC217CA79932}"/>
              </a:ext>
            </a:extLst>
          </p:cNvPr>
          <p:cNvPicPr/>
          <p:nvPr/>
        </p:nvPicPr>
        <p:blipFill rotWithShape="1">
          <a:blip r:embed="rId3" cstate="print">
            <a:extLst>
              <a:ext uri="{28A0092B-C50C-407E-A947-70E740481C1C}">
                <a14:useLocalDpi xmlns:a14="http://schemas.microsoft.com/office/drawing/2010/main" val="0"/>
              </a:ext>
            </a:extLst>
          </a:blip>
          <a:srcRect t="32317" b="35061"/>
          <a:stretch/>
        </p:blipFill>
        <p:spPr bwMode="auto">
          <a:xfrm>
            <a:off x="8477161" y="2668441"/>
            <a:ext cx="5642187" cy="2060400"/>
          </a:xfrm>
          <a:prstGeom prst="rect">
            <a:avLst/>
          </a:prstGeom>
          <a:noFill/>
          <a:ln>
            <a:noFill/>
          </a:ln>
          <a:extLst>
            <a:ext uri="{53640926-AAD7-44D8-BBD7-CCE9431645EC}">
              <a14:shadowObscured xmlns:a14="http://schemas.microsoft.com/office/drawing/2010/main"/>
            </a:ext>
          </a:extLst>
        </p:spPr>
      </p:pic>
      <p:sp>
        <p:nvSpPr>
          <p:cNvPr id="8" name="2 Rectángulo">
            <a:extLst>
              <a:ext uri="{FF2B5EF4-FFF2-40B4-BE49-F238E27FC236}">
                <a16:creationId xmlns:a16="http://schemas.microsoft.com/office/drawing/2014/main" id="{38A95AB2-EFCF-4D99-A75C-1B2D73619CC8}"/>
              </a:ext>
            </a:extLst>
          </p:cNvPr>
          <p:cNvSpPr/>
          <p:nvPr/>
        </p:nvSpPr>
        <p:spPr>
          <a:xfrm>
            <a:off x="4362137" y="5339366"/>
            <a:ext cx="14436420" cy="7492820"/>
          </a:xfrm>
          <a:prstGeom prst="rect">
            <a:avLst/>
          </a:prstGeom>
        </p:spPr>
        <p:txBody>
          <a:bodyPr wrap="square">
            <a:spAutoFit/>
          </a:bodyPr>
          <a:lstStyle/>
          <a:p>
            <a:pPr algn="just">
              <a:lnSpc>
                <a:spcPct val="150000"/>
              </a:lnSpc>
            </a:pPr>
            <a:r>
              <a:rPr lang="es-AR" sz="3600" dirty="0">
                <a:solidFill>
                  <a:schemeClr val="dk2"/>
                </a:solidFill>
                <a:latin typeface="Poppins"/>
                <a:cs typeface="Poppins"/>
                <a:sym typeface="Roboto"/>
              </a:rPr>
              <a:t>Amazon es el rey del </a:t>
            </a:r>
            <a:r>
              <a:rPr lang="es-AR" sz="3600" dirty="0" err="1">
                <a:solidFill>
                  <a:schemeClr val="dk2"/>
                </a:solidFill>
                <a:latin typeface="Poppins"/>
                <a:cs typeface="Poppins"/>
                <a:sym typeface="Roboto"/>
              </a:rPr>
              <a:t>eCommerce</a:t>
            </a:r>
            <a:r>
              <a:rPr lang="es-AR" sz="3600" dirty="0">
                <a:solidFill>
                  <a:schemeClr val="dk2"/>
                </a:solidFill>
                <a:latin typeface="Poppins"/>
                <a:cs typeface="Poppins"/>
                <a:sym typeface="Roboto"/>
              </a:rPr>
              <a:t> porque supo adoptar la tecnología de vanguardia para recolectar, analizar y utilizar la cantidad masiva de datos a la que tienen acceso a partir del historial de búsqueda y de compra de una persona. </a:t>
            </a:r>
          </a:p>
          <a:p>
            <a:pPr algn="just">
              <a:lnSpc>
                <a:spcPct val="150000"/>
              </a:lnSpc>
            </a:pPr>
            <a:endParaRPr lang="es-AR" sz="3600" dirty="0">
              <a:solidFill>
                <a:schemeClr val="dk2"/>
              </a:solidFill>
              <a:latin typeface="Poppins"/>
              <a:cs typeface="Poppins"/>
              <a:sym typeface="Roboto"/>
            </a:endParaRPr>
          </a:p>
          <a:p>
            <a:pPr algn="just">
              <a:lnSpc>
                <a:spcPct val="150000"/>
              </a:lnSpc>
            </a:pPr>
            <a:r>
              <a:rPr lang="es-AR" sz="3600" dirty="0">
                <a:solidFill>
                  <a:schemeClr val="dk2"/>
                </a:solidFill>
                <a:latin typeface="Poppins"/>
                <a:cs typeface="Poppins"/>
                <a:sym typeface="Roboto"/>
              </a:rPr>
              <a:t>Con toda esta información, la compañía logró optimizar su cadena de suministro, mejorar sus sistemas de recomendación y en consecuencia perfeccionar su política de precios.</a:t>
            </a:r>
          </a:p>
        </p:txBody>
      </p:sp>
      <p:sp>
        <p:nvSpPr>
          <p:cNvPr id="12" name="CuadroTexto 11">
            <a:extLst>
              <a:ext uri="{FF2B5EF4-FFF2-40B4-BE49-F238E27FC236}">
                <a16:creationId xmlns:a16="http://schemas.microsoft.com/office/drawing/2014/main" id="{3C8A6787-46C6-48A5-9526-0C775AA6C6AC}"/>
              </a:ext>
            </a:extLst>
          </p:cNvPr>
          <p:cNvSpPr txBox="1"/>
          <p:nvPr/>
        </p:nvSpPr>
        <p:spPr>
          <a:xfrm>
            <a:off x="18293181" y="1083017"/>
            <a:ext cx="12187988" cy="830997"/>
          </a:xfrm>
          <a:prstGeom prst="rect">
            <a:avLst/>
          </a:prstGeom>
          <a:noFill/>
        </p:spPr>
        <p:txBody>
          <a:bodyPr wrap="square">
            <a:spAutoFit/>
          </a:bodyPr>
          <a:lstStyle/>
          <a:p>
            <a:r>
              <a:rPr lang="es-US" sz="4800" b="1" dirty="0">
                <a:solidFill>
                  <a:schemeClr val="dk2"/>
                </a:solidFill>
                <a:latin typeface="Poppins"/>
                <a:cs typeface="Poppins"/>
              </a:rPr>
              <a:t>Casos de Éxito</a:t>
            </a:r>
          </a:p>
        </p:txBody>
      </p:sp>
      <p:pic>
        <p:nvPicPr>
          <p:cNvPr id="2" name="Imagen 1">
            <a:extLst>
              <a:ext uri="{FF2B5EF4-FFF2-40B4-BE49-F238E27FC236}">
                <a16:creationId xmlns:a16="http://schemas.microsoft.com/office/drawing/2014/main" id="{65F67673-BC49-DB5A-B1E8-A72489DDDE64}"/>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5788CBD-7F89-BD58-F6E8-7E0D0374545D}"/>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C3E27EAB-EF0C-D5AF-0DDE-61445C8C6580}"/>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E7C5865B-8C6F-1036-B06D-6C7EB8C872B4}"/>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472651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6" name="Google Shape;111;p20">
            <a:extLst>
              <a:ext uri="{FF2B5EF4-FFF2-40B4-BE49-F238E27FC236}">
                <a16:creationId xmlns:a16="http://schemas.microsoft.com/office/drawing/2014/main" id="{47808912-EB2A-44B6-939C-600269FCA329}"/>
              </a:ext>
            </a:extLst>
          </p:cNvPr>
          <p:cNvSpPr txBox="1"/>
          <p:nvPr/>
        </p:nvSpPr>
        <p:spPr>
          <a:xfrm>
            <a:off x="4911235" y="5925396"/>
            <a:ext cx="14564704" cy="717318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a:t>
            </a:r>
            <a:r>
              <a:rPr lang="es-AR" sz="3600" dirty="0">
                <a:solidFill>
                  <a:schemeClr val="dk2"/>
                </a:solidFill>
                <a:latin typeface="Poppins"/>
                <a:cs typeface="Poppins"/>
              </a:rPr>
              <a:t>Sin dudas, Netflix también es una de las empresas que mejor ha sabido utilizar a su favor todas las potencialidades que el Big Data ofrece en su masividad de datos. Entre las acciones que realiza, rastrea las calificaciones, el tiempo dedicado y las tendencias de cada uno de sus usuarios para brindar una lista o sugerencia personalizada. Además, en base a esos </a:t>
            </a:r>
            <a:r>
              <a:rPr lang="es-AR" sz="3600" dirty="0" err="1">
                <a:solidFill>
                  <a:schemeClr val="dk2"/>
                </a:solidFill>
                <a:latin typeface="Poppins"/>
                <a:cs typeface="Poppins"/>
              </a:rPr>
              <a:t>insight</a:t>
            </a:r>
            <a:r>
              <a:rPr lang="es-AR" sz="3600" dirty="0">
                <a:solidFill>
                  <a:schemeClr val="dk2"/>
                </a:solidFill>
                <a:latin typeface="Poppins"/>
                <a:cs typeface="Poppins"/>
              </a:rPr>
              <a:t> obtenidos planifica incluso su propia producción de contenido audiovisual.</a:t>
            </a:r>
            <a:r>
              <a:rPr lang="es" sz="3600" dirty="0">
                <a:solidFill>
                  <a:schemeClr val="dk2"/>
                </a:solidFill>
                <a:latin typeface="Poppins"/>
                <a:cs typeface="Poppins"/>
                <a:sym typeface="Roboto"/>
              </a:rPr>
              <a:t>”</a:t>
            </a:r>
            <a:endParaRPr sz="3600" dirty="0">
              <a:solidFill>
                <a:schemeClr val="dk2"/>
              </a:solidFill>
              <a:latin typeface="Poppins"/>
              <a:cs typeface="Poppins"/>
              <a:sym typeface="Roboto"/>
            </a:endParaRPr>
          </a:p>
          <a:p>
            <a:pPr algn="just">
              <a:lnSpc>
                <a:spcPct val="150000"/>
              </a:lnSpc>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pic>
        <p:nvPicPr>
          <p:cNvPr id="9" name="3 Imagen" descr="España ya tiene casi 3 millones y medio de usuarios de Netflix ...">
            <a:extLst>
              <a:ext uri="{FF2B5EF4-FFF2-40B4-BE49-F238E27FC236}">
                <a16:creationId xmlns:a16="http://schemas.microsoft.com/office/drawing/2014/main" id="{DE85DDC4-ABA0-4CB3-935C-C3C7709A173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6839" y="2190749"/>
            <a:ext cx="4417161" cy="2671941"/>
          </a:xfrm>
          <a:prstGeom prst="rect">
            <a:avLst/>
          </a:prstGeom>
          <a:noFill/>
          <a:ln>
            <a:solidFill>
              <a:schemeClr val="tx1"/>
            </a:solidFill>
          </a:ln>
        </p:spPr>
      </p:pic>
      <p:pic>
        <p:nvPicPr>
          <p:cNvPr id="2" name="Imagen 1">
            <a:extLst>
              <a:ext uri="{FF2B5EF4-FFF2-40B4-BE49-F238E27FC236}">
                <a16:creationId xmlns:a16="http://schemas.microsoft.com/office/drawing/2014/main" id="{0AD943D2-4C5B-33E8-1C90-08F276E3FEAF}"/>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58FEEFA8-75BD-90EE-A4A2-A1C2982E8CBC}"/>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2B5C5FAE-4FC6-A535-16A8-FEA64473B4E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71704F5-63B3-7849-5FE9-356382E286EE}"/>
              </a:ext>
            </a:extLst>
          </p:cNvPr>
          <p:cNvPicPr>
            <a:picLocks noChangeAspect="1"/>
          </p:cNvPicPr>
          <p:nvPr/>
        </p:nvPicPr>
        <p:blipFill>
          <a:blip r:embed="rId6"/>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345BFE10-D975-DC16-3B08-F1EDE7B36D4B}"/>
              </a:ext>
            </a:extLst>
          </p:cNvPr>
          <p:cNvPicPr>
            <a:picLocks noChangeAspect="1"/>
          </p:cNvPicPr>
          <p:nvPr/>
        </p:nvPicPr>
        <p:blipFill>
          <a:blip r:embed="rId4"/>
          <a:stretch>
            <a:fillRect/>
          </a:stretch>
        </p:blipFill>
        <p:spPr>
          <a:xfrm>
            <a:off x="739072" y="352120"/>
            <a:ext cx="3052617" cy="1200300"/>
          </a:xfrm>
          <a:prstGeom prst="rect">
            <a:avLst/>
          </a:prstGeom>
        </p:spPr>
      </p:pic>
      <p:pic>
        <p:nvPicPr>
          <p:cNvPr id="8" name="Imagen 7">
            <a:extLst>
              <a:ext uri="{FF2B5EF4-FFF2-40B4-BE49-F238E27FC236}">
                <a16:creationId xmlns:a16="http://schemas.microsoft.com/office/drawing/2014/main" id="{519BB250-763B-E18D-A552-6F28A296BAE0}"/>
              </a:ext>
            </a:extLst>
          </p:cNvPr>
          <p:cNvPicPr>
            <a:picLocks noChangeAspect="1"/>
          </p:cNvPicPr>
          <p:nvPr/>
        </p:nvPicPr>
        <p:blipFill>
          <a:blip r:embed="rId5"/>
          <a:stretch>
            <a:fillRect/>
          </a:stretch>
        </p:blipFill>
        <p:spPr>
          <a:xfrm>
            <a:off x="20302068" y="452396"/>
            <a:ext cx="3586490" cy="968435"/>
          </a:xfrm>
          <a:prstGeom prst="rect">
            <a:avLst/>
          </a:prstGeom>
        </p:spPr>
      </p:pic>
      <p:sp>
        <p:nvSpPr>
          <p:cNvPr id="10" name="Rectángulo 9">
            <a:extLst>
              <a:ext uri="{FF2B5EF4-FFF2-40B4-BE49-F238E27FC236}">
                <a16:creationId xmlns:a16="http://schemas.microsoft.com/office/drawing/2014/main" id="{D9EBA200-2922-2D82-2F4D-375004433057}"/>
              </a:ext>
            </a:extLst>
          </p:cNvPr>
          <p:cNvSpPr/>
          <p:nvPr/>
        </p:nvSpPr>
        <p:spPr>
          <a:xfrm>
            <a:off x="152400" y="15240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90A401E1-CDBC-4A47-34CE-3432E1F3B59E}"/>
              </a:ext>
            </a:extLst>
          </p:cNvPr>
          <p:cNvPicPr>
            <a:picLocks noChangeAspect="1"/>
          </p:cNvPicPr>
          <p:nvPr/>
        </p:nvPicPr>
        <p:blipFill>
          <a:blip r:embed="rId6"/>
          <a:stretch>
            <a:fillRect/>
          </a:stretch>
        </p:blipFill>
        <p:spPr>
          <a:xfrm>
            <a:off x="23357199" y="12646618"/>
            <a:ext cx="607560" cy="903930"/>
          </a:xfrm>
          <a:prstGeom prst="rect">
            <a:avLst/>
          </a:prstGeom>
        </p:spPr>
      </p:pic>
    </p:spTree>
    <p:extLst>
      <p:ext uri="{BB962C8B-B14F-4D97-AF65-F5344CB8AC3E}">
        <p14:creationId xmlns:p14="http://schemas.microsoft.com/office/powerpoint/2010/main" val="1855128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8" name="2 Rectángulo">
            <a:extLst>
              <a:ext uri="{FF2B5EF4-FFF2-40B4-BE49-F238E27FC236}">
                <a16:creationId xmlns:a16="http://schemas.microsoft.com/office/drawing/2014/main" id="{38A95AB2-EFCF-4D99-A75C-1B2D73619CC8}"/>
              </a:ext>
            </a:extLst>
          </p:cNvPr>
          <p:cNvSpPr/>
          <p:nvPr/>
        </p:nvSpPr>
        <p:spPr>
          <a:xfrm>
            <a:off x="5109441" y="4622366"/>
            <a:ext cx="15040227" cy="8323817"/>
          </a:xfrm>
          <a:prstGeom prst="rect">
            <a:avLst/>
          </a:prstGeom>
        </p:spPr>
        <p:txBody>
          <a:bodyPr wrap="square">
            <a:spAutoFit/>
          </a:bodyPr>
          <a:lstStyle/>
          <a:p>
            <a:pPr algn="just">
              <a:lnSpc>
                <a:spcPct val="150000"/>
              </a:lnSpc>
            </a:pPr>
            <a:r>
              <a:rPr lang="es-MX" sz="3600" dirty="0">
                <a:solidFill>
                  <a:schemeClr val="dk2"/>
                </a:solidFill>
                <a:latin typeface="Poppins"/>
                <a:cs typeface="Poppins"/>
                <a:sym typeface="Roboto"/>
              </a:rPr>
              <a:t>“Creo que todos, alguna vez nos hemos preguntado cómo Starbucks puede abrir 5 tiendas en un radio de 3 kilómetros y aun así siempre estar llenos? La realidad es que esta compañía cafetera, utiliza el Big Data para determinar el éxito potencial de cada tienda nueva que piensan abrir.  Recogen información sobre la ubicación, tráfico, área demográfica y comportamientos del consumidor. Realizar este tipo de evaluación antes de abrir una tienda, le permite a Starbucks hacer una estimación bastante precisa de cuál será la tasa de éxito y elegir la ubicación más adecuada y efectiva.”</a:t>
            </a:r>
          </a:p>
        </p:txBody>
      </p:sp>
      <p:pic>
        <p:nvPicPr>
          <p:cNvPr id="6" name="4 Imagen" descr="La eficiencia de Starbucks">
            <a:extLst>
              <a:ext uri="{FF2B5EF4-FFF2-40B4-BE49-F238E27FC236}">
                <a16:creationId xmlns:a16="http://schemas.microsoft.com/office/drawing/2014/main" id="{88A61677-19CD-41A5-9F03-A13F7AD003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38324" y="1305132"/>
            <a:ext cx="3316652" cy="2988363"/>
          </a:xfrm>
          <a:prstGeom prst="rect">
            <a:avLst/>
          </a:prstGeom>
          <a:noFill/>
          <a:ln>
            <a:noFill/>
          </a:ln>
        </p:spPr>
      </p:pic>
      <p:pic>
        <p:nvPicPr>
          <p:cNvPr id="2" name="Imagen 1">
            <a:extLst>
              <a:ext uri="{FF2B5EF4-FFF2-40B4-BE49-F238E27FC236}">
                <a16:creationId xmlns:a16="http://schemas.microsoft.com/office/drawing/2014/main" id="{9ED81879-6C72-A4B1-2076-BA8D7851EAE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E1F1B662-8EFF-BB67-E099-CF55630D8F5E}"/>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81FC7E9-714A-846B-8B94-A7E7AFC831B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20915C1-BC97-EFD8-F380-DB327AA72C64}"/>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9731932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4"/>
        <p:cNvGrpSpPr/>
        <p:nvPr/>
      </p:nvGrpSpPr>
      <p:grpSpPr>
        <a:xfrm>
          <a:off x="0" y="0"/>
          <a:ext cx="0" cy="0"/>
          <a:chOff x="0" y="0"/>
          <a:chExt cx="0" cy="0"/>
        </a:xfrm>
      </p:grpSpPr>
      <p:sp>
        <p:nvSpPr>
          <p:cNvPr id="5" name="Google Shape;80;p12">
            <a:extLst>
              <a:ext uri="{FF2B5EF4-FFF2-40B4-BE49-F238E27FC236}">
                <a16:creationId xmlns:a16="http://schemas.microsoft.com/office/drawing/2014/main" id="{39790C59-6689-4DFE-A0D6-55FAA3E66555}"/>
              </a:ext>
            </a:extLst>
          </p:cNvPr>
          <p:cNvSpPr txBox="1"/>
          <p:nvPr/>
        </p:nvSpPr>
        <p:spPr>
          <a:xfrm>
            <a:off x="690701" y="170515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Conclusiones</a:t>
            </a:r>
            <a:r>
              <a:rPr lang="en-US" dirty="0">
                <a:sym typeface="Montserrat"/>
              </a:rPr>
              <a:t> del Taller</a:t>
            </a:r>
            <a:endParaRPr dirty="0"/>
          </a:p>
        </p:txBody>
      </p:sp>
      <p:sp>
        <p:nvSpPr>
          <p:cNvPr id="6" name="CuadroTexto 5">
            <a:extLst>
              <a:ext uri="{FF2B5EF4-FFF2-40B4-BE49-F238E27FC236}">
                <a16:creationId xmlns:a16="http://schemas.microsoft.com/office/drawing/2014/main" id="{A6C91BB8-1AD1-459D-8D99-85EE3AD932BE}"/>
              </a:ext>
            </a:extLst>
          </p:cNvPr>
          <p:cNvSpPr txBox="1"/>
          <p:nvPr/>
        </p:nvSpPr>
        <p:spPr>
          <a:xfrm>
            <a:off x="968542" y="3478039"/>
            <a:ext cx="22727930" cy="6661824"/>
          </a:xfrm>
          <a:prstGeom prst="rect">
            <a:avLst/>
          </a:prstGeom>
          <a:noFill/>
        </p:spPr>
        <p:txBody>
          <a:bodyPr wrap="square">
            <a:spAutoFit/>
          </a:bodyPr>
          <a:lstStyle/>
          <a:p>
            <a:pPr marL="762010" indent="-762010" algn="just">
              <a:lnSpc>
                <a:spcPct val="150000"/>
              </a:lnSpc>
              <a:buFont typeface="Arial" panose="020B0604020202020204" pitchFamily="34" charset="0"/>
              <a:buChar char="•"/>
            </a:pPr>
            <a:r>
              <a:rPr lang="es-AR" sz="3600" dirty="0">
                <a:solidFill>
                  <a:schemeClr val="dk2"/>
                </a:solidFill>
                <a:latin typeface="Poppins"/>
                <a:cs typeface="Poppins"/>
                <a:sym typeface="Roboto"/>
              </a:rPr>
              <a:t>La gran mayoría de casos involucra siempre, la aplicación de diversas tecnologías como ser: Inteligencia de Negocios, Ciencia de Datos, Machine </a:t>
            </a:r>
            <a:r>
              <a:rPr lang="es-AR" sz="3600" dirty="0" err="1">
                <a:solidFill>
                  <a:schemeClr val="dk2"/>
                </a:solidFill>
                <a:latin typeface="Poppins"/>
                <a:cs typeface="Poppins"/>
                <a:sym typeface="Roboto"/>
              </a:rPr>
              <a:t>Learning</a:t>
            </a:r>
            <a:r>
              <a:rPr lang="es-AR" sz="3600" dirty="0">
                <a:solidFill>
                  <a:schemeClr val="dk2"/>
                </a:solidFill>
                <a:latin typeface="Poppins"/>
                <a:cs typeface="Poppins"/>
                <a:sym typeface="Roboto"/>
              </a:rPr>
              <a:t>, Inteligencia Artificial, etc.</a:t>
            </a:r>
          </a:p>
          <a:p>
            <a:pPr marL="762010" indent="-762010" algn="just">
              <a:lnSpc>
                <a:spcPct val="150000"/>
              </a:lnSpc>
              <a:buFont typeface="Arial" panose="020B0604020202020204" pitchFamily="34" charset="0"/>
              <a:buChar char="•"/>
            </a:pPr>
            <a:endParaRPr lang="es-AR" sz="3600" dirty="0">
              <a:solidFill>
                <a:schemeClr val="dk2"/>
              </a:solidFill>
              <a:latin typeface="Poppins"/>
              <a:cs typeface="Poppins"/>
              <a:sym typeface="Roboto"/>
            </a:endParaRPr>
          </a:p>
          <a:p>
            <a:pPr marL="762010" indent="-762010" algn="just">
              <a:lnSpc>
                <a:spcPct val="150000"/>
              </a:lnSpc>
              <a:buFont typeface="Arial" panose="020B0604020202020204" pitchFamily="34" charset="0"/>
              <a:buChar char="•"/>
            </a:pPr>
            <a:r>
              <a:rPr lang="es-AR" sz="3600" dirty="0">
                <a:solidFill>
                  <a:schemeClr val="dk2"/>
                </a:solidFill>
                <a:latin typeface="Poppins"/>
                <a:cs typeface="Poppins"/>
                <a:sym typeface="Roboto"/>
              </a:rPr>
              <a:t>Una solución de Big Data siempre estará asociada a las famosas 3 “V” del Big Data (Volumen, Velocidad y Variedad).</a:t>
            </a:r>
          </a:p>
          <a:p>
            <a:pPr algn="just">
              <a:lnSpc>
                <a:spcPct val="150000"/>
              </a:lnSpc>
            </a:pPr>
            <a:endParaRPr lang="es-AR" sz="3600" dirty="0">
              <a:solidFill>
                <a:schemeClr val="dk2"/>
              </a:solidFill>
              <a:latin typeface="Poppins"/>
              <a:cs typeface="Poppins"/>
              <a:sym typeface="Roboto"/>
            </a:endParaRPr>
          </a:p>
          <a:p>
            <a:pPr algn="just">
              <a:lnSpc>
                <a:spcPct val="150000"/>
              </a:lnSpc>
            </a:pPr>
            <a:r>
              <a:rPr lang="es-AR" sz="3600" dirty="0">
                <a:solidFill>
                  <a:schemeClr val="dk2"/>
                </a:solidFill>
                <a:latin typeface="Poppins"/>
                <a:cs typeface="Poppins"/>
                <a:sym typeface="Roboto"/>
              </a:rPr>
              <a:t>“</a:t>
            </a:r>
            <a:r>
              <a:rPr lang="es-AR" sz="3600" dirty="0">
                <a:solidFill>
                  <a:schemeClr val="dk2"/>
                </a:solidFill>
                <a:latin typeface="Poppins"/>
                <a:cs typeface="Poppins"/>
              </a:rPr>
              <a:t>Alto volumen de datos, que crecen a una velocidad exponencial y que presentan una variedad o estructura particularmente compleja .”</a:t>
            </a:r>
            <a:endParaRPr lang="es-AR" sz="3600" dirty="0">
              <a:solidFill>
                <a:schemeClr val="dk2"/>
              </a:solidFill>
              <a:latin typeface="Poppins"/>
              <a:cs typeface="Poppins"/>
              <a:sym typeface="Roboto"/>
            </a:endParaRPr>
          </a:p>
        </p:txBody>
      </p:sp>
      <p:pic>
        <p:nvPicPr>
          <p:cNvPr id="2" name="Imagen 1">
            <a:extLst>
              <a:ext uri="{FF2B5EF4-FFF2-40B4-BE49-F238E27FC236}">
                <a16:creationId xmlns:a16="http://schemas.microsoft.com/office/drawing/2014/main" id="{E5333BB3-724D-6B15-0CE6-9A759BAC35F6}"/>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C7311A01-9D8E-8D02-5549-9DBCEE92D914}"/>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57D74BF-75FE-334C-7CE5-87F76CEA0D36}"/>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96A6CD50-41A2-E437-066D-D5D46A91879B}"/>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06413955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349</TotalTime>
  <Words>5919</Words>
  <Application>Microsoft Office PowerPoint</Application>
  <PresentationFormat>Personalizado</PresentationFormat>
  <Paragraphs>335</Paragraphs>
  <Slides>39</Slides>
  <Notes>39</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39</vt:i4>
      </vt:variant>
    </vt:vector>
  </HeadingPairs>
  <TitlesOfParts>
    <vt:vector size="49" baseType="lpstr">
      <vt:lpstr>Söhne</vt:lpstr>
      <vt:lpstr>Roboto</vt:lpstr>
      <vt:lpstr>Calibri Light</vt:lpstr>
      <vt:lpstr>unitcomp</vt:lpstr>
      <vt:lpstr>NVIDIA-APAC</vt:lpstr>
      <vt:lpstr>Montserrat</vt:lpstr>
      <vt:lpstr>Poppins</vt: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Osvaldo Medina</dc:creator>
  <cp:lastModifiedBy>Osvaldo Medina</cp:lastModifiedBy>
  <cp:revision>17</cp:revision>
  <dcterms:modified xsi:type="dcterms:W3CDTF">2023-08-04T18:16:13Z</dcterms:modified>
</cp:coreProperties>
</file>